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00" r:id="rId5"/>
    <p:sldId id="303" r:id="rId6"/>
    <p:sldId id="304" r:id="rId7"/>
    <p:sldId id="319" r:id="rId8"/>
    <p:sldId id="305" r:id="rId9"/>
    <p:sldId id="306" r:id="rId10"/>
    <p:sldId id="307" r:id="rId11"/>
    <p:sldId id="308" r:id="rId12"/>
    <p:sldId id="309" r:id="rId13"/>
    <p:sldId id="311" r:id="rId14"/>
    <p:sldId id="312" r:id="rId15"/>
    <p:sldId id="313" r:id="rId16"/>
    <p:sldId id="314" r:id="rId17"/>
    <p:sldId id="316" r:id="rId18"/>
    <p:sldId id="315" r:id="rId19"/>
    <p:sldId id="317" r:id="rId20"/>
    <p:sldId id="29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FF66FF"/>
    <a:srgbClr val="D2DEEF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89728" autoAdjust="0"/>
  </p:normalViewPr>
  <p:slideViewPr>
    <p:cSldViewPr snapToGrid="0">
      <p:cViewPr>
        <p:scale>
          <a:sx n="100" d="100"/>
          <a:sy n="100" d="100"/>
        </p:scale>
        <p:origin x="984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02212-5716-44E5-A1D3-DEEEA75002B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DD9D3C-2FF3-4260-83CA-6E5EE589618D}" type="slidenum">
              <a:rPr lang="en-US" smtClean="0"/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DF37FCA-1AC5-4417-9439-50102B5C964F}" type="datetime1">
              <a:rPr lang="en-US" smtClean="0"/>
            </a:fld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christian.s.k.aditya@gmail.com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 – </a:t>
            </a:r>
            <a:r>
              <a:rPr lang="en-US" b="0" i="0" dirty="0">
                <a:solidFill>
                  <a:srgbClr val="E8EAED"/>
                </a:solidFill>
                <a:effectLst/>
                <a:latin typeface="Arial" panose="020B0604020202020204" pitchFamily="34" charset="0"/>
              </a:rPr>
              <a:t>384 + 16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A403D-8322-4310-AF42-A6DE546E1CC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422DC-CA48-491D-BED8-C127EAB8195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9B19A-500B-47D8-A3BB-592E3FCE0E9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081C-A2B4-4732-88EC-17A3C6CC76B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62BAC-28C6-4076-BCC6-F86D0266FC9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B90F-74B0-4B92-BA68-947BE41DE279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32FC-160F-4707-96D6-AF1265BD60E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5E80D-13F2-4E80-9F2F-F4DF9456D2C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F6CF-D08D-4894-843E-9257FE1FCA9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BD8E-E412-45E9-B120-C82A6A6CA3A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DD81-7D00-48C2-8B1D-B248D134731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0E75-CD42-4B89-A74C-92CCE7B42F1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wipe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DC963-DB2E-40EE-BEC9-350309FFA36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96C48-2C34-4EDC-A0FF-CA1207F3E0C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Graphics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6 : </a:t>
            </a:r>
            <a:r>
              <a:rPr lang="en-US" i="1" dirty="0"/>
              <a:t>Midpoint (Ellipse)</a:t>
            </a:r>
            <a:endParaRPr lang="en-US" i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00F24-E945-4E23-AE98-19FD98E2160D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Ellipse </a:t>
            </a:r>
            <a:endParaRPr lang="en-US" b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A </a:t>
            </a:r>
            <a:r>
              <a:rPr lang="en-US" b="1" dirty="0"/>
              <a:t>modified circle</a:t>
            </a:r>
            <a:r>
              <a:rPr lang="en-US" dirty="0"/>
              <a:t> whose </a:t>
            </a:r>
            <a:r>
              <a:rPr lang="en-US" b="1" dirty="0"/>
              <a:t>radius varies</a:t>
            </a:r>
            <a:r>
              <a:rPr lang="en-US" dirty="0"/>
              <a:t> from a </a:t>
            </a:r>
            <a:r>
              <a:rPr lang="en-US" b="1" dirty="0"/>
              <a:t>maximum value</a:t>
            </a:r>
            <a:r>
              <a:rPr lang="en-US" dirty="0"/>
              <a:t> in one direction (</a:t>
            </a:r>
            <a:r>
              <a:rPr lang="en-US" b="1" dirty="0"/>
              <a:t>major axis</a:t>
            </a:r>
            <a:r>
              <a:rPr lang="en-US" dirty="0"/>
              <a:t>) to a </a:t>
            </a:r>
            <a:r>
              <a:rPr lang="en-US" b="1" dirty="0"/>
              <a:t>minimum value</a:t>
            </a:r>
            <a:r>
              <a:rPr lang="en-US" dirty="0"/>
              <a:t> in the perpendicular direction (</a:t>
            </a:r>
            <a:r>
              <a:rPr lang="en-US" b="1" dirty="0"/>
              <a:t>minor axis</a:t>
            </a:r>
            <a:r>
              <a:rPr lang="en-US" dirty="0"/>
              <a:t>).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741" y="3132667"/>
            <a:ext cx="4547659" cy="25864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Ellipse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53415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Symmetry between quadrants</a:t>
            </a:r>
            <a:endParaRPr lang="en-US" sz="2400" dirty="0"/>
          </a:p>
          <a:p>
            <a:r>
              <a:rPr lang="en-US" sz="2400" dirty="0"/>
              <a:t>Not symmetric between the two octants of a quadrant</a:t>
            </a:r>
            <a:endParaRPr lang="en-US" sz="2400" dirty="0"/>
          </a:p>
          <a:p>
            <a:r>
              <a:rPr lang="en-US" sz="2400" dirty="0"/>
              <a:t>Thus, we must calculate pixel positions along the elliptical arc through one quadrant and then we obtain positions in the remaining 3 quadrants by symmetry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400" y="1690688"/>
            <a:ext cx="3190875" cy="2771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Ellipse Algorithms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𝑒𝑙𝑙𝑖𝑝𝑠𝑒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Decision parameter: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; &lt; 0, if (</a:t>
                </a:r>
                <a:r>
                  <a:rPr lang="en-US" dirty="0" err="1"/>
                  <a:t>x,y</a:t>
                </a:r>
                <a:r>
                  <a:rPr lang="en-US" dirty="0"/>
                  <a:t>) inside the ellipse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; = 0, if (</a:t>
                </a:r>
                <a:r>
                  <a:rPr lang="en-US" dirty="0" err="1"/>
                  <a:t>x,y</a:t>
                </a:r>
                <a:r>
                  <a:rPr lang="en-US" dirty="0"/>
                  <a:t>) on the circle line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; &gt; 0, if (</a:t>
                </a:r>
                <a:r>
                  <a:rPr lang="en-US" dirty="0" err="1"/>
                  <a:t>x,y</a:t>
                </a:r>
                <a:r>
                  <a:rPr lang="en-US" dirty="0"/>
                  <a:t>) outside the circle line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496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2838450"/>
            <a:ext cx="3432190" cy="29194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Decision Parameter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440056"/>
            <a:ext cx="2647950" cy="2847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Ellipse Algorithms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7577667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Initially, we have two decision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region 1</a:t>
                </a:r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800" dirty="0"/>
                  <a:t> in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region 2</a:t>
                </a:r>
                <a:r>
                  <a:rPr lang="en-US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Starting at (0, </a:t>
                </a:r>
                <a:r>
                  <a:rPr lang="en-US" sz="1800" dirty="0" err="1"/>
                  <a:t>r</a:t>
                </a:r>
                <a:r>
                  <a:rPr lang="en-US" sz="1800" baseline="-25000" dirty="0" err="1"/>
                  <a:t>y</a:t>
                </a:r>
                <a:r>
                  <a:rPr lang="en-US" sz="1800" dirty="0"/>
                  <a:t>) we take unit steps in the x direction until we reach the boundary between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region 1</a:t>
                </a:r>
                <a:r>
                  <a:rPr lang="en-US" sz="1800" dirty="0"/>
                  <a:t> and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region 2</a:t>
                </a:r>
                <a:r>
                  <a:rPr lang="en-US" sz="1800" dirty="0"/>
                  <a:t>. Then we take unit steps in the y direction over the remainder of the curve in the first quadrant.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Therefore, we move out of </a:t>
                </a:r>
                <a:r>
                  <a:rPr lang="en-US" sz="1800" b="1" dirty="0">
                    <a:solidFill>
                      <a:srgbClr val="00B050"/>
                    </a:solidFill>
                  </a:rPr>
                  <a:t>region 1</a:t>
                </a:r>
                <a:r>
                  <a:rPr lang="en-US" sz="1800" dirty="0"/>
                  <a:t> whenever 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>
                    <a:sym typeface="Symbol" panose="05050102010706020507" pitchFamily="18" charset="2"/>
                  </a:rPr>
                  <a:t>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7577667" cy="4351338"/>
              </a:xfrm>
              <a:blipFill rotWithShape="1">
                <a:blip r:embed="rId2"/>
                <a:stretch>
                  <a:fillRect l="-8" r="3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91126" y="3638968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(-</a:t>
            </a:r>
            <a:r>
              <a:rPr lang="en-US" sz="1400" dirty="0" err="1"/>
              <a:t>x,y</a:t>
            </a:r>
            <a:r>
              <a:rPr lang="en-US" sz="1400" dirty="0"/>
              <a:t>)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10741659" y="3641266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</a:t>
            </a:r>
            <a:r>
              <a:rPr lang="en-US" sz="1400" dirty="0" err="1"/>
              <a:t>x,y</a:t>
            </a:r>
            <a:r>
              <a:rPr lang="en-US" sz="1400" dirty="0"/>
              <a:t>)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10501078" y="4669966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(x,-y)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8782344" y="4669966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(-x,-y)</a:t>
            </a:r>
            <a:endParaRPr lang="en-US" sz="1400" dirty="0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0265693" y="2549981"/>
            <a:ext cx="234516" cy="47236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0572750" y="3216735"/>
            <a:ext cx="481685" cy="326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252422" y="2214136"/>
            <a:ext cx="738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Region 1</a:t>
            </a:r>
            <a:endParaRPr lang="en-US" sz="1200" b="1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83952" y="2912426"/>
            <a:ext cx="738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</a:rPr>
              <a:t>Region 2</a:t>
            </a:r>
            <a:endParaRPr lang="en-US" sz="12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Parameter (</a:t>
            </a:r>
            <a:r>
              <a:rPr lang="en-US" b="1" dirty="0">
                <a:solidFill>
                  <a:srgbClr val="00B050"/>
                </a:solidFill>
              </a:rPr>
              <a:t>Region 1</a:t>
            </a:r>
            <a:r>
              <a:rPr lang="en-US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5605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Assuming that we have just plotted the pixels at (x</a:t>
                </a:r>
                <a:r>
                  <a:rPr lang="en-US" sz="2000" baseline="-25000" dirty="0"/>
                  <a:t>i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y</a:t>
                </a:r>
                <a:r>
                  <a:rPr lang="en-US" sz="2000" baseline="-25000" dirty="0" err="1"/>
                  <a:t>i</a:t>
                </a:r>
                <a:r>
                  <a:rPr lang="en-US" sz="2000" dirty="0"/>
                  <a:t>) the next position is determined by :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560513"/>
              </a:xfrm>
              <a:blipFill rotWithShape="1">
                <a:blip r:embed="rId1"/>
                <a:stretch>
                  <a:fillRect b="-436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08" y="2948782"/>
            <a:ext cx="3973892" cy="30743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838200" y="3645237"/>
                <a:ext cx="676275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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the midpoint is inside the ellipse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is closer</a:t>
                </a:r>
                <a:endParaRPr lang="en-US" sz="2000" dirty="0"/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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the midpoint is outside the ellipse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is closer</a:t>
                </a:r>
                <a:endParaRPr lang="en-US" sz="20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45237"/>
                <a:ext cx="6762750" cy="707886"/>
              </a:xfrm>
              <a:prstGeom prst="rect">
                <a:avLst/>
              </a:prstGeom>
              <a:blipFill rotWithShape="1">
                <a:blip r:embed="rId3"/>
                <a:stretch>
                  <a:fillRect t="-48" b="2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Parameter (</a:t>
            </a:r>
            <a:r>
              <a:rPr lang="en-US" b="1" dirty="0">
                <a:solidFill>
                  <a:srgbClr val="00B050"/>
                </a:solidFill>
              </a:rPr>
              <a:t>Region 1</a:t>
            </a:r>
            <a:r>
              <a:rPr lang="en-US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At the next position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or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Parameter (</a:t>
            </a:r>
            <a:r>
              <a:rPr lang="en-US" b="1" dirty="0">
                <a:solidFill>
                  <a:srgbClr val="00B050"/>
                </a:solidFill>
              </a:rPr>
              <a:t>Region 1</a:t>
            </a:r>
            <a:r>
              <a:rPr lang="en-US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Decision parameters are incremented by: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𝑖𝑛𝑐𝑟𝑒𝑚𝑒𝑛𝑡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  <m:e>
                            <m:r>
                              <a:rPr lang="en-US" sz="20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20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eqAr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r>
                                    <a:rPr lang="en-US" sz="20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20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Use only addition and </a:t>
                </a:r>
                <a:r>
                  <a:rPr lang="en-US" sz="2000" dirty="0" err="1"/>
                  <a:t>substraction</a:t>
                </a:r>
                <a:r>
                  <a:rPr lang="en-US" sz="2000" dirty="0"/>
                  <a:t> by obtaining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At initial position (0,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 algn="ctr">
                  <a:buNone/>
                </a:pPr>
                <a:r>
                  <a:rPr lang="en-US" sz="20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sz="2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sSup>
                      <m:sSupPr>
                        <m:ctrlP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409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Parameter (</a:t>
            </a:r>
            <a:r>
              <a:rPr lang="en-US" b="1" dirty="0">
                <a:solidFill>
                  <a:srgbClr val="0070C0"/>
                </a:solidFill>
              </a:rPr>
              <a:t>Region 2</a:t>
            </a:r>
            <a:r>
              <a:rPr lang="en-US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Over region 2, step in the negative y direction and midpoint is taken between horizontal pixels at each step.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the midpoint is outside the ellipse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is closer</a:t>
                </a:r>
                <a:endParaRPr lang="en-US" sz="2000" dirty="0"/>
              </a:p>
              <a:p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the midpoint is inside the ellipse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is closer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587" y="2681289"/>
            <a:ext cx="3019226" cy="25574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Parameter (</a:t>
            </a:r>
            <a:r>
              <a:rPr lang="en-US" b="1" dirty="0">
                <a:solidFill>
                  <a:srgbClr val="0070C0"/>
                </a:solidFill>
              </a:rPr>
              <a:t>Region 2</a:t>
            </a:r>
            <a:r>
              <a:rPr lang="en-US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At the next position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𝑒𝑙𝑙𝑖𝑝𝑠𝑒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or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Parameter (</a:t>
            </a:r>
            <a:r>
              <a:rPr lang="en-US" b="1" dirty="0">
                <a:solidFill>
                  <a:srgbClr val="0070C0"/>
                </a:solidFill>
              </a:rPr>
              <a:t>Region 2</a:t>
            </a:r>
            <a:r>
              <a:rPr lang="en-US" dirty="0"/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Decision parameters are incremented by: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𝑖𝑛𝑐𝑟𝑒𝑚𝑒𝑛𝑡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  <m:e>
                            <m:r>
                              <a:rPr lang="en-US" sz="20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0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sz="2000" b="1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000" b="1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eqAr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   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r>
                                    <a:rPr lang="en-US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r>
                                    <a:rPr lang="en-US" sz="2000" b="1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000" b="1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At initial position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) is taken at the last position selected in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region 1</a:t>
                </a: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𝒆𝒍𝒍𝒊𝒑𝒔𝒆</m:t>
                          </m:r>
                        </m:sub>
                      </m:sSub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Midpoint Ellipse Algorithm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 and ellipse center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) and obtain the first point on an ellipse centered on the origin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Calculate the initial parameter in region 1 as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000" dirty="0"/>
                  <a:t>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position, starting 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, the next point along the ellipse centered 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and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br>
                  <a:rPr lang="en-US" sz="2000" dirty="0"/>
                </a:br>
                <a:br>
                  <a:rPr lang="en-US" sz="2000" dirty="0"/>
                </a:br>
                <a:r>
                  <a:rPr lang="en-US" sz="2000" dirty="0"/>
                  <a:t>otherwise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00" dirty="0"/>
                  <a:t>, the next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000" dirty="0"/>
                  <a:t> and</a:t>
                </a:r>
                <a:br>
                  <a:rPr lang="en-US" sz="2000" dirty="0"/>
                </a:b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and continue until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2000" b="1" dirty="0"/>
              </a:p>
              <a:p>
                <a:pPr marL="514350" indent="-514350">
                  <a:buFont typeface="+mj-lt"/>
                  <a:buAutoNum type="arabicPeriod"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Midpoint Ellipse Algorithm (2)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37665"/>
                <a:ext cx="10515600" cy="4539615"/>
              </a:xfrm>
            </p:spPr>
            <p:txBody>
              <a:bodyPr>
                <a:normAutofit fontScale="92500"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is the last position calculated in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region 1</a:t>
                </a:r>
                <a:r>
                  <a:rPr lang="en-US" sz="2400" dirty="0"/>
                  <a:t>. Calculate the initial parameter in </a:t>
                </a:r>
                <a:r>
                  <a:rPr lang="en-US" sz="2400" b="1" dirty="0">
                    <a:solidFill>
                      <a:schemeClr val="accent5"/>
                    </a:solidFill>
                  </a:rPr>
                  <a:t>region 2</a:t>
                </a:r>
                <a:r>
                  <a:rPr lang="en-US" sz="2400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400" b="1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sz="2400" dirty="0"/>
                  <a:t>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position, starting 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</a:t>
                </a:r>
                <a:endParaRPr lang="en-US" sz="2400" dirty="0"/>
              </a:p>
              <a:p>
                <a:pPr marL="457200" lvl="1" indent="0">
                  <a:buFont typeface="+mj-lt"/>
                  <a:buNone/>
                </a:pPr>
                <a:r>
                  <a:rPr lang="en-US" sz="2055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55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55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55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055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55" dirty="0"/>
                  <a:t>, the next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55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055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55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055" dirty="0"/>
                  <a:t> and</a:t>
                </a:r>
                <a:br>
                  <a:rPr lang="en-US" sz="2055" dirty="0"/>
                </a:br>
                <a:r>
                  <a:rPr lang="en-US" sz="2055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55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55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55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55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55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55" dirty="0"/>
                  <a:t> </a:t>
                </a:r>
                <a:br>
                  <a:rPr lang="en-US" sz="2055" dirty="0"/>
                </a:br>
                <a:br>
                  <a:rPr lang="en-US" sz="2055" dirty="0"/>
                </a:br>
                <a:r>
                  <a:rPr lang="en-US" sz="2055" dirty="0"/>
                  <a:t>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55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55" b="1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55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055" dirty="0"/>
                  <a:t>, the next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55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055" dirty="0"/>
                  <a:t> and</a:t>
                </a:r>
                <a:br>
                  <a:rPr lang="en-US" sz="2055" dirty="0"/>
                </a:br>
                <a:r>
                  <a:rPr lang="en-US" sz="2055" b="1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55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55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55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55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55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55" b="1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55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2055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br>
                  <a:rPr lang="en-US" sz="2055" dirty="0"/>
                </a:br>
                <a:br>
                  <a:rPr lang="en-US" sz="2055" dirty="0"/>
                </a:br>
                <a:r>
                  <a:rPr lang="en-US" sz="2055" dirty="0"/>
                  <a:t>Use the same incremental calculations as in </a:t>
                </a:r>
                <a:r>
                  <a:rPr lang="en-US" sz="2055" b="1" dirty="0">
                    <a:solidFill>
                      <a:srgbClr val="00B050"/>
                    </a:solidFill>
                  </a:rPr>
                  <a:t>region 1</a:t>
                </a:r>
                <a:r>
                  <a:rPr lang="en-US" sz="2055" dirty="0"/>
                  <a:t>. Continue until </a:t>
                </a:r>
                <a14:m>
                  <m:oMath xmlns:m="http://schemas.openxmlformats.org/officeDocument/2006/math">
                    <m:r>
                      <a:rPr lang="en-US" sz="2055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5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5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55" dirty="0"/>
                  <a:t>.</a:t>
                </a:r>
                <a:endParaRPr lang="en-US" sz="2055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sz="2400" dirty="0"/>
                  <a:t>For both regions determine symmetry points in the other three quadrants.</a:t>
                </a:r>
                <a:endParaRPr lang="en-US" sz="2400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sz="2400" dirty="0"/>
                  <a:t>Move each calculated pixel position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onto the elliptical path centered 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and plot the coordinate values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7665"/>
                <a:ext cx="10515600" cy="453961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EXERCISE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365125"/>
                <a:ext cx="4562475" cy="58118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1200" b="0" dirty="0"/>
              </a:p>
              <a:p>
                <a:pPr marL="0" indent="0">
                  <a:buNone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1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en-US" sz="120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r>
                  <a:rPr lang="en-US" sz="1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200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sSup>
                      <m:sSup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1200" b="1" dirty="0"/>
              </a:p>
              <a:p>
                <a:pPr marL="0" indent="0">
                  <a:buNone/>
                </a:pP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𝟑𝟑𝟐</m:t>
                    </m:r>
                  </m:oMath>
                </a14:m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200" dirty="0"/>
                  <a:t>, the next point (0 + 1, 6) </a:t>
                </a:r>
                <a:r>
                  <a:rPr lang="en-US" sz="1200" dirty="0">
                    <a:sym typeface="Wingdings" panose="05000000000000000000" pitchFamily="2" charset="2"/>
                  </a:rPr>
                  <a:t> </a:t>
                </a:r>
                <a:r>
                  <a:rPr lang="en-US" sz="1200" b="1" dirty="0">
                    <a:sym typeface="Wingdings" panose="05000000000000000000" pitchFamily="2" charset="2"/>
                  </a:rPr>
                  <a:t>(1, 6)</a:t>
                </a:r>
                <a:endParaRPr lang="en-US" sz="12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𝟕𝟐</m:t>
                    </m:r>
                  </m:oMath>
                </a14:m>
                <a:r>
                  <a:rPr lang="en-US" sz="1200" dirty="0">
                    <a:sym typeface="Wingdings" panose="05000000000000000000" pitchFamily="2" charset="2"/>
                  </a:rPr>
                  <a:t>	</a:t>
                </a:r>
                <a:endParaRPr lang="en-US" sz="1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𝟕𝟔𝟖</m:t>
                    </m:r>
                  </m:oMath>
                </a14:m>
                <a:r>
                  <a:rPr lang="en-US" sz="1200" b="0" i="1" dirty="0"/>
                  <a:t>	</a:t>
                </a:r>
                <a:endParaRPr lang="en-US" sz="1200" b="0" i="1" dirty="0"/>
              </a:p>
              <a:p>
                <a:pPr marL="0" indent="0">
                  <a:buNone/>
                </a:pPr>
                <a:endParaRPr lang="en-US" sz="1200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2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1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200" b="0" i="1" dirty="0">
                    <a:solidFill>
                      <a:schemeClr val="tx1"/>
                    </a:solidFill>
                  </a:rPr>
                  <a:t>	</a:t>
                </a:r>
                <a:endParaRPr lang="en-US" sz="1200" b="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i="1" dirty="0">
                    <a:solidFill>
                      <a:schemeClr val="tx1"/>
                    </a:solidFill>
                  </a:rPr>
                  <a:t>	</a:t>
                </a:r>
                <a:endParaRPr lang="en-US" sz="120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332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i="1" dirty="0">
                    <a:solidFill>
                      <a:schemeClr val="tx1"/>
                    </a:solidFill>
                  </a:rPr>
                  <a:t>	</a:t>
                </a:r>
                <a:endParaRPr lang="en-US" sz="120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𝟐𝟐𝟒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</a:rPr>
                  <a:t>	</a:t>
                </a:r>
                <a:endParaRPr lang="en-US" sz="1200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12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200" dirty="0"/>
                  <a:t>, the next point (1 + 1, 6) </a:t>
                </a:r>
                <a:r>
                  <a:rPr lang="en-US" sz="1200" dirty="0">
                    <a:sym typeface="Wingdings" panose="05000000000000000000" pitchFamily="2" charset="2"/>
                  </a:rPr>
                  <a:t> </a:t>
                </a:r>
                <a:r>
                  <a:rPr lang="en-US" sz="1200" b="1" dirty="0">
                    <a:sym typeface="Wingdings" panose="05000000000000000000" pitchFamily="2" charset="2"/>
                  </a:rPr>
                  <a:t>(2, 6)</a:t>
                </a:r>
                <a:endParaRPr lang="en-US" sz="12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𝟏𝟒𝟒</m:t>
                    </m:r>
                  </m:oMath>
                </a14:m>
                <a:r>
                  <a:rPr lang="en-US" sz="1200" dirty="0">
                    <a:sym typeface="Wingdings" panose="05000000000000000000" pitchFamily="2" charset="2"/>
                  </a:rPr>
                  <a:t>	</a:t>
                </a:r>
                <a:endParaRPr lang="en-US" sz="1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𝟕𝟔𝟖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</a:rPr>
                  <a:t>	</a:t>
                </a:r>
                <a:endParaRPr lang="en-US" sz="12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365125"/>
                <a:ext cx="4562475" cy="5811838"/>
              </a:xfrm>
              <a:blipFill rotWithShape="1">
                <a:blip r:embed="rId1"/>
                <a:stretch>
                  <a:fillRect l="-14" r="14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450702" y="3451225"/>
              <a:ext cx="4903098" cy="27642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578"/>
                    <a:gridCol w="677990"/>
                    <a:gridCol w="1223319"/>
                    <a:gridCol w="1297459"/>
                    <a:gridCol w="1099752"/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1" dirty="0" err="1"/>
                            <a:t>i</a:t>
                          </a:r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1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0" dirty="0"/>
                            <a:t>0</a:t>
                          </a:r>
                          <a:endParaRPr lang="en-US" sz="14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-332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(0, 6)</a:t>
                          </a:r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72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768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-224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(1, 6)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144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768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-44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(2, 6)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216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768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208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(3, 6)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288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640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-108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(4, 5)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360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640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288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(5, 5)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432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512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6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244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(6, 4)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highlight>
                                <a:srgbClr val="FFFF00"/>
                              </a:highlight>
                            </a:rPr>
                            <a:t>504</a:t>
                          </a:r>
                          <a:endParaRPr lang="en-US" sz="14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highlight>
                                <a:srgbClr val="FFFF00"/>
                              </a:highlight>
                            </a:rPr>
                            <a:t>384</a:t>
                          </a:r>
                          <a:endParaRPr lang="en-US" sz="14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7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(7, 3)</a:t>
                          </a:r>
                          <a:endParaRPr lang="en-US" sz="1400" b="1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450702" y="3451225"/>
              <a:ext cx="4903098" cy="27642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578"/>
                    <a:gridCol w="677990"/>
                    <a:gridCol w="1223319"/>
                    <a:gridCol w="1297459"/>
                    <a:gridCol w="1099752"/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1" dirty="0" err="1"/>
                            <a:t>i</a:t>
                          </a:r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0" dirty="0"/>
                            <a:t>0</a:t>
                          </a:r>
                          <a:endParaRPr lang="en-US" sz="14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-332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(0, 6)</a:t>
                          </a:r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72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768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-224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(1, 6)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144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768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-44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(2, 6)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216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768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208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(3, 6)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288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640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-108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(4, 5)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360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640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288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(5, 5)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432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512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6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244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(6, 4)</a:t>
                          </a:r>
                          <a:endParaRPr lang="en-US" sz="1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highlight>
                                <a:srgbClr val="FFFF00"/>
                              </a:highlight>
                            </a:rPr>
                            <a:t>504</a:t>
                          </a:r>
                          <a:endParaRPr lang="en-US" sz="14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highlight>
                                <a:srgbClr val="FFFF00"/>
                              </a:highlight>
                            </a:rPr>
                            <a:t>384</a:t>
                          </a:r>
                          <a:endParaRPr lang="en-US" sz="1400" dirty="0">
                            <a:highlight>
                              <a:srgbClr val="FFFF00"/>
                            </a:highlight>
                          </a:endParaRPr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7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(7, 3)</a:t>
                          </a:r>
                          <a:endParaRPr lang="en-US" sz="1400" b="1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58763" y="311705"/>
            <a:ext cx="206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REGION 1</a:t>
            </a:r>
            <a:endParaRPr lang="en-US" sz="1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/>
              <p:cNvSpPr txBox="1"/>
              <p:nvPr/>
            </p:nvSpPr>
            <p:spPr>
              <a:xfrm>
                <a:off x="6450702" y="454819"/>
                <a:ext cx="4562475" cy="26027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200" i="1" dirty="0"/>
                  <a:t>	</a:t>
                </a:r>
                <a:endParaRPr lang="en-US" sz="1200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i="1" dirty="0"/>
                  <a:t>	</a:t>
                </a:r>
                <a:endParaRPr lang="en-US" sz="1200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224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i="1" dirty="0"/>
                  <a:t>	</a:t>
                </a:r>
                <a:endParaRPr lang="en-US" sz="1200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224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144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36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𝟒𝟒</m:t>
                    </m:r>
                  </m:oMath>
                </a14:m>
                <a:r>
                  <a:rPr lang="en-US" sz="1200" i="1" dirty="0"/>
                  <a:t>	</a:t>
                </a:r>
                <a:endParaRPr lang="en-US" sz="1200" i="1" dirty="0"/>
              </a:p>
              <a:p>
                <a:pPr marL="0" indent="0">
                  <a:buNone/>
                </a:pPr>
                <a:r>
                  <a:rPr lang="en-US" sz="12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200" dirty="0"/>
                  <a:t>, the next point (2 + 1, 6) </a:t>
                </a:r>
                <a:r>
                  <a:rPr lang="en-US" sz="1200" dirty="0">
                    <a:sym typeface="Wingdings" panose="05000000000000000000" pitchFamily="2" charset="2"/>
                  </a:rPr>
                  <a:t> </a:t>
                </a:r>
                <a:r>
                  <a:rPr lang="en-US" sz="1200" b="1" dirty="0">
                    <a:sym typeface="Wingdings" panose="05000000000000000000" pitchFamily="2" charset="2"/>
                  </a:rPr>
                  <a:t>(3, 6)</a:t>
                </a:r>
                <a:endParaRPr lang="en-US" sz="12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20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𝟐𝟏𝟔</m:t>
                    </m:r>
                  </m:oMath>
                </a14:m>
                <a:r>
                  <a:rPr lang="en-US" sz="1200" dirty="0">
                    <a:sym typeface="Wingdings" panose="05000000000000000000" pitchFamily="2" charset="2"/>
                  </a:rPr>
                  <a:t>	</a:t>
                </a:r>
                <a:endParaRPr lang="en-US" sz="1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𝟕𝟔𝟖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	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/>
                  <a:t>…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/>
                  <a:t>…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/>
                  <a:t>Move out of </a:t>
                </a:r>
                <a:r>
                  <a:rPr lang="en-US" sz="1200" b="1" dirty="0">
                    <a:solidFill>
                      <a:srgbClr val="FF0000"/>
                    </a:solidFill>
                  </a:rPr>
                  <a:t>region 1</a:t>
                </a:r>
                <a:r>
                  <a:rPr lang="en-US" sz="1200" dirty="0"/>
                  <a:t> since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&gt;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200" dirty="0"/>
              </a:p>
              <a:p>
                <a:pPr marL="0" indent="0">
                  <a:buNone/>
                </a:pPr>
                <a:endParaRPr lang="en-US" sz="1200" b="1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702" y="454819"/>
                <a:ext cx="4562475" cy="2602706"/>
              </a:xfrm>
              <a:prstGeom prst="rect">
                <a:avLst/>
              </a:prstGeom>
              <a:blipFill rotWithShape="1">
                <a:blip r:embed="rId4"/>
                <a:stretch>
                  <a:fillRect l="-8" t="-6" r="8" b="-220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5"/>
                <a:ext cx="5524500" cy="58118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1400" b="0" dirty="0"/>
              </a:p>
              <a:p>
                <a:pPr marL="0" indent="0">
                  <a:buNone/>
                </a:pP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1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sz="1400" dirty="0"/>
                  <a:t>	</a:t>
                </a:r>
                <a:endParaRPr lang="en-US" sz="1400" dirty="0"/>
              </a:p>
              <a:p>
                <a:pPr marL="0" indent="0">
                  <a:buNone/>
                </a:pPr>
                <a:endParaRPr lang="en-US" sz="14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4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400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dirty="0"/>
                  <a:t>	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	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56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	</a:t>
                </a:r>
                <a:endParaRPr lang="en-US" sz="1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2025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256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2304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𝟐𝟑</m:t>
                    </m:r>
                  </m:oMath>
                </a14:m>
                <a:r>
                  <a:rPr lang="en-US" sz="1400" dirty="0"/>
                  <a:t>	</a:t>
                </a:r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400" dirty="0"/>
                  <a:t>, the next point (7 + 1, 3 - 1) </a:t>
                </a:r>
                <a:r>
                  <a:rPr lang="en-US" sz="1400" dirty="0">
                    <a:sym typeface="Wingdings" panose="05000000000000000000" pitchFamily="2" charset="2"/>
                  </a:rPr>
                  <a:t> </a:t>
                </a:r>
                <a:r>
                  <a:rPr lang="en-US" sz="1400" b="1" dirty="0">
                    <a:sym typeface="Wingdings" panose="05000000000000000000" pitchFamily="2" charset="2"/>
                  </a:rPr>
                  <a:t>(8, 2)</a:t>
                </a:r>
                <a:endParaRPr lang="en-US" sz="14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𝟓𝟕𝟔</m:t>
                    </m:r>
                    <m:r>
                      <m:rPr>
                        <m:nor/>
                      </m:rPr>
                      <a:rPr lang="en-US" sz="1400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	</m:t>
                    </m:r>
                  </m:oMath>
                </a14:m>
                <a:r>
                  <a:rPr lang="en-US" sz="1400" dirty="0">
                    <a:sym typeface="Wingdings" panose="05000000000000000000" pitchFamily="2" charset="2"/>
                  </a:rPr>
                  <a:t>	</a:t>
                </a:r>
                <a:endParaRPr lang="en-US" sz="1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sz="1400" b="1" dirty="0">
                    <a:sym typeface="Wingdings" panose="05000000000000000000" pitchFamily="2" charset="2"/>
                  </a:rPr>
                  <a:t>	</a:t>
                </a:r>
                <a:endParaRPr lang="en-US" sz="14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4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e>
                      <m:sup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1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e>
                      <m:sup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400" b="1" dirty="0">
                    <a:sym typeface="Wingdings" panose="05000000000000000000" pitchFamily="2" charset="2"/>
                  </a:rPr>
                  <a:t>	</a:t>
                </a:r>
                <a:endParaRPr lang="en-US" sz="14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sym typeface="Wingdings" panose="05000000000000000000" pitchFamily="2" charset="2"/>
                  </a:rPr>
                  <a:t>	</a:t>
                </a:r>
                <a:endParaRPr lang="en-US" sz="1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sym typeface="Wingdings" panose="05000000000000000000" pitchFamily="2" charset="2"/>
                  </a:rPr>
                  <a:t>	</a:t>
                </a:r>
                <a:endParaRPr lang="en-US" sz="1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576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US" sz="1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𝟑𝟔𝟏</m:t>
                    </m:r>
                  </m:oMath>
                </a14:m>
                <a:r>
                  <a:rPr lang="en-US" sz="1400" dirty="0">
                    <a:sym typeface="Wingdings" panose="05000000000000000000" pitchFamily="2" charset="2"/>
                  </a:rPr>
                  <a:t>	</a:t>
                </a:r>
                <a:endParaRPr lang="en-US" sz="1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1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400" dirty="0"/>
                  <a:t>, the next point (8, 2 - 1) </a:t>
                </a:r>
                <a:r>
                  <a:rPr lang="en-US" sz="1400" dirty="0">
                    <a:sym typeface="Wingdings" panose="05000000000000000000" pitchFamily="2" charset="2"/>
                  </a:rPr>
                  <a:t> </a:t>
                </a:r>
                <a:r>
                  <a:rPr lang="en-US" sz="1400" b="1" dirty="0">
                    <a:sym typeface="Wingdings" panose="05000000000000000000" pitchFamily="2" charset="2"/>
                  </a:rPr>
                  <a:t>(8, 1)</a:t>
                </a:r>
                <a:endParaRPr lang="en-US" sz="14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𝟓𝟕𝟔</m:t>
                    </m:r>
                    <m:r>
                      <m:rPr>
                        <m:nor/>
                      </m:rPr>
                      <a:rPr lang="en-US" sz="1400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	</m:t>
                    </m:r>
                  </m:oMath>
                </a14:m>
                <a:r>
                  <a:rPr lang="en-US" sz="1400" dirty="0">
                    <a:sym typeface="Wingdings" panose="05000000000000000000" pitchFamily="2" charset="2"/>
                  </a:rPr>
                  <a:t>	</a:t>
                </a:r>
                <a:endParaRPr lang="en-US" sz="1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lang="en-US" sz="1400" dirty="0">
                    <a:sym typeface="Wingdings" panose="05000000000000000000" pitchFamily="2" charset="2"/>
                  </a:rPr>
                  <a:t>	</a:t>
                </a:r>
                <a:endParaRPr lang="en-US" sz="1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4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sz="1400" dirty="0"/>
                  <a:t>Continue until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400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400" b="1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5"/>
                <a:ext cx="5524500" cy="5811838"/>
              </a:xfrm>
              <a:blipFill rotWithShape="1">
                <a:blip r:embed="rId1"/>
                <a:stretch>
                  <a:fillRect t="-33" b="-77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98860" y="2212975"/>
          <a:ext cx="4454940" cy="3978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245"/>
                <a:gridCol w="371245"/>
                <a:gridCol w="371245"/>
                <a:gridCol w="371245"/>
                <a:gridCol w="371245"/>
                <a:gridCol w="371245"/>
                <a:gridCol w="371245"/>
                <a:gridCol w="371245"/>
                <a:gridCol w="371245"/>
                <a:gridCol w="371245"/>
                <a:gridCol w="371245"/>
                <a:gridCol w="371245"/>
              </a:tblGrid>
              <a:tr h="33157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FF0000"/>
                          </a:highlight>
                        </a:rPr>
                        <a:t>6</a:t>
                      </a:r>
                      <a:endParaRPr lang="en-US" sz="1600" dirty="0">
                        <a:highlight>
                          <a:srgbClr val="FF0000"/>
                        </a:highlight>
                      </a:endParaRPr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(1,6)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1" dirty="0"/>
                        <a:t>(2,6)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1" dirty="0"/>
                        <a:t>(3,6)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1" dirty="0"/>
                        <a:t>(4,5)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1" dirty="0"/>
                        <a:t>(5,5)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1" dirty="0"/>
                        <a:t>(6,4)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800" b="1" dirty="0"/>
                        <a:t>(7,3)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(8,2)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(8,1)</a:t>
                      </a:r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/>
                    </a:p>
                  </a:txBody>
                  <a:tcPr marL="81757" marR="81757" marT="40880" marB="408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157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  <a:endParaRPr lang="en-US" sz="1600" dirty="0"/>
                    </a:p>
                  </a:txBody>
                  <a:tcPr marL="81757" marR="81757" marT="40880" marB="40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/>
            </p:nvGraphicFramePr>
            <p:xfrm>
              <a:off x="6898860" y="172178"/>
              <a:ext cx="4903098" cy="15450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578"/>
                    <a:gridCol w="677990"/>
                    <a:gridCol w="1223319"/>
                    <a:gridCol w="1297459"/>
                    <a:gridCol w="1099752"/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1" dirty="0" err="1"/>
                            <a:t>i</a:t>
                          </a:r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4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b="0" i="1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0" dirty="0"/>
                            <a:t>0</a:t>
                          </a:r>
                          <a:endParaRPr lang="en-US" sz="14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400" dirty="0"/>
                            <a:t>-23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0" dirty="0"/>
                            <a:t>(7,3)</a:t>
                          </a:r>
                          <a:endParaRPr lang="en-US" sz="14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576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256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361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(8, 2)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400" dirty="0"/>
                            <a:t>576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128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297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(8, 1)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…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…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(8, 0)</a:t>
                          </a:r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/>
            </p:nvGraphicFramePr>
            <p:xfrm>
              <a:off x="6898860" y="172178"/>
              <a:ext cx="4903098" cy="15450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4578"/>
                    <a:gridCol w="677990"/>
                    <a:gridCol w="1223319"/>
                    <a:gridCol w="1297459"/>
                    <a:gridCol w="1099752"/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1" dirty="0" err="1"/>
                            <a:t>i</a:t>
                          </a:r>
                          <a:endParaRPr lang="en-US" sz="14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0" dirty="0"/>
                            <a:t>0</a:t>
                          </a:r>
                          <a:endParaRPr lang="en-US" sz="14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400" dirty="0"/>
                            <a:t>-23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i="0" dirty="0"/>
                            <a:t>(7,3)</a:t>
                          </a:r>
                          <a:endParaRPr lang="en-US" sz="14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576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256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361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(8, 2)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sz="1400" dirty="0"/>
                            <a:t>576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128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297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(8, 1)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…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…</a:t>
                          </a:r>
                          <a:endParaRPr lang="en-US" sz="1400" dirty="0"/>
                        </a:p>
                      </a:txBody>
                      <a:tcPr/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</a:t>
                          </a:r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(8, 0)</a:t>
                          </a:r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TextBox 14"/>
          <p:cNvSpPr txBox="1"/>
          <p:nvPr/>
        </p:nvSpPr>
        <p:spPr>
          <a:xfrm>
            <a:off x="3858763" y="311705"/>
            <a:ext cx="206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</a:rPr>
              <a:t>REGION 2</a:t>
            </a:r>
            <a:endParaRPr lang="en-US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400" b="1" dirty="0"/>
              <a:t>THANK</a:t>
            </a:r>
            <a:r>
              <a:rPr lang="en-US" sz="4400" dirty="0"/>
              <a:t>YOU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feraputriayu@umm.ac.id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96C48-2C34-4EDC-A0FF-CA1207F3E0C1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0526"/>
            <a:ext cx="1845733" cy="707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8211</Words>
  <Application>WPS Presentation</Application>
  <PresentationFormat>Widescreen</PresentationFormat>
  <Paragraphs>464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SimSun</vt:lpstr>
      <vt:lpstr>Wingdings</vt:lpstr>
      <vt:lpstr>Cambria Math</vt:lpstr>
      <vt:lpstr>Symbol</vt:lpstr>
      <vt:lpstr>Calibri Light</vt:lpstr>
      <vt:lpstr>Calibri</vt:lpstr>
      <vt:lpstr>Microsoft YaHei</vt:lpstr>
      <vt:lpstr>Arial Unicode MS</vt:lpstr>
      <vt:lpstr>Office Theme</vt:lpstr>
      <vt:lpstr>Computer Graphics</vt:lpstr>
      <vt:lpstr>PowerPoint 演示文稿</vt:lpstr>
      <vt:lpstr>Ellipse Algorithms</vt:lpstr>
      <vt:lpstr>Ellipse Algorithms</vt:lpstr>
      <vt:lpstr>PowerPoint 演示文稿</vt:lpstr>
      <vt:lpstr>Ellipse Algorithms</vt:lpstr>
      <vt:lpstr>Decision Parameter (Region 1)</vt:lpstr>
      <vt:lpstr>Decision Parameter (Region 1)</vt:lpstr>
      <vt:lpstr>Decision Parameter (Region 1)</vt:lpstr>
      <vt:lpstr>Decision Parameter (Region 2)</vt:lpstr>
      <vt:lpstr>Decision Parameter (Region 2)</vt:lpstr>
      <vt:lpstr>Decision Parameter (Region 2)</vt:lpstr>
      <vt:lpstr>Midpoint Ellipse Algorithm</vt:lpstr>
      <vt:lpstr>Midpoint Ellipse Algorithm (2)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Topologi</dc:title>
  <dc:creator>ozora</dc:creator>
  <cp:lastModifiedBy>Mee</cp:lastModifiedBy>
  <cp:revision>1747</cp:revision>
  <dcterms:created xsi:type="dcterms:W3CDTF">2018-07-26T02:12:00Z</dcterms:created>
  <dcterms:modified xsi:type="dcterms:W3CDTF">2026-04-20T03:59:48Z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E0275563A6BE43F7BDECFCEB4B66C82F</vt:lpwstr>
  </property>
  <property fmtid="{D5CDD505-2E9C-101B-9397-08002B2CF9AE}" pid="3" name="KSOProductBuildVer">
    <vt:lpwstr>1033-11.2.0.11537</vt:lpwstr>
  </property>
</Properties>
</file>