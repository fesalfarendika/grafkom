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7" r:id="rId2"/>
    <p:sldId id="323" r:id="rId3"/>
    <p:sldId id="344" r:id="rId4"/>
    <p:sldId id="354" r:id="rId5"/>
    <p:sldId id="329" r:id="rId6"/>
    <p:sldId id="355" r:id="rId7"/>
    <p:sldId id="346" r:id="rId8"/>
    <p:sldId id="338" r:id="rId9"/>
    <p:sldId id="353" r:id="rId10"/>
    <p:sldId id="356" r:id="rId11"/>
    <p:sldId id="357" r:id="rId12"/>
    <p:sldId id="358" r:id="rId13"/>
    <p:sldId id="359" r:id="rId14"/>
    <p:sldId id="330" r:id="rId15"/>
    <p:sldId id="333" r:id="rId16"/>
    <p:sldId id="334" r:id="rId17"/>
    <p:sldId id="348" r:id="rId18"/>
    <p:sldId id="349" r:id="rId19"/>
    <p:sldId id="365" r:id="rId20"/>
    <p:sldId id="350" r:id="rId21"/>
    <p:sldId id="368" r:id="rId22"/>
    <p:sldId id="366" r:id="rId23"/>
    <p:sldId id="369" r:id="rId24"/>
    <p:sldId id="370" r:id="rId25"/>
    <p:sldId id="371" r:id="rId26"/>
    <p:sldId id="372" r:id="rId27"/>
    <p:sldId id="373" r:id="rId28"/>
    <p:sldId id="374" r:id="rId29"/>
    <p:sldId id="31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5B9BD5"/>
    <a:srgbClr val="FFFF00"/>
    <a:srgbClr val="66FFFF"/>
    <a:srgbClr val="D2DEEF"/>
    <a:srgbClr val="EAEF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54" autoAdjust="0"/>
    <p:restoredTop sz="86964" autoAdjust="0"/>
  </p:normalViewPr>
  <p:slideViewPr>
    <p:cSldViewPr snapToGrid="0">
      <p:cViewPr varScale="1">
        <p:scale>
          <a:sx n="66" d="100"/>
          <a:sy n="66" d="100"/>
        </p:scale>
        <p:origin x="96" y="6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B02212-5716-44E5-A1D3-DEEEA75002BC}" type="datetimeFigureOut">
              <a:rPr lang="en-US" smtClean="0"/>
              <a:t>4/29/2026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FA403D-8322-4310-AF42-A6DE546E1CC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DD9D3C-2FF3-4260-83CA-6E5EE589618D}" type="slidenum">
              <a:rPr lang="en-US" smtClean="0"/>
              <a:t>1</a:t>
            </a:fld>
            <a:endParaRPr lang="en-US"/>
          </a:p>
        </p:txBody>
      </p:sp>
      <p:sp>
        <p:nvSpPr>
          <p:cNvPr id="5" name="Date Placeholder 4"/>
          <p:cNvSpPr>
            <a:spLocks noGrp="1"/>
          </p:cNvSpPr>
          <p:nvPr>
            <p:ph type="dt" idx="11"/>
          </p:nvPr>
        </p:nvSpPr>
        <p:spPr/>
        <p:txBody>
          <a:bodyPr/>
          <a:lstStyle/>
          <a:p>
            <a:fld id="{8DF37FCA-1AC5-4417-9439-50102B5C964F}" type="datetime1">
              <a:rPr lang="en-US" smtClean="0"/>
              <a:t>4/29/2026</a:t>
            </a:fld>
            <a:endParaRPr lang="en-US"/>
          </a:p>
        </p:txBody>
      </p:sp>
      <p:sp>
        <p:nvSpPr>
          <p:cNvPr id="6" name="Header Placeholder 5"/>
          <p:cNvSpPr>
            <a:spLocks noGrp="1"/>
          </p:cNvSpPr>
          <p:nvPr>
            <p:ph type="hdr" sz="quarter" idx="12"/>
          </p:nvPr>
        </p:nvSpPr>
        <p:spPr/>
        <p:txBody>
          <a:bodyPr/>
          <a:lstStyle/>
          <a:p>
            <a:r>
              <a:rPr lang="en-US"/>
              <a:t>christian.s.k.aditya@gmail.com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BEFA403D-8322-4310-AF42-A6DE546E1CC1}" type="slidenum">
              <a:rPr lang="en-US" smtClean="0"/>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id-ID" sz="1200" dirty="0">
                    <a:solidFill>
                      <a:srgbClr val="000000"/>
                    </a:solidFill>
                    <a:latin typeface="Times New Roman" panose="02020603050405020304" pitchFamily="18" charset="0"/>
                    <a:ea typeface="Calibri" panose="020F0502020204030204" pitchFamily="34" charset="0"/>
                    <a:cs typeface="Arial" panose="020B0604020202020204" pitchFamily="34" charset="0"/>
                  </a:rPr>
                  <a:t>Untuk menggambarkan titik-titik pada kurva Bezier maka dilakukan perhitungan titik dari </a:t>
                </a:r>
                <a14:m>
                  <m:oMath xmlns:m="http://schemas.openxmlformats.org/officeDocument/2006/math">
                    <m:r>
                      <a:rPr lang="id-ID" sz="1200" i="1" dirty="0" smtClean="0">
                        <a:solidFill>
                          <a:srgbClr val="000000"/>
                        </a:solidFill>
                        <a:latin typeface="Cambria Math" panose="02040503050406030204" pitchFamily="18" charset="0"/>
                        <a:ea typeface="Calibri" panose="020F0502020204030204" pitchFamily="34" charset="0"/>
                        <a:cs typeface="Arial" panose="020B0604020202020204" pitchFamily="34" charset="0"/>
                      </a:rPr>
                      <m:t>𝑃</m:t>
                    </m:r>
                    <m:r>
                      <a:rPr lang="id-ID" sz="1200" i="1" dirty="0" smtClean="0">
                        <a:solidFill>
                          <a:srgbClr val="000000"/>
                        </a:solidFill>
                        <a:latin typeface="Cambria Math" panose="02040503050406030204" pitchFamily="18" charset="0"/>
                        <a:ea typeface="Calibri" panose="020F0502020204030204" pitchFamily="34" charset="0"/>
                        <a:cs typeface="Arial" panose="020B0604020202020204" pitchFamily="34" charset="0"/>
                      </a:rPr>
                      <m:t>0</m:t>
                    </m:r>
                  </m:oMath>
                </a14:m>
                <a:r>
                  <a:rPr lang="id-ID" sz="1200" dirty="0">
                    <a:solidFill>
                      <a:srgbClr val="000000"/>
                    </a:solidFill>
                    <a:latin typeface="Times New Roman" panose="02020603050405020304" pitchFamily="18" charset="0"/>
                    <a:ea typeface="Calibri" panose="020F0502020204030204" pitchFamily="34" charset="0"/>
                    <a:cs typeface="Arial" panose="020B0604020202020204" pitchFamily="34" charset="0"/>
                  </a:rPr>
                  <a:t> sampai dengan Pn dengan t dari 0 sampai dengan 1, dengan </a:t>
                </a:r>
                <a14:m>
                  <m:oMath xmlns:m="http://schemas.openxmlformats.org/officeDocument/2006/math">
                    <m: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𝑡</m:t>
                    </m:r>
                  </m:oMath>
                </a14:m>
                <a:r>
                  <a:rPr lang="id-ID" sz="1200" dirty="0">
                    <a:solidFill>
                      <a:srgbClr val="000000"/>
                    </a:solidFill>
                    <a:latin typeface="Times New Roman" panose="02020603050405020304" pitchFamily="18" charset="0"/>
                    <a:ea typeface="Calibri" panose="020F0502020204030204" pitchFamily="34" charset="0"/>
                    <a:cs typeface="Arial" panose="020B0604020202020204" pitchFamily="34" charset="0"/>
                  </a:rPr>
                  <a:t> yang bervariasi</a:t>
                </a:r>
                <a:endParaRPr lang="en-US" dirty="0"/>
              </a:p>
            </p:txBody>
          </p:sp>
        </mc:Choice>
        <mc:Fallback xmlns="">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en-US" altLang="en-US">
                    <a:noFill/>
                  </a:rPr>
                  <a:t> </a:t>
                </a:r>
              </a:p>
            </p:txBody>
          </p:sp>
        </mc:Fallback>
      </mc:AlternateContent>
      <p:sp>
        <p:nvSpPr>
          <p:cNvPr id="4" name="Slide Number Placeholder 3"/>
          <p:cNvSpPr>
            <a:spLocks noGrp="1"/>
          </p:cNvSpPr>
          <p:nvPr>
            <p:ph type="sldNum" sz="quarter" idx="10"/>
          </p:nvPr>
        </p:nvSpPr>
        <p:spPr/>
        <p:txBody>
          <a:bodyPr/>
          <a:lstStyle/>
          <a:p>
            <a:fld id="{BEFA403D-8322-4310-AF42-A6DE546E1CC1}" type="slidenum">
              <a:rPr lang="en-US" smtClean="0"/>
              <a:t>7</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FA403D-8322-4310-AF42-A6DE546E1CC1}" type="slidenum">
              <a:rPr lang="en-US" smtClean="0"/>
              <a:t>10</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FA403D-8322-4310-AF42-A6DE546E1CC1}" type="slidenum">
              <a:rPr lang="en-US" smtClean="0"/>
              <a:t>11</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sSup>
                        <m:sSupPr>
                          <m:ctrlPr>
                            <a:rPr lang="id-ID" sz="120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d>
                            <m:dPr>
                              <m:ctrlP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𝑦</m:t>
                              </m:r>
                            </m:e>
                          </m:d>
                        </m:e>
                        <m:sup>
                          <m:r>
                            <a:rPr lang="en-US" sz="1200"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4</m:t>
                          </m:r>
                          <m: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p>
                      </m:sSup>
                      <m: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𝑦</m:t>
                              </m:r>
                            </m:e>
                          </m:d>
                        </m:e>
                        <m:sup>
                          <m:r>
                            <a:rPr lang="en-US" sz="1200"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p>
                      </m:sSup>
                      <m: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p>
                          <m:r>
                            <a:rPr lang="en-US" sz="1200"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p>
                      </m:sSup>
                      <m: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sz="1200"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Sup>
                        <m:sSupPr>
                          <m:ctrlPr>
                            <a:rPr lang="id-ID" sz="120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p>
                          <m:r>
                            <a:rPr lang="en-US" sz="1200"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p>
                      </m:sSup>
                      <m:r>
                        <a:rPr lang="en-US" sz="1200"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𝑦</m:t>
                      </m:r>
                      <m:r>
                        <a:rPr lang="en-US" sz="1200"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+ 3</m:t>
                      </m:r>
                      <m:r>
                        <a:rPr lang="en-US" sz="120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sSup>
                        <m:sSupPr>
                          <m:ctrlPr>
                            <a:rPr lang="id-ID" sz="120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sz="1200"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𝑦</m:t>
                          </m:r>
                        </m:e>
                        <m:sup>
                          <m:r>
                            <a:rPr lang="en-US" sz="1200"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p>
                      </m:sSup>
                      <m: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id-ID" sz="12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𝑦</m:t>
                          </m:r>
                        </m:e>
                        <m:sup>
                          <m:r>
                            <a:rPr lang="en-US" sz="1200"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p>
                      </m:sSup>
                    </m:oMath>
                  </m:oMathPara>
                </a14:m>
                <a:endParaRPr lang="en-US" dirty="0"/>
              </a:p>
            </p:txBody>
          </p:sp>
        </mc:Choice>
        <mc:Fallback xmlns="">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en-US" altLang="en-US">
                    <a:noFill/>
                  </a:rPr>
                  <a:t> </a:t>
                </a:r>
              </a:p>
            </p:txBody>
          </p:sp>
        </mc:Fallback>
      </mc:AlternateContent>
      <p:sp>
        <p:nvSpPr>
          <p:cNvPr id="4" name="Slide Number Placeholder 3"/>
          <p:cNvSpPr>
            <a:spLocks noGrp="1"/>
          </p:cNvSpPr>
          <p:nvPr>
            <p:ph type="sldNum" sz="quarter" idx="10"/>
          </p:nvPr>
        </p:nvSpPr>
        <p:spPr/>
        <p:txBody>
          <a:bodyPr/>
          <a:lstStyle/>
          <a:p>
            <a:fld id="{BEFA403D-8322-4310-AF42-A6DE546E1CC1}" type="slidenum">
              <a:rPr lang="en-US" smtClean="0"/>
              <a:t>12</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FA403D-8322-4310-AF42-A6DE546E1CC1}" type="slidenum">
              <a:rPr lang="en-US" smtClean="0"/>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73422DC-CA48-491D-BED8-C127EAB81957}" type="datetime1">
              <a:rPr lang="en-US" smtClean="0"/>
              <a:t>4/29/2026</a:t>
            </a:fld>
            <a:endParaRPr lang="en-US"/>
          </a:p>
        </p:txBody>
      </p:sp>
      <p:sp>
        <p:nvSpPr>
          <p:cNvPr id="5" name="Footer Placeholder 4"/>
          <p:cNvSpPr>
            <a:spLocks noGrp="1"/>
          </p:cNvSpPr>
          <p:nvPr>
            <p:ph type="ftr" sz="quarter" idx="11"/>
          </p:nvPr>
        </p:nvSpPr>
        <p:spPr/>
        <p:txBody>
          <a:bodyPr/>
          <a:lstStyle/>
          <a:p>
            <a:r>
              <a:rPr lang="en-US"/>
              <a:t>feraputriayu@umm.ac.id</a:t>
            </a:r>
          </a:p>
        </p:txBody>
      </p:sp>
      <p:sp>
        <p:nvSpPr>
          <p:cNvPr id="6" name="Slide Number Placeholder 5"/>
          <p:cNvSpPr>
            <a:spLocks noGrp="1"/>
          </p:cNvSpPr>
          <p:nvPr>
            <p:ph type="sldNum" sz="quarter" idx="12"/>
          </p:nvPr>
        </p:nvSpPr>
        <p:spPr/>
        <p:txBody>
          <a:bodyPr/>
          <a:lstStyle/>
          <a:p>
            <a:fld id="{79596C48-2C34-4EDC-A0FF-CA1207F3E0C1}" type="slidenum">
              <a:rPr lang="en-US" smtClean="0"/>
              <a:t>‹#›</a:t>
            </a:fld>
            <a:endParaRPr lang="en-US"/>
          </a:p>
        </p:txBody>
      </p:sp>
    </p:spTree>
  </p:cSld>
  <p:clrMapOvr>
    <a:masterClrMapping/>
  </p:clrMapOvr>
  <p:transition spd="slow">
    <p:wip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09B19A-500B-47D8-A3BB-592E3FCE0E90}" type="datetime1">
              <a:rPr lang="en-US" smtClean="0"/>
              <a:t>4/29/2026</a:t>
            </a:fld>
            <a:endParaRPr lang="en-US"/>
          </a:p>
        </p:txBody>
      </p:sp>
      <p:sp>
        <p:nvSpPr>
          <p:cNvPr id="5" name="Footer Placeholder 4"/>
          <p:cNvSpPr>
            <a:spLocks noGrp="1"/>
          </p:cNvSpPr>
          <p:nvPr>
            <p:ph type="ftr" sz="quarter" idx="11"/>
          </p:nvPr>
        </p:nvSpPr>
        <p:spPr/>
        <p:txBody>
          <a:bodyPr/>
          <a:lstStyle/>
          <a:p>
            <a:r>
              <a:rPr lang="en-US"/>
              <a:t>feraputriayu@umm.ac.id</a:t>
            </a:r>
          </a:p>
        </p:txBody>
      </p:sp>
      <p:sp>
        <p:nvSpPr>
          <p:cNvPr id="6" name="Slide Number Placeholder 5"/>
          <p:cNvSpPr>
            <a:spLocks noGrp="1"/>
          </p:cNvSpPr>
          <p:nvPr>
            <p:ph type="sldNum" sz="quarter" idx="12"/>
          </p:nvPr>
        </p:nvSpPr>
        <p:spPr/>
        <p:txBody>
          <a:bodyPr/>
          <a:lstStyle/>
          <a:p>
            <a:fld id="{79596C48-2C34-4EDC-A0FF-CA1207F3E0C1}" type="slidenum">
              <a:rPr lang="en-US" smtClean="0"/>
              <a:t>‹#›</a:t>
            </a:fld>
            <a:endParaRPr lang="en-US"/>
          </a:p>
        </p:txBody>
      </p:sp>
    </p:spTree>
  </p:cSld>
  <p:clrMapOvr>
    <a:masterClrMapping/>
  </p:clrMapOvr>
  <p:transition spd="slow">
    <p:wipe/>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25081C-A2B4-4732-88EC-17A3C6CC76B7}" type="datetime1">
              <a:rPr lang="en-US" smtClean="0"/>
              <a:t>4/29/2026</a:t>
            </a:fld>
            <a:endParaRPr lang="en-US"/>
          </a:p>
        </p:txBody>
      </p:sp>
      <p:sp>
        <p:nvSpPr>
          <p:cNvPr id="5" name="Footer Placeholder 4"/>
          <p:cNvSpPr>
            <a:spLocks noGrp="1"/>
          </p:cNvSpPr>
          <p:nvPr>
            <p:ph type="ftr" sz="quarter" idx="11"/>
          </p:nvPr>
        </p:nvSpPr>
        <p:spPr/>
        <p:txBody>
          <a:bodyPr/>
          <a:lstStyle/>
          <a:p>
            <a:r>
              <a:rPr lang="en-US"/>
              <a:t>feraputriayu@umm.ac.id</a:t>
            </a:r>
          </a:p>
        </p:txBody>
      </p:sp>
      <p:sp>
        <p:nvSpPr>
          <p:cNvPr id="6" name="Slide Number Placeholder 5"/>
          <p:cNvSpPr>
            <a:spLocks noGrp="1"/>
          </p:cNvSpPr>
          <p:nvPr>
            <p:ph type="sldNum" sz="quarter" idx="12"/>
          </p:nvPr>
        </p:nvSpPr>
        <p:spPr/>
        <p:txBody>
          <a:bodyPr/>
          <a:lstStyle/>
          <a:p>
            <a:fld id="{79596C48-2C34-4EDC-A0FF-CA1207F3E0C1}" type="slidenum">
              <a:rPr lang="en-US" smtClean="0"/>
              <a:t>‹#›</a:t>
            </a:fld>
            <a:endParaRPr lang="en-US"/>
          </a:p>
        </p:txBody>
      </p:sp>
    </p:spTree>
  </p:cSld>
  <p:clrMapOvr>
    <a:masterClrMapping/>
  </p:clrMapOvr>
  <p:transition spd="slow">
    <p:wipe/>
  </p:transition>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E162BAC-28C6-4076-BCC6-F86D0266FC9E}" type="datetime1">
              <a:rPr lang="en-US" smtClean="0"/>
              <a:t>4/29/2026</a:t>
            </a:fld>
            <a:endParaRPr lang="en-US"/>
          </a:p>
        </p:txBody>
      </p:sp>
      <p:sp>
        <p:nvSpPr>
          <p:cNvPr id="6" name="Footer Placeholder 5"/>
          <p:cNvSpPr>
            <a:spLocks noGrp="1"/>
          </p:cNvSpPr>
          <p:nvPr>
            <p:ph type="ftr" sz="quarter" idx="11"/>
          </p:nvPr>
        </p:nvSpPr>
        <p:spPr/>
        <p:txBody>
          <a:bodyPr/>
          <a:lstStyle/>
          <a:p>
            <a:r>
              <a:rPr lang="en-US"/>
              <a:t>feraputriayu@umm.ac.id</a:t>
            </a:r>
          </a:p>
        </p:txBody>
      </p:sp>
      <p:sp>
        <p:nvSpPr>
          <p:cNvPr id="7" name="Slide Number Placeholder 6"/>
          <p:cNvSpPr>
            <a:spLocks noGrp="1"/>
          </p:cNvSpPr>
          <p:nvPr>
            <p:ph type="sldNum" sz="quarter" idx="12"/>
          </p:nvPr>
        </p:nvSpPr>
        <p:spPr/>
        <p:txBody>
          <a:bodyPr/>
          <a:lstStyle/>
          <a:p>
            <a:fld id="{79596C48-2C34-4EDC-A0FF-CA1207F3E0C1}" type="slidenum">
              <a:rPr lang="en-US" smtClean="0"/>
              <a:t>‹#›</a:t>
            </a:fld>
            <a:endParaRPr lang="en-US"/>
          </a:p>
        </p:txBody>
      </p:sp>
    </p:spTree>
  </p:cSld>
  <p:clrMapOvr>
    <a:masterClrMapping/>
  </p:clrMapOvr>
  <p:transition spd="slow">
    <p:wipe/>
  </p:transition>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E82B90F-74B0-4B92-BA68-947BE41DE279}" type="datetime1">
              <a:rPr lang="en-US" smtClean="0"/>
              <a:t>4/29/2026</a:t>
            </a:fld>
            <a:endParaRPr lang="en-US"/>
          </a:p>
        </p:txBody>
      </p:sp>
      <p:sp>
        <p:nvSpPr>
          <p:cNvPr id="8" name="Footer Placeholder 7"/>
          <p:cNvSpPr>
            <a:spLocks noGrp="1"/>
          </p:cNvSpPr>
          <p:nvPr>
            <p:ph type="ftr" sz="quarter" idx="11"/>
          </p:nvPr>
        </p:nvSpPr>
        <p:spPr/>
        <p:txBody>
          <a:bodyPr/>
          <a:lstStyle/>
          <a:p>
            <a:r>
              <a:rPr lang="en-US"/>
              <a:t>feraputriayu@umm.ac.id</a:t>
            </a:r>
          </a:p>
        </p:txBody>
      </p:sp>
      <p:sp>
        <p:nvSpPr>
          <p:cNvPr id="9" name="Slide Number Placeholder 8"/>
          <p:cNvSpPr>
            <a:spLocks noGrp="1"/>
          </p:cNvSpPr>
          <p:nvPr>
            <p:ph type="sldNum" sz="quarter" idx="12"/>
          </p:nvPr>
        </p:nvSpPr>
        <p:spPr/>
        <p:txBody>
          <a:bodyPr/>
          <a:lstStyle/>
          <a:p>
            <a:fld id="{79596C48-2C34-4EDC-A0FF-CA1207F3E0C1}" type="slidenum">
              <a:rPr lang="en-US" smtClean="0"/>
              <a:t>‹#›</a:t>
            </a:fld>
            <a:endParaRPr lang="en-US"/>
          </a:p>
        </p:txBody>
      </p:sp>
    </p:spTree>
  </p:cSld>
  <p:clrMapOvr>
    <a:masterClrMapping/>
  </p:clrMapOvr>
  <p:transition spd="slow">
    <p:wipe/>
  </p:transition>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65232FC-160F-4707-96D6-AF1265BD60E8}" type="datetime1">
              <a:rPr lang="en-US" smtClean="0"/>
              <a:t>4/29/2026</a:t>
            </a:fld>
            <a:endParaRPr lang="en-US"/>
          </a:p>
        </p:txBody>
      </p:sp>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a:t>
            </a:fld>
            <a:endParaRPr lang="en-US"/>
          </a:p>
        </p:txBody>
      </p:sp>
    </p:spTree>
  </p:cSld>
  <p:clrMapOvr>
    <a:masterClrMapping/>
  </p:clrMapOvr>
  <p:transition spd="slow">
    <p:wipe/>
  </p:transition>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F5E80D-13F2-4E80-9F2F-F4DF9456D2C6}" type="datetime1">
              <a:rPr lang="en-US" smtClean="0"/>
              <a:t>4/29/2026</a:t>
            </a:fld>
            <a:endParaRPr lang="en-US"/>
          </a:p>
        </p:txBody>
      </p:sp>
      <p:sp>
        <p:nvSpPr>
          <p:cNvPr id="3" name="Footer Placeholder 2"/>
          <p:cNvSpPr>
            <a:spLocks noGrp="1"/>
          </p:cNvSpPr>
          <p:nvPr>
            <p:ph type="ftr" sz="quarter" idx="11"/>
          </p:nvPr>
        </p:nvSpPr>
        <p:spPr/>
        <p:txBody>
          <a:bodyPr/>
          <a:lstStyle/>
          <a:p>
            <a:r>
              <a:rPr lang="en-US"/>
              <a:t>feraputriayu@umm.ac.id</a:t>
            </a:r>
          </a:p>
        </p:txBody>
      </p:sp>
      <p:sp>
        <p:nvSpPr>
          <p:cNvPr id="4" name="Slide Number Placeholder 3"/>
          <p:cNvSpPr>
            <a:spLocks noGrp="1"/>
          </p:cNvSpPr>
          <p:nvPr>
            <p:ph type="sldNum" sz="quarter" idx="12"/>
          </p:nvPr>
        </p:nvSpPr>
        <p:spPr/>
        <p:txBody>
          <a:bodyPr/>
          <a:lstStyle/>
          <a:p>
            <a:fld id="{79596C48-2C34-4EDC-A0FF-CA1207F3E0C1}" type="slidenum">
              <a:rPr lang="en-US" smtClean="0"/>
              <a:t>‹#›</a:t>
            </a:fld>
            <a:endParaRPr lang="en-US"/>
          </a:p>
        </p:txBody>
      </p:sp>
    </p:spTree>
  </p:cSld>
  <p:clrMapOvr>
    <a:masterClrMapping/>
  </p:clrMapOvr>
  <p:transition spd="slow">
    <p:wipe/>
  </p:transition>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8AF6CF-D08D-4894-843E-9257FE1FCA90}" type="datetime1">
              <a:rPr lang="en-US" smtClean="0"/>
              <a:t>4/29/2026</a:t>
            </a:fld>
            <a:endParaRPr lang="en-US"/>
          </a:p>
        </p:txBody>
      </p:sp>
      <p:sp>
        <p:nvSpPr>
          <p:cNvPr id="6" name="Footer Placeholder 5"/>
          <p:cNvSpPr>
            <a:spLocks noGrp="1"/>
          </p:cNvSpPr>
          <p:nvPr>
            <p:ph type="ftr" sz="quarter" idx="11"/>
          </p:nvPr>
        </p:nvSpPr>
        <p:spPr/>
        <p:txBody>
          <a:bodyPr/>
          <a:lstStyle/>
          <a:p>
            <a:r>
              <a:rPr lang="en-US"/>
              <a:t>feraputriayu@umm.ac.id</a:t>
            </a:r>
          </a:p>
        </p:txBody>
      </p:sp>
      <p:sp>
        <p:nvSpPr>
          <p:cNvPr id="7" name="Slide Number Placeholder 6"/>
          <p:cNvSpPr>
            <a:spLocks noGrp="1"/>
          </p:cNvSpPr>
          <p:nvPr>
            <p:ph type="sldNum" sz="quarter" idx="12"/>
          </p:nvPr>
        </p:nvSpPr>
        <p:spPr/>
        <p:txBody>
          <a:bodyPr/>
          <a:lstStyle/>
          <a:p>
            <a:fld id="{79596C48-2C34-4EDC-A0FF-CA1207F3E0C1}" type="slidenum">
              <a:rPr lang="en-US" smtClean="0"/>
              <a:t>‹#›</a:t>
            </a:fld>
            <a:endParaRPr lang="en-US"/>
          </a:p>
        </p:txBody>
      </p:sp>
    </p:spTree>
  </p:cSld>
  <p:clrMapOvr>
    <a:masterClrMapping/>
  </p:clrMapOvr>
  <p:transition spd="slow">
    <p:wipe/>
  </p:transition>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66BD8E-E412-45E9-B120-C82A6A6CA3A1}" type="datetime1">
              <a:rPr lang="en-US" smtClean="0"/>
              <a:t>4/29/2026</a:t>
            </a:fld>
            <a:endParaRPr lang="en-US"/>
          </a:p>
        </p:txBody>
      </p:sp>
      <p:sp>
        <p:nvSpPr>
          <p:cNvPr id="6" name="Footer Placeholder 5"/>
          <p:cNvSpPr>
            <a:spLocks noGrp="1"/>
          </p:cNvSpPr>
          <p:nvPr>
            <p:ph type="ftr" sz="quarter" idx="11"/>
          </p:nvPr>
        </p:nvSpPr>
        <p:spPr/>
        <p:txBody>
          <a:bodyPr/>
          <a:lstStyle/>
          <a:p>
            <a:r>
              <a:rPr lang="en-US"/>
              <a:t>feraputriayu@umm.ac.id</a:t>
            </a:r>
          </a:p>
        </p:txBody>
      </p:sp>
      <p:sp>
        <p:nvSpPr>
          <p:cNvPr id="7" name="Slide Number Placeholder 6"/>
          <p:cNvSpPr>
            <a:spLocks noGrp="1"/>
          </p:cNvSpPr>
          <p:nvPr>
            <p:ph type="sldNum" sz="quarter" idx="12"/>
          </p:nvPr>
        </p:nvSpPr>
        <p:spPr/>
        <p:txBody>
          <a:bodyPr/>
          <a:lstStyle/>
          <a:p>
            <a:fld id="{79596C48-2C34-4EDC-A0FF-CA1207F3E0C1}" type="slidenum">
              <a:rPr lang="en-US" smtClean="0"/>
              <a:t>‹#›</a:t>
            </a:fld>
            <a:endParaRPr lang="en-US"/>
          </a:p>
        </p:txBody>
      </p:sp>
    </p:spTree>
  </p:cSld>
  <p:clrMapOvr>
    <a:masterClrMapping/>
  </p:clrMapOvr>
  <p:transition spd="slow">
    <p:wipe/>
  </p:transition>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ADDD81-7D00-48C2-8B1D-B248D1347316}" type="datetime1">
              <a:rPr lang="en-US" smtClean="0"/>
              <a:t>4/29/2026</a:t>
            </a:fld>
            <a:endParaRPr lang="en-US"/>
          </a:p>
        </p:txBody>
      </p:sp>
      <p:sp>
        <p:nvSpPr>
          <p:cNvPr id="5" name="Footer Placeholder 4"/>
          <p:cNvSpPr>
            <a:spLocks noGrp="1"/>
          </p:cNvSpPr>
          <p:nvPr>
            <p:ph type="ftr" sz="quarter" idx="11"/>
          </p:nvPr>
        </p:nvSpPr>
        <p:spPr/>
        <p:txBody>
          <a:bodyPr/>
          <a:lstStyle/>
          <a:p>
            <a:r>
              <a:rPr lang="en-US"/>
              <a:t>feraputriayu@umm.ac.id</a:t>
            </a:r>
          </a:p>
        </p:txBody>
      </p:sp>
      <p:sp>
        <p:nvSpPr>
          <p:cNvPr id="6" name="Slide Number Placeholder 5"/>
          <p:cNvSpPr>
            <a:spLocks noGrp="1"/>
          </p:cNvSpPr>
          <p:nvPr>
            <p:ph type="sldNum" sz="quarter" idx="12"/>
          </p:nvPr>
        </p:nvSpPr>
        <p:spPr/>
        <p:txBody>
          <a:bodyPr/>
          <a:lstStyle/>
          <a:p>
            <a:fld id="{79596C48-2C34-4EDC-A0FF-CA1207F3E0C1}" type="slidenum">
              <a:rPr lang="en-US" smtClean="0"/>
              <a:t>‹#›</a:t>
            </a:fld>
            <a:endParaRPr lang="en-US"/>
          </a:p>
        </p:txBody>
      </p:sp>
    </p:spTree>
  </p:cSld>
  <p:clrMapOvr>
    <a:masterClrMapping/>
  </p:clrMapOvr>
  <p:transition spd="slow">
    <p:wipe/>
  </p:transition>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1DE0E75-CD42-4B89-A74C-92CCE7B42F1B}" type="datetime1">
              <a:rPr lang="en-US" smtClean="0"/>
              <a:t>4/29/2026</a:t>
            </a:fld>
            <a:endParaRPr lang="en-US"/>
          </a:p>
        </p:txBody>
      </p:sp>
      <p:sp>
        <p:nvSpPr>
          <p:cNvPr id="5" name="Footer Placeholder 4"/>
          <p:cNvSpPr>
            <a:spLocks noGrp="1"/>
          </p:cNvSpPr>
          <p:nvPr>
            <p:ph type="ftr" sz="quarter" idx="11"/>
          </p:nvPr>
        </p:nvSpPr>
        <p:spPr/>
        <p:txBody>
          <a:bodyPr/>
          <a:lstStyle/>
          <a:p>
            <a:r>
              <a:rPr lang="en-US"/>
              <a:t>feraputriayu@umm.ac.id</a:t>
            </a:r>
          </a:p>
        </p:txBody>
      </p:sp>
      <p:sp>
        <p:nvSpPr>
          <p:cNvPr id="6" name="Slide Number Placeholder 5"/>
          <p:cNvSpPr>
            <a:spLocks noGrp="1"/>
          </p:cNvSpPr>
          <p:nvPr>
            <p:ph type="sldNum" sz="quarter" idx="12"/>
          </p:nvPr>
        </p:nvSpPr>
        <p:spPr/>
        <p:txBody>
          <a:bodyPr/>
          <a:lstStyle/>
          <a:p>
            <a:fld id="{79596C48-2C34-4EDC-A0FF-CA1207F3E0C1}" type="slidenum">
              <a:rPr lang="en-US" smtClean="0"/>
              <a:t>‹#›</a:t>
            </a:fld>
            <a:endParaRPr lang="en-US"/>
          </a:p>
        </p:txBody>
      </p:sp>
    </p:spTree>
  </p:cSld>
  <p:clrMapOvr>
    <a:masterClrMapping/>
  </p:clrMapOvr>
  <p:transition spd="slow">
    <p:wipe/>
  </p:transition>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7DC963-DB2E-40EE-BEC9-350309FFA362}" type="datetime1">
              <a:rPr lang="en-US" smtClean="0"/>
              <a:t>4/29/2026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feraputriayu@umm.ac.id</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596C48-2C34-4EDC-A0FF-CA1207F3E0C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ctrTitle"/>
          </p:nvPr>
        </p:nvSpPr>
        <p:spPr/>
        <p:txBody>
          <a:bodyPr>
            <a:normAutofit/>
          </a:bodyPr>
          <a:lstStyle/>
          <a:p>
            <a:r>
              <a:rPr lang="en-US" sz="6600" b="1" dirty="0">
                <a:effectLst>
                  <a:outerShdw blurRad="38100" dist="38100" dir="2700000" algn="tl">
                    <a:srgbClr val="000000">
                      <a:alpha val="43137"/>
                    </a:srgbClr>
                  </a:outerShdw>
                </a:effectLst>
              </a:rPr>
              <a:t>Computer Graphic</a:t>
            </a:r>
          </a:p>
        </p:txBody>
      </p:sp>
      <p:sp>
        <p:nvSpPr>
          <p:cNvPr id="3" name="Subtitle 2"/>
          <p:cNvSpPr>
            <a:spLocks noGrp="1"/>
          </p:cNvSpPr>
          <p:nvPr>
            <p:ph type="subTitle" idx="1"/>
          </p:nvPr>
        </p:nvSpPr>
        <p:spPr/>
        <p:txBody>
          <a:bodyPr/>
          <a:lstStyle/>
          <a:p>
            <a:r>
              <a:rPr lang="en-US" b="1" i="1" dirty="0"/>
              <a:t>Week 7 : </a:t>
            </a:r>
            <a:r>
              <a:rPr lang="en-US" i="1" dirty="0"/>
              <a:t>Curve</a:t>
            </a:r>
          </a:p>
        </p:txBody>
      </p:sp>
      <p:sp>
        <p:nvSpPr>
          <p:cNvPr id="5" name="Footer Placeholder 4"/>
          <p:cNvSpPr>
            <a:spLocks noGrp="1"/>
          </p:cNvSpPr>
          <p:nvPr>
            <p:ph type="ftr" sz="quarter" idx="11"/>
          </p:nvPr>
        </p:nvSpPr>
        <p:spPr/>
        <p:txBody>
          <a:bodyPr/>
          <a:lstStyle/>
          <a:p>
            <a:r>
              <a:rPr lang="en-US"/>
              <a:t>feraputriayu@umm.ac.id</a:t>
            </a:r>
          </a:p>
        </p:txBody>
      </p:sp>
      <p:sp>
        <p:nvSpPr>
          <p:cNvPr id="6" name="Slide Number Placeholder 5"/>
          <p:cNvSpPr>
            <a:spLocks noGrp="1"/>
          </p:cNvSpPr>
          <p:nvPr>
            <p:ph type="sldNum" sz="quarter" idx="12"/>
          </p:nvPr>
        </p:nvSpPr>
        <p:spPr/>
        <p:txBody>
          <a:bodyPr/>
          <a:lstStyle/>
          <a:p>
            <a:fld id="{3B400F24-E945-4E23-AE98-19FD98E2160D}" type="slidenum">
              <a:rPr lang="en-US" smtClean="0"/>
              <a:t>1</a:t>
            </a:fld>
            <a:endParaRPr lang="en-US"/>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3" name="Content Placeholder 2"/>
          <p:cNvSpPr>
            <a:spLocks noGrp="1"/>
          </p:cNvSpPr>
          <p:nvPr>
            <p:ph idx="1"/>
          </p:nvPr>
        </p:nvSpPr>
        <p:spPr>
          <a:xfrm>
            <a:off x="838200" y="365125"/>
            <a:ext cx="10515600" cy="536575"/>
          </a:xfrm>
        </p:spPr>
        <p:txBody>
          <a:bodyPr/>
          <a:lstStyle/>
          <a:p>
            <a:pPr marL="0" indent="0">
              <a:buNone/>
            </a:pPr>
            <a:r>
              <a:rPr lang="en-US" b="1" dirty="0"/>
              <a:t>Lines vs Curve</a:t>
            </a:r>
          </a:p>
        </p:txBody>
      </p:sp>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2</a:t>
            </a:fld>
            <a:endParaRPr lang="en-US"/>
          </a:p>
        </p:txBody>
      </p:sp>
      <p:sp>
        <p:nvSpPr>
          <p:cNvPr id="7" name="Freeform 6"/>
          <p:cNvSpPr/>
          <p:nvPr/>
        </p:nvSpPr>
        <p:spPr>
          <a:xfrm>
            <a:off x="7581900" y="1521367"/>
            <a:ext cx="2705943" cy="1513933"/>
          </a:xfrm>
          <a:custGeom>
            <a:avLst/>
            <a:gdLst>
              <a:gd name="connsiteX0" fmla="*/ 0 w 4343400"/>
              <a:gd name="connsiteY0" fmla="*/ 193133 h 2430065"/>
              <a:gd name="connsiteX1" fmla="*/ 1511300 w 4343400"/>
              <a:gd name="connsiteY1" fmla="*/ 180433 h 2430065"/>
              <a:gd name="connsiteX2" fmla="*/ 3340100 w 4343400"/>
              <a:gd name="connsiteY2" fmla="*/ 2098133 h 2430065"/>
              <a:gd name="connsiteX3" fmla="*/ 4343400 w 4343400"/>
              <a:gd name="connsiteY3" fmla="*/ 2415633 h 2430065"/>
            </a:gdLst>
            <a:ahLst/>
            <a:cxnLst>
              <a:cxn ang="0">
                <a:pos x="connsiteX0" y="connsiteY0"/>
              </a:cxn>
              <a:cxn ang="0">
                <a:pos x="connsiteX1" y="connsiteY1"/>
              </a:cxn>
              <a:cxn ang="0">
                <a:pos x="connsiteX2" y="connsiteY2"/>
              </a:cxn>
              <a:cxn ang="0">
                <a:pos x="connsiteX3" y="connsiteY3"/>
              </a:cxn>
            </a:cxnLst>
            <a:rect l="l" t="t" r="r" b="b"/>
            <a:pathLst>
              <a:path w="4343400" h="2430065">
                <a:moveTo>
                  <a:pt x="0" y="193133"/>
                </a:moveTo>
                <a:cubicBezTo>
                  <a:pt x="477308" y="28033"/>
                  <a:pt x="954617" y="-137067"/>
                  <a:pt x="1511300" y="180433"/>
                </a:cubicBezTo>
                <a:cubicBezTo>
                  <a:pt x="2067983" y="497933"/>
                  <a:pt x="2868083" y="1725600"/>
                  <a:pt x="3340100" y="2098133"/>
                </a:cubicBezTo>
                <a:cubicBezTo>
                  <a:pt x="3812117" y="2470666"/>
                  <a:pt x="4077758" y="2443149"/>
                  <a:pt x="4343400" y="2415633"/>
                </a:cubicBezTo>
              </a:path>
            </a:pathLst>
          </a:custGeom>
          <a:noFill/>
          <a:ln>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a:off x="1816100" y="1382983"/>
            <a:ext cx="2641600" cy="1790700"/>
          </a:xfrm>
          <a:prstGeom prst="line">
            <a:avLst/>
          </a:prstGeom>
          <a:ln>
            <a:headEnd type="oval"/>
            <a:tailEnd type="oval"/>
          </a:ln>
        </p:spPr>
        <p:style>
          <a:lnRef idx="1">
            <a:schemeClr val="accent1"/>
          </a:lnRef>
          <a:fillRef idx="0">
            <a:schemeClr val="accent1"/>
          </a:fillRef>
          <a:effectRef idx="0">
            <a:schemeClr val="accent1"/>
          </a:effectRef>
          <a:fontRef idx="minor">
            <a:schemeClr val="tx1"/>
          </a:fontRef>
        </p:style>
      </p:cxnSp>
      <p:sp>
        <p:nvSpPr>
          <p:cNvPr id="10" name="Content Placeholder 2"/>
          <p:cNvSpPr txBox="1"/>
          <p:nvPr/>
        </p:nvSpPr>
        <p:spPr>
          <a:xfrm>
            <a:off x="838200" y="3525062"/>
            <a:ext cx="5118100" cy="22069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In the past, you have probably specified a line by the position of it’s end points. The </a:t>
            </a:r>
            <a:r>
              <a:rPr lang="en-US" sz="2000" dirty="0" err="1"/>
              <a:t>breshenham</a:t>
            </a:r>
            <a:r>
              <a:rPr lang="en-US" sz="2000" dirty="0"/>
              <a:t> or other algorithms simply draw a straight line between the two points</a:t>
            </a:r>
          </a:p>
        </p:txBody>
      </p:sp>
      <p:sp>
        <p:nvSpPr>
          <p:cNvPr id="11" name="Content Placeholder 2"/>
          <p:cNvSpPr txBox="1"/>
          <p:nvPr/>
        </p:nvSpPr>
        <p:spPr>
          <a:xfrm>
            <a:off x="6490648" y="3525061"/>
            <a:ext cx="5118100" cy="23844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A curve allows you to specify, </a:t>
            </a:r>
            <a:r>
              <a:rPr lang="en-US" sz="2000" b="1" dirty="0"/>
              <a:t>not only the end points of the line, but also the direction of the line as it passes through the end points</a:t>
            </a:r>
            <a:r>
              <a:rPr lang="en-US" sz="2000" dirty="0"/>
              <a:t>.</a:t>
            </a:r>
          </a:p>
          <a:p>
            <a:pPr marL="0" indent="0">
              <a:buFont typeface="Arial" panose="020B0604020202020204" pitchFamily="34" charset="0"/>
              <a:buNone/>
            </a:pPr>
            <a:r>
              <a:rPr lang="en-US" sz="2000" dirty="0"/>
              <a:t>The algorithm draws a curve that passes through the end points at an angle parallel to the specified direction.</a:t>
            </a:r>
          </a:p>
        </p:txBody>
      </p:sp>
      <p:sp>
        <p:nvSpPr>
          <p:cNvPr id="12" name="TextBox 11"/>
          <p:cNvSpPr txBox="1"/>
          <p:nvPr/>
        </p:nvSpPr>
        <p:spPr>
          <a:xfrm>
            <a:off x="1937982" y="1083802"/>
            <a:ext cx="985847" cy="338554"/>
          </a:xfrm>
          <a:prstGeom prst="rect">
            <a:avLst/>
          </a:prstGeom>
          <a:noFill/>
        </p:spPr>
        <p:txBody>
          <a:bodyPr wrap="none" rtlCol="0">
            <a:spAutoFit/>
          </a:bodyPr>
          <a:lstStyle/>
          <a:p>
            <a:r>
              <a:rPr lang="en-US" sz="1600" dirty="0"/>
              <a:t>end point</a:t>
            </a:r>
          </a:p>
        </p:txBody>
      </p:sp>
      <p:sp>
        <p:nvSpPr>
          <p:cNvPr id="13" name="TextBox 12"/>
          <p:cNvSpPr txBox="1"/>
          <p:nvPr/>
        </p:nvSpPr>
        <p:spPr>
          <a:xfrm>
            <a:off x="10287843" y="3041250"/>
            <a:ext cx="985847" cy="338554"/>
          </a:xfrm>
          <a:prstGeom prst="rect">
            <a:avLst/>
          </a:prstGeom>
          <a:noFill/>
        </p:spPr>
        <p:txBody>
          <a:bodyPr wrap="none" rtlCol="0">
            <a:spAutoFit/>
          </a:bodyPr>
          <a:lstStyle/>
          <a:p>
            <a:r>
              <a:rPr lang="en-US" sz="1600" dirty="0"/>
              <a:t>end point</a:t>
            </a:r>
          </a:p>
        </p:txBody>
      </p:sp>
      <p:sp>
        <p:nvSpPr>
          <p:cNvPr id="14" name="TextBox 13"/>
          <p:cNvSpPr txBox="1"/>
          <p:nvPr/>
        </p:nvSpPr>
        <p:spPr>
          <a:xfrm>
            <a:off x="8610600" y="989578"/>
            <a:ext cx="928972" cy="338554"/>
          </a:xfrm>
          <a:prstGeom prst="rect">
            <a:avLst/>
          </a:prstGeom>
          <a:noFill/>
        </p:spPr>
        <p:txBody>
          <a:bodyPr wrap="none" rtlCol="0">
            <a:spAutoFit/>
          </a:bodyPr>
          <a:lstStyle/>
          <a:p>
            <a:r>
              <a:rPr lang="en-US" sz="1600" dirty="0"/>
              <a:t>direction</a:t>
            </a:r>
          </a:p>
        </p:txBody>
      </p:sp>
      <p:sp>
        <p:nvSpPr>
          <p:cNvPr id="15" name="TextBox 14"/>
          <p:cNvSpPr txBox="1"/>
          <p:nvPr/>
        </p:nvSpPr>
        <p:spPr>
          <a:xfrm>
            <a:off x="4610100" y="2883895"/>
            <a:ext cx="985847" cy="338554"/>
          </a:xfrm>
          <a:prstGeom prst="rect">
            <a:avLst/>
          </a:prstGeom>
          <a:noFill/>
        </p:spPr>
        <p:txBody>
          <a:bodyPr wrap="none" rtlCol="0">
            <a:spAutoFit/>
          </a:bodyPr>
          <a:lstStyle/>
          <a:p>
            <a:r>
              <a:rPr lang="en-US" sz="1600" dirty="0"/>
              <a:t>end point</a:t>
            </a:r>
          </a:p>
        </p:txBody>
      </p:sp>
      <p:cxnSp>
        <p:nvCxnSpPr>
          <p:cNvPr id="19" name="Straight Connector 18"/>
          <p:cNvCxnSpPr/>
          <p:nvPr/>
        </p:nvCxnSpPr>
        <p:spPr>
          <a:xfrm flipV="1">
            <a:off x="7581900" y="1264212"/>
            <a:ext cx="1139019" cy="353992"/>
          </a:xfrm>
          <a:prstGeom prst="line">
            <a:avLst/>
          </a:prstGeom>
          <a:ln w="31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9049698" y="3026328"/>
            <a:ext cx="1238917" cy="8972"/>
          </a:xfrm>
          <a:prstGeom prst="line">
            <a:avLst/>
          </a:prstGeom>
          <a:ln w="3175">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6595281" y="1609106"/>
            <a:ext cx="985847" cy="338554"/>
          </a:xfrm>
          <a:prstGeom prst="rect">
            <a:avLst/>
          </a:prstGeom>
          <a:noFill/>
        </p:spPr>
        <p:txBody>
          <a:bodyPr wrap="none" rtlCol="0">
            <a:spAutoFit/>
          </a:bodyPr>
          <a:lstStyle/>
          <a:p>
            <a:r>
              <a:rPr lang="en-US" sz="1600" dirty="0"/>
              <a:t>end point</a:t>
            </a:r>
          </a:p>
        </p:txBody>
      </p:sp>
      <p:sp>
        <p:nvSpPr>
          <p:cNvPr id="24" name="TextBox 23"/>
          <p:cNvSpPr txBox="1"/>
          <p:nvPr/>
        </p:nvSpPr>
        <p:spPr>
          <a:xfrm>
            <a:off x="8079503" y="2857051"/>
            <a:ext cx="928972" cy="338554"/>
          </a:xfrm>
          <a:prstGeom prst="rect">
            <a:avLst/>
          </a:prstGeom>
          <a:noFill/>
        </p:spPr>
        <p:txBody>
          <a:bodyPr wrap="none" rtlCol="0">
            <a:spAutoFit/>
          </a:bodyPr>
          <a:lstStyle/>
          <a:p>
            <a:r>
              <a:rPr lang="en-US" sz="1600" dirty="0"/>
              <a:t>direction</a:t>
            </a:r>
          </a:p>
        </p:txBody>
      </p:sp>
      <p:pic>
        <p:nvPicPr>
          <p:cNvPr id="25" name="Picture 2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662151"/>
                <a:ext cx="10515600" cy="5514811"/>
              </a:xfrm>
            </p:spPr>
            <p:txBody>
              <a:bodyPr/>
              <a:lstStyle/>
              <a:p>
                <a:pPr marL="0" indent="0">
                  <a:buNone/>
                </a:pPr>
                <a:r>
                  <a:rPr lang="en-US" sz="2000" dirty="0"/>
                  <a:t>A Polynomials is a sum of variables raised to power and multiplied by coefficients, e.g.</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nary>
                        <m:naryPr>
                          <m:chr m:val="∑"/>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=0</m:t>
                          </m:r>
                        </m:sub>
                        <m:sup>
                          <m:r>
                            <a:rPr lang="en-US" sz="2000" b="0" i="1" smtClean="0">
                              <a:latin typeface="Cambria Math" panose="02040503050406030204" pitchFamily="18" charset="0"/>
                            </a:rPr>
                            <m:t>𝑛</m:t>
                          </m:r>
                        </m:sup>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𝑖</m:t>
                              </m:r>
                            </m:sub>
                          </m:sSub>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𝑛</m:t>
                              </m:r>
                            </m:sup>
                          </m:sSup>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𝑥</m:t>
                          </m:r>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b="0" i="1" smtClean="0">
                                  <a:latin typeface="Cambria Math" panose="02040503050406030204" pitchFamily="18" charset="0"/>
                                </a:rPr>
                                <m:t>2</m:t>
                              </m:r>
                            </m:sub>
                          </m:sSub>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 . . . +</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b="0" i="1" smtClean="0">
                                  <a:latin typeface="Cambria Math" panose="02040503050406030204" pitchFamily="18" charset="0"/>
                                </a:rPr>
                                <m:t>𝑛</m:t>
                              </m:r>
                            </m:sub>
                          </m:sSub>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b="0" i="1" smtClean="0">
                                  <a:latin typeface="Cambria Math" panose="02040503050406030204" pitchFamily="18" charset="0"/>
                                </a:rPr>
                                <m:t>𝑛</m:t>
                              </m:r>
                            </m:sup>
                          </m:sSup>
                        </m:e>
                      </m:nary>
                    </m:oMath>
                  </m:oMathPara>
                </a14:m>
                <a:endParaRPr lang="en-US" sz="2000" dirty="0"/>
              </a:p>
              <a:p>
                <a:pPr marL="0" indent="0">
                  <a:buNone/>
                </a:pPr>
                <a:endParaRPr lang="en-US" sz="2000" dirty="0"/>
              </a:p>
              <a:p>
                <a:pPr marL="0" indent="0">
                  <a:buNone/>
                </a:pPr>
                <a:r>
                  <a:rPr lang="en-US" sz="2000" dirty="0"/>
                  <a:t>The degree (order) of a polynomial is the highest power of the variables.</a:t>
                </a:r>
              </a:p>
              <a:p>
                <a:pPr marL="0" indent="0">
                  <a:buNone/>
                </a:pPr>
                <a:endParaRPr lang="en-US" sz="2000" dirty="0"/>
              </a:p>
              <a:p>
                <a:pPr marL="0" indent="0">
                  <a:buNone/>
                </a:pPr>
                <a:r>
                  <a:rPr lang="en-US" sz="2000" dirty="0"/>
                  <a:t>Polynomials of different degrees are given names:</a:t>
                </a:r>
              </a:p>
              <a:p>
                <a:pPr marL="0" indent="0">
                  <a:buNone/>
                </a:pPr>
                <a:r>
                  <a:rPr lang="en-US" sz="2000" b="1" dirty="0"/>
                  <a:t>Linear</a:t>
                </a:r>
                <a:r>
                  <a:rPr lang="en-US" sz="2000" b="0" dirty="0"/>
                  <a:t>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+1</m:t>
                    </m:r>
                  </m:oMath>
                </a14:m>
                <a:endParaRPr lang="en-US" sz="2000" b="0" dirty="0"/>
              </a:p>
              <a:p>
                <a:pPr marL="0" indent="0">
                  <a:buNone/>
                </a:pPr>
                <a:r>
                  <a:rPr lang="en-US" sz="2000" b="1" dirty="0" err="1"/>
                  <a:t>Quadatric</a:t>
                </a:r>
                <a:r>
                  <a:rPr lang="en-US" sz="2000" dirty="0"/>
                  <a:t>	</a:t>
                </a:r>
                <a14:m>
                  <m:oMath xmlns:m="http://schemas.openxmlformats.org/officeDocument/2006/math">
                    <m:r>
                      <m:rPr>
                        <m:sty m:val="p"/>
                      </m:rPr>
                      <a:rPr lang="en-US" sz="2000" b="0" i="0" smtClean="0">
                        <a:latin typeface="Cambria Math" panose="02040503050406030204" pitchFamily="18" charset="0"/>
                      </a:rPr>
                      <m:t>g</m:t>
                    </m:r>
                    <m:d>
                      <m:dPr>
                        <m:ctrlPr>
                          <a:rPr lang="en-US" sz="2000" i="1">
                            <a:latin typeface="Cambria Math" panose="02040503050406030204" pitchFamily="18" charset="0"/>
                          </a:rPr>
                        </m:ctrlPr>
                      </m:dPr>
                      <m:e>
                        <m:r>
                          <a:rPr lang="en-US" sz="2000" i="1">
                            <a:latin typeface="Cambria Math" panose="02040503050406030204" pitchFamily="18" charset="0"/>
                          </a:rPr>
                          <m:t>𝑥</m:t>
                        </m:r>
                      </m:e>
                    </m:d>
                    <m:r>
                      <a:rPr lang="en-US" sz="2000" i="1">
                        <a:latin typeface="Cambria Math" panose="02040503050406030204" pitchFamily="18" charset="0"/>
                      </a:rPr>
                      <m:t>=</m:t>
                    </m:r>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r>
                      <a:rPr lang="en-US" sz="2000" i="1">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+1</m:t>
                    </m:r>
                  </m:oMath>
                </a14:m>
                <a:endParaRPr lang="en-US" sz="2000" dirty="0"/>
              </a:p>
              <a:p>
                <a:pPr marL="0" indent="0">
                  <a:buNone/>
                </a:pPr>
                <a:r>
                  <a:rPr lang="en-US" sz="2000" b="1" dirty="0"/>
                  <a:t>Cubic</a:t>
                </a:r>
                <a:r>
                  <a:rPr lang="en-US" sz="2000" dirty="0"/>
                  <a:t>		</a:t>
                </a:r>
                <a14:m>
                  <m:oMath xmlns:m="http://schemas.openxmlformats.org/officeDocument/2006/math">
                    <m:r>
                      <m:rPr>
                        <m:sty m:val="p"/>
                      </m:rPr>
                      <a:rPr lang="en-US" sz="2000">
                        <a:latin typeface="Cambria Math" panose="02040503050406030204" pitchFamily="18" charset="0"/>
                      </a:rPr>
                      <m:t>h</m:t>
                    </m:r>
                    <m:d>
                      <m:dPr>
                        <m:ctrlPr>
                          <a:rPr lang="en-US" sz="2000" i="1">
                            <a:latin typeface="Cambria Math" panose="02040503050406030204" pitchFamily="18" charset="0"/>
                          </a:rPr>
                        </m:ctrlPr>
                      </m:dPr>
                      <m:e>
                        <m:r>
                          <a:rPr lang="en-US" sz="2000" i="1">
                            <a:latin typeface="Cambria Math" panose="02040503050406030204" pitchFamily="18" charset="0"/>
                          </a:rPr>
                          <m:t>𝑥</m:t>
                        </m:r>
                      </m:e>
                    </m:d>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b="0" i="1" smtClean="0">
                            <a:latin typeface="Cambria Math" panose="02040503050406030204" pitchFamily="18" charset="0"/>
                          </a:rPr>
                          <m:t>3</m:t>
                        </m:r>
                      </m:sup>
                    </m:sSup>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2</m:t>
                        </m:r>
                      </m:sup>
                    </m:sSup>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+1</m:t>
                    </m:r>
                  </m:oMath>
                </a14:m>
                <a:endParaRPr lang="en-US" sz="2000" dirty="0"/>
              </a:p>
              <a:p>
                <a:pPr marL="0" indent="0">
                  <a:buNone/>
                </a:pPr>
                <a:r>
                  <a:rPr lang="en-US" sz="2000" b="1" dirty="0"/>
                  <a:t>Quartic	</a:t>
                </a:r>
                <a:r>
                  <a:rPr lang="en-US" sz="2000" dirty="0"/>
                  <a:t>	</a:t>
                </a:r>
                <a14:m>
                  <m:oMath xmlns:m="http://schemas.openxmlformats.org/officeDocument/2006/math">
                    <m:r>
                      <m:rPr>
                        <m:sty m:val="p"/>
                      </m:rPr>
                      <a:rPr lang="en-US" sz="2000" b="0" i="0" smtClean="0">
                        <a:latin typeface="Cambria Math" panose="02040503050406030204" pitchFamily="18" charset="0"/>
                      </a:rPr>
                      <m:t>i</m:t>
                    </m:r>
                    <m:d>
                      <m:dPr>
                        <m:ctrlPr>
                          <a:rPr lang="en-US" sz="2000" i="1">
                            <a:latin typeface="Cambria Math" panose="02040503050406030204" pitchFamily="18" charset="0"/>
                          </a:rPr>
                        </m:ctrlPr>
                      </m:dPr>
                      <m:e>
                        <m:r>
                          <a:rPr lang="en-US" sz="2000" i="1">
                            <a:latin typeface="Cambria Math" panose="02040503050406030204" pitchFamily="18" charset="0"/>
                          </a:rPr>
                          <m:t>𝑥</m:t>
                        </m:r>
                      </m:e>
                    </m:d>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b="0" i="1" smtClean="0">
                            <a:latin typeface="Cambria Math" panose="02040503050406030204" pitchFamily="18" charset="0"/>
                          </a:rPr>
                          <m:t>4</m:t>
                        </m:r>
                      </m:sup>
                    </m:sSup>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3</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2</m:t>
                        </m:r>
                      </m:sup>
                    </m:sSup>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+1</m:t>
                    </m:r>
                  </m:oMath>
                </a14:m>
                <a:endParaRPr lang="en-US" sz="2000" dirty="0"/>
              </a:p>
              <a:p>
                <a:pPr marL="0" indent="0">
                  <a:buNone/>
                </a:pPr>
                <a:endParaRPr lang="en-US" sz="2000" dirty="0"/>
              </a:p>
              <a:p>
                <a:pPr marL="0" indent="0">
                  <a:buNone/>
                </a:pPr>
                <a:endParaRPr lang="en-US" sz="2000" dirty="0"/>
              </a:p>
              <a:p>
                <a:pPr marL="0" indent="0">
                  <a:buNone/>
                </a:pPr>
                <a:endParaRPr lang="en-US" sz="20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838200" y="662151"/>
                <a:ext cx="10515600" cy="5514811"/>
              </a:xfrm>
              <a:blipFill rotWithShape="1">
                <a:blip r:embed="rId3"/>
                <a:stretch>
                  <a:fillRect t="-9" b="-7306"/>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3</a:t>
            </a:fld>
            <a:endParaRPr lang="en-US"/>
          </a:p>
        </p:txBody>
      </p:sp>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endParaRPr lang="en-US" sz="4400" dirty="0"/>
          </a:p>
          <a:p>
            <a:pPr marL="0" indent="0" algn="ctr">
              <a:buNone/>
            </a:pPr>
            <a:endParaRPr lang="en-US" sz="4400" dirty="0"/>
          </a:p>
          <a:p>
            <a:pPr marL="0" indent="0" algn="ctr">
              <a:buNone/>
            </a:pPr>
            <a:r>
              <a:rPr lang="en-US" sz="4400" dirty="0"/>
              <a:t>Bezier Curve</a:t>
            </a:r>
          </a:p>
        </p:txBody>
      </p:sp>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4</a:t>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3" name="Content Placeholder 2"/>
          <p:cNvSpPr>
            <a:spLocks noGrp="1"/>
          </p:cNvSpPr>
          <p:nvPr>
            <p:ph idx="1"/>
          </p:nvPr>
        </p:nvSpPr>
        <p:spPr>
          <a:xfrm>
            <a:off x="838200" y="365125"/>
            <a:ext cx="6392333" cy="5811838"/>
          </a:xfrm>
        </p:spPr>
        <p:txBody>
          <a:bodyPr/>
          <a:lstStyle/>
          <a:p>
            <a:pPr marL="0" indent="0">
              <a:buNone/>
            </a:pPr>
            <a:r>
              <a:rPr lang="en-US" b="1" dirty="0"/>
              <a:t>Bezier Curve</a:t>
            </a:r>
          </a:p>
          <a:p>
            <a:pPr marL="0" indent="0">
              <a:buNone/>
            </a:pPr>
            <a:endParaRPr lang="en-US" sz="2000" b="1" dirty="0"/>
          </a:p>
          <a:p>
            <a:r>
              <a:rPr lang="en-US" sz="2000" dirty="0"/>
              <a:t>Bezier curves are used in computer graphics to produce curves which appear reasonably smooth at all scales (as opposed to polygonal lines, which will not scale nicely).</a:t>
            </a:r>
          </a:p>
          <a:p>
            <a:r>
              <a:rPr lang="en-US" sz="2000" dirty="0"/>
              <a:t>Bezier curves are named after their inventor, </a:t>
            </a:r>
            <a:r>
              <a:rPr lang="en-US" sz="2000" b="1" dirty="0"/>
              <a:t>Dr. Pierre Bezier</a:t>
            </a:r>
            <a:r>
              <a:rPr lang="en-US" sz="2000" dirty="0"/>
              <a:t>. </a:t>
            </a:r>
          </a:p>
          <a:p>
            <a:r>
              <a:rPr lang="en-US" sz="2000" b="1" dirty="0"/>
              <a:t>Dr. Pierre Bezier</a:t>
            </a:r>
            <a:r>
              <a:rPr lang="en-US" sz="2000" dirty="0"/>
              <a:t> was an engineer with the Renault car company and set out in the early 1960’s to develop a curve formulation which would lend itself to shape design.</a:t>
            </a:r>
          </a:p>
          <a:p>
            <a:r>
              <a:rPr lang="en-US" sz="2000" dirty="0"/>
              <a:t>The Bezier curve is a parametric function of four points; two endpoints and two “control” points.</a:t>
            </a:r>
          </a:p>
          <a:p>
            <a:r>
              <a:rPr lang="en-US" sz="2000" dirty="0"/>
              <a:t>The curve connects the endpoints, but doesn’t necessarily touch the control points.</a:t>
            </a:r>
          </a:p>
          <a:p>
            <a:r>
              <a:rPr lang="en-US" sz="2000" dirty="0"/>
              <a:t>The general form Bezier equation, which describes each point on the curve as a function of time</a:t>
            </a:r>
          </a:p>
          <a:p>
            <a:pPr marL="0" indent="0">
              <a:buNone/>
            </a:pPr>
            <a:endParaRPr lang="en-US" sz="1600" dirty="0"/>
          </a:p>
          <a:p>
            <a:pPr marL="0" indent="0">
              <a:buNone/>
            </a:pPr>
            <a:endParaRPr lang="en-US" sz="2000" dirty="0"/>
          </a:p>
        </p:txBody>
      </p:sp>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5</a:t>
            </a:fld>
            <a:endParaRPr lang="en-US"/>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pic>
        <p:nvPicPr>
          <p:cNvPr id="8" name="Picture 7"/>
          <p:cNvPicPr/>
          <p:nvPr/>
        </p:nvPicPr>
        <p:blipFill>
          <a:blip r:embed="rId5">
            <a:extLst>
              <a:ext uri="{28A0092B-C50C-407E-A947-70E740481C1C}">
                <a14:useLocalDpi xmlns:a14="http://schemas.microsoft.com/office/drawing/2010/main" val="0"/>
              </a:ext>
            </a:extLst>
          </a:blip>
          <a:srcRect/>
          <a:stretch>
            <a:fillRect/>
          </a:stretch>
        </p:blipFill>
        <p:spPr bwMode="auto">
          <a:xfrm>
            <a:off x="7930409" y="1342231"/>
            <a:ext cx="3561715" cy="2638425"/>
          </a:xfrm>
          <a:prstGeom prst="rect">
            <a:avLst/>
          </a:prstGeom>
          <a:noFill/>
          <a:ln>
            <a:noFill/>
          </a:ln>
        </p:spPr>
      </p:pic>
      <p:sp>
        <p:nvSpPr>
          <p:cNvPr id="2" name="Rectangle 1"/>
          <p:cNvSpPr/>
          <p:nvPr/>
        </p:nvSpPr>
        <p:spPr>
          <a:xfrm>
            <a:off x="7930409" y="4272969"/>
            <a:ext cx="3561715" cy="1631216"/>
          </a:xfrm>
          <a:prstGeom prst="rect">
            <a:avLst/>
          </a:prstGeom>
        </p:spPr>
        <p:txBody>
          <a:bodyPr wrap="square">
            <a:spAutoFit/>
          </a:bodyPr>
          <a:lstStyle/>
          <a:p>
            <a:r>
              <a:rPr lang="en-US" sz="2000" b="1" dirty="0"/>
              <a:t>Information :</a:t>
            </a:r>
          </a:p>
          <a:p>
            <a:r>
              <a:rPr lang="en-US" sz="2000" dirty="0"/>
              <a:t>(x0, y0) is the starting point.</a:t>
            </a:r>
          </a:p>
          <a:p>
            <a:r>
              <a:rPr lang="en-US" sz="2000" dirty="0"/>
              <a:t>(x3, y3) is the end point.</a:t>
            </a:r>
          </a:p>
          <a:p>
            <a:r>
              <a:rPr lang="en-US" sz="2000" dirty="0"/>
              <a:t>(x1, y1) and (x2, y2) are control points</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Bezier Curves-</a:t>
            </a:r>
          </a:p>
        </p:txBody>
      </p:sp>
      <p:sp>
        <p:nvSpPr>
          <p:cNvPr id="3" name="Content Placeholder 2"/>
          <p:cNvSpPr>
            <a:spLocks noGrp="1"/>
          </p:cNvSpPr>
          <p:nvPr>
            <p:ph idx="1"/>
          </p:nvPr>
        </p:nvSpPr>
        <p:spPr/>
        <p:txBody>
          <a:bodyPr>
            <a:normAutofit fontScale="55000" lnSpcReduction="20000"/>
          </a:bodyPr>
          <a:lstStyle/>
          <a:p>
            <a:pPr marL="0" indent="0">
              <a:buNone/>
            </a:pPr>
            <a:r>
              <a:rPr lang="en-US" dirty="0"/>
              <a:t>Bezier curves have their applications in the following fields-</a:t>
            </a:r>
          </a:p>
          <a:p>
            <a:pPr marL="0" indent="0">
              <a:buNone/>
            </a:pPr>
            <a:endParaRPr lang="en-US" dirty="0"/>
          </a:p>
          <a:p>
            <a:pPr marL="0" indent="0">
              <a:buNone/>
            </a:pPr>
            <a:r>
              <a:rPr lang="en-US" b="1" dirty="0"/>
              <a:t>1. Computer Graphics-</a:t>
            </a:r>
          </a:p>
          <a:p>
            <a:pPr marL="0" indent="0">
              <a:buNone/>
            </a:pPr>
            <a:r>
              <a:rPr lang="en-US" dirty="0"/>
              <a:t>Bezier curves are widely used in computer graphics to model smooth curves. The curve is completely contained in the convex hull of its control points. So, the points can be graphically displayed &amp; used to manipulate the curve intuitively.</a:t>
            </a:r>
          </a:p>
          <a:p>
            <a:pPr marL="0" indent="0">
              <a:buNone/>
            </a:pPr>
            <a:r>
              <a:rPr lang="en-US" dirty="0"/>
              <a:t> </a:t>
            </a:r>
          </a:p>
          <a:p>
            <a:pPr marL="0" indent="0">
              <a:buNone/>
            </a:pPr>
            <a:r>
              <a:rPr lang="en-US" b="1" dirty="0"/>
              <a:t>2. Animation-</a:t>
            </a:r>
          </a:p>
          <a:p>
            <a:pPr marL="0" indent="0">
              <a:buNone/>
            </a:pPr>
            <a:r>
              <a:rPr lang="en-US" dirty="0"/>
              <a:t>Bezier curves are used to outline movement in animation applications such as Adobe Flash and </a:t>
            </a:r>
            <a:r>
              <a:rPr lang="en-US" dirty="0" err="1"/>
              <a:t>synfig</a:t>
            </a:r>
            <a:r>
              <a:rPr lang="en-US" dirty="0"/>
              <a:t>. Users outline the wanted path in </a:t>
            </a:r>
            <a:r>
              <a:rPr lang="en-US" dirty="0" err="1"/>
              <a:t>bezier</a:t>
            </a:r>
            <a:r>
              <a:rPr lang="en-US" dirty="0"/>
              <a:t> curves.</a:t>
            </a:r>
          </a:p>
          <a:p>
            <a:pPr marL="0" indent="0">
              <a:buNone/>
            </a:pPr>
            <a:r>
              <a:rPr lang="en-US" dirty="0"/>
              <a:t>The application creates the needed frames for the object to move along the path. For 3D animation, </a:t>
            </a:r>
            <a:r>
              <a:rPr lang="en-US" dirty="0" err="1"/>
              <a:t>bezier</a:t>
            </a:r>
            <a:r>
              <a:rPr lang="en-US" dirty="0"/>
              <a:t> curves are often used to define 3D paths as well as 2D curves.</a:t>
            </a:r>
          </a:p>
          <a:p>
            <a:pPr marL="0" indent="0">
              <a:buNone/>
            </a:pPr>
            <a:r>
              <a:rPr lang="en-US" dirty="0"/>
              <a:t> </a:t>
            </a:r>
          </a:p>
          <a:p>
            <a:pPr marL="0" indent="0">
              <a:buNone/>
            </a:pPr>
            <a:r>
              <a:rPr lang="en-US" b="1" dirty="0"/>
              <a:t>3. Fonts-</a:t>
            </a:r>
          </a:p>
          <a:p>
            <a:pPr marL="0" indent="0">
              <a:buNone/>
            </a:pPr>
            <a:r>
              <a:rPr lang="en-US" dirty="0"/>
              <a:t>True type fonts use composite </a:t>
            </a:r>
            <a:r>
              <a:rPr lang="en-US" dirty="0" err="1"/>
              <a:t>bezier</a:t>
            </a:r>
            <a:r>
              <a:rPr lang="en-US" dirty="0"/>
              <a:t> curves composed of quadratic </a:t>
            </a:r>
            <a:r>
              <a:rPr lang="en-US" dirty="0" err="1"/>
              <a:t>bezier</a:t>
            </a:r>
            <a:r>
              <a:rPr lang="en-US" dirty="0"/>
              <a:t> curves.</a:t>
            </a:r>
          </a:p>
          <a:p>
            <a:pPr marL="0" indent="0">
              <a:buNone/>
            </a:pPr>
            <a:r>
              <a:rPr lang="en-US" dirty="0"/>
              <a:t>Modern imaging systems like postscript, asymptote </a:t>
            </a:r>
            <a:r>
              <a:rPr lang="en-US" dirty="0" err="1"/>
              <a:t>etc</a:t>
            </a:r>
            <a:r>
              <a:rPr lang="en-US" dirty="0"/>
              <a:t> use composite </a:t>
            </a:r>
            <a:r>
              <a:rPr lang="en-US" dirty="0" err="1"/>
              <a:t>bezier</a:t>
            </a:r>
            <a:r>
              <a:rPr lang="en-US" dirty="0"/>
              <a:t> curves composed of cubic </a:t>
            </a:r>
            <a:r>
              <a:rPr lang="en-US" dirty="0" err="1"/>
              <a:t>bezier</a:t>
            </a:r>
            <a:r>
              <a:rPr lang="en-US" dirty="0"/>
              <a:t> curves for drawing curved shapes.</a:t>
            </a:r>
          </a:p>
        </p:txBody>
      </p:sp>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6</a:t>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65125"/>
                <a:ext cx="10515600" cy="3660475"/>
              </a:xfrm>
            </p:spPr>
            <p:txBody>
              <a:bodyPr>
                <a:normAutofit/>
              </a:bodyPr>
              <a:lstStyle/>
              <a:p>
                <a:pPr marL="0" indent="0">
                  <a:buNone/>
                </a:pPr>
                <a:r>
                  <a:rPr lang="en-US" sz="2000" dirty="0"/>
                  <a:t>To illustrate the points on the Bezier curve the calculation of points from </a:t>
                </a:r>
                <a:r>
                  <a:rPr lang="en-US" sz="2000" i="1" dirty="0"/>
                  <a:t>P</a:t>
                </a:r>
                <a:r>
                  <a:rPr lang="en-US" sz="2000" i="1" baseline="-25000" dirty="0"/>
                  <a:t>0</a:t>
                </a:r>
                <a:r>
                  <a:rPr lang="en-US" sz="2000" dirty="0"/>
                  <a:t> to </a:t>
                </a:r>
                <a:r>
                  <a:rPr lang="en-US" sz="2000" i="1" dirty="0" err="1"/>
                  <a:t>P</a:t>
                </a:r>
                <a:r>
                  <a:rPr lang="en-US" sz="2000" i="1" baseline="-25000" dirty="0" err="1"/>
                  <a:t>n</a:t>
                </a:r>
                <a:r>
                  <a:rPr lang="en-US" sz="2000" dirty="0"/>
                  <a:t> with </a:t>
                </a:r>
                <a:r>
                  <a:rPr lang="en-US" sz="2000" i="1" dirty="0"/>
                  <a:t>t</a:t>
                </a:r>
                <a:r>
                  <a:rPr lang="en-US" sz="2000" dirty="0"/>
                  <a:t> from 0 to 1, with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𝑡</m:t>
                    </m:r>
                  </m:oMath>
                </a14:m>
                <a:r>
                  <a:rPr lang="en-US" sz="2000" dirty="0"/>
                  <a:t> varies. For example, it is known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𝑡</m:t>
                    </m:r>
                    <m:r>
                      <a:rPr lang="en-US" sz="2000" i="1">
                        <a:latin typeface="Cambria Math" panose="02040503050406030204" pitchFamily="18" charset="0"/>
                      </a:rPr>
                      <m:t> </m:t>
                    </m:r>
                  </m:oMath>
                </a14:m>
                <a:r>
                  <a:rPr lang="en-US" sz="2000" dirty="0"/>
                  <a:t>= 0,1. Then how many dots should be drawn?</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𝑛</m:t>
                      </m:r>
                      <m:r>
                        <a:rPr lang="en-US" sz="2000" b="0" i="1" smtClean="0">
                          <a:latin typeface="Cambria Math" panose="02040503050406030204" pitchFamily="18" charset="0"/>
                        </a:rPr>
                        <m:t>=</m:t>
                      </m:r>
                      <m:f>
                        <m:fPr>
                          <m:ctrlPr>
                            <a:rPr lang="en-US" sz="2000" i="1" smtClean="0">
                              <a:latin typeface="Cambria Math" panose="02040503050406030204" pitchFamily="18" charset="0"/>
                            </a:rPr>
                          </m:ctrlPr>
                        </m:fPr>
                        <m:num>
                          <m:r>
                            <a:rPr lang="en-US" sz="2000" i="1">
                              <a:latin typeface="Cambria Math" panose="02040503050406030204" pitchFamily="18" charset="0"/>
                            </a:rPr>
                            <m:t>1</m:t>
                          </m:r>
                        </m:num>
                        <m:den>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rPr>
                            <m:t>𝑡</m:t>
                          </m:r>
                        </m:den>
                      </m:f>
                      <m:r>
                        <a:rPr lang="en-US" sz="2000" b="0" i="1" smtClean="0">
                          <a:latin typeface="Cambria Math" panose="02040503050406030204" pitchFamily="18" charset="0"/>
                        </a:rPr>
                        <m:t>+1</m:t>
                      </m:r>
                    </m:oMath>
                  </m:oMathPara>
                </a14:m>
                <a:endParaRPr lang="en-US" sz="2000" b="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𝑛</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0,1</m:t>
                          </m:r>
                        </m:den>
                      </m:f>
                      <m:r>
                        <a:rPr lang="en-US" sz="2000" i="1">
                          <a:latin typeface="Cambria Math" panose="02040503050406030204" pitchFamily="18" charset="0"/>
                        </a:rPr>
                        <m:t>+1</m:t>
                      </m:r>
                      <m:r>
                        <a:rPr lang="en-US" sz="2000" b="0" i="1" smtClean="0">
                          <a:latin typeface="Cambria Math" panose="02040503050406030204" pitchFamily="18" charset="0"/>
                        </a:rPr>
                        <m:t>=11</m:t>
                      </m:r>
                    </m:oMath>
                  </m:oMathPara>
                </a14:m>
                <a:endParaRPr lang="en-US" sz="2000" dirty="0"/>
              </a:p>
              <a:p>
                <a:pPr marL="0" indent="0">
                  <a:buNone/>
                </a:pPr>
                <a:endParaRPr lang="en-US" sz="2000" dirty="0"/>
              </a:p>
              <a:p>
                <a:pPr marL="0" indent="0">
                  <a:buNone/>
                </a:pPr>
                <a:r>
                  <a:rPr lang="en-US" sz="2000" dirty="0"/>
                  <a:t>So it can be concluded, the smaller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𝑡</m:t>
                    </m:r>
                  </m:oMath>
                </a14:m>
                <a:r>
                  <a:rPr lang="en-US" sz="2000" dirty="0"/>
                  <a:t>, the more points must be calculated and the smoother the Bezier curve produced.</a:t>
                </a:r>
              </a:p>
              <a:p>
                <a:pPr marL="0" indent="0">
                  <a:buNone/>
                </a:pPr>
                <a:endParaRPr lang="en-US" sz="2000" b="0" dirty="0"/>
              </a:p>
              <a:p>
                <a:pPr marL="0" indent="0">
                  <a:buNone/>
                </a:pPr>
                <a:endParaRPr lang="en-US" sz="20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838200" y="365125"/>
                <a:ext cx="10515600" cy="3660475"/>
              </a:xfrm>
              <a:blipFill rotWithShape="1">
                <a:blip r:embed="rId3"/>
                <a:stretch>
                  <a:fillRect b="-18188"/>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7</a:t>
            </a:fld>
            <a:endParaRPr lang="en-US"/>
          </a:p>
        </p:txBody>
      </p:sp>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mc:AlternateContent xmlns:mc="http://schemas.openxmlformats.org/markup-compatibility/2006" xmlns:a14="http://schemas.microsoft.com/office/drawing/2010/main">
        <mc:Choice Requires="a14">
          <p:sp>
            <p:nvSpPr>
              <p:cNvPr id="19" name="Rectangle 18"/>
              <p:cNvSpPr/>
              <p:nvPr/>
            </p:nvSpPr>
            <p:spPr>
              <a:xfrm>
                <a:off x="9912076" y="4116946"/>
                <a:ext cx="1010085" cy="707886"/>
              </a:xfrm>
              <a:prstGeom prst="rect">
                <a:avLst/>
              </a:prstGeom>
            </p:spPr>
            <p:txBody>
              <a:bodyPr wrap="none">
                <a:spAutoFit/>
              </a:bodyPr>
              <a:lstStyle/>
              <a:p>
                <a:r>
                  <a:rPr lang="en-US" sz="2000" i="1" dirty="0">
                    <a:latin typeface="Cambria Math" panose="02040503050406030204" pitchFamily="18" charset="0"/>
                    <a:ea typeface="Cambria Math" panose="02040503050406030204" pitchFamily="18" charset="0"/>
                  </a:rPr>
                  <a:t>n = 11</a:t>
                </a:r>
              </a:p>
              <a:p>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𝑡</m:t>
                    </m:r>
                    <m:r>
                      <a:rPr lang="en-US" sz="2000" i="1">
                        <a:latin typeface="Cambria Math" panose="02040503050406030204" pitchFamily="18" charset="0"/>
                      </a:rPr>
                      <m:t> </m:t>
                    </m:r>
                  </m:oMath>
                </a14:m>
                <a:r>
                  <a:rPr lang="en-US" sz="2000" dirty="0"/>
                  <a:t>= 0,1</a:t>
                </a:r>
              </a:p>
            </p:txBody>
          </p:sp>
        </mc:Choice>
        <mc:Fallback xmlns="">
          <p:sp>
            <p:nvSpPr>
              <p:cNvPr id="19" name="Rectangle 18"/>
              <p:cNvSpPr>
                <a:spLocks noRot="1" noChangeAspect="1" noMove="1" noResize="1" noEditPoints="1" noAdjustHandles="1" noChangeArrowheads="1" noChangeShapeType="1" noTextEdit="1"/>
              </p:cNvSpPr>
              <p:nvPr/>
            </p:nvSpPr>
            <p:spPr>
              <a:xfrm>
                <a:off x="9912076" y="4116946"/>
                <a:ext cx="1010085" cy="707886"/>
              </a:xfrm>
              <a:prstGeom prst="rect">
                <a:avLst/>
              </a:prstGeom>
              <a:blipFill rotWithShape="1">
                <a:blip r:embed="rId5"/>
                <a:stretch>
                  <a:fillRect l="-36" t="-34" r="16" b="14"/>
                </a:stretch>
              </a:blipFill>
            </p:spPr>
            <p:txBody>
              <a:bodyPr/>
              <a:lstStyle/>
              <a:p>
                <a:r>
                  <a:rPr lang="en-US" altLang="en-US">
                    <a:noFill/>
                  </a:rPr>
                  <a:t> </a:t>
                </a:r>
              </a:p>
            </p:txBody>
          </p:sp>
        </mc:Fallback>
      </mc:AlternateContent>
      <p:grpSp>
        <p:nvGrpSpPr>
          <p:cNvPr id="33" name="Group 32"/>
          <p:cNvGrpSpPr/>
          <p:nvPr/>
        </p:nvGrpSpPr>
        <p:grpSpPr>
          <a:xfrm>
            <a:off x="1070543" y="5142014"/>
            <a:ext cx="9825690" cy="696087"/>
            <a:chOff x="1328832" y="5334590"/>
            <a:chExt cx="9825690" cy="696087"/>
          </a:xfrm>
        </p:grpSpPr>
        <p:cxnSp>
          <p:nvCxnSpPr>
            <p:cNvPr id="7" name="Straight Connector 6"/>
            <p:cNvCxnSpPr/>
            <p:nvPr/>
          </p:nvCxnSpPr>
          <p:spPr>
            <a:xfrm>
              <a:off x="1552612" y="5445716"/>
              <a:ext cx="932603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1459478" y="5352582"/>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307203" y="5352582"/>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3154928" y="5352582"/>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4002653" y="5352582"/>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4850378" y="5352582"/>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698103" y="5352581"/>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545828" y="5334590"/>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7393553" y="5352581"/>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8241278" y="5352581"/>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9089003" y="5352581"/>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9936728" y="5354700"/>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1328832" y="5564038"/>
              <a:ext cx="447558" cy="461665"/>
            </a:xfrm>
            <a:prstGeom prst="rect">
              <a:avLst/>
            </a:prstGeom>
          </p:spPr>
          <p:txBody>
            <a:bodyPr wrap="none">
              <a:spAutoFit/>
            </a:bodyPr>
            <a:lstStyle/>
            <a:p>
              <a:r>
                <a:rPr lang="en-US" sz="2400" i="1" dirty="0"/>
                <a:t>P</a:t>
              </a:r>
              <a:r>
                <a:rPr lang="en-US" sz="2400" i="1" baseline="-25000" dirty="0"/>
                <a:t>0</a:t>
              </a:r>
              <a:endParaRPr lang="en-US" sz="2400" dirty="0"/>
            </a:p>
          </p:txBody>
        </p:sp>
        <p:sp>
          <p:nvSpPr>
            <p:cNvPr id="21" name="Rectangle 20"/>
            <p:cNvSpPr/>
            <p:nvPr/>
          </p:nvSpPr>
          <p:spPr>
            <a:xfrm>
              <a:off x="9806082" y="5558959"/>
              <a:ext cx="551754" cy="461665"/>
            </a:xfrm>
            <a:prstGeom prst="rect">
              <a:avLst/>
            </a:prstGeom>
          </p:spPr>
          <p:txBody>
            <a:bodyPr wrap="none">
              <a:spAutoFit/>
            </a:bodyPr>
            <a:lstStyle/>
            <a:p>
              <a:r>
                <a:rPr lang="en-US" sz="2400" i="1" dirty="0"/>
                <a:t>P</a:t>
              </a:r>
              <a:r>
                <a:rPr lang="en-US" sz="2400" i="1" baseline="-25000" dirty="0"/>
                <a:t>10</a:t>
              </a:r>
              <a:endParaRPr lang="en-US" sz="2400" dirty="0"/>
            </a:p>
          </p:txBody>
        </p:sp>
        <p:sp>
          <p:nvSpPr>
            <p:cNvPr id="22" name="Rectangle 21"/>
            <p:cNvSpPr/>
            <p:nvPr/>
          </p:nvSpPr>
          <p:spPr>
            <a:xfrm>
              <a:off x="2176557" y="5562796"/>
              <a:ext cx="447558" cy="461665"/>
            </a:xfrm>
            <a:prstGeom prst="rect">
              <a:avLst/>
            </a:prstGeom>
          </p:spPr>
          <p:txBody>
            <a:bodyPr wrap="none">
              <a:spAutoFit/>
            </a:bodyPr>
            <a:lstStyle/>
            <a:p>
              <a:r>
                <a:rPr lang="en-US" sz="2400" i="1" dirty="0"/>
                <a:t>P</a:t>
              </a:r>
              <a:r>
                <a:rPr lang="en-US" sz="2400" i="1" baseline="-25000" dirty="0"/>
                <a:t>1</a:t>
              </a:r>
              <a:endParaRPr lang="en-US" sz="2400" dirty="0"/>
            </a:p>
          </p:txBody>
        </p:sp>
        <p:sp>
          <p:nvSpPr>
            <p:cNvPr id="23" name="Rectangle 22"/>
            <p:cNvSpPr/>
            <p:nvPr/>
          </p:nvSpPr>
          <p:spPr>
            <a:xfrm>
              <a:off x="3024282" y="5558959"/>
              <a:ext cx="447558" cy="461665"/>
            </a:xfrm>
            <a:prstGeom prst="rect">
              <a:avLst/>
            </a:prstGeom>
          </p:spPr>
          <p:txBody>
            <a:bodyPr wrap="none">
              <a:spAutoFit/>
            </a:bodyPr>
            <a:lstStyle/>
            <a:p>
              <a:r>
                <a:rPr lang="en-US" sz="2400" i="1" dirty="0"/>
                <a:t>P</a:t>
              </a:r>
              <a:r>
                <a:rPr lang="en-US" sz="2400" i="1" baseline="-25000" dirty="0"/>
                <a:t>2</a:t>
              </a:r>
              <a:endParaRPr lang="en-US" sz="2400" dirty="0"/>
            </a:p>
          </p:txBody>
        </p:sp>
        <p:sp>
          <p:nvSpPr>
            <p:cNvPr id="24" name="Rectangle 23"/>
            <p:cNvSpPr/>
            <p:nvPr/>
          </p:nvSpPr>
          <p:spPr>
            <a:xfrm>
              <a:off x="3872007" y="5558959"/>
              <a:ext cx="447558" cy="461665"/>
            </a:xfrm>
            <a:prstGeom prst="rect">
              <a:avLst/>
            </a:prstGeom>
          </p:spPr>
          <p:txBody>
            <a:bodyPr wrap="none">
              <a:spAutoFit/>
            </a:bodyPr>
            <a:lstStyle/>
            <a:p>
              <a:r>
                <a:rPr lang="en-US" sz="2400" i="1" dirty="0"/>
                <a:t>P</a:t>
              </a:r>
              <a:r>
                <a:rPr lang="en-US" sz="2400" i="1" baseline="-25000" dirty="0"/>
                <a:t>3</a:t>
              </a:r>
              <a:endParaRPr lang="en-US" sz="2400" dirty="0"/>
            </a:p>
          </p:txBody>
        </p:sp>
        <p:sp>
          <p:nvSpPr>
            <p:cNvPr id="25" name="Rectangle 24"/>
            <p:cNvSpPr/>
            <p:nvPr/>
          </p:nvSpPr>
          <p:spPr>
            <a:xfrm>
              <a:off x="4719732" y="5558959"/>
              <a:ext cx="447558" cy="461665"/>
            </a:xfrm>
            <a:prstGeom prst="rect">
              <a:avLst/>
            </a:prstGeom>
          </p:spPr>
          <p:txBody>
            <a:bodyPr wrap="none">
              <a:spAutoFit/>
            </a:bodyPr>
            <a:lstStyle/>
            <a:p>
              <a:r>
                <a:rPr lang="en-US" sz="2400" i="1" dirty="0"/>
                <a:t>P</a:t>
              </a:r>
              <a:r>
                <a:rPr lang="en-US" sz="2400" i="1" baseline="-25000" dirty="0"/>
                <a:t>4</a:t>
              </a:r>
              <a:endParaRPr lang="en-US" sz="2400" dirty="0"/>
            </a:p>
          </p:txBody>
        </p:sp>
        <p:sp>
          <p:nvSpPr>
            <p:cNvPr id="26" name="Rectangle 25"/>
            <p:cNvSpPr/>
            <p:nvPr/>
          </p:nvSpPr>
          <p:spPr>
            <a:xfrm>
              <a:off x="5567457" y="5558959"/>
              <a:ext cx="447558" cy="461665"/>
            </a:xfrm>
            <a:prstGeom prst="rect">
              <a:avLst/>
            </a:prstGeom>
          </p:spPr>
          <p:txBody>
            <a:bodyPr wrap="none">
              <a:spAutoFit/>
            </a:bodyPr>
            <a:lstStyle/>
            <a:p>
              <a:r>
                <a:rPr lang="en-US" sz="2400" i="1" dirty="0"/>
                <a:t>P</a:t>
              </a:r>
              <a:r>
                <a:rPr lang="en-US" sz="2400" i="1" baseline="-25000" dirty="0"/>
                <a:t>5</a:t>
              </a:r>
              <a:endParaRPr lang="en-US" sz="2400" dirty="0"/>
            </a:p>
          </p:txBody>
        </p:sp>
        <p:sp>
          <p:nvSpPr>
            <p:cNvPr id="27" name="Rectangle 26"/>
            <p:cNvSpPr/>
            <p:nvPr/>
          </p:nvSpPr>
          <p:spPr>
            <a:xfrm>
              <a:off x="6415182" y="5563194"/>
              <a:ext cx="447558" cy="461665"/>
            </a:xfrm>
            <a:prstGeom prst="rect">
              <a:avLst/>
            </a:prstGeom>
          </p:spPr>
          <p:txBody>
            <a:bodyPr wrap="none">
              <a:spAutoFit/>
            </a:bodyPr>
            <a:lstStyle/>
            <a:p>
              <a:r>
                <a:rPr lang="en-US" sz="2400" i="1" dirty="0"/>
                <a:t>P</a:t>
              </a:r>
              <a:r>
                <a:rPr lang="en-US" sz="2400" i="1" baseline="-25000" dirty="0"/>
                <a:t>6</a:t>
              </a:r>
              <a:endParaRPr lang="en-US" sz="2400" dirty="0"/>
            </a:p>
          </p:txBody>
        </p:sp>
        <p:sp>
          <p:nvSpPr>
            <p:cNvPr id="28" name="Rectangle 27"/>
            <p:cNvSpPr/>
            <p:nvPr/>
          </p:nvSpPr>
          <p:spPr>
            <a:xfrm>
              <a:off x="7262907" y="5558959"/>
              <a:ext cx="447558" cy="461665"/>
            </a:xfrm>
            <a:prstGeom prst="rect">
              <a:avLst/>
            </a:prstGeom>
          </p:spPr>
          <p:txBody>
            <a:bodyPr wrap="none">
              <a:spAutoFit/>
            </a:bodyPr>
            <a:lstStyle/>
            <a:p>
              <a:r>
                <a:rPr lang="en-US" sz="2400" i="1" dirty="0"/>
                <a:t>P</a:t>
              </a:r>
              <a:r>
                <a:rPr lang="en-US" sz="2400" i="1" baseline="-25000" dirty="0"/>
                <a:t>7</a:t>
              </a:r>
              <a:endParaRPr lang="en-US" sz="2400" dirty="0"/>
            </a:p>
          </p:txBody>
        </p:sp>
        <p:sp>
          <p:nvSpPr>
            <p:cNvPr id="29" name="Rectangle 28"/>
            <p:cNvSpPr/>
            <p:nvPr/>
          </p:nvSpPr>
          <p:spPr>
            <a:xfrm>
              <a:off x="8110632" y="5558959"/>
              <a:ext cx="447558" cy="461665"/>
            </a:xfrm>
            <a:prstGeom prst="rect">
              <a:avLst/>
            </a:prstGeom>
          </p:spPr>
          <p:txBody>
            <a:bodyPr wrap="none">
              <a:spAutoFit/>
            </a:bodyPr>
            <a:lstStyle/>
            <a:p>
              <a:r>
                <a:rPr lang="en-US" sz="2400" i="1" dirty="0"/>
                <a:t>P</a:t>
              </a:r>
              <a:r>
                <a:rPr lang="en-US" sz="2400" i="1" baseline="-25000" dirty="0"/>
                <a:t>8</a:t>
              </a:r>
              <a:endParaRPr lang="en-US" sz="2400" dirty="0"/>
            </a:p>
          </p:txBody>
        </p:sp>
        <p:sp>
          <p:nvSpPr>
            <p:cNvPr id="30" name="Rectangle 29"/>
            <p:cNvSpPr/>
            <p:nvPr/>
          </p:nvSpPr>
          <p:spPr>
            <a:xfrm>
              <a:off x="8958357" y="5558959"/>
              <a:ext cx="447558" cy="461665"/>
            </a:xfrm>
            <a:prstGeom prst="rect">
              <a:avLst/>
            </a:prstGeom>
          </p:spPr>
          <p:txBody>
            <a:bodyPr wrap="none">
              <a:spAutoFit/>
            </a:bodyPr>
            <a:lstStyle/>
            <a:p>
              <a:r>
                <a:rPr lang="en-US" sz="2400" i="1" dirty="0"/>
                <a:t>P</a:t>
              </a:r>
              <a:r>
                <a:rPr lang="en-US" sz="2400" i="1" baseline="-25000" dirty="0"/>
                <a:t>9</a:t>
              </a:r>
              <a:endParaRPr lang="en-US" sz="2400" dirty="0"/>
            </a:p>
          </p:txBody>
        </p:sp>
        <p:sp>
          <p:nvSpPr>
            <p:cNvPr id="31" name="Oval 30"/>
            <p:cNvSpPr/>
            <p:nvPr/>
          </p:nvSpPr>
          <p:spPr>
            <a:xfrm>
              <a:off x="10785512" y="5343585"/>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10602768" y="5569012"/>
              <a:ext cx="551754" cy="461665"/>
            </a:xfrm>
            <a:prstGeom prst="rect">
              <a:avLst/>
            </a:prstGeom>
          </p:spPr>
          <p:txBody>
            <a:bodyPr wrap="none">
              <a:spAutoFit/>
            </a:bodyPr>
            <a:lstStyle/>
            <a:p>
              <a:r>
                <a:rPr lang="en-US" sz="2400" i="1" dirty="0"/>
                <a:t>P</a:t>
              </a:r>
              <a:r>
                <a:rPr lang="en-US" sz="2400" i="1" baseline="-25000" dirty="0"/>
                <a:t>11</a:t>
              </a:r>
              <a:endParaRPr lang="en-US" sz="2400" dirty="0"/>
            </a:p>
          </p:txBody>
        </p:sp>
      </p:gr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65125"/>
                <a:ext cx="10515600" cy="5673068"/>
              </a:xfrm>
            </p:spPr>
            <p:txBody>
              <a:bodyPr>
                <a:normAutofit/>
              </a:bodyPr>
              <a:lstStyle/>
              <a:p>
                <a:pPr marL="0" indent="0">
                  <a:buNone/>
                </a:pPr>
                <a:r>
                  <a:rPr lang="en-US" sz="2400" b="1" dirty="0"/>
                  <a:t>Bezier Curve</a:t>
                </a:r>
              </a:p>
              <a:p>
                <a:pPr marL="0" indent="0">
                  <a:buNone/>
                </a:pPr>
                <a:endParaRPr lang="en-US" sz="2000" dirty="0"/>
              </a:p>
              <a:p>
                <a:pPr marL="0" indent="0">
                  <a:buNone/>
                </a:pPr>
                <a:r>
                  <a:rPr lang="en-US" sz="2000" dirty="0"/>
                  <a:t>Bezier calculations can be helped in the following simple ways:</a:t>
                </a:r>
              </a:p>
              <a:p>
                <a:pPr marL="0" indent="0">
                  <a:buNone/>
                </a:pPr>
                <a:r>
                  <a:rPr lang="en-US" sz="2000" b="1" dirty="0"/>
                  <a:t>1. For </a:t>
                </a:r>
                <a:r>
                  <a:rPr lang="en-US" sz="2000" b="1" i="1" dirty="0"/>
                  <a:t>n</a:t>
                </a:r>
                <a:r>
                  <a:rPr lang="en-US" sz="2000" b="1" dirty="0"/>
                  <a:t> control points, the </a:t>
                </a:r>
                <a:r>
                  <a:rPr lang="en-US" sz="2000" b="1" dirty="0" err="1"/>
                  <a:t>bezier</a:t>
                </a:r>
                <a:r>
                  <a:rPr lang="en-US" sz="2000" b="1" dirty="0"/>
                  <a:t> curve equation is</a:t>
                </a:r>
                <a14:m>
                  <m:oMath xmlns:m="http://schemas.openxmlformats.org/officeDocument/2006/math">
                    <m:sSup>
                      <m:sSupPr>
                        <m:ctrlPr>
                          <a:rPr lang="id-ID"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id-ID"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d>
                          <m:dPr>
                            <m:ctrlPr>
                              <a:rPr lang="id-ID"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id-ID"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𝒙</m:t>
                            </m:r>
                            <m:r>
                              <a:rPr lang="id-ID"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id-ID"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𝒚</m:t>
                            </m:r>
                          </m:e>
                        </m:d>
                      </m:e>
                      <m:sup>
                        <m:r>
                          <a:rPr lang="en-US" sz="2000" b="1"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𝒏</m:t>
                        </m:r>
                        <m:r>
                          <a:rPr lang="id-ID"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id-ID"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𝟏</m:t>
                        </m:r>
                      </m:sup>
                    </m:sSup>
                  </m:oMath>
                </a14:m>
                <a:endParaRPr lang="en-US" sz="2000" b="1" dirty="0"/>
              </a:p>
              <a:p>
                <a:pPr marL="0" indent="0">
                  <a:buNone/>
                </a:pPr>
                <a:r>
                  <a:rPr lang="en-US" sz="2000" dirty="0"/>
                  <a:t>For example, known 3 control points, the equation obtained is</a:t>
                </a:r>
              </a:p>
              <a:p>
                <a:pPr marL="0" indent="0">
                  <a:lnSpc>
                    <a:spcPct val="107000"/>
                  </a:lnSpc>
                  <a:spcAft>
                    <a:spcPts val="0"/>
                  </a:spcAft>
                  <a:buNone/>
                </a:pPr>
                <a:endParaRPr lang="en-US" sz="2000" i="1" dirty="0">
                  <a:solidFill>
                    <a:srgbClr val="000000"/>
                  </a:solidFill>
                  <a:latin typeface="Cambria Math" panose="02040503050406030204" pitchFamily="18" charset="0"/>
                  <a:ea typeface="Times New Roman" panose="02020603050405020304" pitchFamily="18" charset="0"/>
                  <a:cs typeface="Times New Roman" panose="02020603050405020304" pitchFamily="18" charset="0"/>
                </a:endParaRPr>
              </a:p>
              <a:p>
                <a:pPr marL="0" indent="0">
                  <a:lnSpc>
                    <a:spcPct val="107000"/>
                  </a:lnSpc>
                  <a:spcAft>
                    <a:spcPts val="0"/>
                  </a:spcAft>
                  <a:buNone/>
                </a:pPr>
                <a14:m>
                  <m:oMathPara xmlns:m="http://schemas.openxmlformats.org/officeDocument/2006/math">
                    <m:oMathParaPr>
                      <m:jc m:val="centerGroup"/>
                    </m:oMathParaPr>
                    <m:oMath xmlns:m="http://schemas.openxmlformats.org/officeDocument/2006/math">
                      <m:sSup>
                        <m:sSupPr>
                          <m:ctrlP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d>
                            <m:dPr>
                              <m:ctrlP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𝑦</m:t>
                              </m:r>
                            </m:e>
                          </m:d>
                        </m:e>
                        <m:sup>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3−1</m:t>
                          </m:r>
                        </m:sup>
                      </m:sSup>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id-ID" sz="2000" i="1" smtClean="0">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𝑥</m:t>
                              </m:r>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id-ID" sz="2000" i="1"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𝑦</m:t>
                              </m:r>
                            </m:e>
                          </m:d>
                        </m:e>
                        <m:sup>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p>
                      </m:sSup>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id-ID" sz="2000" i="1" smtClean="0">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𝑥</m:t>
                          </m:r>
                        </m:e>
                        <m:sup>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p>
                      </m:sSup>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r>
                        <a:rPr lang="id-ID" sz="2000" i="1" smtClean="0">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𝑥</m:t>
                      </m:r>
                      <m:r>
                        <a:rPr lang="id-ID" sz="2000" i="1"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𝑦</m:t>
                      </m:r>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id-ID" sz="2000" i="1"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𝑦</m:t>
                          </m:r>
                        </m:e>
                        <m:sup>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US" sz="2000" dirty="0"/>
              </a:p>
              <a:p>
                <a:pPr marL="0" indent="0">
                  <a:buNone/>
                </a:pPr>
                <a:endParaRPr lang="en-US" sz="2000" dirty="0"/>
              </a:p>
              <a:p>
                <a:pPr marL="0" indent="0">
                  <a:buNone/>
                </a:pPr>
                <a:r>
                  <a:rPr lang="en-US" sz="2000" b="1" dirty="0"/>
                  <a:t>2. Change </a:t>
                </a:r>
                <a:r>
                  <a:rPr lang="en-US" sz="2000" b="1" i="1" dirty="0">
                    <a:solidFill>
                      <a:srgbClr val="FF0000"/>
                    </a:solidFill>
                  </a:rPr>
                  <a:t>x</a:t>
                </a:r>
                <a:r>
                  <a:rPr lang="en-US" sz="2000" b="1" dirty="0"/>
                  <a:t> with </a:t>
                </a:r>
                <a:r>
                  <a:rPr lang="en-US" sz="2000" b="1" i="1" dirty="0">
                    <a:solidFill>
                      <a:srgbClr val="FF0000"/>
                    </a:solidFill>
                  </a:rPr>
                  <a:t>(1-t)</a:t>
                </a:r>
                <a:r>
                  <a:rPr lang="en-US" sz="2000" b="1" dirty="0"/>
                  <a:t> and </a:t>
                </a:r>
                <a:r>
                  <a:rPr lang="en-US" sz="2000" b="1" i="1" dirty="0">
                    <a:solidFill>
                      <a:srgbClr val="92D050"/>
                    </a:solidFill>
                  </a:rPr>
                  <a:t>y</a:t>
                </a:r>
                <a:r>
                  <a:rPr lang="en-US" sz="2000" b="1" dirty="0"/>
                  <a:t> with </a:t>
                </a:r>
                <a:r>
                  <a:rPr lang="en-US" sz="2000" b="1" i="1" dirty="0">
                    <a:solidFill>
                      <a:srgbClr val="92D050"/>
                    </a:solidFill>
                  </a:rPr>
                  <a:t>t</a:t>
                </a:r>
                <a:endParaRPr lang="en-US" sz="2000" b="1" dirty="0">
                  <a:solidFill>
                    <a:srgbClr val="92D050"/>
                  </a:solidFill>
                </a:endParaRPr>
              </a:p>
              <a:p>
                <a:pPr marL="0" indent="0">
                  <a:buNone/>
                </a:pPr>
                <a:r>
                  <a:rPr lang="en-US" sz="2000" dirty="0"/>
                  <a:t>So we get an equation</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d>
                        <m:dPr>
                          <m:ctrlP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𝑡</m:t>
                          </m:r>
                        </m:e>
                      </m:d>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id-ID" sz="2000" i="1" smtClean="0">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(1−</m:t>
                          </m:r>
                          <m:r>
                            <a:rPr lang="id-ID" sz="2000" i="1" smtClean="0">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𝑡</m:t>
                          </m:r>
                          <m:r>
                            <a:rPr lang="id-ID" sz="2000" i="1" smtClean="0">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m:t>
                          </m:r>
                        </m:e>
                        <m:sup>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d>
                        <m:dPr>
                          <m:ctrlPr>
                            <a:rPr lang="id-ID" sz="2000" i="1" smtClean="0">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id-ID" sz="2000" i="1">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1−</m:t>
                          </m:r>
                          <m:r>
                            <a:rPr lang="id-ID" sz="2000" i="1">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𝑡</m:t>
                          </m:r>
                        </m:e>
                      </m:d>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id-ID" sz="2000" i="1"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𝑡</m:t>
                      </m:r>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id-ID"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id-ID" sz="2000" i="1"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id-ID" sz="2000" i="1">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𝑡</m:t>
                          </m:r>
                        </m:e>
                        <m:sup>
                          <m:r>
                            <a:rPr lang="id-ID" sz="2000" i="1">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US" sz="2000" dirty="0"/>
              </a:p>
              <a:p>
                <a:pPr marL="0" indent="0">
                  <a:buNone/>
                </a:pPr>
                <a:endParaRPr lang="en-US" sz="2000" dirty="0"/>
              </a:p>
              <a:p>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838200" y="365125"/>
                <a:ext cx="10515600" cy="5673068"/>
              </a:xfrm>
              <a:blipFill rotWithShape="1">
                <a:blip r:embed="rId3"/>
                <a:stretch>
                  <a:fillRect b="-24234"/>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8</a:t>
            </a:fld>
            <a:endParaRPr lang="en-US"/>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9922"/>
            <a:ext cx="12192000" cy="4673223"/>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65125"/>
                <a:ext cx="10515600" cy="3443588"/>
              </a:xfrm>
            </p:spPr>
            <p:txBody>
              <a:bodyPr>
                <a:normAutofit/>
              </a:bodyPr>
              <a:lstStyle/>
              <a:p>
                <a:pPr marL="0" indent="0">
                  <a:buNone/>
                </a:pPr>
                <a:r>
                  <a:rPr lang="en-US" sz="2000" dirty="0"/>
                  <a:t>Where </a:t>
                </a:r>
                <a:r>
                  <a:rPr lang="en-US" sz="2000" b="1" i="1" dirty="0"/>
                  <a:t>0 ≤ t ≤ 1</a:t>
                </a:r>
                <a:r>
                  <a:rPr lang="en-US" sz="2000" dirty="0"/>
                  <a:t>, Let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0</m:t>
                        </m:r>
                      </m:sub>
                    </m:sSub>
                  </m:oMath>
                </a14:m>
                <a:r>
                  <a:rPr lang="en-US" sz="2000" dirty="0"/>
                  <a:t> =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𝑥</m:t>
                        </m:r>
                      </m:e>
                      <m:sub>
                        <m:r>
                          <a:rPr lang="en-US" sz="2000" i="1">
                            <a:latin typeface="Cambria Math" panose="02040503050406030204" pitchFamily="18" charset="0"/>
                          </a:rPr>
                          <m:t>0</m:t>
                        </m:r>
                      </m:sub>
                    </m:sSub>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𝑦</m:t>
                        </m:r>
                      </m:e>
                      <m:sub>
                        <m:r>
                          <a:rPr lang="en-US" sz="2000" i="1">
                            <a:latin typeface="Cambria Math" panose="02040503050406030204" pitchFamily="18" charset="0"/>
                          </a:rPr>
                          <m:t>0</m:t>
                        </m:r>
                      </m:sub>
                    </m:sSub>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1</m:t>
                        </m:r>
                      </m:sub>
                    </m:sSub>
                  </m:oMath>
                </a14:m>
                <a:r>
                  <a:rPr lang="en-US" sz="2000" dirty="0"/>
                  <a:t> =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1</m:t>
                        </m:r>
                      </m:sub>
                    </m:sSub>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b="0" i="1" smtClean="0">
                            <a:latin typeface="Cambria Math" panose="02040503050406030204" pitchFamily="18" charset="0"/>
                          </a:rPr>
                          <m:t>1</m:t>
                        </m:r>
                      </m:sub>
                    </m:sSub>
                  </m:oMath>
                </a14:m>
                <a:r>
                  <a:rPr lang="en-US" sz="2000" dirty="0"/>
                  <a:t>) and </a:t>
                </a:r>
                <a14:m>
                  <m:oMath xmlns:m="http://schemas.openxmlformats.org/officeDocument/2006/math">
                    <m:r>
                      <a:rPr lang="en-US" sz="2000" b="0" i="1" smtClean="0">
                        <a:latin typeface="Cambria Math" panose="02040503050406030204" pitchFamily="18" charset="0"/>
                      </a:rPr>
                      <m:t>𝑃</m:t>
                    </m:r>
                  </m:oMath>
                </a14:m>
                <a:r>
                  <a:rPr lang="en-US" sz="2000" dirty="0"/>
                  <a:t> = (</a:t>
                </a:r>
                <a14:m>
                  <m:oMath xmlns:m="http://schemas.openxmlformats.org/officeDocument/2006/math">
                    <m:r>
                      <m:rPr>
                        <m:sty m:val="p"/>
                      </m:rPr>
                      <a:rPr lang="en-US" sz="2000" b="0" i="0" smtClean="0">
                        <a:latin typeface="Cambria Math" panose="02040503050406030204" pitchFamily="18" charset="0"/>
                      </a:rPr>
                      <m:t>x</m:t>
                    </m:r>
                  </m:oMath>
                </a14:m>
                <a:r>
                  <a:rPr lang="en-US" sz="2000" dirty="0"/>
                  <a:t>, </a:t>
                </a:r>
                <a14:m>
                  <m:oMath xmlns:m="http://schemas.openxmlformats.org/officeDocument/2006/math">
                    <m:r>
                      <m:rPr>
                        <m:sty m:val="p"/>
                      </m:rPr>
                      <a:rPr lang="en-US" sz="2000" b="0" i="0" smtClean="0">
                        <a:latin typeface="Cambria Math" panose="02040503050406030204" pitchFamily="18" charset="0"/>
                      </a:rPr>
                      <m:t>y</m:t>
                    </m:r>
                  </m:oMath>
                </a14:m>
                <a:r>
                  <a:rPr lang="en-US" sz="2000" dirty="0"/>
                  <a:t>) then</a:t>
                </a:r>
              </a:p>
              <a:p>
                <a:pPr marL="0" indent="0">
                  <a:buNone/>
                </a:pPr>
                <a:r>
                  <a:rPr lang="en-US" sz="2000" dirty="0"/>
                  <a:t> </a:t>
                </a:r>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i="1">
                          <a:latin typeface="Cambria Math" panose="02040503050406030204" pitchFamily="18" charset="0"/>
                        </a:rPr>
                        <m:t>=</m:t>
                      </m:r>
                      <m:d>
                        <m:dPr>
                          <m:ctrlPr>
                            <a:rPr lang="en-US" sz="2000" i="1">
                              <a:latin typeface="Cambria Math" panose="02040503050406030204" pitchFamily="18" charset="0"/>
                            </a:rPr>
                          </m:ctrlPr>
                        </m:dPr>
                        <m:e>
                          <m:r>
                            <a:rPr lang="en-US" sz="2000" i="1">
                              <a:latin typeface="Cambria Math" panose="02040503050406030204" pitchFamily="18" charset="0"/>
                            </a:rPr>
                            <m:t>1−</m:t>
                          </m:r>
                          <m:r>
                            <a:rPr lang="en-US" sz="2000" i="1">
                              <a:latin typeface="Cambria Math" panose="02040503050406030204" pitchFamily="18" charset="0"/>
                            </a:rPr>
                            <m:t>𝑡</m:t>
                          </m:r>
                        </m:e>
                      </m:d>
                      <m:sSub>
                        <m:sSubPr>
                          <m:ctrlPr>
                            <a:rPr lang="en-US" sz="2000" i="1">
                              <a:latin typeface="Cambria Math" panose="02040503050406030204" pitchFamily="18" charset="0"/>
                            </a:rPr>
                          </m:ctrlPr>
                        </m:sSubPr>
                        <m:e>
                          <m:r>
                            <a:rPr lang="en-US" sz="2000" b="0" i="1" smtClean="0">
                              <a:latin typeface="Cambria Math" panose="02040503050406030204" pitchFamily="18" charset="0"/>
                            </a:rPr>
                            <m:t>𝑃</m:t>
                          </m:r>
                        </m:e>
                        <m:sub>
                          <m:r>
                            <a:rPr lang="en-US" sz="2000" i="1">
                              <a:latin typeface="Cambria Math" panose="02040503050406030204" pitchFamily="18" charset="0"/>
                            </a:rPr>
                            <m:t>0</m:t>
                          </m:r>
                        </m:sub>
                      </m:sSub>
                      <m:r>
                        <a:rPr lang="en-US" sz="2000" i="1">
                          <a:latin typeface="Cambria Math" panose="02040503050406030204" pitchFamily="18" charset="0"/>
                        </a:rPr>
                        <m:t>+</m:t>
                      </m:r>
                      <m:r>
                        <a:rPr lang="en-US" sz="2000" i="1">
                          <a:latin typeface="Cambria Math" panose="02040503050406030204" pitchFamily="18" charset="0"/>
                        </a:rPr>
                        <m:t>𝑡</m:t>
                      </m:r>
                      <m:sSub>
                        <m:sSubPr>
                          <m:ctrlPr>
                            <a:rPr lang="en-US" sz="2000" i="1">
                              <a:latin typeface="Cambria Math" panose="02040503050406030204" pitchFamily="18" charset="0"/>
                            </a:rPr>
                          </m:ctrlPr>
                        </m:sSubPr>
                        <m:e>
                          <m:r>
                            <a:rPr lang="en-US" sz="2000" b="0" i="1" smtClean="0">
                              <a:latin typeface="Cambria Math" panose="02040503050406030204" pitchFamily="18" charset="0"/>
                            </a:rPr>
                            <m:t>𝑃</m:t>
                          </m:r>
                        </m:e>
                        <m:sub>
                          <m:r>
                            <a:rPr lang="en-US" sz="2000" i="1">
                              <a:latin typeface="Cambria Math" panose="02040503050406030204" pitchFamily="18" charset="0"/>
                            </a:rPr>
                            <m:t>1</m:t>
                          </m:r>
                        </m:sub>
                      </m:sSub>
                    </m:oMath>
                  </m:oMathPara>
                </a14:m>
                <a:endParaRPr lang="en-US" sz="2000" dirty="0"/>
              </a:p>
              <a:p>
                <a:pPr marL="0" indent="0">
                  <a:buNone/>
                </a:pPr>
                <a:endParaRPr lang="en-US" sz="2000" dirty="0"/>
              </a:p>
              <a:p>
                <a:pPr marL="0" indent="0">
                  <a:buNone/>
                </a:pPr>
                <a:r>
                  <a:rPr lang="en-US" sz="2000" dirty="0"/>
                  <a:t>A parameter </a:t>
                </a:r>
                <a:r>
                  <a:rPr lang="en-US" sz="2000" i="1" dirty="0"/>
                  <a:t>t</a:t>
                </a:r>
                <a:r>
                  <a:rPr lang="en-US" sz="2000" dirty="0"/>
                  <a:t> is used to determine the value of the variables, e.g.,</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𝑥</m:t>
                      </m:r>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i="1">
                          <a:latin typeface="Cambria Math" panose="02040503050406030204" pitchFamily="18" charset="0"/>
                        </a:rPr>
                        <m:t>=</m:t>
                      </m:r>
                      <m:d>
                        <m:dPr>
                          <m:ctrlPr>
                            <a:rPr lang="en-US" sz="2000" i="1">
                              <a:latin typeface="Cambria Math" panose="02040503050406030204" pitchFamily="18" charset="0"/>
                            </a:rPr>
                          </m:ctrlPr>
                        </m:dPr>
                        <m:e>
                          <m:r>
                            <a:rPr lang="en-US" sz="2000" i="1">
                              <a:latin typeface="Cambria Math" panose="02040503050406030204" pitchFamily="18" charset="0"/>
                            </a:rPr>
                            <m:t>1−</m:t>
                          </m:r>
                          <m:r>
                            <a:rPr lang="en-US" sz="2000" i="1">
                              <a:latin typeface="Cambria Math" panose="02040503050406030204" pitchFamily="18" charset="0"/>
                            </a:rPr>
                            <m:t>𝑡</m:t>
                          </m:r>
                        </m:e>
                      </m:d>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0</m:t>
                          </m:r>
                        </m:sub>
                      </m:sSub>
                      <m:r>
                        <a:rPr lang="en-US" sz="2000" i="1">
                          <a:latin typeface="Cambria Math" panose="02040503050406030204" pitchFamily="18" charset="0"/>
                        </a:rPr>
                        <m:t>+</m:t>
                      </m:r>
                      <m:r>
                        <a:rPr lang="en-US" sz="2000" i="1">
                          <a:latin typeface="Cambria Math" panose="02040503050406030204" pitchFamily="18" charset="0"/>
                        </a:rPr>
                        <m:t>𝑡</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m:t>
                          </m:r>
                        </m:sub>
                      </m:sSub>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𝑦</m:t>
                      </m:r>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i="1">
                          <a:latin typeface="Cambria Math" panose="02040503050406030204" pitchFamily="18" charset="0"/>
                        </a:rPr>
                        <m:t>=</m:t>
                      </m:r>
                      <m:d>
                        <m:dPr>
                          <m:ctrlPr>
                            <a:rPr lang="en-US" sz="2000" i="1">
                              <a:latin typeface="Cambria Math" panose="02040503050406030204" pitchFamily="18" charset="0"/>
                            </a:rPr>
                          </m:ctrlPr>
                        </m:dPr>
                        <m:e>
                          <m:r>
                            <a:rPr lang="en-US" sz="2000" i="1">
                              <a:latin typeface="Cambria Math" panose="02040503050406030204" pitchFamily="18" charset="0"/>
                            </a:rPr>
                            <m:t>1−</m:t>
                          </m:r>
                          <m:r>
                            <a:rPr lang="en-US" sz="2000" i="1">
                              <a:latin typeface="Cambria Math" panose="02040503050406030204" pitchFamily="18" charset="0"/>
                            </a:rPr>
                            <m:t>𝑡</m:t>
                          </m:r>
                        </m:e>
                      </m:d>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0</m:t>
                          </m:r>
                        </m:sub>
                      </m:sSub>
                      <m:r>
                        <a:rPr lang="en-US" sz="2000" i="1">
                          <a:latin typeface="Cambria Math" panose="02040503050406030204" pitchFamily="18" charset="0"/>
                        </a:rPr>
                        <m:t>+</m:t>
                      </m:r>
                      <m:r>
                        <a:rPr lang="en-US" sz="2000" i="1">
                          <a:latin typeface="Cambria Math" panose="02040503050406030204" pitchFamily="18" charset="0"/>
                        </a:rPr>
                        <m:t>𝑡</m:t>
                      </m:r>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1</m:t>
                          </m:r>
                        </m:sub>
                      </m:sSub>
                    </m:oMath>
                  </m:oMathPara>
                </a14:m>
                <a:endParaRPr lang="en-US" sz="2000" dirty="0"/>
              </a:p>
              <a:p>
                <a:pPr marL="0" indent="0">
                  <a:buNone/>
                </a:pPr>
                <a:endParaRPr lang="en-US" sz="20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838200" y="365125"/>
                <a:ext cx="10515600" cy="3443588"/>
              </a:xfrm>
              <a:blipFill rotWithShape="1">
                <a:blip r:embed="rId3"/>
                <a:stretch>
                  <a:fillRect b="-3117"/>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9</a:t>
            </a:fld>
            <a:endParaRPr lang="en-US"/>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grpSp>
        <p:nvGrpSpPr>
          <p:cNvPr id="15" name="Group 14"/>
          <p:cNvGrpSpPr/>
          <p:nvPr/>
        </p:nvGrpSpPr>
        <p:grpSpPr>
          <a:xfrm>
            <a:off x="7132142" y="3428999"/>
            <a:ext cx="4010929" cy="2272590"/>
            <a:chOff x="3184257" y="3631838"/>
            <a:chExt cx="4010929" cy="2272590"/>
          </a:xfrm>
        </p:grpSpPr>
        <p:cxnSp>
          <p:nvCxnSpPr>
            <p:cNvPr id="6" name="Straight Connector 5"/>
            <p:cNvCxnSpPr/>
            <p:nvPr/>
          </p:nvCxnSpPr>
          <p:spPr>
            <a:xfrm flipV="1">
              <a:off x="3484179" y="4193628"/>
              <a:ext cx="3373821" cy="1229710"/>
            </a:xfrm>
            <a:prstGeom prst="line">
              <a:avLst/>
            </a:prstGeom>
            <a:ln w="28575">
              <a:headEnd type="oval"/>
              <a:tailEnd type="ova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342439" y="5535096"/>
              <a:ext cx="381836" cy="369332"/>
            </a:xfrm>
            <a:prstGeom prst="rect">
              <a:avLst/>
            </a:prstGeom>
            <a:noFill/>
          </p:spPr>
          <p:txBody>
            <a:bodyPr wrap="none" rtlCol="0">
              <a:spAutoFit/>
            </a:bodyPr>
            <a:lstStyle/>
            <a:p>
              <a:r>
                <a:rPr lang="en-US" dirty="0"/>
                <a:t>P</a:t>
              </a:r>
              <a:r>
                <a:rPr lang="en-US" baseline="-25000" dirty="0"/>
                <a:t>0</a:t>
              </a:r>
            </a:p>
          </p:txBody>
        </p:sp>
        <p:sp>
          <p:nvSpPr>
            <p:cNvPr id="11" name="TextBox 10"/>
            <p:cNvSpPr txBox="1"/>
            <p:nvPr/>
          </p:nvSpPr>
          <p:spPr>
            <a:xfrm>
              <a:off x="6704346" y="4302572"/>
              <a:ext cx="381836" cy="369332"/>
            </a:xfrm>
            <a:prstGeom prst="rect">
              <a:avLst/>
            </a:prstGeom>
            <a:noFill/>
          </p:spPr>
          <p:txBody>
            <a:bodyPr wrap="none" rtlCol="0">
              <a:spAutoFit/>
            </a:bodyPr>
            <a:lstStyle/>
            <a:p>
              <a:r>
                <a:rPr lang="en-US" dirty="0"/>
                <a:t>P</a:t>
              </a:r>
              <a:r>
                <a:rPr lang="en-US" baseline="-25000" dirty="0"/>
                <a:t>1</a:t>
              </a:r>
            </a:p>
          </p:txBody>
        </p:sp>
        <p:sp>
          <p:nvSpPr>
            <p:cNvPr id="12" name="TextBox 11"/>
            <p:cNvSpPr txBox="1"/>
            <p:nvPr/>
          </p:nvSpPr>
          <p:spPr>
            <a:xfrm>
              <a:off x="3184257" y="4759691"/>
              <a:ext cx="599844" cy="369332"/>
            </a:xfrm>
            <a:prstGeom prst="rect">
              <a:avLst/>
            </a:prstGeom>
            <a:noFill/>
          </p:spPr>
          <p:txBody>
            <a:bodyPr wrap="none" rtlCol="0">
              <a:spAutoFit/>
            </a:bodyPr>
            <a:lstStyle/>
            <a:p>
              <a:r>
                <a:rPr lang="en-US" dirty="0"/>
                <a:t>t = 0</a:t>
              </a:r>
              <a:endParaRPr lang="en-US" baseline="-25000" dirty="0"/>
            </a:p>
          </p:txBody>
        </p:sp>
        <p:sp>
          <p:nvSpPr>
            <p:cNvPr id="13" name="TextBox 12"/>
            <p:cNvSpPr txBox="1"/>
            <p:nvPr/>
          </p:nvSpPr>
          <p:spPr>
            <a:xfrm>
              <a:off x="6595342" y="3631838"/>
              <a:ext cx="599844" cy="369332"/>
            </a:xfrm>
            <a:prstGeom prst="rect">
              <a:avLst/>
            </a:prstGeom>
            <a:noFill/>
          </p:spPr>
          <p:txBody>
            <a:bodyPr wrap="none" rtlCol="0">
              <a:spAutoFit/>
            </a:bodyPr>
            <a:lstStyle/>
            <a:p>
              <a:r>
                <a:rPr lang="en-US" dirty="0"/>
                <a:t>t = 1</a:t>
              </a:r>
              <a:endParaRPr lang="en-US" baseline="-25000" dirty="0"/>
            </a:p>
          </p:txBody>
        </p:sp>
        <p:sp>
          <p:nvSpPr>
            <p:cNvPr id="14" name="TextBox 13"/>
            <p:cNvSpPr txBox="1"/>
            <p:nvPr/>
          </p:nvSpPr>
          <p:spPr>
            <a:xfrm>
              <a:off x="4794341" y="4210239"/>
              <a:ext cx="691215" cy="369332"/>
            </a:xfrm>
            <a:prstGeom prst="rect">
              <a:avLst/>
            </a:prstGeom>
            <a:noFill/>
          </p:spPr>
          <p:txBody>
            <a:bodyPr wrap="none" rtlCol="0">
              <a:spAutoFit/>
            </a:bodyPr>
            <a:lstStyle/>
            <a:p>
              <a:r>
                <a:rPr lang="en-US" dirty="0"/>
                <a:t>t = ½ </a:t>
              </a:r>
              <a:endParaRPr lang="en-US" baseline="-25000" dirty="0"/>
            </a:p>
          </p:txBody>
        </p:sp>
      </p:gr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65125"/>
                <a:ext cx="10515600" cy="5811838"/>
              </a:xfrm>
            </p:spPr>
            <p:txBody>
              <a:bodyPr>
                <a:normAutofit/>
              </a:bodyPr>
              <a:lstStyle/>
              <a:p>
                <a:pPr marL="0" indent="0">
                  <a:buNone/>
                </a:pPr>
                <a:r>
                  <a:rPr lang="en-US" b="1" dirty="0"/>
                  <a:t>Linear </a:t>
                </a:r>
                <a:r>
                  <a:rPr lang="en-US" b="1" dirty="0" err="1"/>
                  <a:t>Bézier</a:t>
                </a:r>
                <a:r>
                  <a:rPr lang="en-US" b="1" dirty="0"/>
                  <a:t> Curves</a:t>
                </a:r>
              </a:p>
              <a:p>
                <a:pPr marL="0" indent="0">
                  <a:buNone/>
                </a:pPr>
                <a:endParaRPr lang="en-US" sz="2000" dirty="0"/>
              </a:p>
              <a:p>
                <a:pPr marL="0" indent="0">
                  <a:buNone/>
                </a:pPr>
                <a:r>
                  <a:rPr lang="en-US" sz="2000" dirty="0"/>
                  <a:t>Given points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0</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1</m:t>
                        </m:r>
                      </m:sub>
                    </m:sSub>
                  </m:oMath>
                </a14:m>
                <a:r>
                  <a:rPr lang="en-US" sz="2000" dirty="0"/>
                  <a:t>, a linear </a:t>
                </a:r>
                <a:r>
                  <a:rPr lang="en-US" sz="2000" dirty="0" err="1"/>
                  <a:t>Bézier</a:t>
                </a:r>
                <a:r>
                  <a:rPr lang="en-US" sz="2000" dirty="0"/>
                  <a:t> curve is simply a straight line between those two points. The curve is given by</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p>
                        <m:sSupPr>
                          <m:ctrlPr>
                            <a:rPr lang="id-ID" sz="200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m:t>
                          </m:r>
                          <m:d>
                            <m:dPr>
                              <m:ctrlP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𝑥</m:t>
                              </m:r>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𝑦</m:t>
                              </m:r>
                            </m:e>
                          </m:d>
                        </m:e>
                        <m:sup>
                          <m:r>
                            <a:rPr lang="en-US" sz="20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m:t>
                          </m:r>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m:t>
                          </m:r>
                        </m:sup>
                      </m:sSup>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𝑥</m:t>
                              </m:r>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𝑦</m:t>
                              </m:r>
                            </m:e>
                          </m:d>
                        </m:e>
                        <m:sup>
                          <m:r>
                            <a:rPr lang="en-US" sz="20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m:t>
                          </m:r>
                        </m:sup>
                      </m:sSup>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b="0" i="1" smtClean="0">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𝑥</m:t>
                      </m:r>
                      <m:r>
                        <a:rPr lang="en-US" sz="20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b="0" i="1"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𝑦</m:t>
                      </m:r>
                    </m:oMath>
                  </m:oMathPara>
                </a14:m>
                <a:endParaRPr lang="en-US" sz="2000" dirty="0">
                  <a:solidFill>
                    <a:schemeClr val="tx1"/>
                  </a:solidFill>
                </a:endParaRP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𝐵</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0</m:t>
                          </m:r>
                        </m:sub>
                      </m:sSub>
                      <m:r>
                        <a:rPr lang="en-US" sz="2000" b="0" i="1" smtClean="0">
                          <a:latin typeface="Cambria Math" panose="02040503050406030204" pitchFamily="18" charset="0"/>
                        </a:rPr>
                        <m:t>+</m:t>
                      </m:r>
                      <m:r>
                        <a:rPr lang="en-US" sz="2000" b="0" i="1" smtClean="0">
                          <a:latin typeface="Cambria Math" panose="02040503050406030204" pitchFamily="18" charset="0"/>
                        </a:rPr>
                        <m:t>𝑡</m:t>
                      </m:r>
                      <m:d>
                        <m:dPr>
                          <m:ctrlPr>
                            <a:rPr lang="en-US" sz="2000" b="0" i="1" smtClean="0">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0</m:t>
                              </m:r>
                            </m:sub>
                          </m:sSub>
                        </m:e>
                      </m:d>
                      <m:r>
                        <a:rPr lang="en-US" sz="2000" b="0" i="1" smtClean="0">
                          <a:latin typeface="Cambria Math" panose="02040503050406030204" pitchFamily="18" charset="0"/>
                        </a:rPr>
                        <m:t>=</m:t>
                      </m:r>
                      <m:d>
                        <m:dPr>
                          <m:ctrlPr>
                            <a:rPr lang="en-US" sz="2000" b="0" i="1" smtClean="0">
                              <a:solidFill>
                                <a:srgbClr val="FF0000"/>
                              </a:solidFill>
                              <a:latin typeface="Cambria Math" panose="02040503050406030204" pitchFamily="18" charset="0"/>
                            </a:rPr>
                          </m:ctrlPr>
                        </m:dPr>
                        <m:e>
                          <m:r>
                            <a:rPr lang="en-US" sz="2000" b="0" i="1" smtClean="0">
                              <a:solidFill>
                                <a:srgbClr val="FF0000"/>
                              </a:solidFill>
                              <a:latin typeface="Cambria Math" panose="02040503050406030204" pitchFamily="18" charset="0"/>
                            </a:rPr>
                            <m:t>1−</m:t>
                          </m:r>
                          <m:r>
                            <a:rPr lang="en-US" sz="2000" b="0" i="1" smtClean="0">
                              <a:solidFill>
                                <a:srgbClr val="FF0000"/>
                              </a:solidFill>
                              <a:latin typeface="Cambria Math" panose="02040503050406030204" pitchFamily="18" charset="0"/>
                            </a:rPr>
                            <m:t>𝑡</m:t>
                          </m:r>
                        </m:e>
                      </m:d>
                      <m:sSub>
                        <m:sSubPr>
                          <m:ctrlPr>
                            <a:rPr lang="en-US" sz="2000" b="1" i="1">
                              <a:latin typeface="Cambria Math" panose="02040503050406030204" pitchFamily="18" charset="0"/>
                            </a:rPr>
                          </m:ctrlPr>
                        </m:sSubPr>
                        <m:e>
                          <m:r>
                            <a:rPr lang="en-US" sz="2000" b="1" i="1">
                              <a:latin typeface="Cambria Math" panose="02040503050406030204" pitchFamily="18" charset="0"/>
                            </a:rPr>
                            <m:t>𝑷</m:t>
                          </m:r>
                        </m:e>
                        <m:sub>
                          <m:r>
                            <a:rPr lang="en-US" sz="2000" b="1" i="1">
                              <a:latin typeface="Cambria Math" panose="02040503050406030204" pitchFamily="18" charset="0"/>
                            </a:rPr>
                            <m:t>𝟎</m:t>
                          </m:r>
                        </m:sub>
                      </m:sSub>
                      <m:r>
                        <a:rPr lang="en-US" sz="2000" b="0" i="1" smtClean="0">
                          <a:latin typeface="Cambria Math" panose="02040503050406030204" pitchFamily="18" charset="0"/>
                        </a:rPr>
                        <m:t>+</m:t>
                      </m:r>
                      <m:r>
                        <a:rPr lang="en-US" sz="2000" b="0" i="1" smtClean="0">
                          <a:solidFill>
                            <a:srgbClr val="92D050"/>
                          </a:solidFill>
                          <a:latin typeface="Cambria Math" panose="02040503050406030204" pitchFamily="18" charset="0"/>
                        </a:rPr>
                        <m:t>𝑡</m:t>
                      </m:r>
                      <m:sSub>
                        <m:sSubPr>
                          <m:ctrlPr>
                            <a:rPr lang="en-US" sz="2000" b="1" i="1">
                              <a:latin typeface="Cambria Math" panose="02040503050406030204" pitchFamily="18" charset="0"/>
                            </a:rPr>
                          </m:ctrlPr>
                        </m:sSubPr>
                        <m:e>
                          <m:r>
                            <a:rPr lang="en-US" sz="2000" b="1" i="1">
                              <a:latin typeface="Cambria Math" panose="02040503050406030204" pitchFamily="18" charset="0"/>
                            </a:rPr>
                            <m:t>𝑷</m:t>
                          </m:r>
                        </m:e>
                        <m:sub>
                          <m:r>
                            <a:rPr lang="en-US" sz="2000" b="1" i="1" smtClean="0">
                              <a:latin typeface="Cambria Math" panose="02040503050406030204" pitchFamily="18" charset="0"/>
                            </a:rPr>
                            <m:t>𝟏</m:t>
                          </m:r>
                        </m:sub>
                      </m:sSub>
                    </m:oMath>
                  </m:oMathPara>
                </a14:m>
                <a:endParaRPr lang="en-US" sz="2000" b="1" dirty="0"/>
              </a:p>
              <a:p>
                <a:pPr marL="0" indent="0">
                  <a:buNone/>
                </a:pPr>
                <a:endParaRPr lang="en-US" sz="2000" dirty="0"/>
              </a:p>
              <a:p>
                <a:r>
                  <a:rPr lang="en-US" sz="2000" dirty="0"/>
                  <a:t>Linear Bezier is curve with order </a:t>
                </a:r>
                <a:r>
                  <a:rPr lang="en-US" sz="2000" b="1" dirty="0"/>
                  <a:t>n = 1</a:t>
                </a:r>
              </a:p>
              <a:p>
                <a:r>
                  <a:rPr lang="en-US" sz="2000" dirty="0"/>
                  <a:t>The </a:t>
                </a:r>
                <a:r>
                  <a:rPr lang="en-US" sz="2000" i="1" dirty="0"/>
                  <a:t>t</a:t>
                </a:r>
                <a:r>
                  <a:rPr lang="en-US" sz="2000" dirty="0"/>
                  <a:t> in the function for a linear </a:t>
                </a:r>
                <a:r>
                  <a:rPr lang="en-US" sz="2000" dirty="0" err="1"/>
                  <a:t>Bézier</a:t>
                </a:r>
                <a:r>
                  <a:rPr lang="en-US" sz="2000" dirty="0"/>
                  <a:t> curve can be thought of as describing how far B(t) is from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0</m:t>
                        </m:r>
                      </m:sub>
                    </m:sSub>
                  </m:oMath>
                </a14:m>
                <a:r>
                  <a:rPr lang="en-US" sz="2000" dirty="0"/>
                  <a:t> to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1</m:t>
                        </m:r>
                      </m:sub>
                    </m:sSub>
                  </m:oMath>
                </a14:m>
                <a:r>
                  <a:rPr lang="en-US" sz="2000" dirty="0"/>
                  <a:t>.</a:t>
                </a:r>
              </a:p>
              <a:p>
                <a:r>
                  <a:rPr lang="en-US" sz="2000" dirty="0"/>
                  <a:t>For example, when t=0,25, B(t) is one quarter of the way from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0</m:t>
                        </m:r>
                      </m:sub>
                    </m:sSub>
                  </m:oMath>
                </a14:m>
                <a:r>
                  <a:rPr lang="en-US" sz="2000" dirty="0"/>
                  <a:t> to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1</m:t>
                        </m:r>
                      </m:sub>
                    </m:sSub>
                  </m:oMath>
                </a14:m>
                <a:r>
                  <a:rPr lang="en-US" sz="2000" dirty="0"/>
                  <a:t>.</a:t>
                </a:r>
              </a:p>
              <a:p>
                <a:r>
                  <a:rPr lang="en-US" sz="2000" dirty="0"/>
                  <a:t>As t varies from 0 to 1, B(t) describes a curved line from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0</m:t>
                        </m:r>
                      </m:sub>
                    </m:sSub>
                  </m:oMath>
                </a14:m>
                <a:r>
                  <a:rPr lang="en-US" sz="2000" dirty="0"/>
                  <a:t> to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1</m:t>
                        </m:r>
                      </m:sub>
                    </m:sSub>
                  </m:oMath>
                </a14:m>
                <a:r>
                  <a:rPr lang="en-US" sz="2000" dirty="0"/>
                  <a:t> </a:t>
                </a:r>
              </a:p>
              <a:p>
                <a:pPr marL="0" indent="0">
                  <a:buNone/>
                </a:pPr>
                <a:endParaRPr lang="en-US" sz="20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838200" y="365125"/>
                <a:ext cx="10515600" cy="5811838"/>
              </a:xfrm>
              <a:blipFill rotWithShape="1">
                <a:blip r:embed="rId4"/>
                <a:stretch>
                  <a:fillRect b="5"/>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10</a:t>
            </a:fld>
            <a:endParaRPr lang="en-US"/>
          </a:p>
        </p:txBody>
      </p:sp>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65125"/>
                <a:ext cx="10515600" cy="5811838"/>
              </a:xfrm>
            </p:spPr>
            <p:txBody>
              <a:bodyPr>
                <a:normAutofit/>
              </a:bodyPr>
              <a:lstStyle/>
              <a:p>
                <a:pPr marL="0" indent="0">
                  <a:buNone/>
                </a:pPr>
                <a:r>
                  <a:rPr lang="en-US" b="1" dirty="0"/>
                  <a:t>Quadratic </a:t>
                </a:r>
                <a:r>
                  <a:rPr lang="en-US" b="1" dirty="0" err="1"/>
                  <a:t>Bézier</a:t>
                </a:r>
                <a:r>
                  <a:rPr lang="en-US" b="1" dirty="0"/>
                  <a:t> Curves</a:t>
                </a:r>
              </a:p>
              <a:p>
                <a:pPr marL="0" indent="0">
                  <a:buNone/>
                </a:pPr>
                <a:endParaRPr lang="en-US" sz="2000" dirty="0"/>
              </a:p>
              <a:p>
                <a:pPr marL="0" indent="0">
                  <a:buNone/>
                </a:pPr>
                <a:r>
                  <a:rPr lang="en-US" sz="2000" dirty="0"/>
                  <a:t>A quadratic </a:t>
                </a:r>
                <a:r>
                  <a:rPr lang="en-US" sz="2000" dirty="0" err="1"/>
                  <a:t>Bézier</a:t>
                </a:r>
                <a:r>
                  <a:rPr lang="en-US" sz="2000" dirty="0"/>
                  <a:t> curve is the path traced by the function B(t), given points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0</m:t>
                        </m:r>
                      </m:sub>
                    </m:sSub>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2</m:t>
                        </m:r>
                      </m:sub>
                    </m:sSub>
                  </m:oMath>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p>
                        <m:sSupPr>
                          <m:ctrlPr>
                            <a:rPr lang="id-ID" sz="200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m:t>
                          </m:r>
                          <m:d>
                            <m:dPr>
                              <m:ctrlP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𝑥</m:t>
                              </m:r>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𝑦</m:t>
                              </m:r>
                            </m:e>
                          </m:d>
                        </m:e>
                        <m:sup>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3−1</m:t>
                          </m:r>
                        </m:sup>
                      </m:sSup>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r>
                                <a:rPr lang="id-ID" sz="2000" i="1" smtClean="0">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𝑥</m:t>
                              </m:r>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r>
                                <a:rPr lang="id-ID" sz="2000" i="1"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𝑦</m:t>
                              </m:r>
                            </m:e>
                          </m:d>
                        </m:e>
                        <m:sup>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m:t>
                          </m:r>
                        </m:sup>
                      </m:sSup>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id-ID" sz="2000" i="1">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𝑥</m:t>
                          </m:r>
                        </m:e>
                        <m:sup>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m:t>
                          </m:r>
                        </m:sup>
                      </m:sSup>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m:t>
                      </m:r>
                      <m:r>
                        <a:rPr lang="id-ID" sz="2000" i="1">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𝑥</m:t>
                      </m:r>
                      <m:r>
                        <a:rPr lang="id-ID" sz="2000" i="1">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𝑦</m:t>
                      </m:r>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id-ID" sz="2000" i="1">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𝑦</m:t>
                          </m:r>
                        </m:e>
                        <m:sup>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𝐵</m:t>
                      </m:r>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i="1">
                          <a:latin typeface="Cambria Math" panose="02040503050406030204" pitchFamily="18" charset="0"/>
                        </a:rPr>
                        <m:t>=</m:t>
                      </m:r>
                      <m:sSup>
                        <m:sSupPr>
                          <m:ctrlPr>
                            <a:rPr lang="en-US" sz="2000" i="1" smtClean="0">
                              <a:latin typeface="Cambria Math" panose="02040503050406030204" pitchFamily="18" charset="0"/>
                            </a:rPr>
                          </m:ctrlPr>
                        </m:sSupPr>
                        <m:e>
                          <m:d>
                            <m:dPr>
                              <m:ctrlPr>
                                <a:rPr lang="en-US" sz="2000" i="1" smtClean="0">
                                  <a:solidFill>
                                    <a:srgbClr val="FF0000"/>
                                  </a:solidFill>
                                  <a:latin typeface="Cambria Math" panose="02040503050406030204" pitchFamily="18" charset="0"/>
                                </a:rPr>
                              </m:ctrlPr>
                            </m:dPr>
                            <m:e>
                              <m:r>
                                <a:rPr lang="en-US" sz="2000" i="1">
                                  <a:solidFill>
                                    <a:srgbClr val="FF0000"/>
                                  </a:solidFill>
                                  <a:latin typeface="Cambria Math" panose="02040503050406030204" pitchFamily="18" charset="0"/>
                                </a:rPr>
                                <m:t>1−</m:t>
                              </m:r>
                              <m:r>
                                <a:rPr lang="en-US" sz="2000" i="1">
                                  <a:solidFill>
                                    <a:srgbClr val="FF0000"/>
                                  </a:solidFill>
                                  <a:latin typeface="Cambria Math" panose="02040503050406030204" pitchFamily="18" charset="0"/>
                                </a:rPr>
                                <m:t>𝑡</m:t>
                              </m:r>
                            </m:e>
                          </m:d>
                        </m:e>
                        <m:sup>
                          <m:r>
                            <a:rPr lang="en-US" sz="2000" b="0" i="1" smtClean="0">
                              <a:latin typeface="Cambria Math" panose="02040503050406030204" pitchFamily="18" charset="0"/>
                            </a:rPr>
                            <m:t>2</m:t>
                          </m:r>
                        </m:sup>
                      </m:sSup>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0</m:t>
                          </m:r>
                        </m:sub>
                      </m:sSub>
                      <m:r>
                        <a:rPr lang="en-US" sz="2000" i="1">
                          <a:latin typeface="Cambria Math" panose="02040503050406030204" pitchFamily="18" charset="0"/>
                        </a:rPr>
                        <m:t>+</m:t>
                      </m:r>
                      <m:r>
                        <a:rPr lang="en-US" sz="2000" b="0" i="1" smtClean="0">
                          <a:latin typeface="Cambria Math" panose="02040503050406030204" pitchFamily="18" charset="0"/>
                        </a:rPr>
                        <m:t>2</m:t>
                      </m:r>
                      <m:d>
                        <m:dPr>
                          <m:ctrlPr>
                            <a:rPr lang="en-US" sz="2000" i="1">
                              <a:solidFill>
                                <a:srgbClr val="FF0000"/>
                              </a:solidFill>
                              <a:latin typeface="Cambria Math" panose="02040503050406030204" pitchFamily="18" charset="0"/>
                            </a:rPr>
                          </m:ctrlPr>
                        </m:dPr>
                        <m:e>
                          <m:r>
                            <a:rPr lang="en-US" sz="2000" i="1">
                              <a:solidFill>
                                <a:srgbClr val="FF0000"/>
                              </a:solidFill>
                              <a:latin typeface="Cambria Math" panose="02040503050406030204" pitchFamily="18" charset="0"/>
                            </a:rPr>
                            <m:t>1−</m:t>
                          </m:r>
                          <m:r>
                            <a:rPr lang="en-US" sz="2000" i="1">
                              <a:solidFill>
                                <a:srgbClr val="FF0000"/>
                              </a:solidFill>
                              <a:latin typeface="Cambria Math" panose="02040503050406030204" pitchFamily="18" charset="0"/>
                            </a:rPr>
                            <m:t>𝑡</m:t>
                          </m:r>
                        </m:e>
                      </m:d>
                      <m:r>
                        <a:rPr lang="en-US" sz="2000" b="0" i="1" smtClean="0">
                          <a:solidFill>
                            <a:srgbClr val="92D050"/>
                          </a:solidFill>
                          <a:latin typeface="Cambria Math" panose="02040503050406030204" pitchFamily="18" charset="0"/>
                        </a:rPr>
                        <m:t>𝑡</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1</m:t>
                          </m:r>
                        </m:sub>
                      </m:sSub>
                      <m:r>
                        <a:rPr lang="en-US" sz="2000" b="0" i="1" smtClean="0">
                          <a:latin typeface="Cambria Math" panose="02040503050406030204" pitchFamily="18" charset="0"/>
                        </a:rPr>
                        <m:t>+ </m:t>
                      </m:r>
                      <m:sSup>
                        <m:sSupPr>
                          <m:ctrlPr>
                            <a:rPr lang="en-US" sz="2000" b="0" i="1" smtClean="0">
                              <a:latin typeface="Cambria Math" panose="02040503050406030204" pitchFamily="18" charset="0"/>
                            </a:rPr>
                          </m:ctrlPr>
                        </m:sSupPr>
                        <m:e>
                          <m:r>
                            <a:rPr lang="en-US" sz="2000" i="1">
                              <a:solidFill>
                                <a:srgbClr val="92D050"/>
                              </a:solidFill>
                              <a:latin typeface="Cambria Math" panose="02040503050406030204" pitchFamily="18" charset="0"/>
                            </a:rPr>
                            <m:t>𝑡</m:t>
                          </m:r>
                        </m:e>
                        <m:sup>
                          <m:r>
                            <a:rPr lang="en-US" sz="2000" b="0" i="1" smtClean="0">
                              <a:latin typeface="Cambria Math" panose="02040503050406030204" pitchFamily="18" charset="0"/>
                            </a:rPr>
                            <m:t>2</m:t>
                          </m:r>
                        </m:sup>
                      </m:sSup>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  </m:t>
                      </m:r>
                      <m:r>
                        <a:rPr lang="en-US" sz="2000" b="0" i="1" smtClean="0">
                          <a:latin typeface="Cambria Math" panose="02040503050406030204" pitchFamily="18" charset="0"/>
                        </a:rPr>
                        <m:t>𝑡</m:t>
                      </m:r>
                      <m:r>
                        <a:rPr lang="en-US" sz="2000" b="0" i="1" smtClean="0">
                          <a:latin typeface="Cambria Math" panose="02040503050406030204" pitchFamily="18" charset="0"/>
                        </a:rPr>
                        <m:t> ∈[0,1]</m:t>
                      </m:r>
                    </m:oMath>
                  </m:oMathPara>
                </a14:m>
                <a:endParaRPr lang="en-US" sz="2000" dirty="0"/>
              </a:p>
              <a:p>
                <a:pPr marL="0" indent="0">
                  <a:buNone/>
                </a:pPr>
                <a:endParaRPr lang="en-US" sz="2000" dirty="0"/>
              </a:p>
              <a:p>
                <a:r>
                  <a:rPr lang="en-US" sz="2000" dirty="0"/>
                  <a:t>Quadratic Bezier is curve with order </a:t>
                </a:r>
                <a:r>
                  <a:rPr lang="en-US" sz="2000" b="1" dirty="0"/>
                  <a:t>n = 2</a:t>
                </a:r>
              </a:p>
              <a:p>
                <a:r>
                  <a:rPr lang="en-US" sz="2000" dirty="0"/>
                  <a:t>For quadratic </a:t>
                </a:r>
                <a:r>
                  <a:rPr lang="en-US" sz="2000" dirty="0" err="1"/>
                  <a:t>Bézier</a:t>
                </a:r>
                <a:r>
                  <a:rPr lang="en-US" sz="2000" dirty="0"/>
                  <a:t> curves one can construct 1 intermediate points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𝑄</m:t>
                        </m:r>
                      </m:e>
                      <m:sub>
                        <m:r>
                          <a:rPr lang="en-US" sz="2000" i="1">
                            <a:latin typeface="Cambria Math" panose="02040503050406030204" pitchFamily="18" charset="0"/>
                          </a:rPr>
                          <m:t>0</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𝑄</m:t>
                        </m:r>
                      </m:e>
                      <m:sub>
                        <m:r>
                          <a:rPr lang="en-US" sz="2000" b="0" i="1" smtClean="0">
                            <a:latin typeface="Cambria Math" panose="02040503050406030204" pitchFamily="18" charset="0"/>
                          </a:rPr>
                          <m:t>1</m:t>
                        </m:r>
                      </m:sub>
                    </m:sSub>
                  </m:oMath>
                </a14:m>
                <a:r>
                  <a:rPr lang="en-US" sz="2000" dirty="0"/>
                  <a:t> such that as t varies from 0 to 1:</a:t>
                </a:r>
              </a:p>
              <a:p>
                <a:r>
                  <a:rPr lang="en-US" sz="2000" dirty="0"/>
                  <a:t>Point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𝑄</m:t>
                        </m:r>
                      </m:e>
                      <m:sub>
                        <m:r>
                          <a:rPr lang="en-US" sz="2000" i="1">
                            <a:latin typeface="Cambria Math" panose="02040503050406030204" pitchFamily="18" charset="0"/>
                          </a:rPr>
                          <m:t>0</m:t>
                        </m:r>
                      </m:sub>
                    </m:sSub>
                  </m:oMath>
                </a14:m>
                <a:r>
                  <a:rPr lang="en-US" sz="2000" dirty="0"/>
                  <a:t> varies from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0</m:t>
                        </m:r>
                      </m:sub>
                    </m:sSub>
                  </m:oMath>
                </a14:m>
                <a:r>
                  <a:rPr lang="en-US" sz="2000" dirty="0"/>
                  <a:t> to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1</m:t>
                        </m:r>
                      </m:sub>
                    </m:sSub>
                  </m:oMath>
                </a14:m>
                <a:r>
                  <a:rPr lang="en-US" sz="2000" dirty="0"/>
                  <a:t> and describes a linear </a:t>
                </a:r>
                <a:r>
                  <a:rPr lang="en-US" sz="2000" dirty="0" err="1"/>
                  <a:t>Bézier</a:t>
                </a:r>
                <a:r>
                  <a:rPr lang="en-US" sz="2000" dirty="0"/>
                  <a:t> curve.</a:t>
                </a:r>
              </a:p>
              <a:p>
                <a:r>
                  <a:rPr lang="en-US" sz="2000" dirty="0"/>
                  <a:t>Point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𝑄</m:t>
                        </m:r>
                      </m:e>
                      <m:sub>
                        <m:r>
                          <a:rPr lang="en-US" sz="2000" i="1">
                            <a:latin typeface="Cambria Math" panose="02040503050406030204" pitchFamily="18" charset="0"/>
                          </a:rPr>
                          <m:t>1</m:t>
                        </m:r>
                      </m:sub>
                    </m:sSub>
                  </m:oMath>
                </a14:m>
                <a:r>
                  <a:rPr lang="en-US" sz="2000" dirty="0"/>
                  <a:t> varies from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1</m:t>
                        </m:r>
                      </m:sub>
                    </m:sSub>
                  </m:oMath>
                </a14:m>
                <a:r>
                  <a:rPr lang="en-US" sz="2000" dirty="0"/>
                  <a:t> </a:t>
                </a:r>
                <a:r>
                  <a:rPr lang="en-US" sz="2000" dirty="0" err="1"/>
                  <a:t>tp</a:t>
                </a:r>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2</m:t>
                        </m:r>
                      </m:sub>
                    </m:sSub>
                  </m:oMath>
                </a14:m>
                <a:r>
                  <a:rPr lang="en-US" sz="2000" dirty="0"/>
                  <a:t> and describes a linear </a:t>
                </a:r>
                <a:r>
                  <a:rPr lang="en-US" sz="2000" dirty="0" err="1"/>
                  <a:t>Bézier</a:t>
                </a:r>
                <a:r>
                  <a:rPr lang="en-US" sz="2000" dirty="0"/>
                  <a:t> curve.</a:t>
                </a:r>
              </a:p>
              <a:p>
                <a:r>
                  <a:rPr lang="en-US" sz="2000" dirty="0"/>
                  <a:t>Point B(t) varies from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𝑄</m:t>
                        </m:r>
                      </m:e>
                      <m:sub>
                        <m:r>
                          <a:rPr lang="en-US" sz="2000" b="0" i="1" smtClean="0">
                            <a:latin typeface="Cambria Math" panose="02040503050406030204" pitchFamily="18" charset="0"/>
                          </a:rPr>
                          <m:t>0</m:t>
                        </m:r>
                      </m:sub>
                    </m:sSub>
                  </m:oMath>
                </a14:m>
                <a:r>
                  <a:rPr lang="en-US" sz="2000" dirty="0"/>
                  <a:t> to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𝑄</m:t>
                        </m:r>
                      </m:e>
                      <m:sub>
                        <m:r>
                          <a:rPr lang="en-US" sz="2000" i="1">
                            <a:latin typeface="Cambria Math" panose="02040503050406030204" pitchFamily="18" charset="0"/>
                          </a:rPr>
                          <m:t>1</m:t>
                        </m:r>
                      </m:sub>
                    </m:sSub>
                  </m:oMath>
                </a14:m>
                <a:r>
                  <a:rPr lang="en-US" sz="2000" dirty="0"/>
                  <a:t> and describes a quadratic </a:t>
                </a:r>
                <a:r>
                  <a:rPr lang="en-US" sz="2000" dirty="0" err="1"/>
                  <a:t>Bézier</a:t>
                </a:r>
                <a:r>
                  <a:rPr lang="en-US" sz="2000" dirty="0"/>
                  <a:t> curve</a:t>
                </a:r>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838200" y="365125"/>
                <a:ext cx="10515600" cy="5811838"/>
              </a:xfrm>
              <a:blipFill rotWithShape="1">
                <a:blip r:embed="rId4"/>
                <a:stretch>
                  <a:fillRect b="5"/>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11</a:t>
            </a:fld>
            <a:endParaRPr lang="en-US"/>
          </a:p>
        </p:txBody>
      </p:sp>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65125"/>
                <a:ext cx="10515600" cy="5811838"/>
              </a:xfrm>
            </p:spPr>
            <p:txBody>
              <a:bodyPr>
                <a:normAutofit lnSpcReduction="10000"/>
              </a:bodyPr>
              <a:lstStyle/>
              <a:p>
                <a:pPr marL="0" indent="0">
                  <a:buNone/>
                </a:pPr>
                <a:r>
                  <a:rPr lang="en-US" b="1" dirty="0"/>
                  <a:t>Cubic </a:t>
                </a:r>
                <a:r>
                  <a:rPr lang="en-US" b="1" dirty="0" err="1"/>
                  <a:t>Bézier</a:t>
                </a:r>
                <a:r>
                  <a:rPr lang="en-US" b="1" dirty="0"/>
                  <a:t> Curves</a:t>
                </a:r>
              </a:p>
              <a:p>
                <a:pPr marL="0" indent="0">
                  <a:buNone/>
                </a:pPr>
                <a:endParaRPr lang="en-US" sz="2000" dirty="0"/>
              </a:p>
              <a:p>
                <a:pPr marL="0" indent="0">
                  <a:buNone/>
                </a:pPr>
                <a:r>
                  <a:rPr lang="en-US" sz="2000" dirty="0"/>
                  <a:t>Four points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0</m:t>
                        </m:r>
                      </m:sub>
                    </m:sSub>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1</m:t>
                        </m:r>
                      </m:sub>
                    </m:sSub>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2</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3</m:t>
                        </m:r>
                      </m:sub>
                    </m:sSub>
                  </m:oMath>
                </a14:m>
                <a:r>
                  <a:rPr lang="en-US" sz="2000" dirty="0"/>
                  <a:t> in the plane or in three-dimensional space define a cubic </a:t>
                </a:r>
                <a:r>
                  <a:rPr lang="en-US" sz="2000" dirty="0" err="1"/>
                  <a:t>Bézier</a:t>
                </a:r>
                <a:r>
                  <a:rPr lang="en-US" sz="2000" dirty="0"/>
                  <a:t>.</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p>
                        <m:sSupPr>
                          <m:ctrlPr>
                            <a:rPr lang="id-ID" sz="200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m:t>
                          </m:r>
                          <m:d>
                            <m:dPr>
                              <m:ctrlP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𝑥</m:t>
                              </m:r>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𝑦</m:t>
                              </m:r>
                            </m:e>
                          </m:d>
                        </m:e>
                        <m:sup>
                          <m: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4</m:t>
                          </m:r>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m:t>
                          </m:r>
                        </m:sup>
                      </m:sSup>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r>
                                <a:rPr lang="id-ID" sz="2000" i="1" smtClean="0">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𝑥</m:t>
                              </m:r>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r>
                                <a:rPr lang="id-ID" sz="2000" i="1"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𝑦</m:t>
                              </m:r>
                            </m:e>
                          </m:d>
                        </m:e>
                        <m:sup>
                          <m: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3</m:t>
                          </m:r>
                        </m:sup>
                      </m:sSup>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id-ID" sz="2000" i="1">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3</m:t>
                          </m:r>
                        </m:sup>
                      </m:sSup>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3</m:t>
                      </m:r>
                      <m:sSup>
                        <m:sSupPr>
                          <m:ctrlP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id-ID" sz="2000" i="1">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m:t>
                          </m:r>
                        </m:sup>
                      </m:sSup>
                      <m:r>
                        <a:rPr lang="id-ID" sz="2000" i="1">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𝑦</m:t>
                      </m:r>
                      <m: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+ 3</m:t>
                      </m:r>
                      <m:r>
                        <a:rPr lang="id-ID" sz="2000" i="1">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𝑥</m:t>
                      </m:r>
                      <m:sSup>
                        <m:sSupPr>
                          <m:ctrlP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id-ID" sz="2000" i="1">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m:t>
                          </m:r>
                        </m:sup>
                      </m:sSup>
                      <m: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id-ID"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id-ID" sz="2000" i="1">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3</m:t>
                          </m:r>
                        </m:sup>
                      </m:sSup>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𝐵</m:t>
                      </m:r>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i="1">
                          <a:latin typeface="Cambria Math" panose="02040503050406030204" pitchFamily="18" charset="0"/>
                        </a:rPr>
                        <m:t>=</m:t>
                      </m:r>
                      <m:sSup>
                        <m:sSupPr>
                          <m:ctrlPr>
                            <a:rPr lang="en-US" sz="2000" i="1">
                              <a:latin typeface="Cambria Math" panose="02040503050406030204" pitchFamily="18" charset="0"/>
                            </a:rPr>
                          </m:ctrlPr>
                        </m:sSupPr>
                        <m:e>
                          <m:d>
                            <m:dPr>
                              <m:ctrlPr>
                                <a:rPr lang="en-US" sz="2000" i="1">
                                  <a:solidFill>
                                    <a:srgbClr val="FF0000"/>
                                  </a:solidFill>
                                  <a:latin typeface="Cambria Math" panose="02040503050406030204" pitchFamily="18" charset="0"/>
                                </a:rPr>
                              </m:ctrlPr>
                            </m:dPr>
                            <m:e>
                              <m:r>
                                <a:rPr lang="en-US" sz="2000" i="1">
                                  <a:solidFill>
                                    <a:srgbClr val="FF0000"/>
                                  </a:solidFill>
                                  <a:latin typeface="Cambria Math" panose="02040503050406030204" pitchFamily="18" charset="0"/>
                                </a:rPr>
                                <m:t>1−</m:t>
                              </m:r>
                              <m:r>
                                <a:rPr lang="en-US" sz="2000" i="1">
                                  <a:solidFill>
                                    <a:srgbClr val="FF0000"/>
                                  </a:solidFill>
                                  <a:latin typeface="Cambria Math" panose="02040503050406030204" pitchFamily="18" charset="0"/>
                                </a:rPr>
                                <m:t>𝑡</m:t>
                              </m:r>
                            </m:e>
                          </m:d>
                        </m:e>
                        <m:sup>
                          <m:r>
                            <a:rPr lang="en-US" sz="2000" b="0" i="1" smtClean="0">
                              <a:latin typeface="Cambria Math" panose="02040503050406030204" pitchFamily="18" charset="0"/>
                            </a:rPr>
                            <m:t>3</m:t>
                          </m:r>
                        </m:sup>
                      </m:sSup>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0</m:t>
                          </m:r>
                        </m:sub>
                      </m:sSub>
                      <m:r>
                        <a:rPr lang="en-US" sz="2000" i="1">
                          <a:latin typeface="Cambria Math" panose="02040503050406030204" pitchFamily="18" charset="0"/>
                        </a:rPr>
                        <m:t>+</m:t>
                      </m:r>
                      <m:r>
                        <a:rPr lang="en-US" sz="2000" b="0" i="1" smtClean="0">
                          <a:latin typeface="Cambria Math" panose="02040503050406030204" pitchFamily="18" charset="0"/>
                        </a:rPr>
                        <m:t>3</m:t>
                      </m:r>
                      <m:sSup>
                        <m:sSupPr>
                          <m:ctrlPr>
                            <a:rPr lang="en-US" sz="2000" i="1">
                              <a:latin typeface="Cambria Math" panose="02040503050406030204" pitchFamily="18" charset="0"/>
                            </a:rPr>
                          </m:ctrlPr>
                        </m:sSupPr>
                        <m:e>
                          <m:d>
                            <m:dPr>
                              <m:ctrlPr>
                                <a:rPr lang="en-US" sz="2000" i="1">
                                  <a:solidFill>
                                    <a:srgbClr val="FF0000"/>
                                  </a:solidFill>
                                  <a:latin typeface="Cambria Math" panose="02040503050406030204" pitchFamily="18" charset="0"/>
                                </a:rPr>
                              </m:ctrlPr>
                            </m:dPr>
                            <m:e>
                              <m:r>
                                <a:rPr lang="en-US" sz="2000" i="1">
                                  <a:solidFill>
                                    <a:srgbClr val="FF0000"/>
                                  </a:solidFill>
                                  <a:latin typeface="Cambria Math" panose="02040503050406030204" pitchFamily="18" charset="0"/>
                                </a:rPr>
                                <m:t>1−</m:t>
                              </m:r>
                              <m:r>
                                <a:rPr lang="en-US" sz="2000" i="1">
                                  <a:solidFill>
                                    <a:srgbClr val="FF0000"/>
                                  </a:solidFill>
                                  <a:latin typeface="Cambria Math" panose="02040503050406030204" pitchFamily="18" charset="0"/>
                                </a:rPr>
                                <m:t>𝑡</m:t>
                              </m:r>
                            </m:e>
                          </m:d>
                        </m:e>
                        <m:sup>
                          <m:r>
                            <a:rPr lang="en-US" sz="2000" b="0" i="1" smtClean="0">
                              <a:latin typeface="Cambria Math" panose="02040503050406030204" pitchFamily="18" charset="0"/>
                            </a:rPr>
                            <m:t>2</m:t>
                          </m:r>
                        </m:sup>
                      </m:sSup>
                      <m:r>
                        <a:rPr lang="en-US" sz="2000" i="1">
                          <a:solidFill>
                            <a:srgbClr val="92D050"/>
                          </a:solidFill>
                          <a:latin typeface="Cambria Math" panose="02040503050406030204" pitchFamily="18" charset="0"/>
                        </a:rPr>
                        <m:t>𝑡</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1</m:t>
                          </m:r>
                        </m:sub>
                      </m:sSub>
                      <m:r>
                        <a:rPr lang="en-US" sz="2000" i="1">
                          <a:latin typeface="Cambria Math" panose="02040503050406030204" pitchFamily="18" charset="0"/>
                        </a:rPr>
                        <m:t>+3</m:t>
                      </m:r>
                      <m:d>
                        <m:dPr>
                          <m:ctrlPr>
                            <a:rPr lang="en-US" sz="2000" i="1">
                              <a:solidFill>
                                <a:srgbClr val="FF0000"/>
                              </a:solidFill>
                              <a:latin typeface="Cambria Math" panose="02040503050406030204" pitchFamily="18" charset="0"/>
                            </a:rPr>
                          </m:ctrlPr>
                        </m:dPr>
                        <m:e>
                          <m:r>
                            <a:rPr lang="en-US" sz="2000" i="1">
                              <a:solidFill>
                                <a:srgbClr val="FF0000"/>
                              </a:solidFill>
                              <a:latin typeface="Cambria Math" panose="02040503050406030204" pitchFamily="18" charset="0"/>
                            </a:rPr>
                            <m:t>1−</m:t>
                          </m:r>
                          <m:r>
                            <a:rPr lang="en-US" sz="2000" i="1">
                              <a:solidFill>
                                <a:srgbClr val="FF0000"/>
                              </a:solidFill>
                              <a:latin typeface="Cambria Math" panose="02040503050406030204" pitchFamily="18" charset="0"/>
                            </a:rPr>
                            <m:t>𝑡</m:t>
                          </m:r>
                        </m:e>
                      </m:d>
                      <m:sSup>
                        <m:sSupPr>
                          <m:ctrlPr>
                            <a:rPr lang="en-US" sz="2000" i="1">
                              <a:latin typeface="Cambria Math" panose="02040503050406030204" pitchFamily="18" charset="0"/>
                            </a:rPr>
                          </m:ctrlPr>
                        </m:sSupPr>
                        <m:e>
                          <m:r>
                            <a:rPr lang="en-US" sz="2000" i="1">
                              <a:solidFill>
                                <a:srgbClr val="92D050"/>
                              </a:solidFill>
                              <a:latin typeface="Cambria Math" panose="02040503050406030204" pitchFamily="18" charset="0"/>
                            </a:rPr>
                            <m:t>𝑡</m:t>
                          </m:r>
                        </m:e>
                        <m:sup>
                          <m:r>
                            <a:rPr lang="en-US" sz="2000" b="0" i="1" smtClean="0">
                              <a:latin typeface="Cambria Math" panose="02040503050406030204" pitchFamily="18" charset="0"/>
                            </a:rPr>
                            <m:t>2</m:t>
                          </m:r>
                        </m:sup>
                      </m:sSup>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r>
                            <a:rPr lang="en-US" sz="2000" i="1">
                              <a:solidFill>
                                <a:srgbClr val="92D050"/>
                              </a:solidFill>
                              <a:latin typeface="Cambria Math" panose="02040503050406030204" pitchFamily="18" charset="0"/>
                            </a:rPr>
                            <m:t>𝑡</m:t>
                          </m:r>
                        </m:e>
                        <m:sup>
                          <m:r>
                            <a:rPr lang="en-US" sz="2000" b="0" i="1" smtClean="0">
                              <a:latin typeface="Cambria Math" panose="02040503050406030204" pitchFamily="18" charset="0"/>
                            </a:rPr>
                            <m:t>3</m:t>
                          </m:r>
                        </m:sup>
                      </m:sSup>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3</m:t>
                          </m:r>
                        </m:sub>
                      </m:sSub>
                      <m:r>
                        <a:rPr lang="en-US" sz="2000" i="1">
                          <a:latin typeface="Cambria Math" panose="02040503050406030204" pitchFamily="18" charset="0"/>
                        </a:rPr>
                        <m:t>, </m:t>
                      </m:r>
                      <m:r>
                        <a:rPr lang="en-US" sz="2000" b="0" i="1" smtClean="0">
                          <a:latin typeface="Cambria Math" panose="02040503050406030204" pitchFamily="18" charset="0"/>
                        </a:rPr>
                        <m:t> </m:t>
                      </m:r>
                      <m:r>
                        <a:rPr lang="en-US" sz="2000" i="1">
                          <a:latin typeface="Cambria Math" panose="02040503050406030204" pitchFamily="18" charset="0"/>
                        </a:rPr>
                        <m:t>𝑡</m:t>
                      </m:r>
                      <m:r>
                        <a:rPr lang="en-US" sz="2000" i="1">
                          <a:latin typeface="Cambria Math" panose="02040503050406030204" pitchFamily="18" charset="0"/>
                        </a:rPr>
                        <m:t> ∈[0,1]</m:t>
                      </m:r>
                    </m:oMath>
                  </m:oMathPara>
                </a14:m>
                <a:endParaRPr lang="en-US" sz="2000" dirty="0"/>
              </a:p>
              <a:p>
                <a:pPr marL="0" indent="0">
                  <a:buNone/>
                </a:pPr>
                <a:endParaRPr lang="en-US" sz="2000" dirty="0"/>
              </a:p>
              <a:p>
                <a:pPr marL="0" indent="0">
                  <a:buNone/>
                </a:pPr>
                <a:r>
                  <a:rPr lang="en-US" sz="2000" dirty="0"/>
                  <a:t>The curve starts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0</m:t>
                        </m:r>
                      </m:sub>
                    </m:sSub>
                  </m:oMath>
                </a14:m>
                <a:r>
                  <a:rPr lang="en-US" sz="2000" dirty="0"/>
                  <a:t> going toward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1</m:t>
                        </m:r>
                      </m:sub>
                    </m:sSub>
                  </m:oMath>
                </a14:m>
                <a:r>
                  <a:rPr lang="en-US" sz="2000" dirty="0"/>
                  <a:t> and arrives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3</m:t>
                        </m:r>
                      </m:sub>
                    </m:sSub>
                  </m:oMath>
                </a14:m>
                <a:r>
                  <a:rPr lang="en-US" sz="2000" dirty="0"/>
                  <a:t> coming from the direction of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2</m:t>
                        </m:r>
                      </m:sub>
                    </m:sSub>
                  </m:oMath>
                </a14:m>
                <a:r>
                  <a:rPr lang="en-US" sz="2000" dirty="0"/>
                  <a:t>. Usually, it will not pass through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1</m:t>
                        </m:r>
                      </m:sub>
                    </m:sSub>
                  </m:oMath>
                </a14:m>
                <a:r>
                  <a:rPr lang="en-US" sz="2000" dirty="0"/>
                  <a:t> or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2</m:t>
                        </m:r>
                      </m:sub>
                    </m:sSub>
                  </m:oMath>
                </a14:m>
                <a:r>
                  <a:rPr lang="en-US" sz="2000" dirty="0"/>
                  <a:t>. These points are only there to provide directional information. The distance between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0</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1</m:t>
                        </m:r>
                      </m:sub>
                    </m:sSub>
                  </m:oMath>
                </a14:m>
                <a:r>
                  <a:rPr lang="en-US" sz="2000" dirty="0"/>
                  <a:t> determines "how long" the curve moves into direction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2</m:t>
                        </m:r>
                      </m:sub>
                    </m:sSub>
                  </m:oMath>
                </a14:m>
                <a:r>
                  <a:rPr lang="en-US" sz="2000" dirty="0"/>
                  <a:t> before turning towards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3</m:t>
                        </m:r>
                      </m:sub>
                    </m:sSub>
                  </m:oMath>
                </a14:m>
                <a:endParaRPr lang="en-US" sz="2000" dirty="0"/>
              </a:p>
              <a:p>
                <a:pPr marL="0" indent="0">
                  <a:buNone/>
                </a:pPr>
                <a:endParaRPr lang="en-US" sz="2000" dirty="0"/>
              </a:p>
              <a:p>
                <a:r>
                  <a:rPr lang="en-US" sz="2000" dirty="0"/>
                  <a:t>Cubic Bezier is curve with order </a:t>
                </a:r>
                <a:r>
                  <a:rPr lang="en-US" sz="2000" b="1" dirty="0"/>
                  <a:t>n = 3</a:t>
                </a:r>
              </a:p>
              <a:p>
                <a:r>
                  <a:rPr lang="en-US" sz="2000" dirty="0"/>
                  <a:t>For higher-order curves one needs correspondingly more intermediate points. For cubic curves one can construct intermediate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𝑄</m:t>
                        </m:r>
                      </m:e>
                      <m:sub>
                        <m:r>
                          <a:rPr lang="en-US" sz="2000" i="1">
                            <a:latin typeface="Cambria Math" panose="02040503050406030204" pitchFamily="18" charset="0"/>
                          </a:rPr>
                          <m:t>0</m:t>
                        </m:r>
                      </m:sub>
                    </m:sSub>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𝑄</m:t>
                        </m:r>
                      </m:e>
                      <m:sub>
                        <m:r>
                          <a:rPr lang="en-US" sz="2000" b="0" i="1" smtClean="0">
                            <a:latin typeface="Cambria Math" panose="02040503050406030204" pitchFamily="18"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𝑄</m:t>
                        </m:r>
                      </m:e>
                      <m:sub>
                        <m:r>
                          <a:rPr lang="en-US" sz="2000" b="0" i="1" smtClean="0">
                            <a:latin typeface="Cambria Math" panose="02040503050406030204" pitchFamily="18" charset="0"/>
                          </a:rPr>
                          <m:t>2</m:t>
                        </m:r>
                      </m:sub>
                    </m:sSub>
                  </m:oMath>
                </a14:m>
                <a:r>
                  <a:rPr lang="en-US" sz="2000" dirty="0"/>
                  <a:t> that describe linear </a:t>
                </a:r>
                <a:r>
                  <a:rPr lang="en-US" sz="2000" dirty="0" err="1"/>
                  <a:t>Bézier</a:t>
                </a:r>
                <a:r>
                  <a:rPr lang="en-US" sz="2000" dirty="0"/>
                  <a:t> curves, and points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𝑅</m:t>
                        </m:r>
                      </m:e>
                      <m:sub>
                        <m:r>
                          <a:rPr lang="en-US" sz="2000" i="1">
                            <a:latin typeface="Cambria Math" panose="02040503050406030204" pitchFamily="18" charset="0"/>
                          </a:rPr>
                          <m:t>0</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oMath>
                </a14:m>
                <a:r>
                  <a:rPr lang="en-US" sz="2000" dirty="0"/>
                  <a:t> that describe quadratic </a:t>
                </a:r>
                <a:r>
                  <a:rPr lang="en-US" sz="2000" dirty="0" err="1"/>
                  <a:t>Bézier</a:t>
                </a:r>
                <a:r>
                  <a:rPr lang="en-US" sz="2000" dirty="0"/>
                  <a:t> curves.</a:t>
                </a:r>
              </a:p>
              <a:p>
                <a:pPr marL="0" indent="0">
                  <a:buNone/>
                </a:pPr>
                <a:endParaRPr lang="en-US" sz="2000" dirty="0"/>
              </a:p>
              <a:p>
                <a:pPr marL="0" indent="0">
                  <a:buNone/>
                </a:pPr>
                <a:endParaRPr lang="en-US" sz="20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838200" y="365125"/>
                <a:ext cx="10515600" cy="5811838"/>
              </a:xfrm>
              <a:blipFill rotWithShape="1">
                <a:blip r:embed="rId4"/>
                <a:stretch>
                  <a:fillRect t="-492" b="-5993"/>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12</a:t>
            </a:fld>
            <a:endParaRPr lang="en-US"/>
          </a:p>
        </p:txBody>
      </p:sp>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17455" y="2078859"/>
            <a:ext cx="8198351" cy="2637631"/>
          </a:xfrm>
        </p:spPr>
      </p:pic>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13</a:t>
            </a:fld>
            <a:endParaRPr lang="en-US"/>
          </a:p>
        </p:txBody>
      </p:sp>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
        <p:nvSpPr>
          <p:cNvPr id="3" name="Rectangle 2"/>
          <p:cNvSpPr/>
          <p:nvPr/>
        </p:nvSpPr>
        <p:spPr>
          <a:xfrm>
            <a:off x="4038600" y="5307229"/>
            <a:ext cx="3861442" cy="369332"/>
          </a:xfrm>
          <a:prstGeom prst="rect">
            <a:avLst/>
          </a:prstGeom>
        </p:spPr>
        <p:txBody>
          <a:bodyPr wrap="none">
            <a:spAutoFit/>
          </a:bodyPr>
          <a:lstStyle/>
          <a:p>
            <a:r>
              <a:rPr lang="en-US" b="1" dirty="0"/>
              <a:t>Degree = Number of Control Points – 1</a:t>
            </a:r>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65125"/>
                <a:ext cx="10515600" cy="2644775"/>
              </a:xfrm>
            </p:spPr>
            <p:txBody>
              <a:bodyPr>
                <a:normAutofit/>
              </a:bodyPr>
              <a:lstStyle/>
              <a:p>
                <a:pPr marL="0" indent="0">
                  <a:buNone/>
                </a:pPr>
                <a:r>
                  <a:rPr lang="en-US" sz="3200" b="1" dirty="0"/>
                  <a:t>EXERCISE 1</a:t>
                </a:r>
              </a:p>
              <a:p>
                <a:pPr marL="0" indent="0">
                  <a:buNone/>
                </a:pPr>
                <a:endParaRPr lang="en-US" sz="2000" dirty="0"/>
              </a:p>
              <a:p>
                <a:pPr marL="0" indent="0">
                  <a:buNone/>
                </a:pPr>
                <a:r>
                  <a:rPr lang="en-US" sz="2400" dirty="0"/>
                  <a:t>There are 3 control points with coordinates </a:t>
                </a:r>
                <a:r>
                  <a:rPr lang="en-US" sz="2400" b="1" dirty="0"/>
                  <a:t>C1</a:t>
                </a:r>
                <a:r>
                  <a:rPr lang="en-US" sz="2400" dirty="0"/>
                  <a:t> (1,2), </a:t>
                </a:r>
                <a:r>
                  <a:rPr lang="en-US" sz="2400" b="1" dirty="0"/>
                  <a:t>C2</a:t>
                </a:r>
                <a:r>
                  <a:rPr lang="en-US" sz="2400" dirty="0"/>
                  <a:t> (7,10), </a:t>
                </a:r>
                <a:r>
                  <a:rPr lang="en-US" sz="2400" b="1" dirty="0"/>
                  <a:t>C3</a:t>
                </a:r>
                <a:r>
                  <a:rPr lang="en-US" sz="2400" dirty="0"/>
                  <a:t> (15,4), using increments </a:t>
                </a:r>
                <a14:m>
                  <m:oMath xmlns:m="http://schemas.openxmlformats.org/officeDocument/2006/math">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𝑡</m:t>
                    </m:r>
                  </m:oMath>
                </a14:m>
                <a:r>
                  <a:rPr lang="en-US" sz="2400" dirty="0"/>
                  <a:t> = 0.02 then specify:</a:t>
                </a:r>
              </a:p>
              <a:p>
                <a:pPr marL="0" indent="0">
                  <a:buNone/>
                </a:pPr>
                <a:r>
                  <a:rPr lang="en-US" sz="2400" dirty="0"/>
                  <a:t>1. How many points are used to construct the </a:t>
                </a:r>
                <a:r>
                  <a:rPr lang="en-US" sz="2400" dirty="0" err="1"/>
                  <a:t>bezier</a:t>
                </a:r>
                <a:r>
                  <a:rPr lang="en-US" sz="2400" dirty="0"/>
                  <a:t> curve?</a:t>
                </a:r>
              </a:p>
              <a:p>
                <a:pPr marL="0" indent="0">
                  <a:buNone/>
                </a:pPr>
                <a:r>
                  <a:rPr lang="en-US" sz="2400" dirty="0"/>
                  <a:t>2. What is the point value on the curve when t = 0.8 ?</a:t>
                </a:r>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838200" y="365125"/>
                <a:ext cx="10515600" cy="2644775"/>
              </a:xfrm>
              <a:blipFill rotWithShape="1">
                <a:blip r:embed="rId3"/>
                <a:stretch>
                  <a:fillRect/>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14</a:t>
            </a:fld>
            <a:endParaRPr lang="en-US"/>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grpSp>
        <p:nvGrpSpPr>
          <p:cNvPr id="14" name="Group 13"/>
          <p:cNvGrpSpPr/>
          <p:nvPr/>
        </p:nvGrpSpPr>
        <p:grpSpPr>
          <a:xfrm>
            <a:off x="3887408" y="3552029"/>
            <a:ext cx="5504837" cy="2182799"/>
            <a:chOff x="3887408" y="3552029"/>
            <a:chExt cx="5504837" cy="2182799"/>
          </a:xfrm>
        </p:grpSpPr>
        <p:sp>
          <p:nvSpPr>
            <p:cNvPr id="8" name="Oval 7"/>
            <p:cNvSpPr/>
            <p:nvPr/>
          </p:nvSpPr>
          <p:spPr>
            <a:xfrm>
              <a:off x="4342822" y="5068526"/>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3887408" y="5365496"/>
              <a:ext cx="910827" cy="369332"/>
            </a:xfrm>
            <a:prstGeom prst="rect">
              <a:avLst/>
            </a:prstGeom>
          </p:spPr>
          <p:txBody>
            <a:bodyPr wrap="none">
              <a:spAutoFit/>
            </a:bodyPr>
            <a:lstStyle/>
            <a:p>
              <a:r>
                <a:rPr lang="en-US" dirty="0"/>
                <a:t>C1 (1,2)</a:t>
              </a:r>
            </a:p>
          </p:txBody>
        </p:sp>
        <p:sp>
          <p:nvSpPr>
            <p:cNvPr id="9" name="Oval 8"/>
            <p:cNvSpPr/>
            <p:nvPr/>
          </p:nvSpPr>
          <p:spPr>
            <a:xfrm>
              <a:off x="5981122" y="3552029"/>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653466" y="3835335"/>
              <a:ext cx="1027845" cy="369332"/>
            </a:xfrm>
            <a:prstGeom prst="rect">
              <a:avLst/>
            </a:prstGeom>
          </p:spPr>
          <p:txBody>
            <a:bodyPr wrap="none">
              <a:spAutoFit/>
            </a:bodyPr>
            <a:lstStyle/>
            <a:p>
              <a:r>
                <a:rPr lang="en-US" dirty="0"/>
                <a:t>C2 (7,10)</a:t>
              </a:r>
            </a:p>
          </p:txBody>
        </p:sp>
        <p:sp>
          <p:nvSpPr>
            <p:cNvPr id="11" name="Oval 10"/>
            <p:cNvSpPr/>
            <p:nvPr/>
          </p:nvSpPr>
          <p:spPr>
            <a:xfrm>
              <a:off x="8618176" y="4554081"/>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8364400" y="4791363"/>
              <a:ext cx="1027845" cy="369332"/>
            </a:xfrm>
            <a:prstGeom prst="rect">
              <a:avLst/>
            </a:prstGeom>
          </p:spPr>
          <p:txBody>
            <a:bodyPr wrap="none">
              <a:spAutoFit/>
            </a:bodyPr>
            <a:lstStyle/>
            <a:p>
              <a:r>
                <a:rPr lang="en-US" dirty="0"/>
                <a:t>C3 (15,4)</a:t>
              </a:r>
            </a:p>
          </p:txBody>
        </p:sp>
      </p:gr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65125"/>
                <a:ext cx="10515600" cy="5811838"/>
              </a:xfrm>
            </p:spPr>
            <p:txBody>
              <a:bodyPr>
                <a:normAutofit fontScale="92500" lnSpcReduction="20000"/>
              </a:bodyPr>
              <a:lstStyle/>
              <a:p>
                <a:pPr marL="0" indent="0">
                  <a:buNone/>
                </a:pPr>
                <a:r>
                  <a:rPr lang="en-US" b="1" dirty="0"/>
                  <a:t>Solution</a:t>
                </a:r>
                <a:endParaRPr lang="en-US" sz="2000" b="1" dirty="0"/>
              </a:p>
              <a:p>
                <a:pPr marL="0" indent="0">
                  <a:buNone/>
                </a:pPr>
                <a:endParaRPr lang="en-US" sz="2000" b="1" dirty="0"/>
              </a:p>
              <a:p>
                <a:pPr marL="0" indent="0">
                  <a:buNone/>
                </a:pPr>
                <a:r>
                  <a:rPr lang="en-US" sz="2000" b="1" dirty="0"/>
                  <a:t>a. With an increase of 0.02, the number of points needed between 0 and 1 is</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𝑡</m:t>
                          </m:r>
                        </m:den>
                      </m:f>
                      <m:r>
                        <a:rPr lang="en-US" sz="2000" b="0" i="1" smtClean="0">
                          <a:latin typeface="Cambria Math" panose="02040503050406030204" pitchFamily="18" charset="0"/>
                        </a:rPr>
                        <m:t>+1=</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0.02</m:t>
                          </m:r>
                        </m:den>
                      </m:f>
                      <m:r>
                        <a:rPr lang="en-US" sz="2000" b="0" i="1" smtClean="0">
                          <a:latin typeface="Cambria Math" panose="02040503050406030204" pitchFamily="18" charset="0"/>
                        </a:rPr>
                        <m:t>+1=51 </m:t>
                      </m:r>
                      <m:r>
                        <a:rPr lang="en-US" sz="2000" b="0" i="1" smtClean="0">
                          <a:latin typeface="Cambria Math" panose="02040503050406030204" pitchFamily="18" charset="0"/>
                        </a:rPr>
                        <m:t>𝑝𝑜𝑖𝑛𝑡𝑠</m:t>
                      </m:r>
                    </m:oMath>
                  </m:oMathPara>
                </a14:m>
                <a:endParaRPr lang="en-US" sz="2000" dirty="0"/>
              </a:p>
              <a:p>
                <a:pPr marL="0" indent="0">
                  <a:buNone/>
                </a:pPr>
                <a:endParaRPr lang="en-US" sz="2000" dirty="0"/>
              </a:p>
              <a:p>
                <a:pPr marL="0" indent="0">
                  <a:buNone/>
                </a:pPr>
                <a:r>
                  <a:rPr lang="en-US" sz="2000" b="1" dirty="0"/>
                  <a:t>b. Because it consists of 3 control points the equation becomes</a:t>
                </a:r>
              </a:p>
              <a:p>
                <a:pPr marL="0" indent="0">
                  <a:buNone/>
                </a:pPr>
                <a:endParaRPr lang="en-US"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𝑦</m:t>
                          </m:r>
                          <m:r>
                            <a:rPr lang="en-US" sz="2000" i="1">
                              <a:latin typeface="Cambria Math" panose="02040503050406030204" pitchFamily="18" charset="0"/>
                            </a:rPr>
                            <m:t>)</m:t>
                          </m:r>
                        </m:e>
                        <m:sup>
                          <m:r>
                            <a:rPr lang="en-US" sz="2000" b="0" i="1" smtClean="0">
                              <a:latin typeface="Cambria Math" panose="02040503050406030204" pitchFamily="18" charset="0"/>
                            </a:rPr>
                            <m:t>3−1</m:t>
                          </m:r>
                        </m:sup>
                      </m:sSup>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𝑦</m:t>
                          </m:r>
                          <m:r>
                            <a:rPr lang="en-US" sz="2000" i="1">
                              <a:latin typeface="Cambria Math" panose="02040503050406030204" pitchFamily="18" charset="0"/>
                            </a:rPr>
                            <m:t>)</m:t>
                          </m:r>
                        </m:e>
                        <m:sup>
                          <m:r>
                            <a:rPr lang="en-US" sz="2000" b="0" i="1" smtClean="0">
                              <a:latin typeface="Cambria Math" panose="02040503050406030204" pitchFamily="18" charset="0"/>
                            </a:rPr>
                            <m:t>2</m:t>
                          </m:r>
                        </m:sup>
                      </m:sSup>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+2</m:t>
                      </m:r>
                      <m:r>
                        <a:rPr lang="en-US" sz="2000" b="0" i="1" smtClean="0">
                          <a:latin typeface="Cambria Math" panose="02040503050406030204" pitchFamily="18" charset="0"/>
                        </a:rPr>
                        <m:t>𝑥𝑦</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𝑦</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=0</m:t>
                      </m:r>
                    </m:oMath>
                  </m:oMathPara>
                </a14:m>
                <a:endParaRPr lang="en-US" sz="2000" b="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b="0" i="1" smtClean="0">
                              <a:latin typeface="Cambria Math" panose="02040503050406030204" pitchFamily="18" charset="0"/>
                            </a:rPr>
                            <m:t>𝑡</m:t>
                          </m:r>
                        </m:e>
                      </m:d>
                      <m:r>
                        <a:rPr lang="en-US" sz="2000" b="0" i="1" smtClean="0">
                          <a:latin typeface="Cambria Math" panose="02040503050406030204" pitchFamily="18" charset="0"/>
                        </a:rPr>
                        <m:t> </m:t>
                      </m:r>
                      <m:r>
                        <a:rPr lang="en-US" sz="2000" b="0" i="1" smtClean="0">
                          <a:latin typeface="Cambria Math" panose="02040503050406030204" pitchFamily="18" charset="0"/>
                        </a:rPr>
                        <m:t>𝑑𝑎𝑛</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m:t>
                      </m:r>
                      <m:r>
                        <a:rPr lang="en-US" sz="2000" b="0" i="1" smtClean="0">
                          <a:latin typeface="Cambria Math" panose="02040503050406030204" pitchFamily="18" charset="0"/>
                        </a:rPr>
                        <m:t>𝑡</m:t>
                      </m:r>
                    </m:oMath>
                  </m:oMathPara>
                </a14:m>
                <a:endParaRPr lang="en-US" sz="2000" dirty="0"/>
              </a:p>
              <a:p>
                <a:pPr marL="0" indent="0">
                  <a:buNone/>
                </a:pPr>
                <a:endParaRPr lang="en-US" sz="2000" dirty="0"/>
              </a:p>
              <a:p>
                <a:pPr marL="0" indent="0">
                  <a:buNone/>
                </a:pPr>
                <a:r>
                  <a:rPr lang="en-US" sz="2000" dirty="0"/>
                  <a:t>	Then the equation becomes:</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𝐿</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b="0" i="1" smtClean="0">
                                  <a:latin typeface="Cambria Math" panose="02040503050406030204" pitchFamily="18" charset="0"/>
                                </a:rPr>
                                <m:t>𝑡</m:t>
                              </m:r>
                            </m:e>
                          </m:d>
                        </m:e>
                        <m:sup>
                          <m:r>
                            <a:rPr lang="en-US" sz="2000" b="0" i="1" smtClean="0">
                              <a:latin typeface="Cambria Math" panose="02040503050406030204" pitchFamily="18" charset="0"/>
                            </a:rPr>
                            <m:t>2</m:t>
                          </m:r>
                        </m:sup>
                      </m:sSup>
                      <m:r>
                        <a:rPr lang="en-US" sz="2000" b="0" i="1" smtClean="0">
                          <a:latin typeface="Cambria Math" panose="02040503050406030204" pitchFamily="18" charset="0"/>
                        </a:rPr>
                        <m:t>+2</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b="0" i="1" smtClean="0">
                              <a:latin typeface="Cambria Math" panose="02040503050406030204" pitchFamily="18" charset="0"/>
                            </a:rPr>
                            <m:t>𝑡</m:t>
                          </m:r>
                        </m:e>
                      </m:d>
                      <m:r>
                        <a:rPr lang="en-US" sz="2000" b="0" i="1" smtClean="0">
                          <a:latin typeface="Cambria Math" panose="02040503050406030204" pitchFamily="18" charset="0"/>
                        </a:rPr>
                        <m:t>𝑡</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𝑡</m:t>
                          </m:r>
                        </m:e>
                        <m:sup>
                          <m:r>
                            <a:rPr lang="en-US" sz="2000" b="0" i="1" smtClean="0">
                              <a:latin typeface="Cambria Math" panose="02040503050406030204" pitchFamily="18" charset="0"/>
                            </a:rPr>
                            <m:t>2</m:t>
                          </m:r>
                        </m:sup>
                      </m:sSup>
                    </m:oMath>
                  </m:oMathPara>
                </a14:m>
                <a:endParaRPr lang="en-US" sz="20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838200" y="365125"/>
                <a:ext cx="10515600" cy="5811838"/>
              </a:xfrm>
              <a:blipFill rotWithShape="1">
                <a:blip r:embed="rId3"/>
                <a:stretch>
                  <a:fillRect t="-983" b="5"/>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15</a:t>
            </a:fld>
            <a:endParaRPr lang="en-US"/>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65125"/>
                <a:ext cx="10515600" cy="5811838"/>
              </a:xfrm>
            </p:spPr>
            <p:txBody>
              <a:bodyPr>
                <a:normAutofit/>
              </a:bodyPr>
              <a:lstStyle/>
              <a:p>
                <a:pPr marL="0" indent="0">
                  <a:buNone/>
                </a:pPr>
                <a:r>
                  <a:rPr lang="en-US" sz="1400" dirty="0"/>
                  <a:t>The point for </a:t>
                </a:r>
                <a:r>
                  <a:rPr lang="en-US" sz="1400" b="1" dirty="0"/>
                  <a:t>t = 0.8</a:t>
                </a:r>
              </a:p>
              <a:p>
                <a:pPr marL="0" indent="0">
                  <a:buNone/>
                </a:pPr>
                <a:endParaRPr lang="en-US" sz="1400" dirty="0"/>
              </a:p>
              <a:p>
                <a:pPr marL="0" indent="0">
                  <a:buNone/>
                </a:pPr>
                <a14:m>
                  <m:oMathPara xmlns:m="http://schemas.openxmlformats.org/officeDocument/2006/math">
                    <m:oMathParaPr>
                      <m:jc m:val="left"/>
                    </m:oMathParaPr>
                    <m:oMath xmlns:m="http://schemas.openxmlformats.org/officeDocument/2006/math">
                      <m:r>
                        <a:rPr lang="en-US" sz="1400" b="0" i="1" smtClean="0">
                          <a:latin typeface="Cambria Math" panose="02040503050406030204" pitchFamily="18" charset="0"/>
                        </a:rPr>
                        <m:t>𝑥</m:t>
                      </m:r>
                      <m:r>
                        <a:rPr lang="en-US" sz="1400" b="0" i="1" smtClean="0">
                          <a:latin typeface="Cambria Math" panose="02040503050406030204" pitchFamily="18" charset="0"/>
                        </a:rPr>
                        <m:t>=</m:t>
                      </m:r>
                      <m:sSup>
                        <m:sSupPr>
                          <m:ctrlPr>
                            <a:rPr lang="en-US" sz="1400" b="0" i="1" smtClean="0">
                              <a:solidFill>
                                <a:schemeClr val="tx1"/>
                              </a:solidFill>
                              <a:latin typeface="Cambria Math" panose="02040503050406030204" pitchFamily="18" charset="0"/>
                            </a:rPr>
                          </m:ctrlPr>
                        </m:sSupPr>
                        <m:e>
                          <m:r>
                            <a:rPr lang="en-US" sz="1400" i="1" smtClean="0">
                              <a:solidFill>
                                <a:srgbClr val="FF0000"/>
                              </a:solidFill>
                              <a:latin typeface="Cambria Math" panose="02040503050406030204" pitchFamily="18" charset="0"/>
                            </a:rPr>
                            <m:t>(1−</m:t>
                          </m:r>
                          <m:r>
                            <a:rPr lang="en-US" sz="1400" i="1" smtClean="0">
                              <a:solidFill>
                                <a:srgbClr val="FF0000"/>
                              </a:solidFill>
                              <a:latin typeface="Cambria Math" panose="02040503050406030204" pitchFamily="18" charset="0"/>
                            </a:rPr>
                            <m:t>𝑡</m:t>
                          </m:r>
                          <m:r>
                            <a:rPr lang="en-US" sz="1400" i="1" smtClean="0">
                              <a:solidFill>
                                <a:srgbClr val="FF0000"/>
                              </a:solidFill>
                              <a:latin typeface="Cambria Math" panose="02040503050406030204" pitchFamily="18" charset="0"/>
                            </a:rPr>
                            <m:t>)</m:t>
                          </m:r>
                        </m:e>
                        <m:sup>
                          <m:r>
                            <a:rPr lang="en-US" sz="1400" b="0" i="1" smtClean="0">
                              <a:solidFill>
                                <a:schemeClr val="tx1"/>
                              </a:solidFill>
                              <a:latin typeface="Cambria Math" panose="02040503050406030204" pitchFamily="18" charset="0"/>
                            </a:rPr>
                            <m:t>2</m:t>
                          </m:r>
                        </m:sup>
                      </m:sSup>
                      <m:r>
                        <a:rPr lang="en-US" sz="1400" b="0" i="1" smtClean="0">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𝒙</m:t>
                      </m:r>
                      <m:r>
                        <a:rPr lang="en-US" sz="1400" b="1" i="1" smtClean="0">
                          <a:solidFill>
                            <a:schemeClr val="tx1"/>
                          </a:solidFill>
                          <a:latin typeface="Cambria Math" panose="02040503050406030204" pitchFamily="18" charset="0"/>
                        </a:rPr>
                        <m:t>𝟏</m:t>
                      </m:r>
                      <m:r>
                        <a:rPr lang="en-US" sz="1400" b="0" i="1" smtClean="0">
                          <a:solidFill>
                            <a:schemeClr val="tx1"/>
                          </a:solidFill>
                          <a:latin typeface="Cambria Math" panose="02040503050406030204" pitchFamily="18" charset="0"/>
                        </a:rPr>
                        <m:t>+2</m:t>
                      </m:r>
                      <m:d>
                        <m:dPr>
                          <m:ctrlPr>
                            <a:rPr lang="en-US" sz="1400" b="0" i="1" smtClean="0">
                              <a:solidFill>
                                <a:srgbClr val="FF0000"/>
                              </a:solidFill>
                              <a:latin typeface="Cambria Math" panose="02040503050406030204" pitchFamily="18" charset="0"/>
                            </a:rPr>
                          </m:ctrlPr>
                        </m:dPr>
                        <m:e>
                          <m:r>
                            <a:rPr lang="en-US" sz="1400" i="1">
                              <a:solidFill>
                                <a:srgbClr val="FF0000"/>
                              </a:solidFill>
                              <a:latin typeface="Cambria Math" panose="02040503050406030204" pitchFamily="18" charset="0"/>
                            </a:rPr>
                            <m:t>1−</m:t>
                          </m:r>
                          <m:r>
                            <a:rPr lang="en-US" sz="1400" i="1">
                              <a:solidFill>
                                <a:srgbClr val="FF0000"/>
                              </a:solidFill>
                              <a:latin typeface="Cambria Math" panose="02040503050406030204" pitchFamily="18" charset="0"/>
                            </a:rPr>
                            <m:t>𝑡</m:t>
                          </m:r>
                        </m:e>
                      </m:d>
                      <m:r>
                        <a:rPr lang="en-US" sz="1400" b="0" i="1" smtClean="0">
                          <a:solidFill>
                            <a:srgbClr val="92D050"/>
                          </a:solidFill>
                          <a:latin typeface="Cambria Math" panose="02040503050406030204" pitchFamily="18" charset="0"/>
                        </a:rPr>
                        <m:t>𝑡</m:t>
                      </m:r>
                      <m:r>
                        <a:rPr lang="en-US" sz="1400" b="0" i="1" smtClean="0">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𝒙</m:t>
                      </m:r>
                      <m:r>
                        <a:rPr lang="en-US" sz="1400" b="1" i="1" smtClean="0">
                          <a:solidFill>
                            <a:schemeClr val="tx1"/>
                          </a:solidFill>
                          <a:latin typeface="Cambria Math" panose="02040503050406030204" pitchFamily="18" charset="0"/>
                        </a:rPr>
                        <m:t>𝟐</m:t>
                      </m:r>
                      <m:r>
                        <a:rPr lang="en-US" sz="1400" b="0" i="1" smtClean="0">
                          <a:solidFill>
                            <a:schemeClr val="tx1"/>
                          </a:solidFill>
                          <a:latin typeface="Cambria Math" panose="02040503050406030204" pitchFamily="18" charset="0"/>
                        </a:rPr>
                        <m:t>+</m:t>
                      </m:r>
                      <m:sSup>
                        <m:sSupPr>
                          <m:ctrlPr>
                            <a:rPr lang="en-US" sz="1400" b="0" i="1" smtClean="0">
                              <a:solidFill>
                                <a:schemeClr val="tx1"/>
                              </a:solidFill>
                              <a:latin typeface="Cambria Math" panose="02040503050406030204" pitchFamily="18" charset="0"/>
                            </a:rPr>
                          </m:ctrlPr>
                        </m:sSupPr>
                        <m:e>
                          <m:r>
                            <a:rPr lang="en-US" sz="1400" i="1">
                              <a:solidFill>
                                <a:srgbClr val="92D050"/>
                              </a:solidFill>
                              <a:latin typeface="Cambria Math" panose="02040503050406030204" pitchFamily="18" charset="0"/>
                            </a:rPr>
                            <m:t>𝑡</m:t>
                          </m:r>
                        </m:e>
                        <m:sup>
                          <m:r>
                            <a:rPr lang="en-US" sz="1400" b="0" i="1" smtClean="0">
                              <a:solidFill>
                                <a:schemeClr val="tx1"/>
                              </a:solidFill>
                              <a:latin typeface="Cambria Math" panose="02040503050406030204" pitchFamily="18" charset="0"/>
                            </a:rPr>
                            <m:t>2</m:t>
                          </m:r>
                        </m:sup>
                      </m:sSup>
                      <m:r>
                        <a:rPr lang="en-US" sz="1400" b="0" i="1" smtClean="0">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𝒙</m:t>
                      </m:r>
                      <m:r>
                        <a:rPr lang="en-US" sz="1400" b="1" i="1" smtClean="0">
                          <a:solidFill>
                            <a:schemeClr val="tx1"/>
                          </a:solidFill>
                          <a:latin typeface="Cambria Math" panose="02040503050406030204" pitchFamily="18" charset="0"/>
                        </a:rPr>
                        <m:t>𝟑</m:t>
                      </m:r>
                    </m:oMath>
                  </m:oMathPara>
                </a14:m>
                <a:endParaRPr lang="en-US" sz="1400" b="1" dirty="0">
                  <a:solidFill>
                    <a:schemeClr val="tx1"/>
                  </a:solidFill>
                </a:endParaRPr>
              </a:p>
              <a:p>
                <a:pPr marL="0" indent="0">
                  <a:buNone/>
                </a:pPr>
                <a:endParaRPr lang="en-US" sz="1400" dirty="0"/>
              </a:p>
              <a:p>
                <a:pPr marL="0" indent="0">
                  <a:buNone/>
                </a:pPr>
                <a14:m>
                  <m:oMathPara xmlns:m="http://schemas.openxmlformats.org/officeDocument/2006/math">
                    <m:oMathParaPr>
                      <m:jc m:val="left"/>
                    </m:oMathParaPr>
                    <m:oMath xmlns:m="http://schemas.openxmlformats.org/officeDocument/2006/math">
                      <m:r>
                        <a:rPr lang="en-US" sz="1400" b="0" i="1" smtClean="0">
                          <a:latin typeface="Cambria Math" panose="02040503050406030204" pitchFamily="18" charset="0"/>
                        </a:rPr>
                        <m:t>𝑦</m:t>
                      </m:r>
                      <m:r>
                        <a:rPr lang="en-US" sz="1400" i="1">
                          <a:latin typeface="Cambria Math" panose="02040503050406030204" pitchFamily="18" charset="0"/>
                        </a:rPr>
                        <m:t>=</m:t>
                      </m:r>
                      <m:sSup>
                        <m:sSupPr>
                          <m:ctrlPr>
                            <a:rPr lang="en-US" sz="1400" i="1" smtClean="0">
                              <a:solidFill>
                                <a:schemeClr val="tx1"/>
                              </a:solidFill>
                              <a:latin typeface="Cambria Math" panose="02040503050406030204" pitchFamily="18" charset="0"/>
                            </a:rPr>
                          </m:ctrlPr>
                        </m:sSupPr>
                        <m:e>
                          <m:r>
                            <a:rPr lang="en-US" sz="1400" i="1">
                              <a:solidFill>
                                <a:srgbClr val="FF0000"/>
                              </a:solidFill>
                              <a:latin typeface="Cambria Math" panose="02040503050406030204" pitchFamily="18" charset="0"/>
                            </a:rPr>
                            <m:t>(1−</m:t>
                          </m:r>
                          <m:r>
                            <a:rPr lang="en-US" sz="1400" i="1">
                              <a:solidFill>
                                <a:srgbClr val="FF0000"/>
                              </a:solidFill>
                              <a:latin typeface="Cambria Math" panose="02040503050406030204" pitchFamily="18" charset="0"/>
                            </a:rPr>
                            <m:t>𝑡</m:t>
                          </m:r>
                          <m:r>
                            <a:rPr lang="en-US" sz="1400" i="1">
                              <a:solidFill>
                                <a:srgbClr val="FF0000"/>
                              </a:solidFill>
                              <a:latin typeface="Cambria Math" panose="02040503050406030204" pitchFamily="18" charset="0"/>
                            </a:rPr>
                            <m:t>)</m:t>
                          </m:r>
                        </m:e>
                        <m:sup>
                          <m:r>
                            <a:rPr lang="en-US" sz="1400" i="1">
                              <a:solidFill>
                                <a:schemeClr val="tx1"/>
                              </a:solidFill>
                              <a:latin typeface="Cambria Math" panose="02040503050406030204" pitchFamily="18" charset="0"/>
                            </a:rPr>
                            <m:t>2</m:t>
                          </m:r>
                        </m:sup>
                      </m:sSup>
                      <m:r>
                        <a:rPr lang="en-US" sz="1400" i="1">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𝒚</m:t>
                      </m:r>
                      <m:r>
                        <a:rPr lang="en-US" sz="1400" b="1" i="1">
                          <a:solidFill>
                            <a:schemeClr val="tx1"/>
                          </a:solidFill>
                          <a:latin typeface="Cambria Math" panose="02040503050406030204" pitchFamily="18" charset="0"/>
                        </a:rPr>
                        <m:t>𝟏</m:t>
                      </m:r>
                      <m:r>
                        <a:rPr lang="en-US" sz="1400" i="1">
                          <a:solidFill>
                            <a:schemeClr val="tx1"/>
                          </a:solidFill>
                          <a:latin typeface="Cambria Math" panose="02040503050406030204" pitchFamily="18" charset="0"/>
                        </a:rPr>
                        <m:t>+2</m:t>
                      </m:r>
                      <m:r>
                        <a:rPr lang="en-US" sz="1400" i="1">
                          <a:solidFill>
                            <a:srgbClr val="FF0000"/>
                          </a:solidFill>
                          <a:latin typeface="Cambria Math" panose="02040503050406030204" pitchFamily="18" charset="0"/>
                        </a:rPr>
                        <m:t>(1−</m:t>
                      </m:r>
                      <m:r>
                        <a:rPr lang="en-US" sz="1400" i="1">
                          <a:solidFill>
                            <a:srgbClr val="FF0000"/>
                          </a:solidFill>
                          <a:latin typeface="Cambria Math" panose="02040503050406030204" pitchFamily="18" charset="0"/>
                        </a:rPr>
                        <m:t>𝑡</m:t>
                      </m:r>
                      <m:r>
                        <a:rPr lang="en-US" sz="1400" i="1">
                          <a:solidFill>
                            <a:srgbClr val="FF0000"/>
                          </a:solidFill>
                          <a:latin typeface="Cambria Math" panose="02040503050406030204" pitchFamily="18" charset="0"/>
                        </a:rPr>
                        <m:t>)</m:t>
                      </m:r>
                      <m:r>
                        <a:rPr lang="en-US" sz="1400" i="1">
                          <a:solidFill>
                            <a:srgbClr val="92D050"/>
                          </a:solidFill>
                          <a:latin typeface="Cambria Math" panose="02040503050406030204" pitchFamily="18" charset="0"/>
                        </a:rPr>
                        <m:t>𝑡</m:t>
                      </m:r>
                      <m:r>
                        <a:rPr lang="en-US" sz="1400" i="1">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𝒚</m:t>
                      </m:r>
                      <m:r>
                        <a:rPr lang="en-US" sz="1400" b="1" i="1">
                          <a:solidFill>
                            <a:schemeClr val="tx1"/>
                          </a:solidFill>
                          <a:latin typeface="Cambria Math" panose="02040503050406030204" pitchFamily="18" charset="0"/>
                        </a:rPr>
                        <m:t>𝟐</m:t>
                      </m:r>
                      <m:r>
                        <a:rPr lang="en-US" sz="1400" i="1">
                          <a:solidFill>
                            <a:schemeClr val="tx1"/>
                          </a:solidFill>
                          <a:latin typeface="Cambria Math" panose="02040503050406030204" pitchFamily="18" charset="0"/>
                        </a:rPr>
                        <m:t>+</m:t>
                      </m:r>
                      <m:sSup>
                        <m:sSupPr>
                          <m:ctrlPr>
                            <a:rPr lang="en-US" sz="1400" i="1">
                              <a:solidFill>
                                <a:schemeClr val="tx1"/>
                              </a:solidFill>
                              <a:latin typeface="Cambria Math" panose="02040503050406030204" pitchFamily="18" charset="0"/>
                            </a:rPr>
                          </m:ctrlPr>
                        </m:sSupPr>
                        <m:e>
                          <m:r>
                            <a:rPr lang="en-US" sz="1400" i="1">
                              <a:solidFill>
                                <a:srgbClr val="92D050"/>
                              </a:solidFill>
                              <a:latin typeface="Cambria Math" panose="02040503050406030204" pitchFamily="18" charset="0"/>
                            </a:rPr>
                            <m:t>𝑡</m:t>
                          </m:r>
                        </m:e>
                        <m:sup>
                          <m:r>
                            <a:rPr lang="en-US" sz="1400" i="1">
                              <a:solidFill>
                                <a:schemeClr val="tx1"/>
                              </a:solidFill>
                              <a:latin typeface="Cambria Math" panose="02040503050406030204" pitchFamily="18" charset="0"/>
                            </a:rPr>
                            <m:t>2</m:t>
                          </m:r>
                        </m:sup>
                      </m:sSup>
                      <m:r>
                        <a:rPr lang="en-US" sz="1400" i="1">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𝒚</m:t>
                      </m:r>
                      <m:r>
                        <a:rPr lang="en-US" sz="1400" b="1" i="1">
                          <a:solidFill>
                            <a:schemeClr val="tx1"/>
                          </a:solidFill>
                          <a:latin typeface="Cambria Math" panose="02040503050406030204" pitchFamily="18" charset="0"/>
                        </a:rPr>
                        <m:t>𝟑</m:t>
                      </m:r>
                    </m:oMath>
                  </m:oMathPara>
                </a14:m>
                <a:endParaRPr lang="en-US" sz="1400" b="1" dirty="0"/>
              </a:p>
              <a:p>
                <a:pPr marL="0" indent="0">
                  <a:buNone/>
                </a:pPr>
                <a:endParaRPr lang="en-US" sz="1400" dirty="0"/>
              </a:p>
              <a:p>
                <a:pPr marL="0" indent="0">
                  <a:buNone/>
                </a:pPr>
                <a:endParaRPr lang="en-US" sz="1400" dirty="0"/>
              </a:p>
              <a:p>
                <a:pPr marL="0" indent="0">
                  <a:buNone/>
                </a:pPr>
                <a:r>
                  <a:rPr lang="en-US" sz="1400" dirty="0">
                    <a:solidFill>
                      <a:srgbClr val="FF66CC"/>
                    </a:solidFill>
                  </a:rPr>
                  <a:t>x1</a:t>
                </a:r>
                <a:r>
                  <a:rPr lang="en-US" sz="1400" dirty="0"/>
                  <a:t>, </a:t>
                </a:r>
                <a:r>
                  <a:rPr lang="en-US" sz="1400" dirty="0">
                    <a:solidFill>
                      <a:srgbClr val="FF66CC"/>
                    </a:solidFill>
                  </a:rPr>
                  <a:t>x2</a:t>
                </a:r>
                <a:r>
                  <a:rPr lang="en-US" sz="1400" dirty="0"/>
                  <a:t>, </a:t>
                </a:r>
                <a:r>
                  <a:rPr lang="en-US" sz="1400" dirty="0">
                    <a:solidFill>
                      <a:srgbClr val="FF66CC"/>
                    </a:solidFill>
                  </a:rPr>
                  <a:t>x3</a:t>
                </a:r>
                <a:r>
                  <a:rPr lang="en-US" sz="1400" dirty="0"/>
                  <a:t>, </a:t>
                </a:r>
                <a:r>
                  <a:rPr lang="en-US" sz="1400" dirty="0">
                    <a:solidFill>
                      <a:srgbClr val="0070C0"/>
                    </a:solidFill>
                  </a:rPr>
                  <a:t>y1</a:t>
                </a:r>
                <a:r>
                  <a:rPr lang="en-US" sz="1400" dirty="0"/>
                  <a:t>, </a:t>
                </a:r>
                <a:r>
                  <a:rPr lang="en-US" sz="1400" dirty="0">
                    <a:solidFill>
                      <a:srgbClr val="0070C0"/>
                    </a:solidFill>
                  </a:rPr>
                  <a:t>y2</a:t>
                </a:r>
                <a:r>
                  <a:rPr lang="en-US" sz="1400" dirty="0"/>
                  <a:t> and </a:t>
                </a:r>
                <a:r>
                  <a:rPr lang="en-US" sz="1400" dirty="0">
                    <a:solidFill>
                      <a:srgbClr val="0070C0"/>
                    </a:solidFill>
                  </a:rPr>
                  <a:t>y3</a:t>
                </a:r>
                <a:r>
                  <a:rPr lang="en-US" sz="1400" dirty="0"/>
                  <a:t> are taken from the control point </a:t>
                </a:r>
                <a:r>
                  <a:rPr lang="en-US" sz="1400" b="1" dirty="0"/>
                  <a:t>C1</a:t>
                </a:r>
                <a:r>
                  <a:rPr lang="en-US" sz="1400" dirty="0"/>
                  <a:t> (</a:t>
                </a:r>
                <a:r>
                  <a:rPr lang="en-US" sz="1400" dirty="0">
                    <a:solidFill>
                      <a:srgbClr val="FF66CC"/>
                    </a:solidFill>
                  </a:rPr>
                  <a:t>1</a:t>
                </a:r>
                <a:r>
                  <a:rPr lang="en-US" sz="1400" dirty="0"/>
                  <a:t>, </a:t>
                </a:r>
                <a:r>
                  <a:rPr lang="en-US" sz="1400" dirty="0">
                    <a:solidFill>
                      <a:srgbClr val="0070C0"/>
                    </a:solidFill>
                  </a:rPr>
                  <a:t>2</a:t>
                </a:r>
                <a:r>
                  <a:rPr lang="en-US" sz="1400" dirty="0"/>
                  <a:t>); </a:t>
                </a:r>
                <a:r>
                  <a:rPr lang="en-US" sz="1400" b="1" dirty="0"/>
                  <a:t>C2</a:t>
                </a:r>
                <a:r>
                  <a:rPr lang="en-US" sz="1400" dirty="0"/>
                  <a:t> (</a:t>
                </a:r>
                <a:r>
                  <a:rPr lang="en-US" sz="1400" dirty="0">
                    <a:solidFill>
                      <a:srgbClr val="FF66CC"/>
                    </a:solidFill>
                  </a:rPr>
                  <a:t>7</a:t>
                </a:r>
                <a:r>
                  <a:rPr lang="en-US" sz="1400" dirty="0"/>
                  <a:t>, </a:t>
                </a:r>
                <a:r>
                  <a:rPr lang="en-US" sz="1400" dirty="0">
                    <a:solidFill>
                      <a:srgbClr val="0070C0"/>
                    </a:solidFill>
                  </a:rPr>
                  <a:t>10</a:t>
                </a:r>
                <a:r>
                  <a:rPr lang="en-US" sz="1400" dirty="0"/>
                  <a:t>); </a:t>
                </a:r>
                <a:r>
                  <a:rPr lang="en-US" sz="1400" b="1" dirty="0"/>
                  <a:t>C3</a:t>
                </a:r>
                <a:r>
                  <a:rPr lang="en-US" sz="1400" dirty="0"/>
                  <a:t> (</a:t>
                </a:r>
                <a:r>
                  <a:rPr lang="en-US" sz="1400" dirty="0">
                    <a:solidFill>
                      <a:srgbClr val="FF66CC"/>
                    </a:solidFill>
                  </a:rPr>
                  <a:t>15</a:t>
                </a:r>
                <a:r>
                  <a:rPr lang="en-US" sz="1400" dirty="0"/>
                  <a:t>, </a:t>
                </a:r>
                <a:r>
                  <a:rPr lang="en-US" sz="1400" dirty="0">
                    <a:solidFill>
                      <a:srgbClr val="0070C0"/>
                    </a:solidFill>
                  </a:rPr>
                  <a:t>4</a:t>
                </a:r>
                <a:r>
                  <a:rPr lang="en-US" sz="1400" dirty="0"/>
                  <a:t>)</a:t>
                </a:r>
              </a:p>
              <a:p>
                <a:pPr marL="0" indent="0">
                  <a:buNone/>
                </a:pPr>
                <a:endParaRPr lang="en-US" sz="1400" dirty="0"/>
              </a:p>
              <a:p>
                <a:pPr marL="0" indent="0">
                  <a:buNone/>
                </a:pPr>
                <a14:m>
                  <m:oMathPara xmlns:m="http://schemas.openxmlformats.org/officeDocument/2006/math">
                    <m:oMathParaPr>
                      <m:jc m:val="left"/>
                    </m:oMathParaPr>
                    <m:oMath xmlns:m="http://schemas.openxmlformats.org/officeDocument/2006/math">
                      <m:r>
                        <a:rPr lang="en-US" sz="1400" i="1" smtClean="0">
                          <a:solidFill>
                            <a:srgbClr val="FF66CC"/>
                          </a:solidFill>
                          <a:latin typeface="Cambria Math" panose="02040503050406030204" pitchFamily="18" charset="0"/>
                        </a:rPr>
                        <m:t>𝑥</m:t>
                      </m:r>
                      <m:r>
                        <a:rPr lang="en-US" sz="1400" i="1">
                          <a:latin typeface="Cambria Math" panose="02040503050406030204" pitchFamily="18" charset="0"/>
                        </a:rPr>
                        <m:t>=</m:t>
                      </m:r>
                      <m:sSup>
                        <m:sSupPr>
                          <m:ctrlPr>
                            <a:rPr lang="en-US" sz="1400" i="1">
                              <a:latin typeface="Cambria Math" panose="02040503050406030204" pitchFamily="18" charset="0"/>
                            </a:rPr>
                          </m:ctrlPr>
                        </m:sSupPr>
                        <m:e>
                          <m:d>
                            <m:dPr>
                              <m:ctrlPr>
                                <a:rPr lang="en-US" sz="1400" i="1">
                                  <a:latin typeface="Cambria Math" panose="02040503050406030204" pitchFamily="18" charset="0"/>
                                </a:rPr>
                              </m:ctrlPr>
                            </m:dPr>
                            <m:e>
                              <m:r>
                                <a:rPr lang="en-US" sz="1400" i="1">
                                  <a:latin typeface="Cambria Math" panose="02040503050406030204" pitchFamily="18" charset="0"/>
                                </a:rPr>
                                <m:t>1−</m:t>
                              </m:r>
                              <m:r>
                                <a:rPr lang="en-US" sz="1400" b="0" i="1" smtClean="0">
                                  <a:latin typeface="Cambria Math" panose="02040503050406030204" pitchFamily="18" charset="0"/>
                                </a:rPr>
                                <m:t>0,8</m:t>
                              </m:r>
                            </m:e>
                          </m:d>
                        </m:e>
                        <m:sup>
                          <m:r>
                            <a:rPr lang="en-US" sz="1400" i="1">
                              <a:latin typeface="Cambria Math" panose="02040503050406030204" pitchFamily="18" charset="0"/>
                            </a:rPr>
                            <m:t>2</m:t>
                          </m:r>
                        </m:sup>
                      </m:sSup>
                      <m:r>
                        <a:rPr lang="en-US" sz="1400" b="0" i="1" smtClean="0">
                          <a:latin typeface="Cambria Math" panose="02040503050406030204" pitchFamily="18" charset="0"/>
                        </a:rPr>
                        <m:t>(</m:t>
                      </m:r>
                      <m:r>
                        <a:rPr lang="en-US" sz="1400" b="0" i="1" smtClean="0">
                          <a:solidFill>
                            <a:srgbClr val="FF66CC"/>
                          </a:solidFill>
                          <a:latin typeface="Cambria Math" panose="02040503050406030204" pitchFamily="18" charset="0"/>
                        </a:rPr>
                        <m:t>1</m:t>
                      </m:r>
                      <m:r>
                        <a:rPr lang="en-US" sz="1400" b="0" i="1" smtClean="0">
                          <a:latin typeface="Cambria Math" panose="02040503050406030204" pitchFamily="18" charset="0"/>
                        </a:rPr>
                        <m:t>)</m:t>
                      </m:r>
                      <m:r>
                        <a:rPr lang="en-US" sz="1400" i="1">
                          <a:latin typeface="Cambria Math" panose="02040503050406030204" pitchFamily="18" charset="0"/>
                        </a:rPr>
                        <m:t>+</m:t>
                      </m:r>
                      <m:r>
                        <a:rPr lang="en-US" sz="1400" b="0" i="1" smtClean="0">
                          <a:latin typeface="Cambria Math" panose="02040503050406030204" pitchFamily="18" charset="0"/>
                        </a:rPr>
                        <m:t>(</m:t>
                      </m:r>
                      <m:r>
                        <a:rPr lang="en-US" sz="1400" i="1">
                          <a:latin typeface="Cambria Math" panose="02040503050406030204" pitchFamily="18" charset="0"/>
                        </a:rPr>
                        <m:t>2</m:t>
                      </m:r>
                      <m:r>
                        <a:rPr lang="en-US" sz="1400" b="0" i="1" smtClean="0">
                          <a:latin typeface="Cambria Math" panose="02040503050406030204" pitchFamily="18" charset="0"/>
                        </a:rPr>
                        <m:t>)</m:t>
                      </m:r>
                      <m:d>
                        <m:dPr>
                          <m:ctrlPr>
                            <a:rPr lang="en-US" sz="1400" i="1">
                              <a:latin typeface="Cambria Math" panose="02040503050406030204" pitchFamily="18" charset="0"/>
                            </a:rPr>
                          </m:ctrlPr>
                        </m:dPr>
                        <m:e>
                          <m:r>
                            <a:rPr lang="en-US" sz="1400" i="1">
                              <a:latin typeface="Cambria Math" panose="02040503050406030204" pitchFamily="18" charset="0"/>
                            </a:rPr>
                            <m:t>1−</m:t>
                          </m:r>
                          <m:r>
                            <a:rPr lang="en-US" sz="1400" b="0" i="1" smtClean="0">
                              <a:latin typeface="Cambria Math" panose="02040503050406030204" pitchFamily="18" charset="0"/>
                            </a:rPr>
                            <m:t>0,8</m:t>
                          </m:r>
                        </m:e>
                      </m:d>
                      <m:r>
                        <a:rPr lang="en-US" sz="1400" b="0" i="1" smtClean="0">
                          <a:latin typeface="Cambria Math" panose="02040503050406030204" pitchFamily="18" charset="0"/>
                        </a:rPr>
                        <m:t>(0,8)(</m:t>
                      </m:r>
                      <m:r>
                        <a:rPr lang="en-US" sz="1400" b="0" i="1" smtClean="0">
                          <a:solidFill>
                            <a:srgbClr val="FF66CC"/>
                          </a:solidFill>
                          <a:latin typeface="Cambria Math" panose="02040503050406030204" pitchFamily="18" charset="0"/>
                        </a:rPr>
                        <m:t>7</m:t>
                      </m:r>
                      <m:r>
                        <a:rPr lang="en-US" sz="1400" b="0" i="1" smtClean="0">
                          <a:latin typeface="Cambria Math" panose="02040503050406030204" pitchFamily="18" charset="0"/>
                        </a:rPr>
                        <m:t>)</m:t>
                      </m:r>
                      <m:r>
                        <a:rPr lang="en-US" sz="1400" i="1">
                          <a:latin typeface="Cambria Math" panose="02040503050406030204" pitchFamily="18" charset="0"/>
                        </a:rPr>
                        <m:t>+</m:t>
                      </m:r>
                      <m:sSup>
                        <m:sSupPr>
                          <m:ctrlPr>
                            <a:rPr lang="en-US" sz="1400" i="1">
                              <a:latin typeface="Cambria Math" panose="02040503050406030204" pitchFamily="18" charset="0"/>
                            </a:rPr>
                          </m:ctrlPr>
                        </m:sSupPr>
                        <m:e>
                          <m:r>
                            <a:rPr lang="en-US" sz="1400" b="0" i="1" smtClean="0">
                              <a:latin typeface="Cambria Math" panose="02040503050406030204" pitchFamily="18" charset="0"/>
                            </a:rPr>
                            <m:t>(0,8</m:t>
                          </m:r>
                        </m:e>
                        <m:sup>
                          <m:r>
                            <a:rPr lang="en-US" sz="1400" i="1">
                              <a:latin typeface="Cambria Math" panose="02040503050406030204" pitchFamily="18" charset="0"/>
                            </a:rPr>
                            <m:t>2</m:t>
                          </m:r>
                        </m:sup>
                      </m:sSup>
                      <m:r>
                        <a:rPr lang="en-US" sz="1400" b="0" i="1" smtClean="0">
                          <a:latin typeface="Cambria Math" panose="02040503050406030204" pitchFamily="18" charset="0"/>
                        </a:rPr>
                        <m:t>)(</m:t>
                      </m:r>
                      <m:r>
                        <a:rPr lang="en-US" sz="1400" b="0" i="1" smtClean="0">
                          <a:solidFill>
                            <a:srgbClr val="FF66CC"/>
                          </a:solidFill>
                          <a:latin typeface="Cambria Math" panose="02040503050406030204" pitchFamily="18" charset="0"/>
                        </a:rPr>
                        <m:t>15</m:t>
                      </m:r>
                      <m:r>
                        <a:rPr lang="en-US" sz="1400" b="0" i="1" smtClean="0">
                          <a:latin typeface="Cambria Math" panose="02040503050406030204" pitchFamily="18" charset="0"/>
                        </a:rPr>
                        <m:t>)</m:t>
                      </m:r>
                    </m:oMath>
                  </m:oMathPara>
                </a14:m>
                <a:endParaRPr lang="en-US" sz="1400" dirty="0"/>
              </a:p>
              <a:p>
                <a:pPr marL="0" indent="0">
                  <a:buNone/>
                </a:pPr>
                <a:endParaRPr lang="en-US" sz="1400" dirty="0"/>
              </a:p>
              <a:p>
                <a:pPr marL="0" indent="0">
                  <a:buNone/>
                </a:pPr>
                <a14:m>
                  <m:oMathPara xmlns:m="http://schemas.openxmlformats.org/officeDocument/2006/math">
                    <m:oMathParaPr>
                      <m:jc m:val="left"/>
                    </m:oMathParaPr>
                    <m:oMath xmlns:m="http://schemas.openxmlformats.org/officeDocument/2006/math">
                      <m:r>
                        <a:rPr lang="en-US" sz="1400" i="1" smtClean="0">
                          <a:solidFill>
                            <a:srgbClr val="FF66CC"/>
                          </a:solidFill>
                          <a:latin typeface="Cambria Math" panose="02040503050406030204" pitchFamily="18" charset="0"/>
                        </a:rPr>
                        <m:t>𝑥</m:t>
                      </m:r>
                      <m:r>
                        <a:rPr lang="en-US" sz="1400" i="1">
                          <a:latin typeface="Cambria Math" panose="02040503050406030204" pitchFamily="18" charset="0"/>
                        </a:rPr>
                        <m:t>=0,04+2,24+9,6=</m:t>
                      </m:r>
                      <m:r>
                        <a:rPr lang="en-US" sz="1400" b="0" i="1" smtClean="0">
                          <a:latin typeface="Cambria Math" panose="02040503050406030204" pitchFamily="18" charset="0"/>
                        </a:rPr>
                        <m:t>11,88=</m:t>
                      </m:r>
                      <m:r>
                        <a:rPr lang="en-US" sz="1400" b="1" i="1" smtClean="0">
                          <a:solidFill>
                            <a:srgbClr val="FF66CC"/>
                          </a:solidFill>
                          <a:latin typeface="Cambria Math" panose="02040503050406030204" pitchFamily="18" charset="0"/>
                        </a:rPr>
                        <m:t>𝟏𝟐</m:t>
                      </m:r>
                    </m:oMath>
                  </m:oMathPara>
                </a14:m>
                <a:endParaRPr lang="en-US" sz="1400" b="1" dirty="0"/>
              </a:p>
              <a:p>
                <a:pPr marL="0" indent="0">
                  <a:buNone/>
                </a:pPr>
                <a:endParaRPr lang="en-US" sz="1400" dirty="0"/>
              </a:p>
              <a:p>
                <a:pPr marL="0" indent="0">
                  <a:buNone/>
                </a:pPr>
                <a14:m>
                  <m:oMathPara xmlns:m="http://schemas.openxmlformats.org/officeDocument/2006/math">
                    <m:oMathParaPr>
                      <m:jc m:val="left"/>
                    </m:oMathParaPr>
                    <m:oMath xmlns:m="http://schemas.openxmlformats.org/officeDocument/2006/math">
                      <m:r>
                        <a:rPr lang="en-US" sz="1400" i="1" smtClean="0">
                          <a:solidFill>
                            <a:srgbClr val="0070C0"/>
                          </a:solidFill>
                          <a:latin typeface="Cambria Math" panose="02040503050406030204" pitchFamily="18" charset="0"/>
                        </a:rPr>
                        <m:t>𝑦</m:t>
                      </m:r>
                      <m:r>
                        <a:rPr lang="en-US" sz="1400" i="1">
                          <a:latin typeface="Cambria Math" panose="02040503050406030204" pitchFamily="18" charset="0"/>
                        </a:rPr>
                        <m:t>=</m:t>
                      </m:r>
                      <m:sSup>
                        <m:sSupPr>
                          <m:ctrlPr>
                            <a:rPr lang="en-US" sz="1400" i="1">
                              <a:latin typeface="Cambria Math" panose="02040503050406030204" pitchFamily="18" charset="0"/>
                            </a:rPr>
                          </m:ctrlPr>
                        </m:sSupPr>
                        <m:e>
                          <m:d>
                            <m:dPr>
                              <m:ctrlPr>
                                <a:rPr lang="en-US" sz="1400" i="1">
                                  <a:latin typeface="Cambria Math" panose="02040503050406030204" pitchFamily="18" charset="0"/>
                                </a:rPr>
                              </m:ctrlPr>
                            </m:dPr>
                            <m:e>
                              <m:r>
                                <a:rPr lang="en-US" sz="1400" i="1">
                                  <a:latin typeface="Cambria Math" panose="02040503050406030204" pitchFamily="18" charset="0"/>
                                </a:rPr>
                                <m:t>1−</m:t>
                              </m:r>
                              <m:r>
                                <a:rPr lang="en-US" sz="1400" b="0" i="1" smtClean="0">
                                  <a:latin typeface="Cambria Math" panose="02040503050406030204" pitchFamily="18" charset="0"/>
                                </a:rPr>
                                <m:t>0,8</m:t>
                              </m:r>
                            </m:e>
                          </m:d>
                        </m:e>
                        <m:sup>
                          <m:r>
                            <a:rPr lang="en-US" sz="1400" i="1">
                              <a:latin typeface="Cambria Math" panose="02040503050406030204" pitchFamily="18" charset="0"/>
                            </a:rPr>
                            <m:t>2</m:t>
                          </m:r>
                        </m:sup>
                      </m:sSup>
                      <m:r>
                        <a:rPr lang="en-US" sz="1400" b="0" i="1" smtClean="0">
                          <a:latin typeface="Cambria Math" panose="02040503050406030204" pitchFamily="18" charset="0"/>
                        </a:rPr>
                        <m:t>(</m:t>
                      </m:r>
                      <m:r>
                        <a:rPr lang="en-US" sz="1400" b="0" i="1" smtClean="0">
                          <a:solidFill>
                            <a:srgbClr val="0070C0"/>
                          </a:solidFill>
                          <a:latin typeface="Cambria Math" panose="02040503050406030204" pitchFamily="18" charset="0"/>
                        </a:rPr>
                        <m:t>2</m:t>
                      </m:r>
                      <m:r>
                        <a:rPr lang="en-US" sz="1400" b="0" i="1" smtClean="0">
                          <a:latin typeface="Cambria Math" panose="02040503050406030204" pitchFamily="18" charset="0"/>
                        </a:rPr>
                        <m:t>)</m:t>
                      </m:r>
                      <m:r>
                        <a:rPr lang="en-US" sz="1400" i="1">
                          <a:latin typeface="Cambria Math" panose="02040503050406030204" pitchFamily="18" charset="0"/>
                        </a:rPr>
                        <m:t>+</m:t>
                      </m:r>
                      <m:r>
                        <a:rPr lang="en-US" sz="1400" b="0" i="1" smtClean="0">
                          <a:latin typeface="Cambria Math" panose="02040503050406030204" pitchFamily="18" charset="0"/>
                        </a:rPr>
                        <m:t>(</m:t>
                      </m:r>
                      <m:r>
                        <a:rPr lang="en-US" sz="1400" i="1">
                          <a:latin typeface="Cambria Math" panose="02040503050406030204" pitchFamily="18" charset="0"/>
                        </a:rPr>
                        <m:t>2</m:t>
                      </m:r>
                      <m:r>
                        <a:rPr lang="en-US" sz="1400" b="0" i="1" smtClean="0">
                          <a:latin typeface="Cambria Math" panose="02040503050406030204" pitchFamily="18" charset="0"/>
                        </a:rPr>
                        <m:t>)</m:t>
                      </m:r>
                      <m:d>
                        <m:dPr>
                          <m:ctrlPr>
                            <a:rPr lang="en-US" sz="1400" i="1">
                              <a:latin typeface="Cambria Math" panose="02040503050406030204" pitchFamily="18" charset="0"/>
                            </a:rPr>
                          </m:ctrlPr>
                        </m:dPr>
                        <m:e>
                          <m:r>
                            <a:rPr lang="en-US" sz="1400" i="1">
                              <a:latin typeface="Cambria Math" panose="02040503050406030204" pitchFamily="18" charset="0"/>
                            </a:rPr>
                            <m:t>1−</m:t>
                          </m:r>
                          <m:r>
                            <a:rPr lang="en-US" sz="1400" b="0" i="1" smtClean="0">
                              <a:latin typeface="Cambria Math" panose="02040503050406030204" pitchFamily="18" charset="0"/>
                            </a:rPr>
                            <m:t>0,8</m:t>
                          </m:r>
                        </m:e>
                      </m:d>
                      <m:r>
                        <a:rPr lang="en-US" sz="1400" b="0" i="1" smtClean="0">
                          <a:latin typeface="Cambria Math" panose="02040503050406030204" pitchFamily="18" charset="0"/>
                        </a:rPr>
                        <m:t>(0,8)(</m:t>
                      </m:r>
                      <m:r>
                        <a:rPr lang="en-US" sz="1400" b="0" i="1" smtClean="0">
                          <a:solidFill>
                            <a:srgbClr val="0070C0"/>
                          </a:solidFill>
                          <a:latin typeface="Cambria Math" panose="02040503050406030204" pitchFamily="18" charset="0"/>
                        </a:rPr>
                        <m:t>10</m:t>
                      </m:r>
                      <m:r>
                        <a:rPr lang="en-US" sz="1400" b="0" i="1" smtClean="0">
                          <a:latin typeface="Cambria Math" panose="02040503050406030204" pitchFamily="18" charset="0"/>
                        </a:rPr>
                        <m:t>)</m:t>
                      </m:r>
                      <m:r>
                        <a:rPr lang="en-US" sz="1400" i="1">
                          <a:latin typeface="Cambria Math" panose="02040503050406030204" pitchFamily="18" charset="0"/>
                        </a:rPr>
                        <m:t>+</m:t>
                      </m:r>
                      <m:sSup>
                        <m:sSupPr>
                          <m:ctrlPr>
                            <a:rPr lang="en-US" sz="1400" i="1">
                              <a:latin typeface="Cambria Math" panose="02040503050406030204" pitchFamily="18" charset="0"/>
                            </a:rPr>
                          </m:ctrlPr>
                        </m:sSupPr>
                        <m:e>
                          <m:r>
                            <a:rPr lang="en-US" sz="1400" b="0" i="1" smtClean="0">
                              <a:latin typeface="Cambria Math" panose="02040503050406030204" pitchFamily="18" charset="0"/>
                            </a:rPr>
                            <m:t>(0,8</m:t>
                          </m:r>
                        </m:e>
                        <m:sup>
                          <m:r>
                            <a:rPr lang="en-US" sz="1400" i="1">
                              <a:latin typeface="Cambria Math" panose="02040503050406030204" pitchFamily="18" charset="0"/>
                            </a:rPr>
                            <m:t>2</m:t>
                          </m:r>
                        </m:sup>
                      </m:sSup>
                      <m:r>
                        <a:rPr lang="en-US" sz="1400" b="0" i="1" smtClean="0">
                          <a:latin typeface="Cambria Math" panose="02040503050406030204" pitchFamily="18" charset="0"/>
                        </a:rPr>
                        <m:t>)(</m:t>
                      </m:r>
                      <m:r>
                        <a:rPr lang="en-US" sz="1400" b="0" i="1" smtClean="0">
                          <a:solidFill>
                            <a:srgbClr val="0070C0"/>
                          </a:solidFill>
                          <a:latin typeface="Cambria Math" panose="02040503050406030204" pitchFamily="18" charset="0"/>
                        </a:rPr>
                        <m:t>4</m:t>
                      </m:r>
                      <m:r>
                        <a:rPr lang="en-US" sz="1400" b="0" i="1" smtClean="0">
                          <a:latin typeface="Cambria Math" panose="02040503050406030204" pitchFamily="18" charset="0"/>
                        </a:rPr>
                        <m:t>)</m:t>
                      </m:r>
                    </m:oMath>
                  </m:oMathPara>
                </a14:m>
                <a:endParaRPr lang="en-US" sz="1400" dirty="0"/>
              </a:p>
              <a:p>
                <a:pPr marL="0" indent="0">
                  <a:buNone/>
                </a:pPr>
                <a:endParaRPr lang="en-US" sz="1400" dirty="0"/>
              </a:p>
              <a:p>
                <a:pPr marL="0" indent="0">
                  <a:buNone/>
                </a:pPr>
                <a14:m>
                  <m:oMathPara xmlns:m="http://schemas.openxmlformats.org/officeDocument/2006/math">
                    <m:oMathParaPr>
                      <m:jc m:val="left"/>
                    </m:oMathParaPr>
                    <m:oMath xmlns:m="http://schemas.openxmlformats.org/officeDocument/2006/math">
                      <m:r>
                        <a:rPr lang="en-US" sz="1400" i="1" smtClean="0">
                          <a:solidFill>
                            <a:srgbClr val="0070C0"/>
                          </a:solidFill>
                          <a:latin typeface="Cambria Math" panose="02040503050406030204" pitchFamily="18" charset="0"/>
                        </a:rPr>
                        <m:t>𝑦</m:t>
                      </m:r>
                      <m:r>
                        <a:rPr lang="en-US" sz="1400" i="1">
                          <a:latin typeface="Cambria Math" panose="02040503050406030204" pitchFamily="18" charset="0"/>
                        </a:rPr>
                        <m:t>=0,08+3,2+2,56</m:t>
                      </m:r>
                      <m:r>
                        <a:rPr lang="en-US" sz="1400" b="0" i="1" smtClean="0">
                          <a:latin typeface="Cambria Math" panose="02040503050406030204" pitchFamily="18" charset="0"/>
                        </a:rPr>
                        <m:t>=5,84=</m:t>
                      </m:r>
                      <m:r>
                        <a:rPr lang="en-US" sz="1400" b="1" i="1" smtClean="0">
                          <a:solidFill>
                            <a:srgbClr val="0070C0"/>
                          </a:solidFill>
                          <a:latin typeface="Cambria Math" panose="02040503050406030204" pitchFamily="18" charset="0"/>
                        </a:rPr>
                        <m:t>𝟔</m:t>
                      </m:r>
                    </m:oMath>
                  </m:oMathPara>
                </a14:m>
                <a:endParaRPr lang="en-US" sz="1400" b="1" dirty="0">
                  <a:solidFill>
                    <a:srgbClr val="0070C0"/>
                  </a:solidFill>
                </a:endParaRPr>
              </a:p>
              <a:p>
                <a:pPr marL="0" indent="0">
                  <a:buNone/>
                </a:pPr>
                <a:endParaRPr lang="en-US" sz="1400" dirty="0"/>
              </a:p>
              <a:p>
                <a:pPr marL="0" indent="0">
                  <a:buNone/>
                </a:pPr>
                <a:r>
                  <a:rPr lang="en-US" sz="1400" b="1" dirty="0"/>
                  <a:t>The point value on the curve when t = 0.8 is (</a:t>
                </a:r>
                <a:r>
                  <a:rPr lang="en-US" sz="1400" b="1" dirty="0">
                    <a:solidFill>
                      <a:srgbClr val="FF66CC"/>
                    </a:solidFill>
                  </a:rPr>
                  <a:t>12</a:t>
                </a:r>
                <a:r>
                  <a:rPr lang="en-US" sz="1400" b="1" dirty="0"/>
                  <a:t>, </a:t>
                </a:r>
                <a:r>
                  <a:rPr lang="en-US" sz="1400" b="1" dirty="0">
                    <a:solidFill>
                      <a:srgbClr val="0070C0"/>
                    </a:solidFill>
                  </a:rPr>
                  <a:t>6</a:t>
                </a:r>
                <a:r>
                  <a:rPr lang="en-US" sz="1400" b="1" dirty="0"/>
                  <a:t>)</a:t>
                </a:r>
              </a:p>
              <a:p>
                <a:pPr marL="0" indent="0">
                  <a:buNone/>
                </a:pPr>
                <a:endParaRPr lang="en-US" sz="1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838200" y="365125"/>
                <a:ext cx="10515600" cy="5811838"/>
              </a:xfrm>
              <a:blipFill rotWithShape="1">
                <a:blip r:embed="rId3"/>
                <a:stretch>
                  <a:fillRect b="5"/>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16</a:t>
            </a:fld>
            <a:endParaRPr lang="en-US"/>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grpSp>
        <p:nvGrpSpPr>
          <p:cNvPr id="2" name="Group 1"/>
          <p:cNvGrpSpPr/>
          <p:nvPr/>
        </p:nvGrpSpPr>
        <p:grpSpPr>
          <a:xfrm>
            <a:off x="6515105" y="3672505"/>
            <a:ext cx="5504837" cy="2182799"/>
            <a:chOff x="6515105" y="3672505"/>
            <a:chExt cx="5504837" cy="2182799"/>
          </a:xfrm>
        </p:grpSpPr>
        <p:sp>
          <p:nvSpPr>
            <p:cNvPr id="20" name="Oval 19"/>
            <p:cNvSpPr/>
            <p:nvPr/>
          </p:nvSpPr>
          <p:spPr>
            <a:xfrm>
              <a:off x="6970519" y="5189002"/>
              <a:ext cx="186267" cy="18626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515105" y="5485972"/>
              <a:ext cx="910827" cy="369332"/>
            </a:xfrm>
            <a:prstGeom prst="rect">
              <a:avLst/>
            </a:prstGeom>
            <a:ln>
              <a:noFill/>
            </a:ln>
          </p:spPr>
          <p:txBody>
            <a:bodyPr wrap="none">
              <a:spAutoFit/>
            </a:bodyPr>
            <a:lstStyle/>
            <a:p>
              <a:r>
                <a:rPr lang="en-US" dirty="0"/>
                <a:t>C1 (1,2)</a:t>
              </a:r>
            </a:p>
          </p:txBody>
        </p:sp>
        <p:sp>
          <p:nvSpPr>
            <p:cNvPr id="22" name="Oval 21"/>
            <p:cNvSpPr/>
            <p:nvPr/>
          </p:nvSpPr>
          <p:spPr>
            <a:xfrm>
              <a:off x="8608819" y="3672505"/>
              <a:ext cx="186267" cy="18626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8281163" y="3955811"/>
              <a:ext cx="1027845" cy="369332"/>
            </a:xfrm>
            <a:prstGeom prst="rect">
              <a:avLst/>
            </a:prstGeom>
            <a:ln>
              <a:noFill/>
            </a:ln>
          </p:spPr>
          <p:txBody>
            <a:bodyPr wrap="none">
              <a:spAutoFit/>
            </a:bodyPr>
            <a:lstStyle/>
            <a:p>
              <a:r>
                <a:rPr lang="en-US" dirty="0"/>
                <a:t>C2 (7,10)</a:t>
              </a:r>
            </a:p>
          </p:txBody>
        </p:sp>
        <p:sp>
          <p:nvSpPr>
            <p:cNvPr id="24" name="Oval 23"/>
            <p:cNvSpPr/>
            <p:nvPr/>
          </p:nvSpPr>
          <p:spPr>
            <a:xfrm>
              <a:off x="11245873" y="4674557"/>
              <a:ext cx="186267" cy="18626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10992097" y="4911839"/>
              <a:ext cx="1027845" cy="369332"/>
            </a:xfrm>
            <a:prstGeom prst="rect">
              <a:avLst/>
            </a:prstGeom>
            <a:ln>
              <a:noFill/>
            </a:ln>
          </p:spPr>
          <p:txBody>
            <a:bodyPr wrap="none">
              <a:spAutoFit/>
            </a:bodyPr>
            <a:lstStyle/>
            <a:p>
              <a:r>
                <a:rPr lang="en-US" dirty="0"/>
                <a:t>C3 (15,4)</a:t>
              </a:r>
            </a:p>
          </p:txBody>
        </p:sp>
        <p:sp>
          <p:nvSpPr>
            <p:cNvPr id="26" name="Oval 25"/>
            <p:cNvSpPr/>
            <p:nvPr/>
          </p:nvSpPr>
          <p:spPr>
            <a:xfrm>
              <a:off x="10511767" y="4345743"/>
              <a:ext cx="186267" cy="18626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10211878" y="3676169"/>
              <a:ext cx="787395" cy="646331"/>
            </a:xfrm>
            <a:prstGeom prst="rect">
              <a:avLst/>
            </a:prstGeom>
            <a:solidFill>
              <a:srgbClr val="FFC000"/>
            </a:solidFill>
            <a:ln>
              <a:noFill/>
            </a:ln>
          </p:spPr>
          <p:txBody>
            <a:bodyPr wrap="none">
              <a:spAutoFit/>
            </a:bodyPr>
            <a:lstStyle/>
            <a:p>
              <a:pPr algn="ctr"/>
              <a:r>
                <a:rPr lang="en-US" dirty="0"/>
                <a:t>t = 0.8</a:t>
              </a:r>
            </a:p>
            <a:p>
              <a:pPr algn="ctr"/>
              <a:r>
                <a:rPr lang="en-US" dirty="0"/>
                <a:t>(</a:t>
              </a:r>
              <a:r>
                <a:rPr lang="en-US" sz="1800" dirty="0">
                  <a:solidFill>
                    <a:srgbClr val="FF66CC"/>
                  </a:solidFill>
                </a:rPr>
                <a:t>12</a:t>
              </a:r>
              <a:r>
                <a:rPr lang="en-US" sz="1800" dirty="0"/>
                <a:t>, </a:t>
              </a:r>
              <a:r>
                <a:rPr lang="en-US" sz="1800" dirty="0">
                  <a:solidFill>
                    <a:srgbClr val="0070C0"/>
                  </a:solidFill>
                </a:rPr>
                <a:t>6</a:t>
              </a:r>
              <a:r>
                <a:rPr lang="en-US" dirty="0"/>
                <a:t>)</a:t>
              </a:r>
            </a:p>
          </p:txBody>
        </p:sp>
      </p:gr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65125"/>
                <a:ext cx="10515600" cy="2644775"/>
              </a:xfrm>
            </p:spPr>
            <p:txBody>
              <a:bodyPr/>
              <a:lstStyle/>
              <a:p>
                <a:pPr marL="0" indent="0">
                  <a:buNone/>
                </a:pPr>
                <a:r>
                  <a:rPr lang="en-US" sz="3200" b="1" dirty="0"/>
                  <a:t>EXERCISE 2</a:t>
                </a:r>
              </a:p>
              <a:p>
                <a:pPr marL="0" indent="0">
                  <a:buNone/>
                </a:pPr>
                <a:endParaRPr lang="en-US" sz="2000" dirty="0"/>
              </a:p>
              <a:p>
                <a:pPr marL="0" indent="0">
                  <a:buNone/>
                </a:pPr>
                <a:r>
                  <a:rPr lang="en-US" sz="2400" dirty="0"/>
                  <a:t>There are 4 control points with coordinates </a:t>
                </a:r>
                <a:r>
                  <a:rPr lang="en-US" sz="2400" b="1" dirty="0"/>
                  <a:t>C1</a:t>
                </a:r>
                <a:r>
                  <a:rPr lang="en-US" sz="2400" dirty="0"/>
                  <a:t> (0,1), </a:t>
                </a:r>
                <a:r>
                  <a:rPr lang="en-US" sz="2400" b="1" dirty="0"/>
                  <a:t>C2</a:t>
                </a:r>
                <a:r>
                  <a:rPr lang="en-US" sz="2400" dirty="0"/>
                  <a:t> (1,2), </a:t>
                </a:r>
                <a:r>
                  <a:rPr lang="en-US" sz="2400" b="1" dirty="0"/>
                  <a:t>C3</a:t>
                </a:r>
                <a:r>
                  <a:rPr lang="en-US" sz="2400" dirty="0"/>
                  <a:t> (2,2), </a:t>
                </a:r>
                <a:r>
                  <a:rPr lang="en-US" sz="2400" b="1" dirty="0"/>
                  <a:t>C4</a:t>
                </a:r>
                <a:r>
                  <a:rPr lang="en-US" sz="2400" dirty="0"/>
                  <a:t> (3,1) using increments </a:t>
                </a:r>
                <a14:m>
                  <m:oMath xmlns:m="http://schemas.openxmlformats.org/officeDocument/2006/math">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𝑡</m:t>
                    </m:r>
                  </m:oMath>
                </a14:m>
                <a:r>
                  <a:rPr lang="en-US" sz="2400" dirty="0"/>
                  <a:t> = 0.02 then specify:</a:t>
                </a:r>
              </a:p>
              <a:p>
                <a:pPr marL="0" indent="0">
                  <a:buNone/>
                </a:pPr>
                <a:r>
                  <a:rPr lang="en-US" sz="2400" dirty="0"/>
                  <a:t>1. How many points are used to construct the </a:t>
                </a:r>
                <a:r>
                  <a:rPr lang="en-US" sz="2400" dirty="0" err="1"/>
                  <a:t>bezier</a:t>
                </a:r>
                <a:r>
                  <a:rPr lang="en-US" sz="2400" dirty="0"/>
                  <a:t> curve?</a:t>
                </a:r>
              </a:p>
              <a:p>
                <a:pPr marL="0" indent="0">
                  <a:buNone/>
                </a:pPr>
                <a:r>
                  <a:rPr lang="en-US" sz="2400" dirty="0"/>
                  <a:t>2. What is the point value on the curve when t = 0.5?</a:t>
                </a:r>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838200" y="365125"/>
                <a:ext cx="10515600" cy="2644775"/>
              </a:xfrm>
              <a:blipFill rotWithShape="1">
                <a:blip r:embed="rId4"/>
                <a:stretch>
                  <a:fillRect/>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17</a:t>
            </a:fld>
            <a:endParaRPr lang="en-US"/>
          </a:p>
        </p:txBody>
      </p:sp>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grpSp>
        <p:nvGrpSpPr>
          <p:cNvPr id="15" name="Group 14"/>
          <p:cNvGrpSpPr/>
          <p:nvPr/>
        </p:nvGrpSpPr>
        <p:grpSpPr>
          <a:xfrm>
            <a:off x="3683737" y="3913270"/>
            <a:ext cx="4875576" cy="948971"/>
            <a:chOff x="3683737" y="3913270"/>
            <a:chExt cx="4875576" cy="948971"/>
          </a:xfrm>
        </p:grpSpPr>
        <p:sp>
          <p:nvSpPr>
            <p:cNvPr id="8" name="Oval 7"/>
            <p:cNvSpPr/>
            <p:nvPr/>
          </p:nvSpPr>
          <p:spPr>
            <a:xfrm>
              <a:off x="4139151" y="4190433"/>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3683737" y="4487403"/>
              <a:ext cx="910827" cy="369332"/>
            </a:xfrm>
            <a:prstGeom prst="rect">
              <a:avLst/>
            </a:prstGeom>
          </p:spPr>
          <p:txBody>
            <a:bodyPr wrap="none">
              <a:spAutoFit/>
            </a:bodyPr>
            <a:lstStyle/>
            <a:p>
              <a:r>
                <a:rPr lang="en-US" dirty="0"/>
                <a:t>C1 (0,1)</a:t>
              </a:r>
            </a:p>
          </p:txBody>
        </p:sp>
        <p:sp>
          <p:nvSpPr>
            <p:cNvPr id="9" name="Oval 8"/>
            <p:cNvSpPr/>
            <p:nvPr/>
          </p:nvSpPr>
          <p:spPr>
            <a:xfrm>
              <a:off x="5413343" y="3913270"/>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085687" y="4196576"/>
              <a:ext cx="910827" cy="369332"/>
            </a:xfrm>
            <a:prstGeom prst="rect">
              <a:avLst/>
            </a:prstGeom>
          </p:spPr>
          <p:txBody>
            <a:bodyPr wrap="none">
              <a:spAutoFit/>
            </a:bodyPr>
            <a:lstStyle/>
            <a:p>
              <a:r>
                <a:rPr lang="en-US" dirty="0"/>
                <a:t>C2 (1,2)</a:t>
              </a:r>
            </a:p>
          </p:txBody>
        </p:sp>
        <p:sp>
          <p:nvSpPr>
            <p:cNvPr id="11" name="Oval 10"/>
            <p:cNvSpPr/>
            <p:nvPr/>
          </p:nvSpPr>
          <p:spPr>
            <a:xfrm>
              <a:off x="6644946" y="3913270"/>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310988" y="4215746"/>
              <a:ext cx="910827" cy="369332"/>
            </a:xfrm>
            <a:prstGeom prst="rect">
              <a:avLst/>
            </a:prstGeom>
          </p:spPr>
          <p:txBody>
            <a:bodyPr wrap="none">
              <a:spAutoFit/>
            </a:bodyPr>
            <a:lstStyle/>
            <a:p>
              <a:r>
                <a:rPr lang="en-US" dirty="0"/>
                <a:t>C3 (2,2)</a:t>
              </a:r>
            </a:p>
          </p:txBody>
        </p:sp>
        <p:sp>
          <p:nvSpPr>
            <p:cNvPr id="13" name="Oval 12"/>
            <p:cNvSpPr/>
            <p:nvPr/>
          </p:nvSpPr>
          <p:spPr>
            <a:xfrm>
              <a:off x="7982444" y="4190433"/>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648486" y="4492909"/>
              <a:ext cx="910827" cy="369332"/>
            </a:xfrm>
            <a:prstGeom prst="rect">
              <a:avLst/>
            </a:prstGeom>
          </p:spPr>
          <p:txBody>
            <a:bodyPr wrap="none">
              <a:spAutoFit/>
            </a:bodyPr>
            <a:lstStyle/>
            <a:p>
              <a:r>
                <a:rPr lang="en-US" dirty="0"/>
                <a:t>C4 (3,1)</a:t>
              </a:r>
            </a:p>
          </p:txBody>
        </p:sp>
      </p:grpSp>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65125"/>
                <a:ext cx="10515600" cy="5811838"/>
              </a:xfrm>
            </p:spPr>
            <p:txBody>
              <a:bodyPr>
                <a:normAutofit fontScale="92500" lnSpcReduction="20000"/>
              </a:bodyPr>
              <a:lstStyle/>
              <a:p>
                <a:pPr marL="0" indent="0">
                  <a:buNone/>
                </a:pPr>
                <a:r>
                  <a:rPr lang="en-US" b="1" dirty="0"/>
                  <a:t>Solution</a:t>
                </a:r>
                <a:endParaRPr lang="en-US" sz="2000" b="1" dirty="0"/>
              </a:p>
              <a:p>
                <a:pPr marL="0" indent="0">
                  <a:buNone/>
                </a:pPr>
                <a:endParaRPr lang="en-US" sz="2000" b="1" dirty="0"/>
              </a:p>
              <a:p>
                <a:pPr marL="0" indent="0">
                  <a:buNone/>
                </a:pPr>
                <a:r>
                  <a:rPr lang="en-US" sz="2000" b="1" dirty="0"/>
                  <a:t>a. With an increase of 0.02, the number of points needed between 0 and 1 is</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𝑡</m:t>
                          </m:r>
                        </m:den>
                      </m:f>
                      <m:r>
                        <a:rPr lang="en-US" sz="2000" b="0" i="1" smtClean="0">
                          <a:latin typeface="Cambria Math" panose="02040503050406030204" pitchFamily="18" charset="0"/>
                        </a:rPr>
                        <m:t>+1=</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0.02</m:t>
                          </m:r>
                        </m:den>
                      </m:f>
                      <m:r>
                        <a:rPr lang="en-US" sz="2000" b="0" i="1" smtClean="0">
                          <a:latin typeface="Cambria Math" panose="02040503050406030204" pitchFamily="18" charset="0"/>
                        </a:rPr>
                        <m:t>+1=51 </m:t>
                      </m:r>
                      <m:r>
                        <a:rPr lang="en-US" sz="2000" b="0" i="1" smtClean="0">
                          <a:latin typeface="Cambria Math" panose="02040503050406030204" pitchFamily="18" charset="0"/>
                        </a:rPr>
                        <m:t>𝑝𝑜𝑖𝑛𝑡𝑠</m:t>
                      </m:r>
                    </m:oMath>
                  </m:oMathPara>
                </a14:m>
                <a:endParaRPr lang="en-US" sz="2000" dirty="0"/>
              </a:p>
              <a:p>
                <a:pPr marL="0" indent="0">
                  <a:buNone/>
                </a:pPr>
                <a:endParaRPr lang="en-US" sz="2000" dirty="0"/>
              </a:p>
              <a:p>
                <a:pPr marL="0" indent="0">
                  <a:buNone/>
                </a:pPr>
                <a:r>
                  <a:rPr lang="en-US" sz="2000" b="1" dirty="0"/>
                  <a:t>b. Because it consists of 4 control points the equation becomes</a:t>
                </a:r>
              </a:p>
              <a:p>
                <a:pPr marL="0" indent="0">
                  <a:buNone/>
                </a:pPr>
                <a:endParaRPr lang="en-US"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𝑦</m:t>
                          </m:r>
                          <m:r>
                            <a:rPr lang="en-US" sz="2000" i="1">
                              <a:latin typeface="Cambria Math" panose="02040503050406030204" pitchFamily="18" charset="0"/>
                            </a:rPr>
                            <m:t>)</m:t>
                          </m:r>
                        </m:e>
                        <m:sup>
                          <m:r>
                            <a:rPr lang="en-US" sz="2000" b="0" i="1" smtClean="0">
                              <a:latin typeface="Cambria Math" panose="02040503050406030204" pitchFamily="18" charset="0"/>
                            </a:rPr>
                            <m:t>4−1</m:t>
                          </m:r>
                        </m:sup>
                      </m:sSup>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𝑦</m:t>
                          </m:r>
                          <m:r>
                            <a:rPr lang="en-US" sz="2000" i="1">
                              <a:latin typeface="Cambria Math" panose="02040503050406030204" pitchFamily="18" charset="0"/>
                            </a:rPr>
                            <m:t>)</m:t>
                          </m:r>
                        </m:e>
                        <m:sup>
                          <m:r>
                            <a:rPr lang="en-US" sz="2000" b="0" i="1" smtClean="0">
                              <a:latin typeface="Cambria Math" panose="02040503050406030204" pitchFamily="18" charset="0"/>
                            </a:rPr>
                            <m:t>3</m:t>
                          </m:r>
                        </m:sup>
                      </m:sSup>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3</m:t>
                          </m:r>
                        </m:sup>
                      </m:sSup>
                      <m:r>
                        <a:rPr lang="en-US" sz="2000" b="0" i="1" smtClean="0">
                          <a:latin typeface="Cambria Math" panose="02040503050406030204" pitchFamily="18" charset="0"/>
                        </a:rPr>
                        <m:t>+3</m:t>
                      </m:r>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𝑦</m:t>
                      </m:r>
                      <m:r>
                        <a:rPr lang="en-US" sz="2000" b="0" i="1" smtClean="0">
                          <a:latin typeface="Cambria Math" panose="02040503050406030204" pitchFamily="18" charset="0"/>
                        </a:rPr>
                        <m:t>+3</m:t>
                      </m:r>
                      <m:r>
                        <a:rPr lang="en-US" sz="2000" b="0" i="1" smtClean="0">
                          <a:latin typeface="Cambria Math" panose="02040503050406030204" pitchFamily="18" charset="0"/>
                        </a:rPr>
                        <m:t>𝑥</m:t>
                      </m:r>
                      <m:sSup>
                        <m:sSupPr>
                          <m:ctrlPr>
                            <a:rPr lang="en-US" sz="2000" i="1">
                              <a:latin typeface="Cambria Math" panose="02040503050406030204" pitchFamily="18" charset="0"/>
                            </a:rPr>
                          </m:ctrlPr>
                        </m:sSupPr>
                        <m:e>
                          <m:r>
                            <a:rPr lang="en-US" sz="2000" b="0" i="1" smtClean="0">
                              <a:latin typeface="Cambria Math" panose="02040503050406030204" pitchFamily="18" charset="0"/>
                            </a:rPr>
                            <m:t>𝑦</m:t>
                          </m:r>
                        </m:e>
                        <m:sup>
                          <m:r>
                            <a:rPr lang="en-US" sz="2000" i="1">
                              <a:latin typeface="Cambria Math" panose="02040503050406030204" pitchFamily="18" charset="0"/>
                            </a:rPr>
                            <m:t>2</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𝑦</m:t>
                          </m:r>
                        </m:e>
                        <m:sup>
                          <m:r>
                            <a:rPr lang="en-US" sz="2000" b="0" i="1" smtClean="0">
                              <a:latin typeface="Cambria Math" panose="02040503050406030204" pitchFamily="18" charset="0"/>
                            </a:rPr>
                            <m:t>3</m:t>
                          </m:r>
                        </m:sup>
                      </m:sSup>
                      <m:r>
                        <a:rPr lang="en-US" sz="2000" b="0" i="1" smtClean="0">
                          <a:latin typeface="Cambria Math" panose="02040503050406030204" pitchFamily="18" charset="0"/>
                        </a:rPr>
                        <m:t>=0</m:t>
                      </m:r>
                    </m:oMath>
                  </m:oMathPara>
                </a14:m>
                <a:endParaRPr lang="en-US" sz="2000" b="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b="0" i="1" smtClean="0">
                              <a:latin typeface="Cambria Math" panose="02040503050406030204" pitchFamily="18" charset="0"/>
                            </a:rPr>
                            <m:t>𝑡</m:t>
                          </m:r>
                        </m:e>
                      </m:d>
                      <m:r>
                        <a:rPr lang="en-US" sz="2000" b="0" i="1" smtClean="0">
                          <a:latin typeface="Cambria Math" panose="02040503050406030204" pitchFamily="18" charset="0"/>
                        </a:rPr>
                        <m:t> </m:t>
                      </m:r>
                      <m:r>
                        <a:rPr lang="en-US" sz="2000" b="0" i="1" smtClean="0">
                          <a:latin typeface="Cambria Math" panose="02040503050406030204" pitchFamily="18" charset="0"/>
                        </a:rPr>
                        <m:t>𝑑𝑎𝑛</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m:t>
                      </m:r>
                      <m:r>
                        <a:rPr lang="en-US" sz="2000" b="0" i="1" smtClean="0">
                          <a:latin typeface="Cambria Math" panose="02040503050406030204" pitchFamily="18" charset="0"/>
                        </a:rPr>
                        <m:t>𝑡</m:t>
                      </m:r>
                    </m:oMath>
                  </m:oMathPara>
                </a14:m>
                <a:endParaRPr lang="en-US" sz="2000" dirty="0"/>
              </a:p>
              <a:p>
                <a:pPr marL="0" indent="0">
                  <a:buNone/>
                </a:pPr>
                <a:endParaRPr lang="en-US" sz="2000" dirty="0"/>
              </a:p>
              <a:p>
                <a:pPr marL="0" indent="0">
                  <a:buNone/>
                </a:pPr>
                <a:r>
                  <a:rPr lang="en-US" sz="2000" dirty="0"/>
                  <a:t>	Then the equation becomes:</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𝐿</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a:rPr lang="en-US" sz="2000" i="1">
                                  <a:latin typeface="Cambria Math" panose="02040503050406030204" pitchFamily="18" charset="0"/>
                                </a:rPr>
                                <m:t>1−</m:t>
                              </m:r>
                              <m:r>
                                <a:rPr lang="en-US" sz="2000" i="1">
                                  <a:latin typeface="Cambria Math" panose="02040503050406030204" pitchFamily="18" charset="0"/>
                                </a:rPr>
                                <m:t>𝑡</m:t>
                              </m:r>
                            </m:e>
                          </m:d>
                        </m:e>
                        <m:sup>
                          <m:r>
                            <a:rPr lang="en-US" sz="2000" i="1">
                              <a:latin typeface="Cambria Math" panose="02040503050406030204" pitchFamily="18" charset="0"/>
                            </a:rPr>
                            <m:t>3</m:t>
                          </m:r>
                        </m:sup>
                      </m:sSup>
                      <m:r>
                        <a:rPr lang="en-US" sz="2000" i="1">
                          <a:latin typeface="Cambria Math" panose="02040503050406030204" pitchFamily="18" charset="0"/>
                        </a:rPr>
                        <m:t>+3</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a:rPr lang="en-US" sz="2000" i="1">
                                  <a:latin typeface="Cambria Math" panose="02040503050406030204" pitchFamily="18" charset="0"/>
                                </a:rPr>
                                <m:t>1−</m:t>
                              </m:r>
                              <m:r>
                                <a:rPr lang="en-US" sz="2000" i="1">
                                  <a:latin typeface="Cambria Math" panose="02040503050406030204" pitchFamily="18" charset="0"/>
                                </a:rPr>
                                <m:t>𝑡</m:t>
                              </m:r>
                            </m:e>
                          </m:d>
                        </m:e>
                        <m:sup>
                          <m:r>
                            <a:rPr lang="en-US" sz="2000" i="1">
                              <a:latin typeface="Cambria Math" panose="02040503050406030204" pitchFamily="18" charset="0"/>
                            </a:rPr>
                            <m:t>2</m:t>
                          </m:r>
                        </m:sup>
                      </m:sSup>
                      <m:r>
                        <a:rPr lang="en-US" sz="2000" b="0" i="1" smtClean="0">
                          <a:latin typeface="Cambria Math" panose="02040503050406030204" pitchFamily="18" charset="0"/>
                        </a:rPr>
                        <m:t>𝑡</m:t>
                      </m:r>
                      <m:r>
                        <a:rPr lang="en-US" sz="2000" i="1">
                          <a:latin typeface="Cambria Math" panose="02040503050406030204" pitchFamily="18" charset="0"/>
                        </a:rPr>
                        <m:t>+3</m:t>
                      </m:r>
                      <m:d>
                        <m:dPr>
                          <m:ctrlPr>
                            <a:rPr lang="en-US" sz="2000" i="1">
                              <a:latin typeface="Cambria Math" panose="02040503050406030204" pitchFamily="18" charset="0"/>
                            </a:rPr>
                          </m:ctrlPr>
                        </m:dPr>
                        <m:e>
                          <m:r>
                            <a:rPr lang="en-US" sz="2000" i="1">
                              <a:latin typeface="Cambria Math" panose="02040503050406030204" pitchFamily="18" charset="0"/>
                            </a:rPr>
                            <m:t>1−</m:t>
                          </m:r>
                          <m:r>
                            <a:rPr lang="en-US" sz="2000" i="1">
                              <a:latin typeface="Cambria Math" panose="02040503050406030204" pitchFamily="18" charset="0"/>
                            </a:rPr>
                            <m:t>𝑡</m:t>
                          </m:r>
                        </m:e>
                      </m:d>
                      <m:sSup>
                        <m:sSupPr>
                          <m:ctrlPr>
                            <a:rPr lang="en-US" sz="2000" i="1">
                              <a:latin typeface="Cambria Math" panose="02040503050406030204" pitchFamily="18" charset="0"/>
                            </a:rPr>
                          </m:ctrlPr>
                        </m:sSupPr>
                        <m:e>
                          <m:r>
                            <a:rPr lang="en-US" sz="2000" i="1">
                              <a:latin typeface="Cambria Math" panose="02040503050406030204" pitchFamily="18" charset="0"/>
                            </a:rPr>
                            <m:t>𝑡</m:t>
                          </m:r>
                        </m:e>
                        <m:sup>
                          <m:r>
                            <a:rPr lang="en-US" sz="2000" i="1">
                              <a:latin typeface="Cambria Math" panose="02040503050406030204" pitchFamily="18" charset="0"/>
                            </a:rPr>
                            <m:t>2</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b="0" i="1" smtClean="0">
                              <a:latin typeface="Cambria Math" panose="02040503050406030204" pitchFamily="18" charset="0"/>
                            </a:rPr>
                            <m:t>𝑡</m:t>
                          </m:r>
                        </m:e>
                        <m:sup>
                          <m:r>
                            <a:rPr lang="en-US" sz="2000" b="0" i="1" smtClean="0">
                              <a:latin typeface="Cambria Math" panose="02040503050406030204" pitchFamily="18" charset="0"/>
                            </a:rPr>
                            <m:t>3</m:t>
                          </m:r>
                        </m:sup>
                      </m:sSup>
                      <m:r>
                        <a:rPr lang="en-US" sz="2000" i="1">
                          <a:latin typeface="Cambria Math" panose="02040503050406030204" pitchFamily="18" charset="0"/>
                        </a:rPr>
                        <m:t>=0</m:t>
                      </m:r>
                    </m:oMath>
                  </m:oMathPara>
                </a14:m>
                <a:endParaRPr lang="en-US" sz="2000" dirty="0"/>
              </a:p>
              <a:p>
                <a:pPr marL="0" indent="0">
                  <a:buNone/>
                </a:pPr>
                <a:endParaRPr lang="en-US" sz="20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838200" y="365125"/>
                <a:ext cx="10515600" cy="5811838"/>
              </a:xfrm>
              <a:blipFill rotWithShape="1">
                <a:blip r:embed="rId3"/>
                <a:stretch>
                  <a:fillRect t="-983" b="5"/>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18</a:t>
            </a:fld>
            <a:endParaRPr lang="en-US"/>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65125"/>
                <a:ext cx="10515600" cy="5811838"/>
              </a:xfrm>
            </p:spPr>
            <p:txBody>
              <a:bodyPr>
                <a:normAutofit/>
              </a:bodyPr>
              <a:lstStyle/>
              <a:p>
                <a:pPr marL="0" indent="0">
                  <a:buNone/>
                </a:pPr>
                <a:r>
                  <a:rPr lang="en-US" sz="1400" dirty="0"/>
                  <a:t>The point for t = 0.8</a:t>
                </a:r>
              </a:p>
              <a:p>
                <a:pPr marL="0" indent="0">
                  <a:buNone/>
                </a:pPr>
                <a:endParaRPr lang="en-US" sz="1400" dirty="0"/>
              </a:p>
              <a:p>
                <a:pPr marL="0" indent="0">
                  <a:buNone/>
                </a:pPr>
                <a14:m>
                  <m:oMathPara xmlns:m="http://schemas.openxmlformats.org/officeDocument/2006/math">
                    <m:oMathParaPr>
                      <m:jc m:val="left"/>
                    </m:oMathParaPr>
                    <m:oMath xmlns:m="http://schemas.openxmlformats.org/officeDocument/2006/math">
                      <m:r>
                        <a:rPr lang="en-US" sz="1400" b="0" i="1" smtClean="0">
                          <a:latin typeface="Cambria Math" panose="02040503050406030204" pitchFamily="18" charset="0"/>
                        </a:rPr>
                        <m:t>𝑥</m:t>
                      </m:r>
                      <m:r>
                        <a:rPr lang="en-US" sz="1400" b="0" i="1" smtClean="0">
                          <a:latin typeface="Cambria Math" panose="02040503050406030204" pitchFamily="18" charset="0"/>
                        </a:rPr>
                        <m:t>=</m:t>
                      </m:r>
                      <m:sSup>
                        <m:sSupPr>
                          <m:ctrlPr>
                            <a:rPr lang="en-US" sz="1400" b="0" i="1" smtClean="0">
                              <a:solidFill>
                                <a:schemeClr val="tx1"/>
                              </a:solidFill>
                              <a:latin typeface="Cambria Math" panose="02040503050406030204" pitchFamily="18" charset="0"/>
                            </a:rPr>
                          </m:ctrlPr>
                        </m:sSupPr>
                        <m:e>
                          <m:r>
                            <a:rPr lang="en-US" sz="1400" i="1" smtClean="0">
                              <a:solidFill>
                                <a:srgbClr val="FF0000"/>
                              </a:solidFill>
                              <a:latin typeface="Cambria Math" panose="02040503050406030204" pitchFamily="18" charset="0"/>
                            </a:rPr>
                            <m:t>(1−</m:t>
                          </m:r>
                          <m:r>
                            <a:rPr lang="en-US" sz="1400" i="1" smtClean="0">
                              <a:solidFill>
                                <a:srgbClr val="FF0000"/>
                              </a:solidFill>
                              <a:latin typeface="Cambria Math" panose="02040503050406030204" pitchFamily="18" charset="0"/>
                            </a:rPr>
                            <m:t>𝑡</m:t>
                          </m:r>
                          <m:r>
                            <a:rPr lang="en-US" sz="1400" i="1" smtClean="0">
                              <a:solidFill>
                                <a:srgbClr val="FF0000"/>
                              </a:solidFill>
                              <a:latin typeface="Cambria Math" panose="02040503050406030204" pitchFamily="18" charset="0"/>
                            </a:rPr>
                            <m:t>)</m:t>
                          </m:r>
                        </m:e>
                        <m:sup>
                          <m:r>
                            <a:rPr lang="en-US" sz="1400" b="0" i="1" smtClean="0">
                              <a:solidFill>
                                <a:schemeClr val="tx1"/>
                              </a:solidFill>
                              <a:latin typeface="Cambria Math" panose="02040503050406030204" pitchFamily="18" charset="0"/>
                            </a:rPr>
                            <m:t>2</m:t>
                          </m:r>
                        </m:sup>
                      </m:sSup>
                      <m:r>
                        <a:rPr lang="en-US" sz="1400" b="0" i="1" smtClean="0">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𝒙</m:t>
                      </m:r>
                      <m:r>
                        <a:rPr lang="en-US" sz="1400" b="1" i="1" smtClean="0">
                          <a:solidFill>
                            <a:schemeClr val="tx1"/>
                          </a:solidFill>
                          <a:latin typeface="Cambria Math" panose="02040503050406030204" pitchFamily="18" charset="0"/>
                        </a:rPr>
                        <m:t>𝟏</m:t>
                      </m:r>
                      <m:r>
                        <a:rPr lang="en-US" sz="1400" b="0" i="1" smtClean="0">
                          <a:solidFill>
                            <a:schemeClr val="tx1"/>
                          </a:solidFill>
                          <a:latin typeface="Cambria Math" panose="02040503050406030204" pitchFamily="18" charset="0"/>
                        </a:rPr>
                        <m:t>+2</m:t>
                      </m:r>
                      <m:d>
                        <m:dPr>
                          <m:ctrlPr>
                            <a:rPr lang="en-US" sz="1400" b="0" i="1" smtClean="0">
                              <a:solidFill>
                                <a:srgbClr val="FF0000"/>
                              </a:solidFill>
                              <a:latin typeface="Cambria Math" panose="02040503050406030204" pitchFamily="18" charset="0"/>
                            </a:rPr>
                          </m:ctrlPr>
                        </m:dPr>
                        <m:e>
                          <m:r>
                            <a:rPr lang="en-US" sz="1400" i="1">
                              <a:solidFill>
                                <a:srgbClr val="FF0000"/>
                              </a:solidFill>
                              <a:latin typeface="Cambria Math" panose="02040503050406030204" pitchFamily="18" charset="0"/>
                            </a:rPr>
                            <m:t>1−</m:t>
                          </m:r>
                          <m:r>
                            <a:rPr lang="en-US" sz="1400" i="1">
                              <a:solidFill>
                                <a:srgbClr val="FF0000"/>
                              </a:solidFill>
                              <a:latin typeface="Cambria Math" panose="02040503050406030204" pitchFamily="18" charset="0"/>
                            </a:rPr>
                            <m:t>𝑡</m:t>
                          </m:r>
                        </m:e>
                      </m:d>
                      <m:r>
                        <a:rPr lang="en-US" sz="1400" b="0" i="1" smtClean="0">
                          <a:solidFill>
                            <a:srgbClr val="92D050"/>
                          </a:solidFill>
                          <a:latin typeface="Cambria Math" panose="02040503050406030204" pitchFamily="18" charset="0"/>
                        </a:rPr>
                        <m:t>𝑡</m:t>
                      </m:r>
                      <m:r>
                        <a:rPr lang="en-US" sz="1400" b="0" i="1" smtClean="0">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𝒙</m:t>
                      </m:r>
                      <m:r>
                        <a:rPr lang="en-US" sz="1400" b="1" i="1" smtClean="0">
                          <a:solidFill>
                            <a:schemeClr val="tx1"/>
                          </a:solidFill>
                          <a:latin typeface="Cambria Math" panose="02040503050406030204" pitchFamily="18" charset="0"/>
                        </a:rPr>
                        <m:t>𝟐</m:t>
                      </m:r>
                      <m:r>
                        <a:rPr lang="en-US" sz="1400" b="0" i="1" smtClean="0">
                          <a:solidFill>
                            <a:schemeClr val="tx1"/>
                          </a:solidFill>
                          <a:latin typeface="Cambria Math" panose="02040503050406030204" pitchFamily="18" charset="0"/>
                        </a:rPr>
                        <m:t>+</m:t>
                      </m:r>
                      <m:sSup>
                        <m:sSupPr>
                          <m:ctrlPr>
                            <a:rPr lang="en-US" sz="1400" b="0" i="1" smtClean="0">
                              <a:solidFill>
                                <a:schemeClr val="tx1"/>
                              </a:solidFill>
                              <a:latin typeface="Cambria Math" panose="02040503050406030204" pitchFamily="18" charset="0"/>
                            </a:rPr>
                          </m:ctrlPr>
                        </m:sSupPr>
                        <m:e>
                          <m:r>
                            <a:rPr lang="en-US" sz="1400" i="1">
                              <a:solidFill>
                                <a:srgbClr val="92D050"/>
                              </a:solidFill>
                              <a:latin typeface="Cambria Math" panose="02040503050406030204" pitchFamily="18" charset="0"/>
                            </a:rPr>
                            <m:t>𝑡</m:t>
                          </m:r>
                        </m:e>
                        <m:sup>
                          <m:r>
                            <a:rPr lang="en-US" sz="1400" b="0" i="1" smtClean="0">
                              <a:solidFill>
                                <a:schemeClr val="tx1"/>
                              </a:solidFill>
                              <a:latin typeface="Cambria Math" panose="02040503050406030204" pitchFamily="18" charset="0"/>
                            </a:rPr>
                            <m:t>2</m:t>
                          </m:r>
                        </m:sup>
                      </m:sSup>
                      <m:r>
                        <a:rPr lang="en-US" sz="1400" b="0" i="1" smtClean="0">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𝒙</m:t>
                      </m:r>
                      <m:r>
                        <a:rPr lang="en-US" sz="1400" b="1" i="1" smtClean="0">
                          <a:solidFill>
                            <a:schemeClr val="tx1"/>
                          </a:solidFill>
                          <a:latin typeface="Cambria Math" panose="02040503050406030204" pitchFamily="18" charset="0"/>
                        </a:rPr>
                        <m:t>𝟑</m:t>
                      </m:r>
                    </m:oMath>
                  </m:oMathPara>
                </a14:m>
                <a:endParaRPr lang="en-US" sz="1400" b="1" dirty="0">
                  <a:solidFill>
                    <a:schemeClr val="tx1"/>
                  </a:solidFill>
                </a:endParaRPr>
              </a:p>
              <a:p>
                <a:pPr marL="0" indent="0">
                  <a:buNone/>
                </a:pPr>
                <a:endParaRPr lang="en-US" sz="1400" dirty="0"/>
              </a:p>
              <a:p>
                <a:pPr marL="0" indent="0">
                  <a:buNone/>
                </a:pPr>
                <a14:m>
                  <m:oMathPara xmlns:m="http://schemas.openxmlformats.org/officeDocument/2006/math">
                    <m:oMathParaPr>
                      <m:jc m:val="left"/>
                    </m:oMathParaPr>
                    <m:oMath xmlns:m="http://schemas.openxmlformats.org/officeDocument/2006/math">
                      <m:r>
                        <a:rPr lang="en-US" sz="1400" b="0" i="1" smtClean="0">
                          <a:latin typeface="Cambria Math" panose="02040503050406030204" pitchFamily="18" charset="0"/>
                        </a:rPr>
                        <m:t>𝑦</m:t>
                      </m:r>
                      <m:r>
                        <a:rPr lang="en-US" sz="1400" i="1">
                          <a:latin typeface="Cambria Math" panose="02040503050406030204" pitchFamily="18" charset="0"/>
                        </a:rPr>
                        <m:t>=</m:t>
                      </m:r>
                      <m:sSup>
                        <m:sSupPr>
                          <m:ctrlPr>
                            <a:rPr lang="en-US" sz="1400" i="1" smtClean="0">
                              <a:solidFill>
                                <a:schemeClr val="tx1"/>
                              </a:solidFill>
                              <a:latin typeface="Cambria Math" panose="02040503050406030204" pitchFamily="18" charset="0"/>
                            </a:rPr>
                          </m:ctrlPr>
                        </m:sSupPr>
                        <m:e>
                          <m:r>
                            <a:rPr lang="en-US" sz="1400" i="1">
                              <a:solidFill>
                                <a:srgbClr val="FF0000"/>
                              </a:solidFill>
                              <a:latin typeface="Cambria Math" panose="02040503050406030204" pitchFamily="18" charset="0"/>
                            </a:rPr>
                            <m:t>(1−</m:t>
                          </m:r>
                          <m:r>
                            <a:rPr lang="en-US" sz="1400" i="1">
                              <a:solidFill>
                                <a:srgbClr val="FF0000"/>
                              </a:solidFill>
                              <a:latin typeface="Cambria Math" panose="02040503050406030204" pitchFamily="18" charset="0"/>
                            </a:rPr>
                            <m:t>𝑡</m:t>
                          </m:r>
                          <m:r>
                            <a:rPr lang="en-US" sz="1400" i="1">
                              <a:solidFill>
                                <a:srgbClr val="FF0000"/>
                              </a:solidFill>
                              <a:latin typeface="Cambria Math" panose="02040503050406030204" pitchFamily="18" charset="0"/>
                            </a:rPr>
                            <m:t>)</m:t>
                          </m:r>
                        </m:e>
                        <m:sup>
                          <m:r>
                            <a:rPr lang="en-US" sz="1400" i="1">
                              <a:solidFill>
                                <a:schemeClr val="tx1"/>
                              </a:solidFill>
                              <a:latin typeface="Cambria Math" panose="02040503050406030204" pitchFamily="18" charset="0"/>
                            </a:rPr>
                            <m:t>2</m:t>
                          </m:r>
                        </m:sup>
                      </m:sSup>
                      <m:r>
                        <a:rPr lang="en-US" sz="1400" i="1">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𝒚</m:t>
                      </m:r>
                      <m:r>
                        <a:rPr lang="en-US" sz="1400" b="1" i="1">
                          <a:solidFill>
                            <a:schemeClr val="tx1"/>
                          </a:solidFill>
                          <a:latin typeface="Cambria Math" panose="02040503050406030204" pitchFamily="18" charset="0"/>
                        </a:rPr>
                        <m:t>𝟏</m:t>
                      </m:r>
                      <m:r>
                        <a:rPr lang="en-US" sz="1400" i="1">
                          <a:solidFill>
                            <a:schemeClr val="tx1"/>
                          </a:solidFill>
                          <a:latin typeface="Cambria Math" panose="02040503050406030204" pitchFamily="18" charset="0"/>
                        </a:rPr>
                        <m:t>+2</m:t>
                      </m:r>
                      <m:r>
                        <a:rPr lang="en-US" sz="1400" i="1">
                          <a:solidFill>
                            <a:srgbClr val="FF0000"/>
                          </a:solidFill>
                          <a:latin typeface="Cambria Math" panose="02040503050406030204" pitchFamily="18" charset="0"/>
                        </a:rPr>
                        <m:t>(1−</m:t>
                      </m:r>
                      <m:r>
                        <a:rPr lang="en-US" sz="1400" i="1">
                          <a:solidFill>
                            <a:srgbClr val="FF0000"/>
                          </a:solidFill>
                          <a:latin typeface="Cambria Math" panose="02040503050406030204" pitchFamily="18" charset="0"/>
                        </a:rPr>
                        <m:t>𝑡</m:t>
                      </m:r>
                      <m:r>
                        <a:rPr lang="en-US" sz="1400" i="1">
                          <a:solidFill>
                            <a:srgbClr val="FF0000"/>
                          </a:solidFill>
                          <a:latin typeface="Cambria Math" panose="02040503050406030204" pitchFamily="18" charset="0"/>
                        </a:rPr>
                        <m:t>)</m:t>
                      </m:r>
                      <m:r>
                        <a:rPr lang="en-US" sz="1400" i="1">
                          <a:solidFill>
                            <a:srgbClr val="92D050"/>
                          </a:solidFill>
                          <a:latin typeface="Cambria Math" panose="02040503050406030204" pitchFamily="18" charset="0"/>
                        </a:rPr>
                        <m:t>𝑡</m:t>
                      </m:r>
                      <m:r>
                        <a:rPr lang="en-US" sz="1400" i="1">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𝒚</m:t>
                      </m:r>
                      <m:r>
                        <a:rPr lang="en-US" sz="1400" b="1" i="1">
                          <a:solidFill>
                            <a:schemeClr val="tx1"/>
                          </a:solidFill>
                          <a:latin typeface="Cambria Math" panose="02040503050406030204" pitchFamily="18" charset="0"/>
                        </a:rPr>
                        <m:t>𝟐</m:t>
                      </m:r>
                      <m:r>
                        <a:rPr lang="en-US" sz="1400" i="1">
                          <a:solidFill>
                            <a:schemeClr val="tx1"/>
                          </a:solidFill>
                          <a:latin typeface="Cambria Math" panose="02040503050406030204" pitchFamily="18" charset="0"/>
                        </a:rPr>
                        <m:t>+</m:t>
                      </m:r>
                      <m:sSup>
                        <m:sSupPr>
                          <m:ctrlPr>
                            <a:rPr lang="en-US" sz="1400" i="1">
                              <a:solidFill>
                                <a:schemeClr val="tx1"/>
                              </a:solidFill>
                              <a:latin typeface="Cambria Math" panose="02040503050406030204" pitchFamily="18" charset="0"/>
                            </a:rPr>
                          </m:ctrlPr>
                        </m:sSupPr>
                        <m:e>
                          <m:r>
                            <a:rPr lang="en-US" sz="1400" i="1">
                              <a:solidFill>
                                <a:srgbClr val="92D050"/>
                              </a:solidFill>
                              <a:latin typeface="Cambria Math" panose="02040503050406030204" pitchFamily="18" charset="0"/>
                            </a:rPr>
                            <m:t>𝑡</m:t>
                          </m:r>
                        </m:e>
                        <m:sup>
                          <m:r>
                            <a:rPr lang="en-US" sz="1400" i="1">
                              <a:solidFill>
                                <a:schemeClr val="tx1"/>
                              </a:solidFill>
                              <a:latin typeface="Cambria Math" panose="02040503050406030204" pitchFamily="18" charset="0"/>
                            </a:rPr>
                            <m:t>2</m:t>
                          </m:r>
                        </m:sup>
                      </m:sSup>
                      <m:r>
                        <a:rPr lang="en-US" sz="1400" i="1">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𝒚</m:t>
                      </m:r>
                      <m:r>
                        <a:rPr lang="en-US" sz="1400" b="1" i="1">
                          <a:solidFill>
                            <a:schemeClr val="tx1"/>
                          </a:solidFill>
                          <a:latin typeface="Cambria Math" panose="02040503050406030204" pitchFamily="18" charset="0"/>
                        </a:rPr>
                        <m:t>𝟑</m:t>
                      </m:r>
                    </m:oMath>
                  </m:oMathPara>
                </a14:m>
                <a:endParaRPr lang="en-US" sz="1400" b="1" dirty="0"/>
              </a:p>
              <a:p>
                <a:pPr marL="0" indent="0">
                  <a:buNone/>
                </a:pPr>
                <a:endParaRPr lang="en-US" sz="1400" dirty="0"/>
              </a:p>
              <a:p>
                <a:pPr marL="0" indent="0">
                  <a:buNone/>
                </a:pPr>
                <a:endParaRPr lang="en-US" sz="1400" dirty="0"/>
              </a:p>
              <a:p>
                <a:pPr marL="0" indent="0">
                  <a:buNone/>
                </a:pPr>
                <a:r>
                  <a:rPr lang="en-US" sz="1400" dirty="0">
                    <a:solidFill>
                      <a:srgbClr val="FF66CC"/>
                    </a:solidFill>
                  </a:rPr>
                  <a:t>x1</a:t>
                </a:r>
                <a:r>
                  <a:rPr lang="en-US" sz="1400" dirty="0"/>
                  <a:t>, </a:t>
                </a:r>
                <a:r>
                  <a:rPr lang="en-US" sz="1400" dirty="0">
                    <a:solidFill>
                      <a:srgbClr val="FF66CC"/>
                    </a:solidFill>
                  </a:rPr>
                  <a:t>x2</a:t>
                </a:r>
                <a:r>
                  <a:rPr lang="en-US" sz="1400" dirty="0"/>
                  <a:t>, </a:t>
                </a:r>
                <a:r>
                  <a:rPr lang="en-US" sz="1400" dirty="0">
                    <a:solidFill>
                      <a:srgbClr val="FF66CC"/>
                    </a:solidFill>
                  </a:rPr>
                  <a:t>x3</a:t>
                </a:r>
                <a:r>
                  <a:rPr lang="en-US" sz="1400" dirty="0"/>
                  <a:t>, </a:t>
                </a:r>
                <a:r>
                  <a:rPr lang="en-US" sz="1400" dirty="0">
                    <a:solidFill>
                      <a:srgbClr val="0070C0"/>
                    </a:solidFill>
                  </a:rPr>
                  <a:t>y1</a:t>
                </a:r>
                <a:r>
                  <a:rPr lang="en-US" sz="1400" dirty="0"/>
                  <a:t>, </a:t>
                </a:r>
                <a:r>
                  <a:rPr lang="en-US" sz="1400" dirty="0">
                    <a:solidFill>
                      <a:srgbClr val="0070C0"/>
                    </a:solidFill>
                  </a:rPr>
                  <a:t>y2</a:t>
                </a:r>
                <a:r>
                  <a:rPr lang="en-US" sz="1400" dirty="0"/>
                  <a:t> and </a:t>
                </a:r>
                <a:r>
                  <a:rPr lang="en-US" sz="1400" dirty="0">
                    <a:solidFill>
                      <a:srgbClr val="0070C0"/>
                    </a:solidFill>
                  </a:rPr>
                  <a:t>y3</a:t>
                </a:r>
                <a:r>
                  <a:rPr lang="en-US" sz="1400" dirty="0"/>
                  <a:t> are taken from the control point </a:t>
                </a:r>
                <a:r>
                  <a:rPr lang="en-US" sz="1400" b="1" dirty="0"/>
                  <a:t>C1</a:t>
                </a:r>
                <a:r>
                  <a:rPr lang="en-US" sz="1400" dirty="0"/>
                  <a:t> (</a:t>
                </a:r>
                <a:r>
                  <a:rPr lang="en-US" sz="1400" dirty="0">
                    <a:solidFill>
                      <a:srgbClr val="FF66CC"/>
                    </a:solidFill>
                  </a:rPr>
                  <a:t>1</a:t>
                </a:r>
                <a:r>
                  <a:rPr lang="en-US" sz="1400" dirty="0"/>
                  <a:t>, </a:t>
                </a:r>
                <a:r>
                  <a:rPr lang="en-US" sz="1400" dirty="0">
                    <a:solidFill>
                      <a:srgbClr val="0070C0"/>
                    </a:solidFill>
                  </a:rPr>
                  <a:t>2</a:t>
                </a:r>
                <a:r>
                  <a:rPr lang="en-US" sz="1400" dirty="0"/>
                  <a:t>); </a:t>
                </a:r>
                <a:r>
                  <a:rPr lang="en-US" sz="1400" b="1" dirty="0"/>
                  <a:t>C2</a:t>
                </a:r>
                <a:r>
                  <a:rPr lang="en-US" sz="1400" dirty="0"/>
                  <a:t> (</a:t>
                </a:r>
                <a:r>
                  <a:rPr lang="en-US" sz="1400" dirty="0">
                    <a:solidFill>
                      <a:srgbClr val="FF66CC"/>
                    </a:solidFill>
                  </a:rPr>
                  <a:t>7</a:t>
                </a:r>
                <a:r>
                  <a:rPr lang="en-US" sz="1400" dirty="0"/>
                  <a:t>, </a:t>
                </a:r>
                <a:r>
                  <a:rPr lang="en-US" sz="1400" dirty="0">
                    <a:solidFill>
                      <a:srgbClr val="0070C0"/>
                    </a:solidFill>
                  </a:rPr>
                  <a:t>10</a:t>
                </a:r>
                <a:r>
                  <a:rPr lang="en-US" sz="1400" dirty="0"/>
                  <a:t>); </a:t>
                </a:r>
                <a:r>
                  <a:rPr lang="en-US" sz="1400" b="1" dirty="0"/>
                  <a:t>C3</a:t>
                </a:r>
                <a:r>
                  <a:rPr lang="en-US" sz="1400" dirty="0"/>
                  <a:t> (</a:t>
                </a:r>
                <a:r>
                  <a:rPr lang="en-US" sz="1400" dirty="0">
                    <a:solidFill>
                      <a:srgbClr val="FF66CC"/>
                    </a:solidFill>
                  </a:rPr>
                  <a:t>15</a:t>
                </a:r>
                <a:r>
                  <a:rPr lang="en-US" sz="1400" dirty="0"/>
                  <a:t>, </a:t>
                </a:r>
                <a:r>
                  <a:rPr lang="en-US" sz="1400" dirty="0">
                    <a:solidFill>
                      <a:srgbClr val="0070C0"/>
                    </a:solidFill>
                  </a:rPr>
                  <a:t>4</a:t>
                </a:r>
                <a:r>
                  <a:rPr lang="en-US" sz="1400" dirty="0"/>
                  <a:t>)</a:t>
                </a:r>
              </a:p>
              <a:p>
                <a:pPr marL="0" indent="0">
                  <a:buNone/>
                </a:pPr>
                <a:endParaRPr lang="en-US" sz="1400" dirty="0"/>
              </a:p>
              <a:p>
                <a:pPr marL="0" indent="0">
                  <a:buNone/>
                </a:pPr>
                <a14:m>
                  <m:oMathPara xmlns:m="http://schemas.openxmlformats.org/officeDocument/2006/math">
                    <m:oMathParaPr>
                      <m:jc m:val="left"/>
                    </m:oMathParaPr>
                    <m:oMath xmlns:m="http://schemas.openxmlformats.org/officeDocument/2006/math">
                      <m:r>
                        <a:rPr lang="en-US" sz="1400" i="1" smtClean="0">
                          <a:solidFill>
                            <a:srgbClr val="FF66CC"/>
                          </a:solidFill>
                          <a:latin typeface="Cambria Math" panose="02040503050406030204" pitchFamily="18" charset="0"/>
                        </a:rPr>
                        <m:t>𝑥</m:t>
                      </m:r>
                      <m:r>
                        <a:rPr lang="en-US" sz="1400" i="1">
                          <a:latin typeface="Cambria Math" panose="02040503050406030204" pitchFamily="18" charset="0"/>
                        </a:rPr>
                        <m:t>=</m:t>
                      </m:r>
                      <m:sSup>
                        <m:sSupPr>
                          <m:ctrlPr>
                            <a:rPr lang="en-US" sz="1400" i="1">
                              <a:latin typeface="Cambria Math" panose="02040503050406030204" pitchFamily="18" charset="0"/>
                            </a:rPr>
                          </m:ctrlPr>
                        </m:sSupPr>
                        <m:e>
                          <m:d>
                            <m:dPr>
                              <m:ctrlPr>
                                <a:rPr lang="en-US" sz="1400" i="1">
                                  <a:latin typeface="Cambria Math" panose="02040503050406030204" pitchFamily="18" charset="0"/>
                                </a:rPr>
                              </m:ctrlPr>
                            </m:dPr>
                            <m:e>
                              <m:r>
                                <a:rPr lang="en-US" sz="1400" i="1">
                                  <a:latin typeface="Cambria Math" panose="02040503050406030204" pitchFamily="18" charset="0"/>
                                </a:rPr>
                                <m:t>1−</m:t>
                              </m:r>
                              <m:r>
                                <a:rPr lang="en-US" sz="1400" b="0" i="1" smtClean="0">
                                  <a:latin typeface="Cambria Math" panose="02040503050406030204" pitchFamily="18" charset="0"/>
                                </a:rPr>
                                <m:t>0,8</m:t>
                              </m:r>
                            </m:e>
                          </m:d>
                        </m:e>
                        <m:sup>
                          <m:r>
                            <a:rPr lang="en-US" sz="1400" i="1">
                              <a:latin typeface="Cambria Math" panose="02040503050406030204" pitchFamily="18" charset="0"/>
                            </a:rPr>
                            <m:t>2</m:t>
                          </m:r>
                        </m:sup>
                      </m:sSup>
                      <m:r>
                        <a:rPr lang="en-US" sz="1400" b="0" i="1" smtClean="0">
                          <a:latin typeface="Cambria Math" panose="02040503050406030204" pitchFamily="18" charset="0"/>
                        </a:rPr>
                        <m:t>(</m:t>
                      </m:r>
                      <m:r>
                        <a:rPr lang="en-US" sz="1400" b="0" i="1" smtClean="0">
                          <a:solidFill>
                            <a:srgbClr val="FF66CC"/>
                          </a:solidFill>
                          <a:latin typeface="Cambria Math" panose="02040503050406030204" pitchFamily="18" charset="0"/>
                        </a:rPr>
                        <m:t>1</m:t>
                      </m:r>
                      <m:r>
                        <a:rPr lang="en-US" sz="1400" b="0" i="1" smtClean="0">
                          <a:latin typeface="Cambria Math" panose="02040503050406030204" pitchFamily="18" charset="0"/>
                        </a:rPr>
                        <m:t>)</m:t>
                      </m:r>
                      <m:r>
                        <a:rPr lang="en-US" sz="1400" i="1">
                          <a:latin typeface="Cambria Math" panose="02040503050406030204" pitchFamily="18" charset="0"/>
                        </a:rPr>
                        <m:t>+</m:t>
                      </m:r>
                      <m:r>
                        <a:rPr lang="en-US" sz="1400" b="0" i="1" smtClean="0">
                          <a:latin typeface="Cambria Math" panose="02040503050406030204" pitchFamily="18" charset="0"/>
                        </a:rPr>
                        <m:t>(</m:t>
                      </m:r>
                      <m:r>
                        <a:rPr lang="en-US" sz="1400" i="1">
                          <a:latin typeface="Cambria Math" panose="02040503050406030204" pitchFamily="18" charset="0"/>
                        </a:rPr>
                        <m:t>2</m:t>
                      </m:r>
                      <m:r>
                        <a:rPr lang="en-US" sz="1400" b="0" i="1" smtClean="0">
                          <a:latin typeface="Cambria Math" panose="02040503050406030204" pitchFamily="18" charset="0"/>
                        </a:rPr>
                        <m:t>)</m:t>
                      </m:r>
                      <m:d>
                        <m:dPr>
                          <m:ctrlPr>
                            <a:rPr lang="en-US" sz="1400" i="1">
                              <a:latin typeface="Cambria Math" panose="02040503050406030204" pitchFamily="18" charset="0"/>
                            </a:rPr>
                          </m:ctrlPr>
                        </m:dPr>
                        <m:e>
                          <m:r>
                            <a:rPr lang="en-US" sz="1400" i="1">
                              <a:latin typeface="Cambria Math" panose="02040503050406030204" pitchFamily="18" charset="0"/>
                            </a:rPr>
                            <m:t>1−</m:t>
                          </m:r>
                          <m:r>
                            <a:rPr lang="en-US" sz="1400" b="0" i="1" smtClean="0">
                              <a:latin typeface="Cambria Math" panose="02040503050406030204" pitchFamily="18" charset="0"/>
                            </a:rPr>
                            <m:t>0,8</m:t>
                          </m:r>
                        </m:e>
                      </m:d>
                      <m:r>
                        <a:rPr lang="en-US" sz="1400" b="0" i="1" smtClean="0">
                          <a:latin typeface="Cambria Math" panose="02040503050406030204" pitchFamily="18" charset="0"/>
                        </a:rPr>
                        <m:t>(0,8)(</m:t>
                      </m:r>
                      <m:r>
                        <a:rPr lang="en-US" sz="1400" b="0" i="1" smtClean="0">
                          <a:solidFill>
                            <a:srgbClr val="FF66CC"/>
                          </a:solidFill>
                          <a:latin typeface="Cambria Math" panose="02040503050406030204" pitchFamily="18" charset="0"/>
                        </a:rPr>
                        <m:t>7</m:t>
                      </m:r>
                      <m:r>
                        <a:rPr lang="en-US" sz="1400" b="0" i="1" smtClean="0">
                          <a:latin typeface="Cambria Math" panose="02040503050406030204" pitchFamily="18" charset="0"/>
                        </a:rPr>
                        <m:t>)</m:t>
                      </m:r>
                      <m:r>
                        <a:rPr lang="en-US" sz="1400" i="1">
                          <a:latin typeface="Cambria Math" panose="02040503050406030204" pitchFamily="18" charset="0"/>
                        </a:rPr>
                        <m:t>+</m:t>
                      </m:r>
                      <m:sSup>
                        <m:sSupPr>
                          <m:ctrlPr>
                            <a:rPr lang="en-US" sz="1400" i="1">
                              <a:latin typeface="Cambria Math" panose="02040503050406030204" pitchFamily="18" charset="0"/>
                            </a:rPr>
                          </m:ctrlPr>
                        </m:sSupPr>
                        <m:e>
                          <m:r>
                            <a:rPr lang="en-US" sz="1400" b="0" i="1" smtClean="0">
                              <a:latin typeface="Cambria Math" panose="02040503050406030204" pitchFamily="18" charset="0"/>
                            </a:rPr>
                            <m:t>(0,8</m:t>
                          </m:r>
                        </m:e>
                        <m:sup>
                          <m:r>
                            <a:rPr lang="en-US" sz="1400" i="1">
                              <a:latin typeface="Cambria Math" panose="02040503050406030204" pitchFamily="18" charset="0"/>
                            </a:rPr>
                            <m:t>2</m:t>
                          </m:r>
                        </m:sup>
                      </m:sSup>
                      <m:r>
                        <a:rPr lang="en-US" sz="1400" b="0" i="1" smtClean="0">
                          <a:latin typeface="Cambria Math" panose="02040503050406030204" pitchFamily="18" charset="0"/>
                        </a:rPr>
                        <m:t>)(</m:t>
                      </m:r>
                      <m:r>
                        <a:rPr lang="en-US" sz="1400" b="0" i="1" smtClean="0">
                          <a:solidFill>
                            <a:srgbClr val="FF66CC"/>
                          </a:solidFill>
                          <a:latin typeface="Cambria Math" panose="02040503050406030204" pitchFamily="18" charset="0"/>
                        </a:rPr>
                        <m:t>15</m:t>
                      </m:r>
                      <m:r>
                        <a:rPr lang="en-US" sz="1400" b="0" i="1" smtClean="0">
                          <a:latin typeface="Cambria Math" panose="02040503050406030204" pitchFamily="18" charset="0"/>
                        </a:rPr>
                        <m:t>)</m:t>
                      </m:r>
                    </m:oMath>
                  </m:oMathPara>
                </a14:m>
                <a:endParaRPr lang="en-US" sz="1400" dirty="0"/>
              </a:p>
              <a:p>
                <a:pPr marL="0" indent="0">
                  <a:buNone/>
                </a:pPr>
                <a:endParaRPr lang="en-US" sz="1400" dirty="0"/>
              </a:p>
              <a:p>
                <a:pPr marL="0" indent="0">
                  <a:buNone/>
                </a:pPr>
                <a14:m>
                  <m:oMathPara xmlns:m="http://schemas.openxmlformats.org/officeDocument/2006/math">
                    <m:oMathParaPr>
                      <m:jc m:val="left"/>
                    </m:oMathParaPr>
                    <m:oMath xmlns:m="http://schemas.openxmlformats.org/officeDocument/2006/math">
                      <m:r>
                        <a:rPr lang="en-US" sz="1400" i="1" smtClean="0">
                          <a:solidFill>
                            <a:srgbClr val="FF66CC"/>
                          </a:solidFill>
                          <a:latin typeface="Cambria Math" panose="02040503050406030204" pitchFamily="18" charset="0"/>
                        </a:rPr>
                        <m:t>𝑥</m:t>
                      </m:r>
                      <m:r>
                        <a:rPr lang="en-US" sz="1400" i="1">
                          <a:latin typeface="Cambria Math" panose="02040503050406030204" pitchFamily="18" charset="0"/>
                        </a:rPr>
                        <m:t>=0,04+2,24+9,6=</m:t>
                      </m:r>
                      <m:r>
                        <a:rPr lang="en-US" sz="1400" b="0" i="1" smtClean="0">
                          <a:latin typeface="Cambria Math" panose="02040503050406030204" pitchFamily="18" charset="0"/>
                        </a:rPr>
                        <m:t>11,88=</m:t>
                      </m:r>
                      <m:r>
                        <a:rPr lang="en-US" sz="1400" b="1" i="1" smtClean="0">
                          <a:solidFill>
                            <a:srgbClr val="FF66CC"/>
                          </a:solidFill>
                          <a:latin typeface="Cambria Math" panose="02040503050406030204" pitchFamily="18" charset="0"/>
                        </a:rPr>
                        <m:t>𝟏𝟐</m:t>
                      </m:r>
                    </m:oMath>
                  </m:oMathPara>
                </a14:m>
                <a:endParaRPr lang="en-US" sz="1400" b="1" dirty="0"/>
              </a:p>
              <a:p>
                <a:pPr marL="0" indent="0">
                  <a:buNone/>
                </a:pPr>
                <a:endParaRPr lang="en-US" sz="1400" dirty="0"/>
              </a:p>
              <a:p>
                <a:pPr marL="0" indent="0">
                  <a:buNone/>
                </a:pPr>
                <a14:m>
                  <m:oMathPara xmlns:m="http://schemas.openxmlformats.org/officeDocument/2006/math">
                    <m:oMathParaPr>
                      <m:jc m:val="left"/>
                    </m:oMathParaPr>
                    <m:oMath xmlns:m="http://schemas.openxmlformats.org/officeDocument/2006/math">
                      <m:r>
                        <a:rPr lang="en-US" sz="1400" i="1" smtClean="0">
                          <a:solidFill>
                            <a:srgbClr val="0070C0"/>
                          </a:solidFill>
                          <a:latin typeface="Cambria Math" panose="02040503050406030204" pitchFamily="18" charset="0"/>
                        </a:rPr>
                        <m:t>𝑦</m:t>
                      </m:r>
                      <m:r>
                        <a:rPr lang="en-US" sz="1400" i="1">
                          <a:latin typeface="Cambria Math" panose="02040503050406030204" pitchFamily="18" charset="0"/>
                        </a:rPr>
                        <m:t>=</m:t>
                      </m:r>
                      <m:sSup>
                        <m:sSupPr>
                          <m:ctrlPr>
                            <a:rPr lang="en-US" sz="1400" i="1">
                              <a:latin typeface="Cambria Math" panose="02040503050406030204" pitchFamily="18" charset="0"/>
                            </a:rPr>
                          </m:ctrlPr>
                        </m:sSupPr>
                        <m:e>
                          <m:d>
                            <m:dPr>
                              <m:ctrlPr>
                                <a:rPr lang="en-US" sz="1400" i="1">
                                  <a:latin typeface="Cambria Math" panose="02040503050406030204" pitchFamily="18" charset="0"/>
                                </a:rPr>
                              </m:ctrlPr>
                            </m:dPr>
                            <m:e>
                              <m:r>
                                <a:rPr lang="en-US" sz="1400" i="1">
                                  <a:latin typeface="Cambria Math" panose="02040503050406030204" pitchFamily="18" charset="0"/>
                                </a:rPr>
                                <m:t>1−</m:t>
                              </m:r>
                              <m:r>
                                <a:rPr lang="en-US" sz="1400" b="0" i="1" smtClean="0">
                                  <a:latin typeface="Cambria Math" panose="02040503050406030204" pitchFamily="18" charset="0"/>
                                </a:rPr>
                                <m:t>0,8</m:t>
                              </m:r>
                            </m:e>
                          </m:d>
                        </m:e>
                        <m:sup>
                          <m:r>
                            <a:rPr lang="en-US" sz="1400" i="1">
                              <a:latin typeface="Cambria Math" panose="02040503050406030204" pitchFamily="18" charset="0"/>
                            </a:rPr>
                            <m:t>2</m:t>
                          </m:r>
                        </m:sup>
                      </m:sSup>
                      <m:r>
                        <a:rPr lang="en-US" sz="1400" b="0" i="1" smtClean="0">
                          <a:latin typeface="Cambria Math" panose="02040503050406030204" pitchFamily="18" charset="0"/>
                        </a:rPr>
                        <m:t>(</m:t>
                      </m:r>
                      <m:r>
                        <a:rPr lang="en-US" sz="1400" b="0" i="1" smtClean="0">
                          <a:solidFill>
                            <a:srgbClr val="0070C0"/>
                          </a:solidFill>
                          <a:latin typeface="Cambria Math" panose="02040503050406030204" pitchFamily="18" charset="0"/>
                        </a:rPr>
                        <m:t>2</m:t>
                      </m:r>
                      <m:r>
                        <a:rPr lang="en-US" sz="1400" b="0" i="1" smtClean="0">
                          <a:latin typeface="Cambria Math" panose="02040503050406030204" pitchFamily="18" charset="0"/>
                        </a:rPr>
                        <m:t>)</m:t>
                      </m:r>
                      <m:r>
                        <a:rPr lang="en-US" sz="1400" i="1">
                          <a:latin typeface="Cambria Math" panose="02040503050406030204" pitchFamily="18" charset="0"/>
                        </a:rPr>
                        <m:t>+</m:t>
                      </m:r>
                      <m:r>
                        <a:rPr lang="en-US" sz="1400" b="0" i="1" smtClean="0">
                          <a:latin typeface="Cambria Math" panose="02040503050406030204" pitchFamily="18" charset="0"/>
                        </a:rPr>
                        <m:t>(</m:t>
                      </m:r>
                      <m:r>
                        <a:rPr lang="en-US" sz="1400" i="1">
                          <a:latin typeface="Cambria Math" panose="02040503050406030204" pitchFamily="18" charset="0"/>
                        </a:rPr>
                        <m:t>2</m:t>
                      </m:r>
                      <m:r>
                        <a:rPr lang="en-US" sz="1400" b="0" i="1" smtClean="0">
                          <a:latin typeface="Cambria Math" panose="02040503050406030204" pitchFamily="18" charset="0"/>
                        </a:rPr>
                        <m:t>)</m:t>
                      </m:r>
                      <m:d>
                        <m:dPr>
                          <m:ctrlPr>
                            <a:rPr lang="en-US" sz="1400" i="1">
                              <a:latin typeface="Cambria Math" panose="02040503050406030204" pitchFamily="18" charset="0"/>
                            </a:rPr>
                          </m:ctrlPr>
                        </m:dPr>
                        <m:e>
                          <m:r>
                            <a:rPr lang="en-US" sz="1400" i="1">
                              <a:latin typeface="Cambria Math" panose="02040503050406030204" pitchFamily="18" charset="0"/>
                            </a:rPr>
                            <m:t>1−</m:t>
                          </m:r>
                          <m:r>
                            <a:rPr lang="en-US" sz="1400" b="0" i="1" smtClean="0">
                              <a:latin typeface="Cambria Math" panose="02040503050406030204" pitchFamily="18" charset="0"/>
                            </a:rPr>
                            <m:t>0,8</m:t>
                          </m:r>
                        </m:e>
                      </m:d>
                      <m:r>
                        <a:rPr lang="en-US" sz="1400" b="0" i="1" smtClean="0">
                          <a:latin typeface="Cambria Math" panose="02040503050406030204" pitchFamily="18" charset="0"/>
                        </a:rPr>
                        <m:t>(0,8)(</m:t>
                      </m:r>
                      <m:r>
                        <a:rPr lang="en-US" sz="1400" b="0" i="1" smtClean="0">
                          <a:solidFill>
                            <a:srgbClr val="0070C0"/>
                          </a:solidFill>
                          <a:latin typeface="Cambria Math" panose="02040503050406030204" pitchFamily="18" charset="0"/>
                        </a:rPr>
                        <m:t>10</m:t>
                      </m:r>
                      <m:r>
                        <a:rPr lang="en-US" sz="1400" b="0" i="1" smtClean="0">
                          <a:latin typeface="Cambria Math" panose="02040503050406030204" pitchFamily="18" charset="0"/>
                        </a:rPr>
                        <m:t>)</m:t>
                      </m:r>
                      <m:r>
                        <a:rPr lang="en-US" sz="1400" i="1">
                          <a:latin typeface="Cambria Math" panose="02040503050406030204" pitchFamily="18" charset="0"/>
                        </a:rPr>
                        <m:t>+</m:t>
                      </m:r>
                      <m:sSup>
                        <m:sSupPr>
                          <m:ctrlPr>
                            <a:rPr lang="en-US" sz="1400" i="1">
                              <a:latin typeface="Cambria Math" panose="02040503050406030204" pitchFamily="18" charset="0"/>
                            </a:rPr>
                          </m:ctrlPr>
                        </m:sSupPr>
                        <m:e>
                          <m:r>
                            <a:rPr lang="en-US" sz="1400" b="0" i="1" smtClean="0">
                              <a:latin typeface="Cambria Math" panose="02040503050406030204" pitchFamily="18" charset="0"/>
                            </a:rPr>
                            <m:t>(0,8</m:t>
                          </m:r>
                        </m:e>
                        <m:sup>
                          <m:r>
                            <a:rPr lang="en-US" sz="1400" i="1">
                              <a:latin typeface="Cambria Math" panose="02040503050406030204" pitchFamily="18" charset="0"/>
                            </a:rPr>
                            <m:t>2</m:t>
                          </m:r>
                        </m:sup>
                      </m:sSup>
                      <m:r>
                        <a:rPr lang="en-US" sz="1400" b="0" i="1" smtClean="0">
                          <a:latin typeface="Cambria Math" panose="02040503050406030204" pitchFamily="18" charset="0"/>
                        </a:rPr>
                        <m:t>)(</m:t>
                      </m:r>
                      <m:r>
                        <a:rPr lang="en-US" sz="1400" b="0" i="1" smtClean="0">
                          <a:solidFill>
                            <a:srgbClr val="0070C0"/>
                          </a:solidFill>
                          <a:latin typeface="Cambria Math" panose="02040503050406030204" pitchFamily="18" charset="0"/>
                        </a:rPr>
                        <m:t>4</m:t>
                      </m:r>
                      <m:r>
                        <a:rPr lang="en-US" sz="1400" b="0" i="1" smtClean="0">
                          <a:latin typeface="Cambria Math" panose="02040503050406030204" pitchFamily="18" charset="0"/>
                        </a:rPr>
                        <m:t>)</m:t>
                      </m:r>
                    </m:oMath>
                  </m:oMathPara>
                </a14:m>
                <a:endParaRPr lang="en-US" sz="1400" dirty="0"/>
              </a:p>
              <a:p>
                <a:pPr marL="0" indent="0">
                  <a:buNone/>
                </a:pPr>
                <a:endParaRPr lang="en-US" sz="1400" dirty="0"/>
              </a:p>
              <a:p>
                <a:pPr marL="0" indent="0">
                  <a:buNone/>
                </a:pPr>
                <a14:m>
                  <m:oMathPara xmlns:m="http://schemas.openxmlformats.org/officeDocument/2006/math">
                    <m:oMathParaPr>
                      <m:jc m:val="left"/>
                    </m:oMathParaPr>
                    <m:oMath xmlns:m="http://schemas.openxmlformats.org/officeDocument/2006/math">
                      <m:r>
                        <a:rPr lang="en-US" sz="1400" i="1" smtClean="0">
                          <a:solidFill>
                            <a:srgbClr val="0070C0"/>
                          </a:solidFill>
                          <a:latin typeface="Cambria Math" panose="02040503050406030204" pitchFamily="18" charset="0"/>
                        </a:rPr>
                        <m:t>𝑦</m:t>
                      </m:r>
                      <m:r>
                        <a:rPr lang="en-US" sz="1400" i="1">
                          <a:latin typeface="Cambria Math" panose="02040503050406030204" pitchFamily="18" charset="0"/>
                        </a:rPr>
                        <m:t>=0,08+3,2+2,56</m:t>
                      </m:r>
                      <m:r>
                        <a:rPr lang="en-US" sz="1400" b="0" i="1" smtClean="0">
                          <a:latin typeface="Cambria Math" panose="02040503050406030204" pitchFamily="18" charset="0"/>
                        </a:rPr>
                        <m:t>=5,84=</m:t>
                      </m:r>
                      <m:r>
                        <a:rPr lang="en-US" sz="1400" b="1" i="1" smtClean="0">
                          <a:solidFill>
                            <a:srgbClr val="0070C0"/>
                          </a:solidFill>
                          <a:latin typeface="Cambria Math" panose="02040503050406030204" pitchFamily="18" charset="0"/>
                        </a:rPr>
                        <m:t>𝟔</m:t>
                      </m:r>
                    </m:oMath>
                  </m:oMathPara>
                </a14:m>
                <a:endParaRPr lang="en-US" sz="1400" b="1" dirty="0">
                  <a:solidFill>
                    <a:srgbClr val="0070C0"/>
                  </a:solidFill>
                </a:endParaRPr>
              </a:p>
              <a:p>
                <a:pPr marL="0" indent="0">
                  <a:buNone/>
                </a:pPr>
                <a:endParaRPr lang="en-US" sz="1400" dirty="0"/>
              </a:p>
              <a:p>
                <a:pPr marL="0" indent="0">
                  <a:buNone/>
                </a:pPr>
                <a:r>
                  <a:rPr lang="en-US" sz="1400" b="1" dirty="0"/>
                  <a:t>The point value on the curve when t = 0.8 is (</a:t>
                </a:r>
                <a:r>
                  <a:rPr lang="en-US" sz="1400" b="1" dirty="0">
                    <a:solidFill>
                      <a:srgbClr val="FF66CC"/>
                    </a:solidFill>
                  </a:rPr>
                  <a:t>12</a:t>
                </a:r>
                <a:r>
                  <a:rPr lang="en-US" sz="1400" b="1" dirty="0"/>
                  <a:t>, </a:t>
                </a:r>
                <a:r>
                  <a:rPr lang="en-US" sz="1400" b="1" dirty="0">
                    <a:solidFill>
                      <a:srgbClr val="0070C0"/>
                    </a:solidFill>
                  </a:rPr>
                  <a:t>6</a:t>
                </a:r>
                <a:r>
                  <a:rPr lang="en-US" sz="1400" b="1" dirty="0"/>
                  <a:t>)</a:t>
                </a:r>
              </a:p>
              <a:p>
                <a:pPr marL="0" indent="0">
                  <a:buNone/>
                </a:pPr>
                <a:endParaRPr lang="en-US" sz="1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838200" y="365125"/>
                <a:ext cx="10515600" cy="5811838"/>
              </a:xfrm>
              <a:blipFill rotWithShape="1">
                <a:blip r:embed="rId3"/>
                <a:stretch>
                  <a:fillRect b="5"/>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19</a:t>
            </a:fld>
            <a:endParaRPr lang="en-US"/>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grpSp>
        <p:nvGrpSpPr>
          <p:cNvPr id="2" name="Group 1"/>
          <p:cNvGrpSpPr/>
          <p:nvPr/>
        </p:nvGrpSpPr>
        <p:grpSpPr>
          <a:xfrm>
            <a:off x="6515105" y="3672505"/>
            <a:ext cx="5504837" cy="2182799"/>
            <a:chOff x="6515105" y="3672505"/>
            <a:chExt cx="5504837" cy="2182799"/>
          </a:xfrm>
        </p:grpSpPr>
        <p:sp>
          <p:nvSpPr>
            <p:cNvPr id="20" name="Oval 19"/>
            <p:cNvSpPr/>
            <p:nvPr/>
          </p:nvSpPr>
          <p:spPr>
            <a:xfrm>
              <a:off x="6970519" y="5189002"/>
              <a:ext cx="186267" cy="18626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515105" y="5485972"/>
              <a:ext cx="910827" cy="369332"/>
            </a:xfrm>
            <a:prstGeom prst="rect">
              <a:avLst/>
            </a:prstGeom>
            <a:ln>
              <a:noFill/>
            </a:ln>
          </p:spPr>
          <p:txBody>
            <a:bodyPr wrap="none">
              <a:spAutoFit/>
            </a:bodyPr>
            <a:lstStyle/>
            <a:p>
              <a:r>
                <a:rPr lang="en-US" dirty="0"/>
                <a:t>C1 (1,2)</a:t>
              </a:r>
            </a:p>
          </p:txBody>
        </p:sp>
        <p:sp>
          <p:nvSpPr>
            <p:cNvPr id="22" name="Oval 21"/>
            <p:cNvSpPr/>
            <p:nvPr/>
          </p:nvSpPr>
          <p:spPr>
            <a:xfrm>
              <a:off x="8608819" y="3672505"/>
              <a:ext cx="186267" cy="18626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8281163" y="3955811"/>
              <a:ext cx="1027845" cy="369332"/>
            </a:xfrm>
            <a:prstGeom prst="rect">
              <a:avLst/>
            </a:prstGeom>
            <a:ln>
              <a:noFill/>
            </a:ln>
          </p:spPr>
          <p:txBody>
            <a:bodyPr wrap="none">
              <a:spAutoFit/>
            </a:bodyPr>
            <a:lstStyle/>
            <a:p>
              <a:r>
                <a:rPr lang="en-US" dirty="0"/>
                <a:t>C2 (7,10)</a:t>
              </a:r>
            </a:p>
          </p:txBody>
        </p:sp>
        <p:sp>
          <p:nvSpPr>
            <p:cNvPr id="24" name="Oval 23"/>
            <p:cNvSpPr/>
            <p:nvPr/>
          </p:nvSpPr>
          <p:spPr>
            <a:xfrm>
              <a:off x="11245873" y="4674557"/>
              <a:ext cx="186267" cy="18626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10992097" y="4911839"/>
              <a:ext cx="1027845" cy="369332"/>
            </a:xfrm>
            <a:prstGeom prst="rect">
              <a:avLst/>
            </a:prstGeom>
            <a:ln>
              <a:noFill/>
            </a:ln>
          </p:spPr>
          <p:txBody>
            <a:bodyPr wrap="none">
              <a:spAutoFit/>
            </a:bodyPr>
            <a:lstStyle/>
            <a:p>
              <a:r>
                <a:rPr lang="en-US" dirty="0"/>
                <a:t>C3 (15,4)</a:t>
              </a:r>
            </a:p>
          </p:txBody>
        </p:sp>
        <p:sp>
          <p:nvSpPr>
            <p:cNvPr id="26" name="Oval 25"/>
            <p:cNvSpPr/>
            <p:nvPr/>
          </p:nvSpPr>
          <p:spPr>
            <a:xfrm>
              <a:off x="10511767" y="4345743"/>
              <a:ext cx="186267" cy="18626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10279203" y="3676169"/>
              <a:ext cx="652743" cy="523220"/>
            </a:xfrm>
            <a:prstGeom prst="rect">
              <a:avLst/>
            </a:prstGeom>
            <a:solidFill>
              <a:srgbClr val="FFC000"/>
            </a:solidFill>
            <a:ln>
              <a:noFill/>
            </a:ln>
          </p:spPr>
          <p:txBody>
            <a:bodyPr wrap="none">
              <a:spAutoFit/>
            </a:bodyPr>
            <a:lstStyle/>
            <a:p>
              <a:pPr algn="ctr"/>
              <a:r>
                <a:rPr lang="en-US" sz="1400" dirty="0"/>
                <a:t>t = 0.8</a:t>
              </a:r>
            </a:p>
            <a:p>
              <a:pPr algn="ctr"/>
              <a:r>
                <a:rPr lang="en-US" sz="1400" dirty="0"/>
                <a:t>(</a:t>
              </a:r>
              <a:r>
                <a:rPr lang="en-US" sz="1400" dirty="0">
                  <a:solidFill>
                    <a:srgbClr val="FF66CC"/>
                  </a:solidFill>
                </a:rPr>
                <a:t>12</a:t>
              </a:r>
              <a:r>
                <a:rPr lang="en-US" sz="1400" dirty="0"/>
                <a:t>, </a:t>
              </a:r>
              <a:r>
                <a:rPr lang="en-US" sz="1400" dirty="0">
                  <a:solidFill>
                    <a:srgbClr val="0070C0"/>
                  </a:solidFill>
                </a:rPr>
                <a:t>6</a:t>
              </a:r>
              <a:r>
                <a:rPr lang="en-US" sz="1400" dirty="0"/>
                <a:t>)</a:t>
              </a:r>
            </a:p>
          </p:txBody>
        </p:sp>
      </p:grpSp>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65125"/>
                <a:ext cx="10515600" cy="5811838"/>
              </a:xfrm>
            </p:spPr>
            <p:txBody>
              <a:bodyPr>
                <a:normAutofit/>
              </a:bodyPr>
              <a:lstStyle/>
              <a:p>
                <a:pPr marL="0" indent="0">
                  <a:buNone/>
                </a:pPr>
                <a:r>
                  <a:rPr lang="en-US" sz="1400" dirty="0"/>
                  <a:t>The point for </a:t>
                </a:r>
                <a:r>
                  <a:rPr lang="en-US" sz="1400" b="1" dirty="0"/>
                  <a:t>t = 0.5</a:t>
                </a:r>
              </a:p>
              <a:p>
                <a:pPr marL="0" indent="0">
                  <a:buNone/>
                </a:pPr>
                <a:endParaRPr lang="en-US" sz="1400" dirty="0"/>
              </a:p>
              <a:p>
                <a:pPr marL="0" indent="0">
                  <a:buNone/>
                </a:pPr>
                <a14:m>
                  <m:oMathPara xmlns:m="http://schemas.openxmlformats.org/officeDocument/2006/math">
                    <m:oMathParaPr>
                      <m:jc m:val="left"/>
                    </m:oMathParaPr>
                    <m:oMath xmlns:m="http://schemas.openxmlformats.org/officeDocument/2006/math">
                      <m:r>
                        <a:rPr lang="en-US" sz="1400" b="0" i="1" smtClean="0">
                          <a:solidFill>
                            <a:schemeClr val="tx1"/>
                          </a:solidFill>
                          <a:latin typeface="Cambria Math" panose="02040503050406030204" pitchFamily="18" charset="0"/>
                        </a:rPr>
                        <m:t>𝑥</m:t>
                      </m:r>
                      <m:r>
                        <a:rPr lang="en-US" sz="1400" b="0" i="1" smtClean="0">
                          <a:solidFill>
                            <a:schemeClr val="tx1"/>
                          </a:solidFill>
                          <a:latin typeface="Cambria Math" panose="02040503050406030204" pitchFamily="18" charset="0"/>
                        </a:rPr>
                        <m:t>=</m:t>
                      </m:r>
                      <m:sSup>
                        <m:sSupPr>
                          <m:ctrlPr>
                            <a:rPr lang="en-US" sz="1400" i="1">
                              <a:solidFill>
                                <a:schemeClr val="tx1"/>
                              </a:solidFill>
                              <a:latin typeface="Cambria Math" panose="02040503050406030204" pitchFamily="18" charset="0"/>
                            </a:rPr>
                          </m:ctrlPr>
                        </m:sSupPr>
                        <m:e>
                          <m:r>
                            <a:rPr lang="en-US" sz="1400" i="1">
                              <a:solidFill>
                                <a:srgbClr val="FF0000"/>
                              </a:solidFill>
                              <a:latin typeface="Cambria Math" panose="02040503050406030204" pitchFamily="18" charset="0"/>
                            </a:rPr>
                            <m:t>(1−</m:t>
                          </m:r>
                          <m:r>
                            <a:rPr lang="en-US" sz="1400" i="1">
                              <a:solidFill>
                                <a:srgbClr val="FF0000"/>
                              </a:solidFill>
                              <a:latin typeface="Cambria Math" panose="02040503050406030204" pitchFamily="18" charset="0"/>
                            </a:rPr>
                            <m:t>𝑡</m:t>
                          </m:r>
                          <m:r>
                            <a:rPr lang="en-US" sz="1400" i="1">
                              <a:solidFill>
                                <a:srgbClr val="FF0000"/>
                              </a:solidFill>
                              <a:latin typeface="Cambria Math" panose="02040503050406030204" pitchFamily="18" charset="0"/>
                            </a:rPr>
                            <m:t>)</m:t>
                          </m:r>
                        </m:e>
                        <m:sup>
                          <m:r>
                            <a:rPr lang="en-US" sz="1400" i="1">
                              <a:solidFill>
                                <a:schemeClr val="tx1"/>
                              </a:solidFill>
                              <a:latin typeface="Cambria Math" panose="02040503050406030204" pitchFamily="18" charset="0"/>
                            </a:rPr>
                            <m:t>3</m:t>
                          </m:r>
                        </m:sup>
                      </m:sSup>
                      <m:r>
                        <a:rPr lang="en-US" sz="1400" b="0" i="1" smtClean="0">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𝒙</m:t>
                      </m:r>
                      <m:r>
                        <a:rPr lang="en-US" sz="1400" b="1" i="1" smtClean="0">
                          <a:solidFill>
                            <a:schemeClr val="tx1"/>
                          </a:solidFill>
                          <a:latin typeface="Cambria Math" panose="02040503050406030204" pitchFamily="18" charset="0"/>
                        </a:rPr>
                        <m:t>𝟏</m:t>
                      </m:r>
                      <m:r>
                        <a:rPr lang="en-US" sz="1400" b="0" i="1" smtClean="0">
                          <a:solidFill>
                            <a:schemeClr val="tx1"/>
                          </a:solidFill>
                          <a:latin typeface="Cambria Math" panose="02040503050406030204" pitchFamily="18" charset="0"/>
                        </a:rPr>
                        <m:t>+3</m:t>
                      </m:r>
                      <m:sSup>
                        <m:sSupPr>
                          <m:ctrlPr>
                            <a:rPr lang="en-US" sz="1400" i="1">
                              <a:solidFill>
                                <a:schemeClr val="tx1"/>
                              </a:solidFill>
                              <a:latin typeface="Cambria Math" panose="02040503050406030204" pitchFamily="18" charset="0"/>
                            </a:rPr>
                          </m:ctrlPr>
                        </m:sSupPr>
                        <m:e>
                          <m:r>
                            <a:rPr lang="en-US" sz="1400" i="1">
                              <a:solidFill>
                                <a:srgbClr val="FF0000"/>
                              </a:solidFill>
                              <a:latin typeface="Cambria Math" panose="02040503050406030204" pitchFamily="18" charset="0"/>
                            </a:rPr>
                            <m:t>(1−</m:t>
                          </m:r>
                          <m:r>
                            <a:rPr lang="en-US" sz="1400" i="1">
                              <a:solidFill>
                                <a:srgbClr val="FF0000"/>
                              </a:solidFill>
                              <a:latin typeface="Cambria Math" panose="02040503050406030204" pitchFamily="18" charset="0"/>
                            </a:rPr>
                            <m:t>𝑡</m:t>
                          </m:r>
                          <m:r>
                            <a:rPr lang="en-US" sz="1400" i="1">
                              <a:solidFill>
                                <a:srgbClr val="FF0000"/>
                              </a:solidFill>
                              <a:latin typeface="Cambria Math" panose="02040503050406030204" pitchFamily="18" charset="0"/>
                            </a:rPr>
                            <m:t>)</m:t>
                          </m:r>
                        </m:e>
                        <m:sup>
                          <m:r>
                            <a:rPr lang="en-US" sz="1400" i="1">
                              <a:solidFill>
                                <a:schemeClr val="tx1"/>
                              </a:solidFill>
                              <a:latin typeface="Cambria Math" panose="02040503050406030204" pitchFamily="18" charset="0"/>
                            </a:rPr>
                            <m:t>2</m:t>
                          </m:r>
                        </m:sup>
                      </m:sSup>
                      <m:r>
                        <a:rPr lang="en-US" sz="1400" i="1">
                          <a:solidFill>
                            <a:srgbClr val="92D050"/>
                          </a:solidFill>
                          <a:latin typeface="Cambria Math" panose="02040503050406030204" pitchFamily="18" charset="0"/>
                        </a:rPr>
                        <m:t>𝑡</m:t>
                      </m:r>
                      <m:r>
                        <a:rPr lang="en-US" sz="1400" b="0" i="1" smtClean="0">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𝒙</m:t>
                      </m:r>
                      <m:r>
                        <a:rPr lang="en-US" sz="1400" b="1" i="1" smtClean="0">
                          <a:solidFill>
                            <a:schemeClr val="tx1"/>
                          </a:solidFill>
                          <a:latin typeface="Cambria Math" panose="02040503050406030204" pitchFamily="18" charset="0"/>
                        </a:rPr>
                        <m:t>𝟐</m:t>
                      </m:r>
                      <m:r>
                        <a:rPr lang="en-US" sz="1400" b="0" i="1" smtClean="0">
                          <a:solidFill>
                            <a:schemeClr val="tx1"/>
                          </a:solidFill>
                          <a:latin typeface="Cambria Math" panose="02040503050406030204" pitchFamily="18" charset="0"/>
                        </a:rPr>
                        <m:t>+3</m:t>
                      </m:r>
                      <m:r>
                        <a:rPr lang="en-US" sz="1400" i="1">
                          <a:solidFill>
                            <a:srgbClr val="FF0000"/>
                          </a:solidFill>
                          <a:latin typeface="Cambria Math" panose="02040503050406030204" pitchFamily="18" charset="0"/>
                        </a:rPr>
                        <m:t>(1−</m:t>
                      </m:r>
                      <m:r>
                        <a:rPr lang="en-US" sz="1400" i="1">
                          <a:solidFill>
                            <a:srgbClr val="FF0000"/>
                          </a:solidFill>
                          <a:latin typeface="Cambria Math" panose="02040503050406030204" pitchFamily="18" charset="0"/>
                        </a:rPr>
                        <m:t>𝑡</m:t>
                      </m:r>
                      <m:r>
                        <a:rPr lang="en-US" sz="1400" i="1">
                          <a:solidFill>
                            <a:srgbClr val="FF0000"/>
                          </a:solidFill>
                          <a:latin typeface="Cambria Math" panose="02040503050406030204" pitchFamily="18" charset="0"/>
                        </a:rPr>
                        <m:t>)</m:t>
                      </m:r>
                      <m:sSup>
                        <m:sSupPr>
                          <m:ctrlPr>
                            <a:rPr lang="en-US" sz="1400" i="1">
                              <a:solidFill>
                                <a:schemeClr val="tx1"/>
                              </a:solidFill>
                              <a:latin typeface="Cambria Math" panose="02040503050406030204" pitchFamily="18" charset="0"/>
                            </a:rPr>
                          </m:ctrlPr>
                        </m:sSupPr>
                        <m:e>
                          <m:r>
                            <a:rPr lang="en-US" sz="1400" i="1">
                              <a:solidFill>
                                <a:srgbClr val="92D050"/>
                              </a:solidFill>
                              <a:latin typeface="Cambria Math" panose="02040503050406030204" pitchFamily="18" charset="0"/>
                            </a:rPr>
                            <m:t>𝑡</m:t>
                          </m:r>
                        </m:e>
                        <m:sup>
                          <m:r>
                            <a:rPr lang="en-US" sz="1400" i="1">
                              <a:solidFill>
                                <a:schemeClr val="tx1"/>
                              </a:solidFill>
                              <a:latin typeface="Cambria Math" panose="02040503050406030204" pitchFamily="18" charset="0"/>
                            </a:rPr>
                            <m:t>2</m:t>
                          </m:r>
                        </m:sup>
                      </m:sSup>
                      <m:r>
                        <a:rPr lang="en-US" sz="1400" i="1">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𝒙</m:t>
                      </m:r>
                      <m:r>
                        <a:rPr lang="en-US" sz="1400" b="1" i="1" smtClean="0">
                          <a:solidFill>
                            <a:schemeClr val="tx1"/>
                          </a:solidFill>
                          <a:latin typeface="Cambria Math" panose="02040503050406030204" pitchFamily="18" charset="0"/>
                        </a:rPr>
                        <m:t>𝟑</m:t>
                      </m:r>
                      <m:r>
                        <a:rPr lang="en-US" sz="1400" i="1">
                          <a:solidFill>
                            <a:schemeClr val="tx1"/>
                          </a:solidFill>
                          <a:latin typeface="Cambria Math" panose="02040503050406030204" pitchFamily="18" charset="0"/>
                        </a:rPr>
                        <m:t>+</m:t>
                      </m:r>
                      <m:sSup>
                        <m:sSupPr>
                          <m:ctrlPr>
                            <a:rPr lang="en-US" sz="1400" i="1">
                              <a:solidFill>
                                <a:schemeClr val="tx1"/>
                              </a:solidFill>
                              <a:latin typeface="Cambria Math" panose="02040503050406030204" pitchFamily="18" charset="0"/>
                            </a:rPr>
                          </m:ctrlPr>
                        </m:sSupPr>
                        <m:e>
                          <m:r>
                            <a:rPr lang="en-US" sz="1400" i="1">
                              <a:solidFill>
                                <a:srgbClr val="92D050"/>
                              </a:solidFill>
                              <a:latin typeface="Cambria Math" panose="02040503050406030204" pitchFamily="18" charset="0"/>
                            </a:rPr>
                            <m:t>𝑡</m:t>
                          </m:r>
                        </m:e>
                        <m:sup>
                          <m:r>
                            <a:rPr lang="en-US" sz="1400" i="1">
                              <a:solidFill>
                                <a:schemeClr val="tx1"/>
                              </a:solidFill>
                              <a:latin typeface="Cambria Math" panose="02040503050406030204" pitchFamily="18" charset="0"/>
                            </a:rPr>
                            <m:t>3</m:t>
                          </m:r>
                        </m:sup>
                      </m:sSup>
                      <m:r>
                        <a:rPr lang="en-US" sz="1400" i="1">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𝒙</m:t>
                      </m:r>
                      <m:r>
                        <a:rPr lang="en-US" sz="1400" b="1" i="1" smtClean="0">
                          <a:solidFill>
                            <a:schemeClr val="tx1"/>
                          </a:solidFill>
                          <a:latin typeface="Cambria Math" panose="02040503050406030204" pitchFamily="18" charset="0"/>
                        </a:rPr>
                        <m:t>𝟒</m:t>
                      </m:r>
                    </m:oMath>
                  </m:oMathPara>
                </a14:m>
                <a:endParaRPr lang="en-US" sz="1400" b="1" dirty="0">
                  <a:solidFill>
                    <a:schemeClr val="tx1"/>
                  </a:solidFill>
                </a:endParaRPr>
              </a:p>
              <a:p>
                <a:pPr marL="0" indent="0">
                  <a:buNone/>
                </a:pPr>
                <a:endParaRPr lang="en-US" sz="1400" dirty="0"/>
              </a:p>
              <a:p>
                <a:pPr marL="0" indent="0">
                  <a:buNone/>
                </a:pPr>
                <a14:m>
                  <m:oMathPara xmlns:m="http://schemas.openxmlformats.org/officeDocument/2006/math">
                    <m:oMathParaPr>
                      <m:jc m:val="left"/>
                    </m:oMathParaPr>
                    <m:oMath xmlns:m="http://schemas.openxmlformats.org/officeDocument/2006/math">
                      <m:r>
                        <a:rPr lang="en-US" sz="1400" b="0" i="1" smtClean="0">
                          <a:solidFill>
                            <a:schemeClr val="tx1"/>
                          </a:solidFill>
                          <a:latin typeface="Cambria Math" panose="02040503050406030204" pitchFamily="18" charset="0"/>
                        </a:rPr>
                        <m:t>𝑦</m:t>
                      </m:r>
                      <m:r>
                        <a:rPr lang="en-US" sz="1400" i="1">
                          <a:solidFill>
                            <a:schemeClr val="tx1"/>
                          </a:solidFill>
                          <a:latin typeface="Cambria Math" panose="02040503050406030204" pitchFamily="18" charset="0"/>
                        </a:rPr>
                        <m:t>=</m:t>
                      </m:r>
                      <m:sSup>
                        <m:sSupPr>
                          <m:ctrlPr>
                            <a:rPr lang="en-US" sz="1400" i="1">
                              <a:solidFill>
                                <a:schemeClr val="tx1"/>
                              </a:solidFill>
                              <a:latin typeface="Cambria Math" panose="02040503050406030204" pitchFamily="18" charset="0"/>
                            </a:rPr>
                          </m:ctrlPr>
                        </m:sSupPr>
                        <m:e>
                          <m:r>
                            <a:rPr lang="en-US" sz="1400" i="1">
                              <a:solidFill>
                                <a:srgbClr val="FF0000"/>
                              </a:solidFill>
                              <a:latin typeface="Cambria Math" panose="02040503050406030204" pitchFamily="18" charset="0"/>
                            </a:rPr>
                            <m:t>(1−</m:t>
                          </m:r>
                          <m:r>
                            <a:rPr lang="en-US" sz="1400" i="1">
                              <a:solidFill>
                                <a:srgbClr val="FF0000"/>
                              </a:solidFill>
                              <a:latin typeface="Cambria Math" panose="02040503050406030204" pitchFamily="18" charset="0"/>
                            </a:rPr>
                            <m:t>𝑡</m:t>
                          </m:r>
                          <m:r>
                            <a:rPr lang="en-US" sz="1400" i="1">
                              <a:solidFill>
                                <a:srgbClr val="FF0000"/>
                              </a:solidFill>
                              <a:latin typeface="Cambria Math" panose="02040503050406030204" pitchFamily="18" charset="0"/>
                            </a:rPr>
                            <m:t>)</m:t>
                          </m:r>
                        </m:e>
                        <m:sup>
                          <m:r>
                            <a:rPr lang="en-US" sz="1400" i="1">
                              <a:solidFill>
                                <a:schemeClr val="tx1"/>
                              </a:solidFill>
                              <a:latin typeface="Cambria Math" panose="02040503050406030204" pitchFamily="18" charset="0"/>
                            </a:rPr>
                            <m:t>3</m:t>
                          </m:r>
                        </m:sup>
                      </m:sSup>
                      <m:r>
                        <a:rPr lang="en-US" sz="1400" i="1">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𝒚</m:t>
                      </m:r>
                      <m:r>
                        <a:rPr lang="en-US" sz="1400" b="1" i="1">
                          <a:solidFill>
                            <a:schemeClr val="tx1"/>
                          </a:solidFill>
                          <a:latin typeface="Cambria Math" panose="02040503050406030204" pitchFamily="18" charset="0"/>
                        </a:rPr>
                        <m:t>𝟏</m:t>
                      </m:r>
                      <m:r>
                        <a:rPr lang="en-US" sz="1400" i="1">
                          <a:solidFill>
                            <a:schemeClr val="tx1"/>
                          </a:solidFill>
                          <a:latin typeface="Cambria Math" panose="02040503050406030204" pitchFamily="18" charset="0"/>
                        </a:rPr>
                        <m:t>+3</m:t>
                      </m:r>
                      <m:sSup>
                        <m:sSupPr>
                          <m:ctrlPr>
                            <a:rPr lang="en-US" sz="1400" i="1">
                              <a:solidFill>
                                <a:schemeClr val="tx1"/>
                              </a:solidFill>
                              <a:latin typeface="Cambria Math" panose="02040503050406030204" pitchFamily="18" charset="0"/>
                            </a:rPr>
                          </m:ctrlPr>
                        </m:sSupPr>
                        <m:e>
                          <m:r>
                            <a:rPr lang="en-US" sz="1400" i="1">
                              <a:solidFill>
                                <a:srgbClr val="FF0000"/>
                              </a:solidFill>
                              <a:latin typeface="Cambria Math" panose="02040503050406030204" pitchFamily="18" charset="0"/>
                            </a:rPr>
                            <m:t>(1−</m:t>
                          </m:r>
                          <m:r>
                            <a:rPr lang="en-US" sz="1400" i="1">
                              <a:solidFill>
                                <a:srgbClr val="FF0000"/>
                              </a:solidFill>
                              <a:latin typeface="Cambria Math" panose="02040503050406030204" pitchFamily="18" charset="0"/>
                            </a:rPr>
                            <m:t>𝑡</m:t>
                          </m:r>
                          <m:r>
                            <a:rPr lang="en-US" sz="1400" i="1">
                              <a:solidFill>
                                <a:srgbClr val="FF0000"/>
                              </a:solidFill>
                              <a:latin typeface="Cambria Math" panose="02040503050406030204" pitchFamily="18" charset="0"/>
                            </a:rPr>
                            <m:t>)</m:t>
                          </m:r>
                        </m:e>
                        <m:sup>
                          <m:r>
                            <a:rPr lang="en-US" sz="1400" i="1">
                              <a:solidFill>
                                <a:schemeClr val="tx1"/>
                              </a:solidFill>
                              <a:latin typeface="Cambria Math" panose="02040503050406030204" pitchFamily="18" charset="0"/>
                            </a:rPr>
                            <m:t>2</m:t>
                          </m:r>
                        </m:sup>
                      </m:sSup>
                      <m:r>
                        <a:rPr lang="en-US" sz="1400" i="1">
                          <a:solidFill>
                            <a:srgbClr val="92D050"/>
                          </a:solidFill>
                          <a:latin typeface="Cambria Math" panose="02040503050406030204" pitchFamily="18" charset="0"/>
                        </a:rPr>
                        <m:t>𝑡</m:t>
                      </m:r>
                      <m:r>
                        <a:rPr lang="en-US" sz="1400" i="1">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𝒚</m:t>
                      </m:r>
                      <m:r>
                        <a:rPr lang="en-US" sz="1400" b="1" i="1">
                          <a:solidFill>
                            <a:schemeClr val="tx1"/>
                          </a:solidFill>
                          <a:latin typeface="Cambria Math" panose="02040503050406030204" pitchFamily="18" charset="0"/>
                        </a:rPr>
                        <m:t>𝟐</m:t>
                      </m:r>
                      <m:r>
                        <a:rPr lang="en-US" sz="1400" i="1">
                          <a:solidFill>
                            <a:schemeClr val="tx1"/>
                          </a:solidFill>
                          <a:latin typeface="Cambria Math" panose="02040503050406030204" pitchFamily="18" charset="0"/>
                        </a:rPr>
                        <m:t>+3</m:t>
                      </m:r>
                      <m:r>
                        <a:rPr lang="en-US" sz="1400" i="1">
                          <a:solidFill>
                            <a:srgbClr val="FF0000"/>
                          </a:solidFill>
                          <a:latin typeface="Cambria Math" panose="02040503050406030204" pitchFamily="18" charset="0"/>
                        </a:rPr>
                        <m:t>(1−</m:t>
                      </m:r>
                      <m:r>
                        <a:rPr lang="en-US" sz="1400" i="1">
                          <a:solidFill>
                            <a:srgbClr val="FF0000"/>
                          </a:solidFill>
                          <a:latin typeface="Cambria Math" panose="02040503050406030204" pitchFamily="18" charset="0"/>
                        </a:rPr>
                        <m:t>𝑡</m:t>
                      </m:r>
                      <m:r>
                        <a:rPr lang="en-US" sz="1400" i="1">
                          <a:solidFill>
                            <a:srgbClr val="FF0000"/>
                          </a:solidFill>
                          <a:latin typeface="Cambria Math" panose="02040503050406030204" pitchFamily="18" charset="0"/>
                        </a:rPr>
                        <m:t>)</m:t>
                      </m:r>
                      <m:sSup>
                        <m:sSupPr>
                          <m:ctrlPr>
                            <a:rPr lang="en-US" sz="1400" i="1">
                              <a:solidFill>
                                <a:schemeClr val="tx1"/>
                              </a:solidFill>
                              <a:latin typeface="Cambria Math" panose="02040503050406030204" pitchFamily="18" charset="0"/>
                            </a:rPr>
                          </m:ctrlPr>
                        </m:sSupPr>
                        <m:e>
                          <m:r>
                            <a:rPr lang="en-US" sz="1400" i="1">
                              <a:solidFill>
                                <a:srgbClr val="92D050"/>
                              </a:solidFill>
                              <a:latin typeface="Cambria Math" panose="02040503050406030204" pitchFamily="18" charset="0"/>
                            </a:rPr>
                            <m:t>𝑡</m:t>
                          </m:r>
                        </m:e>
                        <m:sup>
                          <m:r>
                            <a:rPr lang="en-US" sz="1400" i="1">
                              <a:solidFill>
                                <a:schemeClr val="tx1"/>
                              </a:solidFill>
                              <a:latin typeface="Cambria Math" panose="02040503050406030204" pitchFamily="18" charset="0"/>
                            </a:rPr>
                            <m:t>2</m:t>
                          </m:r>
                        </m:sup>
                      </m:sSup>
                      <m:r>
                        <a:rPr lang="en-US" sz="1400" i="1">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𝒚</m:t>
                      </m:r>
                      <m:r>
                        <a:rPr lang="en-US" sz="1400" b="1" i="1">
                          <a:solidFill>
                            <a:schemeClr val="tx1"/>
                          </a:solidFill>
                          <a:latin typeface="Cambria Math" panose="02040503050406030204" pitchFamily="18" charset="0"/>
                        </a:rPr>
                        <m:t>𝟑</m:t>
                      </m:r>
                      <m:r>
                        <a:rPr lang="en-US" sz="1400" i="1">
                          <a:solidFill>
                            <a:schemeClr val="tx1"/>
                          </a:solidFill>
                          <a:latin typeface="Cambria Math" panose="02040503050406030204" pitchFamily="18" charset="0"/>
                        </a:rPr>
                        <m:t>+</m:t>
                      </m:r>
                      <m:sSup>
                        <m:sSupPr>
                          <m:ctrlPr>
                            <a:rPr lang="en-US" sz="1400" i="1">
                              <a:solidFill>
                                <a:schemeClr val="tx1"/>
                              </a:solidFill>
                              <a:latin typeface="Cambria Math" panose="02040503050406030204" pitchFamily="18" charset="0"/>
                            </a:rPr>
                          </m:ctrlPr>
                        </m:sSupPr>
                        <m:e>
                          <m:r>
                            <a:rPr lang="en-US" sz="1400" i="1">
                              <a:solidFill>
                                <a:srgbClr val="92D050"/>
                              </a:solidFill>
                              <a:latin typeface="Cambria Math" panose="02040503050406030204" pitchFamily="18" charset="0"/>
                            </a:rPr>
                            <m:t>𝑡</m:t>
                          </m:r>
                        </m:e>
                        <m:sup>
                          <m:r>
                            <a:rPr lang="en-US" sz="1400" i="1">
                              <a:solidFill>
                                <a:schemeClr val="tx1"/>
                              </a:solidFill>
                              <a:latin typeface="Cambria Math" panose="02040503050406030204" pitchFamily="18" charset="0"/>
                            </a:rPr>
                            <m:t>3</m:t>
                          </m:r>
                        </m:sup>
                      </m:sSup>
                      <m:r>
                        <a:rPr lang="en-US" sz="1400" i="1">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𝒚</m:t>
                      </m:r>
                      <m:r>
                        <a:rPr lang="en-US" sz="1400" b="1" i="1">
                          <a:solidFill>
                            <a:schemeClr val="tx1"/>
                          </a:solidFill>
                          <a:latin typeface="Cambria Math" panose="02040503050406030204" pitchFamily="18" charset="0"/>
                        </a:rPr>
                        <m:t>𝟒</m:t>
                      </m:r>
                    </m:oMath>
                  </m:oMathPara>
                </a14:m>
                <a:endParaRPr lang="en-US" sz="1400" b="1" dirty="0">
                  <a:solidFill>
                    <a:schemeClr val="tx1"/>
                  </a:solidFill>
                </a:endParaRPr>
              </a:p>
              <a:p>
                <a:pPr marL="0" indent="0">
                  <a:buNone/>
                </a:pPr>
                <a:endParaRPr lang="en-US" sz="1400" dirty="0"/>
              </a:p>
              <a:p>
                <a:pPr marL="0" indent="0">
                  <a:buNone/>
                </a:pPr>
                <a:r>
                  <a:rPr lang="en-US" sz="1400" dirty="0">
                    <a:solidFill>
                      <a:srgbClr val="FF66CC"/>
                    </a:solidFill>
                  </a:rPr>
                  <a:t>x1</a:t>
                </a:r>
                <a:r>
                  <a:rPr lang="en-US" sz="1400" dirty="0"/>
                  <a:t>, </a:t>
                </a:r>
                <a:r>
                  <a:rPr lang="en-US" sz="1400" dirty="0">
                    <a:solidFill>
                      <a:srgbClr val="FF66CC"/>
                    </a:solidFill>
                  </a:rPr>
                  <a:t>x2</a:t>
                </a:r>
                <a:r>
                  <a:rPr lang="en-US" sz="1400" dirty="0"/>
                  <a:t>, </a:t>
                </a:r>
                <a:r>
                  <a:rPr lang="en-US" sz="1400" dirty="0">
                    <a:solidFill>
                      <a:srgbClr val="FF66CC"/>
                    </a:solidFill>
                  </a:rPr>
                  <a:t>x3</a:t>
                </a:r>
                <a:r>
                  <a:rPr lang="en-US" sz="1400" dirty="0"/>
                  <a:t>, </a:t>
                </a:r>
                <a:r>
                  <a:rPr lang="en-US" sz="1400" dirty="0">
                    <a:solidFill>
                      <a:srgbClr val="FF66CC"/>
                    </a:solidFill>
                  </a:rPr>
                  <a:t>x4</a:t>
                </a:r>
                <a:r>
                  <a:rPr lang="en-US" sz="1400" dirty="0"/>
                  <a:t>, </a:t>
                </a:r>
                <a:r>
                  <a:rPr lang="en-US" sz="1400" dirty="0">
                    <a:solidFill>
                      <a:srgbClr val="0070C0"/>
                    </a:solidFill>
                  </a:rPr>
                  <a:t>y1</a:t>
                </a:r>
                <a:r>
                  <a:rPr lang="en-US" sz="1400" dirty="0"/>
                  <a:t>, </a:t>
                </a:r>
                <a:r>
                  <a:rPr lang="en-US" sz="1400" dirty="0">
                    <a:solidFill>
                      <a:srgbClr val="0070C0"/>
                    </a:solidFill>
                  </a:rPr>
                  <a:t>y2</a:t>
                </a:r>
                <a:r>
                  <a:rPr lang="en-US" sz="1400" dirty="0"/>
                  <a:t>, </a:t>
                </a:r>
                <a:r>
                  <a:rPr lang="en-US" sz="1400" dirty="0">
                    <a:solidFill>
                      <a:srgbClr val="0070C0"/>
                    </a:solidFill>
                  </a:rPr>
                  <a:t>y3</a:t>
                </a:r>
                <a:r>
                  <a:rPr lang="en-US" sz="1400" dirty="0"/>
                  <a:t> and </a:t>
                </a:r>
                <a:r>
                  <a:rPr lang="en-US" sz="1400" dirty="0">
                    <a:solidFill>
                      <a:srgbClr val="0070C0"/>
                    </a:solidFill>
                  </a:rPr>
                  <a:t>y4</a:t>
                </a:r>
                <a:r>
                  <a:rPr lang="en-US" sz="1400" dirty="0"/>
                  <a:t> are taken from the control point </a:t>
                </a:r>
                <a:r>
                  <a:rPr lang="en-US" sz="1400" b="1" dirty="0"/>
                  <a:t>C1</a:t>
                </a:r>
                <a:r>
                  <a:rPr lang="en-US" sz="1400" dirty="0"/>
                  <a:t> (</a:t>
                </a:r>
                <a:r>
                  <a:rPr lang="en-US" sz="1400" dirty="0">
                    <a:solidFill>
                      <a:srgbClr val="FF66CC"/>
                    </a:solidFill>
                  </a:rPr>
                  <a:t>0</a:t>
                </a:r>
                <a:r>
                  <a:rPr lang="en-US" sz="1400" dirty="0"/>
                  <a:t>, </a:t>
                </a:r>
                <a:r>
                  <a:rPr lang="en-US" sz="1400" dirty="0">
                    <a:solidFill>
                      <a:srgbClr val="0070C0"/>
                    </a:solidFill>
                  </a:rPr>
                  <a:t>1</a:t>
                </a:r>
                <a:r>
                  <a:rPr lang="en-US" sz="1400" dirty="0"/>
                  <a:t>), </a:t>
                </a:r>
                <a:r>
                  <a:rPr lang="en-US" sz="1400" b="1" dirty="0"/>
                  <a:t>C2</a:t>
                </a:r>
                <a:r>
                  <a:rPr lang="en-US" sz="1400" dirty="0"/>
                  <a:t> (</a:t>
                </a:r>
                <a:r>
                  <a:rPr lang="en-US" sz="1400" dirty="0">
                    <a:solidFill>
                      <a:srgbClr val="FF66CC"/>
                    </a:solidFill>
                  </a:rPr>
                  <a:t>1</a:t>
                </a:r>
                <a:r>
                  <a:rPr lang="en-US" sz="1400" dirty="0"/>
                  <a:t>, </a:t>
                </a:r>
                <a:r>
                  <a:rPr lang="en-US" sz="1400" dirty="0">
                    <a:solidFill>
                      <a:srgbClr val="0070C0"/>
                    </a:solidFill>
                  </a:rPr>
                  <a:t>2</a:t>
                </a:r>
                <a:r>
                  <a:rPr lang="en-US" sz="1400" dirty="0"/>
                  <a:t>), </a:t>
                </a:r>
                <a:r>
                  <a:rPr lang="en-US" sz="1400" b="1" dirty="0"/>
                  <a:t>C3</a:t>
                </a:r>
                <a:r>
                  <a:rPr lang="en-US" sz="1400" dirty="0"/>
                  <a:t> (</a:t>
                </a:r>
                <a:r>
                  <a:rPr lang="en-US" sz="1400" dirty="0">
                    <a:solidFill>
                      <a:srgbClr val="FF66CC"/>
                    </a:solidFill>
                  </a:rPr>
                  <a:t>2</a:t>
                </a:r>
                <a:r>
                  <a:rPr lang="en-US" sz="1400" dirty="0"/>
                  <a:t>, </a:t>
                </a:r>
                <a:r>
                  <a:rPr lang="en-US" sz="1400" dirty="0">
                    <a:solidFill>
                      <a:srgbClr val="0070C0"/>
                    </a:solidFill>
                  </a:rPr>
                  <a:t>2</a:t>
                </a:r>
                <a:r>
                  <a:rPr lang="en-US" sz="1400" dirty="0"/>
                  <a:t>), </a:t>
                </a:r>
                <a:r>
                  <a:rPr lang="en-US" sz="1400" b="1" dirty="0"/>
                  <a:t>C4</a:t>
                </a:r>
                <a:r>
                  <a:rPr lang="en-US" sz="1400" dirty="0"/>
                  <a:t> (</a:t>
                </a:r>
                <a:r>
                  <a:rPr lang="en-US" sz="1400" dirty="0">
                    <a:solidFill>
                      <a:srgbClr val="FF66CC"/>
                    </a:solidFill>
                  </a:rPr>
                  <a:t>3</a:t>
                </a:r>
                <a:r>
                  <a:rPr lang="en-US" sz="1400" dirty="0"/>
                  <a:t>, </a:t>
                </a:r>
                <a:r>
                  <a:rPr lang="en-US" sz="1400" dirty="0">
                    <a:solidFill>
                      <a:srgbClr val="0070C0"/>
                    </a:solidFill>
                  </a:rPr>
                  <a:t>1</a:t>
                </a:r>
                <a:r>
                  <a:rPr lang="en-US" sz="1400" dirty="0"/>
                  <a:t>)</a:t>
                </a:r>
              </a:p>
              <a:p>
                <a:pPr marL="0" indent="0">
                  <a:buNone/>
                </a:pPr>
                <a:endParaRPr lang="en-US" sz="1400"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1400" b="0" i="1" smtClean="0">
                          <a:solidFill>
                            <a:srgbClr val="FF66CC"/>
                          </a:solidFill>
                          <a:latin typeface="Cambria Math" panose="02040503050406030204" pitchFamily="18" charset="0"/>
                        </a:rPr>
                        <m:t>𝑥</m:t>
                      </m:r>
                      <m:r>
                        <a:rPr lang="en-US" sz="1400" b="0" i="1" smtClean="0">
                          <a:latin typeface="Cambria Math" panose="02040503050406030204" pitchFamily="18" charset="0"/>
                        </a:rPr>
                        <m:t>=</m:t>
                      </m:r>
                      <m:sSup>
                        <m:sSupPr>
                          <m:ctrlPr>
                            <a:rPr lang="en-US" sz="1400" i="1">
                              <a:latin typeface="Cambria Math" panose="02040503050406030204" pitchFamily="18" charset="0"/>
                            </a:rPr>
                          </m:ctrlPr>
                        </m:sSupPr>
                        <m:e>
                          <m:d>
                            <m:dPr>
                              <m:ctrlPr>
                                <a:rPr lang="en-US" sz="1400" i="1">
                                  <a:latin typeface="Cambria Math" panose="02040503050406030204" pitchFamily="18" charset="0"/>
                                </a:rPr>
                              </m:ctrlPr>
                            </m:dPr>
                            <m:e>
                              <m:r>
                                <a:rPr lang="en-US" sz="1400" i="1">
                                  <a:latin typeface="Cambria Math" panose="02040503050406030204" pitchFamily="18" charset="0"/>
                                </a:rPr>
                                <m:t>1−</m:t>
                              </m:r>
                              <m:r>
                                <a:rPr lang="en-US" sz="1400" b="0" i="1" smtClean="0">
                                  <a:latin typeface="Cambria Math" panose="02040503050406030204" pitchFamily="18" charset="0"/>
                                </a:rPr>
                                <m:t>0.5</m:t>
                              </m:r>
                            </m:e>
                          </m:d>
                        </m:e>
                        <m:sup>
                          <m:r>
                            <a:rPr lang="en-US" sz="1400" i="1">
                              <a:latin typeface="Cambria Math" panose="02040503050406030204" pitchFamily="18" charset="0"/>
                            </a:rPr>
                            <m:t>3</m:t>
                          </m:r>
                        </m:sup>
                      </m:sSup>
                      <m:r>
                        <a:rPr lang="en-US" sz="1400" b="0" i="1" smtClean="0">
                          <a:latin typeface="Cambria Math" panose="02040503050406030204" pitchFamily="18" charset="0"/>
                        </a:rPr>
                        <m:t>(</m:t>
                      </m:r>
                      <m:r>
                        <a:rPr lang="en-US" sz="1400" b="0" i="1" smtClean="0">
                          <a:solidFill>
                            <a:srgbClr val="FF66CC"/>
                          </a:solidFill>
                          <a:latin typeface="Cambria Math" panose="02040503050406030204" pitchFamily="18" charset="0"/>
                        </a:rPr>
                        <m:t>0</m:t>
                      </m:r>
                      <m:r>
                        <a:rPr lang="en-US" sz="1400" b="0" i="1" smtClean="0">
                          <a:latin typeface="Cambria Math" panose="02040503050406030204" pitchFamily="18" charset="0"/>
                        </a:rPr>
                        <m:t>)</m:t>
                      </m:r>
                      <m:r>
                        <a:rPr lang="en-US" sz="1400" i="1">
                          <a:latin typeface="Cambria Math" panose="02040503050406030204" pitchFamily="18" charset="0"/>
                        </a:rPr>
                        <m:t>+</m:t>
                      </m:r>
                      <m:r>
                        <a:rPr lang="en-US" sz="1400" b="0" i="1" smtClean="0">
                          <a:latin typeface="Cambria Math" panose="02040503050406030204" pitchFamily="18" charset="0"/>
                        </a:rPr>
                        <m:t>(</m:t>
                      </m:r>
                      <m:r>
                        <a:rPr lang="en-US" sz="1400" i="1">
                          <a:latin typeface="Cambria Math" panose="02040503050406030204" pitchFamily="18" charset="0"/>
                        </a:rPr>
                        <m:t>3</m:t>
                      </m:r>
                      <m:r>
                        <a:rPr lang="en-US" sz="1400" b="0" i="1" smtClean="0">
                          <a:latin typeface="Cambria Math" panose="02040503050406030204" pitchFamily="18" charset="0"/>
                        </a:rPr>
                        <m:t>)</m:t>
                      </m:r>
                      <m:sSup>
                        <m:sSupPr>
                          <m:ctrlPr>
                            <a:rPr lang="en-US" sz="1400" i="1">
                              <a:latin typeface="Cambria Math" panose="02040503050406030204" pitchFamily="18" charset="0"/>
                            </a:rPr>
                          </m:ctrlPr>
                        </m:sSupPr>
                        <m:e>
                          <m:d>
                            <m:dPr>
                              <m:ctrlPr>
                                <a:rPr lang="en-US" sz="1400" i="1">
                                  <a:latin typeface="Cambria Math" panose="02040503050406030204" pitchFamily="18" charset="0"/>
                                </a:rPr>
                              </m:ctrlPr>
                            </m:dPr>
                            <m:e>
                              <m:r>
                                <a:rPr lang="en-US" sz="1400" i="1">
                                  <a:latin typeface="Cambria Math" panose="02040503050406030204" pitchFamily="18" charset="0"/>
                                </a:rPr>
                                <m:t>1−</m:t>
                              </m:r>
                              <m:r>
                                <a:rPr lang="en-US" sz="1400" b="0" i="1" smtClean="0">
                                  <a:latin typeface="Cambria Math" panose="02040503050406030204" pitchFamily="18" charset="0"/>
                                </a:rPr>
                                <m:t>0.5</m:t>
                              </m:r>
                            </m:e>
                          </m:d>
                        </m:e>
                        <m:sup>
                          <m:r>
                            <a:rPr lang="en-US" sz="1400" i="1">
                              <a:latin typeface="Cambria Math" panose="02040503050406030204" pitchFamily="18" charset="0"/>
                            </a:rPr>
                            <m:t>2</m:t>
                          </m:r>
                        </m:sup>
                      </m:sSup>
                      <m:r>
                        <a:rPr lang="en-US" sz="1400" b="0" i="1" smtClean="0">
                          <a:latin typeface="Cambria Math" panose="02040503050406030204" pitchFamily="18" charset="0"/>
                        </a:rPr>
                        <m:t>(0.5)(</m:t>
                      </m:r>
                      <m:r>
                        <a:rPr lang="en-US" sz="1400" b="0" i="1" smtClean="0">
                          <a:solidFill>
                            <a:srgbClr val="FF66CC"/>
                          </a:solidFill>
                          <a:latin typeface="Cambria Math" panose="02040503050406030204" pitchFamily="18" charset="0"/>
                        </a:rPr>
                        <m:t>1</m:t>
                      </m:r>
                      <m:r>
                        <a:rPr lang="en-US" sz="1400" b="0" i="1" smtClean="0">
                          <a:latin typeface="Cambria Math" panose="02040503050406030204" pitchFamily="18" charset="0"/>
                        </a:rPr>
                        <m:t>)</m:t>
                      </m:r>
                      <m:r>
                        <a:rPr lang="en-US" sz="1400" i="1">
                          <a:latin typeface="Cambria Math" panose="02040503050406030204" pitchFamily="18" charset="0"/>
                        </a:rPr>
                        <m:t>+</m:t>
                      </m:r>
                      <m:r>
                        <a:rPr lang="en-US" sz="1400" b="0" i="1" smtClean="0">
                          <a:latin typeface="Cambria Math" panose="02040503050406030204" pitchFamily="18" charset="0"/>
                        </a:rPr>
                        <m:t>(</m:t>
                      </m:r>
                      <m:r>
                        <a:rPr lang="en-US" sz="1400" i="1">
                          <a:latin typeface="Cambria Math" panose="02040503050406030204" pitchFamily="18" charset="0"/>
                        </a:rPr>
                        <m:t>3</m:t>
                      </m:r>
                      <m:r>
                        <a:rPr lang="en-US" sz="1400" b="0" i="1" smtClean="0">
                          <a:latin typeface="Cambria Math" panose="02040503050406030204" pitchFamily="18" charset="0"/>
                        </a:rPr>
                        <m:t>)</m:t>
                      </m:r>
                      <m:d>
                        <m:dPr>
                          <m:ctrlPr>
                            <a:rPr lang="en-US" sz="1400" i="1">
                              <a:latin typeface="Cambria Math" panose="02040503050406030204" pitchFamily="18" charset="0"/>
                            </a:rPr>
                          </m:ctrlPr>
                        </m:dPr>
                        <m:e>
                          <m:r>
                            <a:rPr lang="en-US" sz="1400" i="1">
                              <a:latin typeface="Cambria Math" panose="02040503050406030204" pitchFamily="18" charset="0"/>
                            </a:rPr>
                            <m:t>1−</m:t>
                          </m:r>
                          <m:r>
                            <a:rPr lang="en-US" sz="1400" b="0" i="1" smtClean="0">
                              <a:latin typeface="Cambria Math" panose="02040503050406030204" pitchFamily="18" charset="0"/>
                            </a:rPr>
                            <m:t>0.5</m:t>
                          </m:r>
                        </m:e>
                      </m:d>
                      <m:sSup>
                        <m:sSupPr>
                          <m:ctrlPr>
                            <a:rPr lang="en-US" sz="1400" i="1">
                              <a:latin typeface="Cambria Math" panose="02040503050406030204" pitchFamily="18" charset="0"/>
                            </a:rPr>
                          </m:ctrlPr>
                        </m:sSupPr>
                        <m:e>
                          <m:d>
                            <m:dPr>
                              <m:ctrlPr>
                                <a:rPr lang="en-US" sz="1400" b="0" i="1" smtClean="0">
                                  <a:latin typeface="Cambria Math" panose="02040503050406030204" pitchFamily="18" charset="0"/>
                                </a:rPr>
                              </m:ctrlPr>
                            </m:dPr>
                            <m:e>
                              <m:r>
                                <a:rPr lang="en-US" sz="1400" b="0" i="1" smtClean="0">
                                  <a:latin typeface="Cambria Math" panose="02040503050406030204" pitchFamily="18" charset="0"/>
                                </a:rPr>
                                <m:t>0.5</m:t>
                              </m:r>
                            </m:e>
                          </m:d>
                        </m:e>
                        <m:sup>
                          <m:r>
                            <a:rPr lang="en-US" sz="1400" i="1">
                              <a:latin typeface="Cambria Math" panose="02040503050406030204" pitchFamily="18" charset="0"/>
                            </a:rPr>
                            <m:t>2</m:t>
                          </m:r>
                        </m:sup>
                      </m:sSup>
                      <m:r>
                        <a:rPr lang="en-US" sz="1400" b="0" i="1" smtClean="0">
                          <a:latin typeface="Cambria Math" panose="02040503050406030204" pitchFamily="18" charset="0"/>
                        </a:rPr>
                        <m:t>(</m:t>
                      </m:r>
                      <m:r>
                        <a:rPr lang="en-US" sz="1400" b="0" i="1" smtClean="0">
                          <a:solidFill>
                            <a:srgbClr val="FF66CC"/>
                          </a:solidFill>
                          <a:latin typeface="Cambria Math" panose="02040503050406030204" pitchFamily="18" charset="0"/>
                        </a:rPr>
                        <m:t>2</m:t>
                      </m:r>
                      <m:r>
                        <a:rPr lang="en-US" sz="1400" b="0" i="1" smtClean="0">
                          <a:latin typeface="Cambria Math" panose="02040503050406030204" pitchFamily="18" charset="0"/>
                        </a:rPr>
                        <m:t>)</m:t>
                      </m:r>
                      <m:r>
                        <a:rPr lang="en-US" sz="1400" i="1">
                          <a:latin typeface="Cambria Math" panose="02040503050406030204" pitchFamily="18" charset="0"/>
                        </a:rPr>
                        <m:t>+</m:t>
                      </m:r>
                      <m:sSup>
                        <m:sSupPr>
                          <m:ctrlPr>
                            <a:rPr lang="en-US" sz="1400" i="1">
                              <a:latin typeface="Cambria Math" panose="02040503050406030204" pitchFamily="18" charset="0"/>
                            </a:rPr>
                          </m:ctrlPr>
                        </m:sSupPr>
                        <m:e>
                          <m:d>
                            <m:dPr>
                              <m:ctrlPr>
                                <a:rPr lang="en-US" sz="1400" b="0" i="1" smtClean="0">
                                  <a:latin typeface="Cambria Math" panose="02040503050406030204" pitchFamily="18" charset="0"/>
                                </a:rPr>
                              </m:ctrlPr>
                            </m:dPr>
                            <m:e>
                              <m:r>
                                <a:rPr lang="en-US" sz="1400" b="0" i="1" smtClean="0">
                                  <a:latin typeface="Cambria Math" panose="02040503050406030204" pitchFamily="18" charset="0"/>
                                </a:rPr>
                                <m:t>0.5</m:t>
                              </m:r>
                            </m:e>
                          </m:d>
                        </m:e>
                        <m:sup>
                          <m:r>
                            <a:rPr lang="en-US" sz="1400" i="1">
                              <a:latin typeface="Cambria Math" panose="02040503050406030204" pitchFamily="18" charset="0"/>
                            </a:rPr>
                            <m:t>3</m:t>
                          </m:r>
                        </m:sup>
                      </m:sSup>
                      <m:r>
                        <a:rPr lang="en-US" sz="1400" b="0" i="1" smtClean="0">
                          <a:latin typeface="Cambria Math" panose="02040503050406030204" pitchFamily="18" charset="0"/>
                        </a:rPr>
                        <m:t>(</m:t>
                      </m:r>
                      <m:r>
                        <a:rPr lang="en-US" sz="1400" b="0" i="1" smtClean="0">
                          <a:solidFill>
                            <a:srgbClr val="FF66CC"/>
                          </a:solidFill>
                          <a:latin typeface="Cambria Math" panose="02040503050406030204" pitchFamily="18" charset="0"/>
                        </a:rPr>
                        <m:t>3</m:t>
                      </m:r>
                      <m:r>
                        <a:rPr lang="en-US" sz="1400" b="0" i="1" smtClean="0">
                          <a:latin typeface="Cambria Math" panose="02040503050406030204" pitchFamily="18" charset="0"/>
                        </a:rPr>
                        <m:t>)</m:t>
                      </m:r>
                    </m:oMath>
                  </m:oMathPara>
                </a14:m>
                <a:endParaRPr lang="en-US" sz="1400" dirty="0"/>
              </a:p>
              <a:p>
                <a:pPr marL="0" indent="0">
                  <a:buNone/>
                </a:pPr>
                <a:endParaRPr lang="en-US" sz="1400" dirty="0"/>
              </a:p>
              <a:p>
                <a:pPr marL="0" indent="0">
                  <a:buNone/>
                </a:pPr>
                <a14:m>
                  <m:oMathPara xmlns:m="http://schemas.openxmlformats.org/officeDocument/2006/math">
                    <m:oMathParaPr>
                      <m:jc m:val="left"/>
                    </m:oMathParaPr>
                    <m:oMath xmlns:m="http://schemas.openxmlformats.org/officeDocument/2006/math">
                      <m:r>
                        <a:rPr lang="en-US" sz="1400" i="1" smtClean="0">
                          <a:solidFill>
                            <a:srgbClr val="FF66CC"/>
                          </a:solidFill>
                          <a:latin typeface="Cambria Math" panose="02040503050406030204" pitchFamily="18" charset="0"/>
                        </a:rPr>
                        <m:t>𝑥</m:t>
                      </m:r>
                      <m:r>
                        <a:rPr lang="en-US" sz="1400" i="1">
                          <a:latin typeface="Cambria Math" panose="02040503050406030204" pitchFamily="18" charset="0"/>
                        </a:rPr>
                        <m:t>=0+0,375+0,75+0,375=</m:t>
                      </m:r>
                      <m:r>
                        <a:rPr lang="en-US" sz="1400" b="1" i="1" smtClean="0">
                          <a:solidFill>
                            <a:srgbClr val="FF66CC"/>
                          </a:solidFill>
                          <a:latin typeface="Cambria Math" panose="02040503050406030204" pitchFamily="18" charset="0"/>
                        </a:rPr>
                        <m:t>𝟏</m:t>
                      </m:r>
                      <m:r>
                        <a:rPr lang="en-US" sz="1400" b="1" i="1" smtClean="0">
                          <a:solidFill>
                            <a:srgbClr val="FF66CC"/>
                          </a:solidFill>
                          <a:latin typeface="Cambria Math" panose="02040503050406030204" pitchFamily="18" charset="0"/>
                        </a:rPr>
                        <m:t>,</m:t>
                      </m:r>
                      <m:r>
                        <a:rPr lang="en-US" sz="1400" b="1" i="1" smtClean="0">
                          <a:solidFill>
                            <a:srgbClr val="FF66CC"/>
                          </a:solidFill>
                          <a:latin typeface="Cambria Math" panose="02040503050406030204" pitchFamily="18" charset="0"/>
                        </a:rPr>
                        <m:t>𝟓</m:t>
                      </m:r>
                    </m:oMath>
                  </m:oMathPara>
                </a14:m>
                <a:endParaRPr lang="en-US" sz="1400" b="1" dirty="0"/>
              </a:p>
              <a:p>
                <a:pPr marL="0" indent="0">
                  <a:buNone/>
                </a:pPr>
                <a:endParaRPr lang="en-US" sz="1400" dirty="0"/>
              </a:p>
              <a:p>
                <a:pPr marL="0" indent="0">
                  <a:buNone/>
                </a:pPr>
                <a14:m>
                  <m:oMathPara xmlns:m="http://schemas.openxmlformats.org/officeDocument/2006/math">
                    <m:oMathParaPr>
                      <m:jc m:val="left"/>
                    </m:oMathParaPr>
                    <m:oMath xmlns:m="http://schemas.openxmlformats.org/officeDocument/2006/math">
                      <m:r>
                        <a:rPr lang="en-US" sz="1400" i="1" smtClean="0">
                          <a:solidFill>
                            <a:srgbClr val="0070C0"/>
                          </a:solidFill>
                          <a:latin typeface="Cambria Math" panose="02040503050406030204" pitchFamily="18" charset="0"/>
                        </a:rPr>
                        <m:t>𝑦</m:t>
                      </m:r>
                      <m:r>
                        <a:rPr lang="en-US" sz="1400" i="1">
                          <a:latin typeface="Cambria Math" panose="02040503050406030204" pitchFamily="18" charset="0"/>
                        </a:rPr>
                        <m:t>=</m:t>
                      </m:r>
                      <m:sSup>
                        <m:sSupPr>
                          <m:ctrlPr>
                            <a:rPr lang="en-US" sz="1400" i="1">
                              <a:latin typeface="Cambria Math" panose="02040503050406030204" pitchFamily="18" charset="0"/>
                            </a:rPr>
                          </m:ctrlPr>
                        </m:sSupPr>
                        <m:e>
                          <m:d>
                            <m:dPr>
                              <m:ctrlPr>
                                <a:rPr lang="en-US" sz="1400" i="1">
                                  <a:latin typeface="Cambria Math" panose="02040503050406030204" pitchFamily="18" charset="0"/>
                                </a:rPr>
                              </m:ctrlPr>
                            </m:dPr>
                            <m:e>
                              <m:r>
                                <a:rPr lang="en-US" sz="1400" i="1">
                                  <a:latin typeface="Cambria Math" panose="02040503050406030204" pitchFamily="18" charset="0"/>
                                </a:rPr>
                                <m:t>1−</m:t>
                              </m:r>
                              <m:r>
                                <a:rPr lang="en-US" sz="1400" b="0" i="1" smtClean="0">
                                  <a:latin typeface="Cambria Math" panose="02040503050406030204" pitchFamily="18" charset="0"/>
                                </a:rPr>
                                <m:t>0.5</m:t>
                              </m:r>
                            </m:e>
                          </m:d>
                        </m:e>
                        <m:sup>
                          <m:r>
                            <a:rPr lang="en-US" sz="1400" i="1">
                              <a:latin typeface="Cambria Math" panose="02040503050406030204" pitchFamily="18" charset="0"/>
                            </a:rPr>
                            <m:t>3</m:t>
                          </m:r>
                        </m:sup>
                      </m:sSup>
                      <m:r>
                        <a:rPr lang="en-US" sz="1400" b="0" i="1" smtClean="0">
                          <a:latin typeface="Cambria Math" panose="02040503050406030204" pitchFamily="18" charset="0"/>
                        </a:rPr>
                        <m:t>(</m:t>
                      </m:r>
                      <m:r>
                        <a:rPr lang="en-US" sz="1400" i="1" smtClean="0">
                          <a:solidFill>
                            <a:srgbClr val="0070C0"/>
                          </a:solidFill>
                          <a:latin typeface="Cambria Math" panose="02040503050406030204" pitchFamily="18" charset="0"/>
                        </a:rPr>
                        <m:t>1</m:t>
                      </m:r>
                      <m:r>
                        <a:rPr lang="en-US" sz="1400" b="0" i="1" smtClean="0">
                          <a:latin typeface="Cambria Math" panose="02040503050406030204" pitchFamily="18" charset="0"/>
                        </a:rPr>
                        <m:t>)</m:t>
                      </m:r>
                      <m:r>
                        <a:rPr lang="en-US" sz="1400" i="1">
                          <a:latin typeface="Cambria Math" panose="02040503050406030204" pitchFamily="18" charset="0"/>
                        </a:rPr>
                        <m:t>+</m:t>
                      </m:r>
                      <m:r>
                        <a:rPr lang="en-US" sz="1400" b="0" i="1" smtClean="0">
                          <a:latin typeface="Cambria Math" panose="02040503050406030204" pitchFamily="18" charset="0"/>
                        </a:rPr>
                        <m:t>(</m:t>
                      </m:r>
                      <m:r>
                        <a:rPr lang="en-US" sz="1400" i="1">
                          <a:latin typeface="Cambria Math" panose="02040503050406030204" pitchFamily="18" charset="0"/>
                        </a:rPr>
                        <m:t>3</m:t>
                      </m:r>
                      <m:sSup>
                        <m:sSupPr>
                          <m:ctrlPr>
                            <a:rPr lang="en-US" sz="1400" i="1">
                              <a:latin typeface="Cambria Math" panose="02040503050406030204" pitchFamily="18" charset="0"/>
                            </a:rPr>
                          </m:ctrlPr>
                        </m:sSupPr>
                        <m:e>
                          <m:r>
                            <a:rPr lang="en-US" sz="1400" b="0" i="1" smtClean="0">
                              <a:latin typeface="Cambria Math" panose="02040503050406030204" pitchFamily="18" charset="0"/>
                            </a:rPr>
                            <m:t>)</m:t>
                          </m:r>
                          <m:d>
                            <m:dPr>
                              <m:ctrlPr>
                                <a:rPr lang="en-US" sz="1400" i="1">
                                  <a:latin typeface="Cambria Math" panose="02040503050406030204" pitchFamily="18" charset="0"/>
                                </a:rPr>
                              </m:ctrlPr>
                            </m:dPr>
                            <m:e>
                              <m:r>
                                <a:rPr lang="en-US" sz="1400" i="1">
                                  <a:latin typeface="Cambria Math" panose="02040503050406030204" pitchFamily="18" charset="0"/>
                                </a:rPr>
                                <m:t>1−</m:t>
                              </m:r>
                              <m:r>
                                <a:rPr lang="en-US" sz="1400" b="0" i="1" smtClean="0">
                                  <a:latin typeface="Cambria Math" panose="02040503050406030204" pitchFamily="18" charset="0"/>
                                </a:rPr>
                                <m:t>0.5</m:t>
                              </m:r>
                            </m:e>
                          </m:d>
                        </m:e>
                        <m:sup>
                          <m:r>
                            <a:rPr lang="en-US" sz="1400" i="1">
                              <a:latin typeface="Cambria Math" panose="02040503050406030204" pitchFamily="18" charset="0"/>
                            </a:rPr>
                            <m:t>2</m:t>
                          </m:r>
                        </m:sup>
                      </m:sSup>
                      <m:r>
                        <a:rPr lang="en-US" sz="1400" b="0" i="1" smtClean="0">
                          <a:latin typeface="Cambria Math" panose="02040503050406030204" pitchFamily="18" charset="0"/>
                        </a:rPr>
                        <m:t>(0.5)(</m:t>
                      </m:r>
                      <m:r>
                        <a:rPr lang="en-US" sz="1400" i="1" smtClean="0">
                          <a:solidFill>
                            <a:srgbClr val="0070C0"/>
                          </a:solidFill>
                          <a:latin typeface="Cambria Math" panose="02040503050406030204" pitchFamily="18" charset="0"/>
                        </a:rPr>
                        <m:t>2</m:t>
                      </m:r>
                      <m:r>
                        <a:rPr lang="en-US" sz="1400" b="0" i="1" smtClean="0">
                          <a:latin typeface="Cambria Math" panose="02040503050406030204" pitchFamily="18" charset="0"/>
                        </a:rPr>
                        <m:t>)</m:t>
                      </m:r>
                      <m:r>
                        <a:rPr lang="en-US" sz="1400" i="1">
                          <a:latin typeface="Cambria Math" panose="02040503050406030204" pitchFamily="18" charset="0"/>
                        </a:rPr>
                        <m:t>+</m:t>
                      </m:r>
                      <m:r>
                        <a:rPr lang="en-US" sz="1400" b="0" i="1" smtClean="0">
                          <a:latin typeface="Cambria Math" panose="02040503050406030204" pitchFamily="18" charset="0"/>
                        </a:rPr>
                        <m:t>(</m:t>
                      </m:r>
                      <m:r>
                        <a:rPr lang="en-US" sz="1400" i="1">
                          <a:latin typeface="Cambria Math" panose="02040503050406030204" pitchFamily="18" charset="0"/>
                        </a:rPr>
                        <m:t>3</m:t>
                      </m:r>
                      <m:r>
                        <a:rPr lang="en-US" sz="1400" b="0" i="1" smtClean="0">
                          <a:latin typeface="Cambria Math" panose="02040503050406030204" pitchFamily="18" charset="0"/>
                        </a:rPr>
                        <m:t>)</m:t>
                      </m:r>
                      <m:d>
                        <m:dPr>
                          <m:ctrlPr>
                            <a:rPr lang="en-US" sz="1400" i="1">
                              <a:latin typeface="Cambria Math" panose="02040503050406030204" pitchFamily="18" charset="0"/>
                            </a:rPr>
                          </m:ctrlPr>
                        </m:dPr>
                        <m:e>
                          <m:r>
                            <a:rPr lang="en-US" sz="1400" i="1">
                              <a:latin typeface="Cambria Math" panose="02040503050406030204" pitchFamily="18" charset="0"/>
                            </a:rPr>
                            <m:t>1−</m:t>
                          </m:r>
                          <m:r>
                            <a:rPr lang="en-US" sz="1400" b="0" i="1" smtClean="0">
                              <a:latin typeface="Cambria Math" panose="02040503050406030204" pitchFamily="18" charset="0"/>
                            </a:rPr>
                            <m:t>0.5</m:t>
                          </m:r>
                        </m:e>
                      </m:d>
                      <m:sSup>
                        <m:sSupPr>
                          <m:ctrlPr>
                            <a:rPr lang="en-US" sz="1400" i="1">
                              <a:latin typeface="Cambria Math" panose="02040503050406030204" pitchFamily="18" charset="0"/>
                            </a:rPr>
                          </m:ctrlPr>
                        </m:sSupPr>
                        <m:e>
                          <m:d>
                            <m:dPr>
                              <m:ctrlPr>
                                <a:rPr lang="en-US" sz="1400" b="0" i="1" smtClean="0">
                                  <a:latin typeface="Cambria Math" panose="02040503050406030204" pitchFamily="18" charset="0"/>
                                </a:rPr>
                              </m:ctrlPr>
                            </m:dPr>
                            <m:e>
                              <m:r>
                                <a:rPr lang="en-US" sz="1400" b="0" i="1" smtClean="0">
                                  <a:latin typeface="Cambria Math" panose="02040503050406030204" pitchFamily="18" charset="0"/>
                                </a:rPr>
                                <m:t>0.5</m:t>
                              </m:r>
                            </m:e>
                          </m:d>
                        </m:e>
                        <m:sup>
                          <m:r>
                            <a:rPr lang="en-US" sz="1400" i="1">
                              <a:latin typeface="Cambria Math" panose="02040503050406030204" pitchFamily="18" charset="0"/>
                            </a:rPr>
                            <m:t>2</m:t>
                          </m:r>
                        </m:sup>
                      </m:sSup>
                      <m:r>
                        <a:rPr lang="en-US" sz="1400" b="0" i="1" smtClean="0">
                          <a:latin typeface="Cambria Math" panose="02040503050406030204" pitchFamily="18" charset="0"/>
                        </a:rPr>
                        <m:t>(</m:t>
                      </m:r>
                      <m:r>
                        <a:rPr lang="en-US" sz="1400" b="0" i="1" smtClean="0">
                          <a:solidFill>
                            <a:srgbClr val="0070C0"/>
                          </a:solidFill>
                          <a:latin typeface="Cambria Math" panose="02040503050406030204" pitchFamily="18" charset="0"/>
                        </a:rPr>
                        <m:t>2</m:t>
                      </m:r>
                      <m:r>
                        <a:rPr lang="en-US" sz="1400" b="0" i="1" smtClean="0">
                          <a:latin typeface="Cambria Math" panose="02040503050406030204" pitchFamily="18" charset="0"/>
                        </a:rPr>
                        <m:t>)</m:t>
                      </m:r>
                      <m:r>
                        <a:rPr lang="en-US" sz="1400" i="1">
                          <a:latin typeface="Cambria Math" panose="02040503050406030204" pitchFamily="18" charset="0"/>
                        </a:rPr>
                        <m:t>+</m:t>
                      </m:r>
                      <m:r>
                        <a:rPr lang="en-US" sz="1400" b="0" i="1" smtClean="0">
                          <a:latin typeface="Cambria Math" panose="02040503050406030204" pitchFamily="18" charset="0"/>
                        </a:rPr>
                        <m:t>(</m:t>
                      </m:r>
                      <m:sSup>
                        <m:sSupPr>
                          <m:ctrlPr>
                            <a:rPr lang="en-US" sz="1400" i="1">
                              <a:latin typeface="Cambria Math" panose="02040503050406030204" pitchFamily="18" charset="0"/>
                            </a:rPr>
                          </m:ctrlPr>
                        </m:sSupPr>
                        <m:e>
                          <m:r>
                            <a:rPr lang="en-US" sz="1400" b="0" i="1" smtClean="0">
                              <a:latin typeface="Cambria Math" panose="02040503050406030204" pitchFamily="18" charset="0"/>
                            </a:rPr>
                            <m:t>0.5)</m:t>
                          </m:r>
                        </m:e>
                        <m:sup>
                          <m:r>
                            <a:rPr lang="en-US" sz="1400" i="1">
                              <a:latin typeface="Cambria Math" panose="02040503050406030204" pitchFamily="18" charset="0"/>
                            </a:rPr>
                            <m:t>3</m:t>
                          </m:r>
                        </m:sup>
                      </m:sSup>
                      <m:r>
                        <a:rPr lang="en-US" sz="1400" b="0" i="1" smtClean="0">
                          <a:latin typeface="Cambria Math" panose="02040503050406030204" pitchFamily="18" charset="0"/>
                        </a:rPr>
                        <m:t>(</m:t>
                      </m:r>
                      <m:r>
                        <a:rPr lang="en-US" sz="1400" b="0" i="1" smtClean="0">
                          <a:solidFill>
                            <a:srgbClr val="0070C0"/>
                          </a:solidFill>
                          <a:latin typeface="Cambria Math" panose="02040503050406030204" pitchFamily="18" charset="0"/>
                        </a:rPr>
                        <m:t>1</m:t>
                      </m:r>
                      <m:r>
                        <a:rPr lang="en-US" sz="1400" b="0" i="1" smtClean="0">
                          <a:latin typeface="Cambria Math" panose="02040503050406030204" pitchFamily="18" charset="0"/>
                        </a:rPr>
                        <m:t>)</m:t>
                      </m:r>
                    </m:oMath>
                  </m:oMathPara>
                </a14:m>
                <a:endParaRPr lang="en-US" sz="1400" dirty="0"/>
              </a:p>
              <a:p>
                <a:pPr marL="0" indent="0">
                  <a:buNone/>
                </a:pPr>
                <a:endParaRPr lang="en-US" sz="1400" dirty="0"/>
              </a:p>
              <a:p>
                <a:pPr marL="0" indent="0">
                  <a:buNone/>
                </a:pPr>
                <a14:m>
                  <m:oMathPara xmlns:m="http://schemas.openxmlformats.org/officeDocument/2006/math">
                    <m:oMathParaPr>
                      <m:jc m:val="left"/>
                    </m:oMathParaPr>
                    <m:oMath xmlns:m="http://schemas.openxmlformats.org/officeDocument/2006/math">
                      <m:r>
                        <a:rPr lang="en-US" sz="1400" i="1" smtClean="0">
                          <a:solidFill>
                            <a:srgbClr val="0070C0"/>
                          </a:solidFill>
                          <a:latin typeface="Cambria Math" panose="02040503050406030204" pitchFamily="18" charset="0"/>
                        </a:rPr>
                        <m:t>𝑦</m:t>
                      </m:r>
                      <m:r>
                        <a:rPr lang="en-US" sz="1400" i="1">
                          <a:latin typeface="Cambria Math" panose="02040503050406030204" pitchFamily="18" charset="0"/>
                        </a:rPr>
                        <m:t>=0</m:t>
                      </m:r>
                      <m:r>
                        <a:rPr lang="en-US" sz="1400" b="0" i="1" smtClean="0">
                          <a:latin typeface="Cambria Math" panose="02040503050406030204" pitchFamily="18" charset="0"/>
                        </a:rPr>
                        <m:t>.</m:t>
                      </m:r>
                      <m:r>
                        <a:rPr lang="en-US" sz="1400" i="1">
                          <a:latin typeface="Cambria Math" panose="02040503050406030204" pitchFamily="18" charset="0"/>
                        </a:rPr>
                        <m:t>125+0</m:t>
                      </m:r>
                      <m:r>
                        <a:rPr lang="en-US" sz="1400" b="0" i="1" smtClean="0">
                          <a:latin typeface="Cambria Math" panose="02040503050406030204" pitchFamily="18" charset="0"/>
                        </a:rPr>
                        <m:t>.</m:t>
                      </m:r>
                      <m:r>
                        <a:rPr lang="en-US" sz="1400" i="1">
                          <a:latin typeface="Cambria Math" panose="02040503050406030204" pitchFamily="18" charset="0"/>
                        </a:rPr>
                        <m:t>75+0</m:t>
                      </m:r>
                      <m:r>
                        <a:rPr lang="en-US" sz="1400" b="0" i="1" smtClean="0">
                          <a:latin typeface="Cambria Math" panose="02040503050406030204" pitchFamily="18" charset="0"/>
                        </a:rPr>
                        <m:t>.</m:t>
                      </m:r>
                      <m:r>
                        <a:rPr lang="en-US" sz="1400" i="1">
                          <a:latin typeface="Cambria Math" panose="02040503050406030204" pitchFamily="18" charset="0"/>
                        </a:rPr>
                        <m:t>75+0</m:t>
                      </m:r>
                      <m:r>
                        <a:rPr lang="en-US" sz="1400" b="0" i="1" smtClean="0">
                          <a:latin typeface="Cambria Math" panose="02040503050406030204" pitchFamily="18" charset="0"/>
                        </a:rPr>
                        <m:t>.</m:t>
                      </m:r>
                      <m:r>
                        <a:rPr lang="en-US" sz="1400" i="1">
                          <a:latin typeface="Cambria Math" panose="02040503050406030204" pitchFamily="18" charset="0"/>
                        </a:rPr>
                        <m:t>125=</m:t>
                      </m:r>
                      <m:r>
                        <a:rPr lang="en-US" sz="1400" b="1" i="1" smtClean="0">
                          <a:solidFill>
                            <a:srgbClr val="0070C0"/>
                          </a:solidFill>
                          <a:latin typeface="Cambria Math" panose="02040503050406030204" pitchFamily="18" charset="0"/>
                        </a:rPr>
                        <m:t>𝟏</m:t>
                      </m:r>
                      <m:r>
                        <a:rPr lang="en-US" sz="1400" b="1" i="1" smtClean="0">
                          <a:solidFill>
                            <a:srgbClr val="0070C0"/>
                          </a:solidFill>
                          <a:latin typeface="Cambria Math" panose="02040503050406030204" pitchFamily="18" charset="0"/>
                        </a:rPr>
                        <m:t>.</m:t>
                      </m:r>
                      <m:r>
                        <a:rPr lang="en-US" sz="1400" b="1" i="1" smtClean="0">
                          <a:solidFill>
                            <a:srgbClr val="0070C0"/>
                          </a:solidFill>
                          <a:latin typeface="Cambria Math" panose="02040503050406030204" pitchFamily="18" charset="0"/>
                        </a:rPr>
                        <m:t>𝟕𝟓</m:t>
                      </m:r>
                    </m:oMath>
                  </m:oMathPara>
                </a14:m>
                <a:endParaRPr lang="en-US" sz="1400" b="1" dirty="0"/>
              </a:p>
              <a:p>
                <a:pPr marL="0" indent="0">
                  <a:buNone/>
                </a:pPr>
                <a:endParaRPr lang="en-US" sz="1400" dirty="0"/>
              </a:p>
              <a:p>
                <a:pPr marL="0" indent="0">
                  <a:buNone/>
                </a:pPr>
                <a:r>
                  <a:rPr lang="en-US" sz="1400" b="1" dirty="0"/>
                  <a:t>The point value on the curve when t = 0.5 is (</a:t>
                </a:r>
                <a:r>
                  <a:rPr lang="en-US" sz="1400" b="1" dirty="0">
                    <a:solidFill>
                      <a:srgbClr val="FF66CC"/>
                    </a:solidFill>
                  </a:rPr>
                  <a:t>1.5</a:t>
                </a:r>
                <a:r>
                  <a:rPr lang="en-US" sz="1400" b="1" dirty="0"/>
                  <a:t>, </a:t>
                </a:r>
                <a:r>
                  <a:rPr lang="en-US" sz="1400" b="1" dirty="0">
                    <a:solidFill>
                      <a:srgbClr val="0070C0"/>
                    </a:solidFill>
                  </a:rPr>
                  <a:t>1.75</a:t>
                </a:r>
                <a:r>
                  <a:rPr lang="en-US" sz="1400" b="1" dirty="0"/>
                  <a:t>)</a:t>
                </a:r>
              </a:p>
              <a:p>
                <a:pPr marL="0" indent="0">
                  <a:buNone/>
                </a:pPr>
                <a:endParaRPr lang="en-US" sz="1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838200" y="365125"/>
                <a:ext cx="10515600" cy="5811838"/>
              </a:xfrm>
              <a:blipFill rotWithShape="1">
                <a:blip r:embed="rId3"/>
                <a:stretch>
                  <a:fillRect b="5"/>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20</a:t>
            </a:fld>
            <a:endParaRPr lang="en-US"/>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
        <p:nvSpPr>
          <p:cNvPr id="9" name="Oval 8"/>
          <p:cNvSpPr/>
          <p:nvPr/>
        </p:nvSpPr>
        <p:spPr>
          <a:xfrm>
            <a:off x="6933638" y="4709011"/>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478224" y="5005981"/>
            <a:ext cx="910827" cy="369332"/>
          </a:xfrm>
          <a:prstGeom prst="rect">
            <a:avLst/>
          </a:prstGeom>
        </p:spPr>
        <p:txBody>
          <a:bodyPr wrap="none">
            <a:spAutoFit/>
          </a:bodyPr>
          <a:lstStyle/>
          <a:p>
            <a:r>
              <a:rPr lang="en-US" dirty="0"/>
              <a:t>C1 (0,1)</a:t>
            </a:r>
          </a:p>
        </p:txBody>
      </p:sp>
      <p:sp>
        <p:nvSpPr>
          <p:cNvPr id="11" name="Oval 10"/>
          <p:cNvSpPr/>
          <p:nvPr/>
        </p:nvSpPr>
        <p:spPr>
          <a:xfrm>
            <a:off x="8207830" y="4431848"/>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880174" y="4715154"/>
            <a:ext cx="910827" cy="369332"/>
          </a:xfrm>
          <a:prstGeom prst="rect">
            <a:avLst/>
          </a:prstGeom>
        </p:spPr>
        <p:txBody>
          <a:bodyPr wrap="none">
            <a:spAutoFit/>
          </a:bodyPr>
          <a:lstStyle/>
          <a:p>
            <a:r>
              <a:rPr lang="en-US" dirty="0"/>
              <a:t>C2 (1,2)</a:t>
            </a:r>
          </a:p>
        </p:txBody>
      </p:sp>
      <p:sp>
        <p:nvSpPr>
          <p:cNvPr id="13" name="Oval 12"/>
          <p:cNvSpPr/>
          <p:nvPr/>
        </p:nvSpPr>
        <p:spPr>
          <a:xfrm>
            <a:off x="9439433" y="4431848"/>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9105475" y="4734324"/>
            <a:ext cx="910827" cy="369332"/>
          </a:xfrm>
          <a:prstGeom prst="rect">
            <a:avLst/>
          </a:prstGeom>
        </p:spPr>
        <p:txBody>
          <a:bodyPr wrap="none">
            <a:spAutoFit/>
          </a:bodyPr>
          <a:lstStyle/>
          <a:p>
            <a:r>
              <a:rPr lang="en-US" dirty="0"/>
              <a:t>C3 (2,2)</a:t>
            </a:r>
          </a:p>
        </p:txBody>
      </p:sp>
      <p:sp>
        <p:nvSpPr>
          <p:cNvPr id="15" name="Oval 14"/>
          <p:cNvSpPr/>
          <p:nvPr/>
        </p:nvSpPr>
        <p:spPr>
          <a:xfrm>
            <a:off x="10776931" y="4709011"/>
            <a:ext cx="186267" cy="186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0442973" y="5011487"/>
            <a:ext cx="910827" cy="369332"/>
          </a:xfrm>
          <a:prstGeom prst="rect">
            <a:avLst/>
          </a:prstGeom>
        </p:spPr>
        <p:txBody>
          <a:bodyPr wrap="none">
            <a:spAutoFit/>
          </a:bodyPr>
          <a:lstStyle/>
          <a:p>
            <a:r>
              <a:rPr lang="en-US" dirty="0"/>
              <a:t>C4 (3,1)</a:t>
            </a:r>
          </a:p>
        </p:txBody>
      </p:sp>
      <p:sp>
        <p:nvSpPr>
          <p:cNvPr id="17" name="Oval 16"/>
          <p:cNvSpPr/>
          <p:nvPr/>
        </p:nvSpPr>
        <p:spPr>
          <a:xfrm>
            <a:off x="8836329" y="4522744"/>
            <a:ext cx="186267" cy="186267"/>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8470058" y="3815695"/>
            <a:ext cx="925253" cy="523220"/>
          </a:xfrm>
          <a:prstGeom prst="rect">
            <a:avLst/>
          </a:prstGeom>
          <a:solidFill>
            <a:srgbClr val="FFC000"/>
          </a:solidFill>
        </p:spPr>
        <p:txBody>
          <a:bodyPr wrap="none">
            <a:spAutoFit/>
          </a:bodyPr>
          <a:lstStyle/>
          <a:p>
            <a:pPr algn="ctr"/>
            <a:r>
              <a:rPr lang="en-US" sz="1400" dirty="0"/>
              <a:t>t = 0.8</a:t>
            </a:r>
          </a:p>
          <a:p>
            <a:pPr algn="ctr"/>
            <a:r>
              <a:rPr lang="en-US" sz="1400" dirty="0"/>
              <a:t>(</a:t>
            </a:r>
            <a:r>
              <a:rPr lang="en-US" sz="1400" dirty="0">
                <a:solidFill>
                  <a:srgbClr val="FF66CC"/>
                </a:solidFill>
              </a:rPr>
              <a:t>1.5</a:t>
            </a:r>
            <a:r>
              <a:rPr lang="en-US" sz="1400" dirty="0"/>
              <a:t>, </a:t>
            </a:r>
            <a:r>
              <a:rPr lang="en-US" sz="1400" dirty="0">
                <a:solidFill>
                  <a:srgbClr val="0070C0"/>
                </a:solidFill>
              </a:rPr>
              <a:t>1.75</a:t>
            </a:r>
            <a:r>
              <a:rPr lang="en-US" sz="1400" dirty="0"/>
              <a:t>)</a:t>
            </a:r>
          </a:p>
        </p:txBody>
      </p:sp>
    </p:spTree>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endParaRPr lang="en-US" sz="4400" dirty="0"/>
          </a:p>
          <a:p>
            <a:pPr marL="0" indent="0" algn="ctr">
              <a:buNone/>
            </a:pPr>
            <a:endParaRPr lang="en-US" sz="4400" dirty="0"/>
          </a:p>
          <a:p>
            <a:pPr marL="0" indent="0" algn="ctr">
              <a:buNone/>
            </a:pPr>
            <a:r>
              <a:rPr lang="en-US" sz="4400" dirty="0"/>
              <a:t>EXERCISE</a:t>
            </a:r>
          </a:p>
        </p:txBody>
      </p:sp>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21</a:t>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marL="0" indent="0">
              <a:buNone/>
            </a:pPr>
            <a:r>
              <a:rPr lang="en-US" dirty="0"/>
              <a:t>Given a </a:t>
            </a:r>
            <a:r>
              <a:rPr lang="en-US" dirty="0" err="1"/>
              <a:t>bezier</a:t>
            </a:r>
            <a:r>
              <a:rPr lang="en-US" dirty="0"/>
              <a:t> curve with 4 control points-</a:t>
            </a:r>
          </a:p>
          <a:p>
            <a:pPr marL="0" indent="0">
              <a:buNone/>
            </a:pPr>
            <a:endParaRPr lang="en-US" dirty="0"/>
          </a:p>
          <a:p>
            <a:pPr marL="0" indent="0">
              <a:buNone/>
            </a:pPr>
            <a:r>
              <a:rPr lang="en-US" dirty="0"/>
              <a:t>B0[1 0] , B1[3 3] , B2[6 3] , B3[8 1]</a:t>
            </a:r>
          </a:p>
          <a:p>
            <a:pPr marL="0" indent="0">
              <a:buNone/>
            </a:pPr>
            <a:endParaRPr lang="en-US" dirty="0"/>
          </a:p>
          <a:p>
            <a:pPr marL="0" indent="0">
              <a:buNone/>
            </a:pPr>
            <a:r>
              <a:rPr lang="en-US" dirty="0"/>
              <a:t>Determine any 5 points lying on the curve. Also, draw a rough sketch of the curve.</a:t>
            </a:r>
          </a:p>
        </p:txBody>
      </p:sp>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22</a:t>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𝐿</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r>
                        <a:rPr lang="en-US" sz="2400" b="0" i="1" smtClean="0">
                          <a:latin typeface="Cambria Math" panose="02040503050406030204" pitchFamily="18" charset="0"/>
                        </a:rPr>
                        <m:t>=</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i="1">
                                  <a:latin typeface="Cambria Math" panose="02040503050406030204" pitchFamily="18" charset="0"/>
                                </a:rPr>
                                <m:t>1−</m:t>
                              </m:r>
                              <m:r>
                                <a:rPr lang="en-US" sz="2400" i="1">
                                  <a:latin typeface="Cambria Math" panose="02040503050406030204" pitchFamily="18" charset="0"/>
                                </a:rPr>
                                <m:t>𝑡</m:t>
                              </m:r>
                            </m:e>
                          </m:d>
                        </m:e>
                        <m:sup>
                          <m:r>
                            <a:rPr lang="en-US" sz="2400" i="1">
                              <a:latin typeface="Cambria Math" panose="02040503050406030204" pitchFamily="18" charset="0"/>
                            </a:rPr>
                            <m:t>3</m:t>
                          </m:r>
                        </m:sup>
                      </m:sSup>
                      <m:r>
                        <a:rPr lang="en-US" sz="2400" i="1">
                          <a:latin typeface="Cambria Math" panose="02040503050406030204" pitchFamily="18" charset="0"/>
                        </a:rPr>
                        <m:t>+3</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i="1">
                                  <a:latin typeface="Cambria Math" panose="02040503050406030204" pitchFamily="18" charset="0"/>
                                </a:rPr>
                                <m:t>1−</m:t>
                              </m:r>
                              <m:r>
                                <a:rPr lang="en-US" sz="2400" i="1">
                                  <a:latin typeface="Cambria Math" panose="02040503050406030204" pitchFamily="18" charset="0"/>
                                </a:rPr>
                                <m:t>𝑡</m:t>
                              </m:r>
                            </m:e>
                          </m:d>
                        </m:e>
                        <m:sup>
                          <m:r>
                            <a:rPr lang="en-US" sz="2400" i="1">
                              <a:latin typeface="Cambria Math" panose="02040503050406030204" pitchFamily="18" charset="0"/>
                            </a:rPr>
                            <m:t>2</m:t>
                          </m:r>
                        </m:sup>
                      </m:sSup>
                      <m:r>
                        <a:rPr lang="en-US" sz="2400" b="0" i="1" smtClean="0">
                          <a:latin typeface="Cambria Math" panose="02040503050406030204" pitchFamily="18" charset="0"/>
                        </a:rPr>
                        <m:t>𝑡</m:t>
                      </m:r>
                      <m:r>
                        <a:rPr lang="en-US" sz="2400" i="1">
                          <a:latin typeface="Cambria Math" panose="02040503050406030204" pitchFamily="18" charset="0"/>
                        </a:rPr>
                        <m:t>+3</m:t>
                      </m:r>
                      <m:d>
                        <m:dPr>
                          <m:ctrlPr>
                            <a:rPr lang="en-US" sz="2400" i="1">
                              <a:latin typeface="Cambria Math" panose="02040503050406030204" pitchFamily="18" charset="0"/>
                            </a:rPr>
                          </m:ctrlPr>
                        </m:dPr>
                        <m:e>
                          <m:r>
                            <a:rPr lang="en-US" sz="2400" i="1">
                              <a:latin typeface="Cambria Math" panose="02040503050406030204" pitchFamily="18" charset="0"/>
                            </a:rPr>
                            <m:t>1−</m:t>
                          </m:r>
                          <m:r>
                            <a:rPr lang="en-US" sz="2400" i="1">
                              <a:latin typeface="Cambria Math" panose="02040503050406030204" pitchFamily="18" charset="0"/>
                            </a:rPr>
                            <m:t>𝑡</m:t>
                          </m:r>
                        </m:e>
                      </m:d>
                      <m:sSup>
                        <m:sSupPr>
                          <m:ctrlPr>
                            <a:rPr lang="en-US" sz="2400" i="1">
                              <a:latin typeface="Cambria Math" panose="02040503050406030204" pitchFamily="18" charset="0"/>
                            </a:rPr>
                          </m:ctrlPr>
                        </m:sSupPr>
                        <m:e>
                          <m:r>
                            <a:rPr lang="en-US" sz="2400" i="1">
                              <a:latin typeface="Cambria Math" panose="02040503050406030204" pitchFamily="18" charset="0"/>
                            </a:rPr>
                            <m:t>𝑡</m:t>
                          </m:r>
                        </m:e>
                        <m:sup>
                          <m:r>
                            <a:rPr lang="en-US" sz="2400" i="1">
                              <a:latin typeface="Cambria Math" panose="02040503050406030204" pitchFamily="18" charset="0"/>
                            </a:rPr>
                            <m:t>2</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b="0" i="1" smtClean="0">
                              <a:latin typeface="Cambria Math" panose="02040503050406030204" pitchFamily="18" charset="0"/>
                            </a:rPr>
                            <m:t>𝑡</m:t>
                          </m:r>
                        </m:e>
                        <m:sup>
                          <m:r>
                            <a:rPr lang="en-US" sz="2400" b="0" i="1" smtClean="0">
                              <a:latin typeface="Cambria Math" panose="02040503050406030204" pitchFamily="18" charset="0"/>
                            </a:rPr>
                            <m:t>3</m:t>
                          </m:r>
                        </m:sup>
                      </m:sSup>
                      <m:r>
                        <a:rPr lang="en-US" sz="2400" i="1">
                          <a:latin typeface="Cambria Math" panose="02040503050406030204" pitchFamily="18" charset="0"/>
                        </a:rPr>
                        <m:t>=0</m:t>
                      </m:r>
                    </m:oMath>
                  </m:oMathPara>
                </a14:m>
                <a:endParaRPr lang="en-US" sz="2400" dirty="0"/>
              </a:p>
              <a:p>
                <a:pPr marL="0" indent="0">
                  <a:buNone/>
                </a:pPr>
                <a:endParaRPr lang="en-US" sz="2400" dirty="0"/>
              </a:p>
              <a:p>
                <a:pPr marL="0" indent="0">
                  <a:buNone/>
                </a:pPr>
                <a:r>
                  <a:rPr lang="en-US" sz="2400" dirty="0"/>
                  <a:t>for </a:t>
                </a:r>
                <a:r>
                  <a:rPr lang="en-US" sz="2400" b="1" dirty="0"/>
                  <a:t>t = 0</a:t>
                </a:r>
              </a:p>
              <a:p>
                <a:pPr marL="0" indent="0">
                  <a:buNone/>
                </a:pPr>
                <a:endParaRPr lang="en-US" sz="2400" dirty="0"/>
              </a:p>
              <a:p>
                <a:pPr marL="0" indent="0">
                  <a:buNone/>
                </a:pPr>
                <a:r>
                  <a:rPr lang="en-US" sz="2400" dirty="0"/>
                  <a:t>P(0) = [1 0](1-0)3 + [3 3]3(0)(1-t)2 + [6 3]3(0)2(1-0) + [8 1](0)3</a:t>
                </a:r>
              </a:p>
              <a:p>
                <a:pPr marL="0" indent="0">
                  <a:buNone/>
                </a:pPr>
                <a:r>
                  <a:rPr lang="en-US" sz="2400" dirty="0"/>
                  <a:t>P(0) = [1 0] + 0 + 0 + 0</a:t>
                </a:r>
              </a:p>
              <a:p>
                <a:pPr marL="0" indent="0">
                  <a:buNone/>
                </a:pPr>
                <a:r>
                  <a:rPr lang="en-US" sz="2400" b="1" dirty="0"/>
                  <a:t>P(0) = [1 0]</a:t>
                </a:r>
              </a:p>
              <a:p>
                <a:pPr marL="0" indent="0">
                  <a:buNone/>
                </a:pPr>
                <a:endParaRPr lang="en-US"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b="7"/>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23</a:t>
            </a:fld>
            <a:endParaRPr lang="en-US"/>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𝐿</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r>
                                <a:rPr lang="en-US" sz="2800" i="1">
                                  <a:latin typeface="Cambria Math" panose="02040503050406030204" pitchFamily="18" charset="0"/>
                                </a:rPr>
                                <m:t>1−</m:t>
                              </m:r>
                              <m:r>
                                <a:rPr lang="en-US" sz="2800" i="1">
                                  <a:latin typeface="Cambria Math" panose="02040503050406030204" pitchFamily="18" charset="0"/>
                                </a:rPr>
                                <m:t>𝑡</m:t>
                              </m:r>
                            </m:e>
                          </m:d>
                        </m:e>
                        <m:sup>
                          <m:r>
                            <a:rPr lang="en-US" sz="2800" i="1">
                              <a:latin typeface="Cambria Math" panose="02040503050406030204" pitchFamily="18" charset="0"/>
                            </a:rPr>
                            <m:t>3</m:t>
                          </m:r>
                        </m:sup>
                      </m:sSup>
                      <m:r>
                        <a:rPr lang="en-US" sz="2800" i="1">
                          <a:latin typeface="Cambria Math" panose="02040503050406030204" pitchFamily="18" charset="0"/>
                        </a:rPr>
                        <m:t>+3</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r>
                                <a:rPr lang="en-US" sz="2800" i="1">
                                  <a:latin typeface="Cambria Math" panose="02040503050406030204" pitchFamily="18" charset="0"/>
                                </a:rPr>
                                <m:t>1−</m:t>
                              </m:r>
                              <m:r>
                                <a:rPr lang="en-US" sz="2800" i="1">
                                  <a:latin typeface="Cambria Math" panose="02040503050406030204" pitchFamily="18" charset="0"/>
                                </a:rPr>
                                <m:t>𝑡</m:t>
                              </m:r>
                            </m:e>
                          </m:d>
                        </m:e>
                        <m:sup>
                          <m:r>
                            <a:rPr lang="en-US" sz="2800" i="1">
                              <a:latin typeface="Cambria Math" panose="02040503050406030204" pitchFamily="18" charset="0"/>
                            </a:rPr>
                            <m:t>2</m:t>
                          </m:r>
                        </m:sup>
                      </m:sSup>
                      <m:r>
                        <a:rPr lang="en-US" sz="2800" b="0" i="1" smtClean="0">
                          <a:latin typeface="Cambria Math" panose="02040503050406030204" pitchFamily="18" charset="0"/>
                        </a:rPr>
                        <m:t>𝑡</m:t>
                      </m:r>
                      <m:r>
                        <a:rPr lang="en-US" sz="2800" i="1">
                          <a:latin typeface="Cambria Math" panose="02040503050406030204" pitchFamily="18" charset="0"/>
                        </a:rPr>
                        <m:t>+3</m:t>
                      </m:r>
                      <m:d>
                        <m:dPr>
                          <m:ctrlPr>
                            <a:rPr lang="en-US" sz="2800" i="1">
                              <a:latin typeface="Cambria Math" panose="02040503050406030204" pitchFamily="18" charset="0"/>
                            </a:rPr>
                          </m:ctrlPr>
                        </m:dPr>
                        <m:e>
                          <m:r>
                            <a:rPr lang="en-US" sz="2800" i="1">
                              <a:latin typeface="Cambria Math" panose="02040503050406030204" pitchFamily="18" charset="0"/>
                            </a:rPr>
                            <m:t>1−</m:t>
                          </m:r>
                          <m:r>
                            <a:rPr lang="en-US" sz="2800" i="1">
                              <a:latin typeface="Cambria Math" panose="02040503050406030204" pitchFamily="18" charset="0"/>
                            </a:rPr>
                            <m:t>𝑡</m:t>
                          </m:r>
                        </m:e>
                      </m:d>
                      <m:sSup>
                        <m:sSupPr>
                          <m:ctrlPr>
                            <a:rPr lang="en-US" sz="2800" i="1">
                              <a:latin typeface="Cambria Math" panose="02040503050406030204" pitchFamily="18" charset="0"/>
                            </a:rPr>
                          </m:ctrlPr>
                        </m:sSupPr>
                        <m:e>
                          <m:r>
                            <a:rPr lang="en-US" sz="2800" i="1">
                              <a:latin typeface="Cambria Math" panose="02040503050406030204" pitchFamily="18" charset="0"/>
                            </a:rPr>
                            <m:t>𝑡</m:t>
                          </m:r>
                        </m:e>
                        <m:sup>
                          <m:r>
                            <a:rPr lang="en-US" sz="2800" i="1">
                              <a:latin typeface="Cambria Math" panose="02040503050406030204" pitchFamily="18" charset="0"/>
                            </a:rPr>
                            <m:t>2</m:t>
                          </m:r>
                        </m:sup>
                      </m:sSup>
                      <m:r>
                        <a:rPr lang="en-US" sz="2800" i="1">
                          <a:latin typeface="Cambria Math" panose="02040503050406030204" pitchFamily="18" charset="0"/>
                        </a:rPr>
                        <m:t>+</m:t>
                      </m:r>
                      <m:sSup>
                        <m:sSupPr>
                          <m:ctrlPr>
                            <a:rPr lang="en-US" sz="2800" i="1">
                              <a:latin typeface="Cambria Math" panose="02040503050406030204" pitchFamily="18" charset="0"/>
                            </a:rPr>
                          </m:ctrlPr>
                        </m:sSupPr>
                        <m:e>
                          <m:r>
                            <a:rPr lang="en-US" sz="2800" b="0" i="1" smtClean="0">
                              <a:latin typeface="Cambria Math" panose="02040503050406030204" pitchFamily="18" charset="0"/>
                            </a:rPr>
                            <m:t>𝑡</m:t>
                          </m:r>
                        </m:e>
                        <m:sup>
                          <m:r>
                            <a:rPr lang="en-US" sz="2800" b="0" i="1" smtClean="0">
                              <a:latin typeface="Cambria Math" panose="02040503050406030204" pitchFamily="18" charset="0"/>
                            </a:rPr>
                            <m:t>3</m:t>
                          </m:r>
                        </m:sup>
                      </m:sSup>
                      <m:r>
                        <a:rPr lang="en-US" sz="2800" i="1">
                          <a:latin typeface="Cambria Math" panose="02040503050406030204" pitchFamily="18" charset="0"/>
                        </a:rPr>
                        <m:t>=0</m:t>
                      </m:r>
                    </m:oMath>
                  </m:oMathPara>
                </a14:m>
                <a:endParaRPr lang="en-US" sz="2800" dirty="0"/>
              </a:p>
              <a:p>
                <a:pPr marL="0" indent="0">
                  <a:buNone/>
                </a:pPr>
                <a:endParaRPr lang="en-US" dirty="0"/>
              </a:p>
              <a:p>
                <a:pPr marL="0" indent="0">
                  <a:buNone/>
                </a:pPr>
                <a:r>
                  <a:rPr lang="en-US" dirty="0"/>
                  <a:t>f</a:t>
                </a:r>
                <a:r>
                  <a:rPr lang="en-US" sz="2800" dirty="0"/>
                  <a:t>or </a:t>
                </a:r>
                <a:r>
                  <a:rPr lang="en-US" sz="2800" b="1" dirty="0"/>
                  <a:t>t = 0.2</a:t>
                </a:r>
              </a:p>
              <a:p>
                <a:pPr marL="0" indent="0">
                  <a:buNone/>
                </a:pPr>
                <a:endParaRPr lang="en-US" dirty="0"/>
              </a:p>
              <a:p>
                <a:pPr marL="0" indent="0">
                  <a:buNone/>
                </a:pPr>
                <a:r>
                  <a:rPr lang="en-US" dirty="0"/>
                  <a:t>P(0.2) = [1 0](1-0.2)3 + [3 3]3(0.2)(1-0.2)2 + [6 3]3(0.2)2(1-0.2) + [8 1](0.2)3</a:t>
                </a:r>
              </a:p>
              <a:p>
                <a:pPr marL="0" indent="0">
                  <a:buNone/>
                </a:pPr>
                <a:r>
                  <a:rPr lang="en-US" dirty="0"/>
                  <a:t>P(0.2) = [1 0](0.8)3 + [3 3]3(0.2)(0.8)2 + [6 3]3(0.2)2(0.8) + [8 1](0.2)3</a:t>
                </a:r>
              </a:p>
              <a:p>
                <a:pPr marL="0" indent="0">
                  <a:buNone/>
                </a:pPr>
                <a:r>
                  <a:rPr lang="en-US" dirty="0"/>
                  <a:t>P(0.2) = [1 0] x 0.512 + [3 3] x 3 x 0.2 x 0.64 + [6 3] x 3 x 0.04 x 0.8 + [8 1] x 0.008</a:t>
                </a:r>
              </a:p>
              <a:p>
                <a:pPr marL="0" indent="0">
                  <a:buNone/>
                </a:pPr>
                <a:r>
                  <a:rPr lang="en-US" dirty="0"/>
                  <a:t>P(0.2) = [1 0] x 0.512 + [3 3] x 0.384 + [6 3] x 0.096 + [8 1] x 0.008</a:t>
                </a:r>
              </a:p>
              <a:p>
                <a:pPr marL="0" indent="0">
                  <a:buNone/>
                </a:pPr>
                <a:r>
                  <a:rPr lang="en-US" dirty="0"/>
                  <a:t>P(0.2) = [0.512 0] + [1.152 1.152] + [0.576 0.288] + [0.064 0.008]</a:t>
                </a:r>
              </a:p>
              <a:p>
                <a:pPr marL="0" indent="0">
                  <a:buNone/>
                </a:pPr>
                <a:r>
                  <a:rPr lang="en-US" b="1" dirty="0"/>
                  <a:t>P(0.2) = [2.304 1.448]</a:t>
                </a:r>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b="7"/>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24</a:t>
            </a:fld>
            <a:endParaRPr lang="en-US"/>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𝐿</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r>
                                <a:rPr lang="en-US" sz="2800" i="1">
                                  <a:latin typeface="Cambria Math" panose="02040503050406030204" pitchFamily="18" charset="0"/>
                                </a:rPr>
                                <m:t>1−</m:t>
                              </m:r>
                              <m:r>
                                <a:rPr lang="en-US" sz="2800" i="1">
                                  <a:latin typeface="Cambria Math" panose="02040503050406030204" pitchFamily="18" charset="0"/>
                                </a:rPr>
                                <m:t>𝑡</m:t>
                              </m:r>
                            </m:e>
                          </m:d>
                        </m:e>
                        <m:sup>
                          <m:r>
                            <a:rPr lang="en-US" sz="2800" i="1">
                              <a:latin typeface="Cambria Math" panose="02040503050406030204" pitchFamily="18" charset="0"/>
                            </a:rPr>
                            <m:t>3</m:t>
                          </m:r>
                        </m:sup>
                      </m:sSup>
                      <m:r>
                        <a:rPr lang="en-US" sz="2800" i="1">
                          <a:latin typeface="Cambria Math" panose="02040503050406030204" pitchFamily="18" charset="0"/>
                        </a:rPr>
                        <m:t>+3</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r>
                                <a:rPr lang="en-US" sz="2800" i="1">
                                  <a:latin typeface="Cambria Math" panose="02040503050406030204" pitchFamily="18" charset="0"/>
                                </a:rPr>
                                <m:t>1−</m:t>
                              </m:r>
                              <m:r>
                                <a:rPr lang="en-US" sz="2800" i="1">
                                  <a:latin typeface="Cambria Math" panose="02040503050406030204" pitchFamily="18" charset="0"/>
                                </a:rPr>
                                <m:t>𝑡</m:t>
                              </m:r>
                            </m:e>
                          </m:d>
                        </m:e>
                        <m:sup>
                          <m:r>
                            <a:rPr lang="en-US" sz="2800" i="1">
                              <a:latin typeface="Cambria Math" panose="02040503050406030204" pitchFamily="18" charset="0"/>
                            </a:rPr>
                            <m:t>2</m:t>
                          </m:r>
                        </m:sup>
                      </m:sSup>
                      <m:r>
                        <a:rPr lang="en-US" sz="2800" b="0" i="1" smtClean="0">
                          <a:latin typeface="Cambria Math" panose="02040503050406030204" pitchFamily="18" charset="0"/>
                        </a:rPr>
                        <m:t>𝑡</m:t>
                      </m:r>
                      <m:r>
                        <a:rPr lang="en-US" sz="2800" i="1">
                          <a:latin typeface="Cambria Math" panose="02040503050406030204" pitchFamily="18" charset="0"/>
                        </a:rPr>
                        <m:t>+3</m:t>
                      </m:r>
                      <m:d>
                        <m:dPr>
                          <m:ctrlPr>
                            <a:rPr lang="en-US" sz="2800" i="1">
                              <a:latin typeface="Cambria Math" panose="02040503050406030204" pitchFamily="18" charset="0"/>
                            </a:rPr>
                          </m:ctrlPr>
                        </m:dPr>
                        <m:e>
                          <m:r>
                            <a:rPr lang="en-US" sz="2800" i="1">
                              <a:latin typeface="Cambria Math" panose="02040503050406030204" pitchFamily="18" charset="0"/>
                            </a:rPr>
                            <m:t>1−</m:t>
                          </m:r>
                          <m:r>
                            <a:rPr lang="en-US" sz="2800" i="1">
                              <a:latin typeface="Cambria Math" panose="02040503050406030204" pitchFamily="18" charset="0"/>
                            </a:rPr>
                            <m:t>𝑡</m:t>
                          </m:r>
                        </m:e>
                      </m:d>
                      <m:sSup>
                        <m:sSupPr>
                          <m:ctrlPr>
                            <a:rPr lang="en-US" sz="2800" i="1">
                              <a:latin typeface="Cambria Math" panose="02040503050406030204" pitchFamily="18" charset="0"/>
                            </a:rPr>
                          </m:ctrlPr>
                        </m:sSupPr>
                        <m:e>
                          <m:r>
                            <a:rPr lang="en-US" sz="2800" i="1">
                              <a:latin typeface="Cambria Math" panose="02040503050406030204" pitchFamily="18" charset="0"/>
                            </a:rPr>
                            <m:t>𝑡</m:t>
                          </m:r>
                        </m:e>
                        <m:sup>
                          <m:r>
                            <a:rPr lang="en-US" sz="2800" i="1">
                              <a:latin typeface="Cambria Math" panose="02040503050406030204" pitchFamily="18" charset="0"/>
                            </a:rPr>
                            <m:t>2</m:t>
                          </m:r>
                        </m:sup>
                      </m:sSup>
                      <m:r>
                        <a:rPr lang="en-US" sz="2800" i="1">
                          <a:latin typeface="Cambria Math" panose="02040503050406030204" pitchFamily="18" charset="0"/>
                        </a:rPr>
                        <m:t>+</m:t>
                      </m:r>
                      <m:sSup>
                        <m:sSupPr>
                          <m:ctrlPr>
                            <a:rPr lang="en-US" sz="2800" i="1">
                              <a:latin typeface="Cambria Math" panose="02040503050406030204" pitchFamily="18" charset="0"/>
                            </a:rPr>
                          </m:ctrlPr>
                        </m:sSupPr>
                        <m:e>
                          <m:r>
                            <a:rPr lang="en-US" sz="2800" b="0" i="1" smtClean="0">
                              <a:latin typeface="Cambria Math" panose="02040503050406030204" pitchFamily="18" charset="0"/>
                            </a:rPr>
                            <m:t>𝑡</m:t>
                          </m:r>
                        </m:e>
                        <m:sup>
                          <m:r>
                            <a:rPr lang="en-US" sz="2800" b="0" i="1" smtClean="0">
                              <a:latin typeface="Cambria Math" panose="02040503050406030204" pitchFamily="18" charset="0"/>
                            </a:rPr>
                            <m:t>3</m:t>
                          </m:r>
                        </m:sup>
                      </m:sSup>
                      <m:r>
                        <a:rPr lang="en-US" sz="2800" i="1">
                          <a:latin typeface="Cambria Math" panose="02040503050406030204" pitchFamily="18" charset="0"/>
                        </a:rPr>
                        <m:t>=0</m:t>
                      </m:r>
                    </m:oMath>
                  </m:oMathPara>
                </a14:m>
                <a:endParaRPr lang="en-US" sz="2800" dirty="0"/>
              </a:p>
              <a:p>
                <a:pPr marL="0" indent="0">
                  <a:buNone/>
                </a:pPr>
                <a:endParaRPr lang="en-US" dirty="0"/>
              </a:p>
              <a:p>
                <a:pPr marL="0" indent="0">
                  <a:buNone/>
                </a:pPr>
                <a:r>
                  <a:rPr lang="en-US" dirty="0"/>
                  <a:t>f</a:t>
                </a:r>
                <a:r>
                  <a:rPr lang="en-US" sz="2800" dirty="0"/>
                  <a:t>or </a:t>
                </a:r>
                <a:r>
                  <a:rPr lang="en-US" sz="2800" b="1" dirty="0"/>
                  <a:t>t = 0.5</a:t>
                </a:r>
              </a:p>
              <a:p>
                <a:pPr marL="0" indent="0">
                  <a:buNone/>
                </a:pPr>
                <a:endParaRPr lang="en-US" dirty="0"/>
              </a:p>
              <a:p>
                <a:pPr marL="0" indent="0">
                  <a:buNone/>
                </a:pPr>
                <a:r>
                  <a:rPr lang="nn-NO" dirty="0"/>
                  <a:t>P(0.5) = [1 0](1-0.5)3 + [3 3]3(0.5)(1-0.5)2 + [6 3]3(0.5)2(1-0.5) + [8 1](0.5)3</a:t>
                </a:r>
              </a:p>
              <a:p>
                <a:pPr marL="0" indent="0">
                  <a:buNone/>
                </a:pPr>
                <a:r>
                  <a:rPr lang="nn-NO" dirty="0"/>
                  <a:t>P(0.5) = [1 0](0.5)3 + [3 3]3(0.5)(0.5)2 + [6 3]3(0.5)2(0.5) + [8 1](0.5)3</a:t>
                </a:r>
              </a:p>
              <a:p>
                <a:pPr marL="0" indent="0">
                  <a:buNone/>
                </a:pPr>
                <a:r>
                  <a:rPr lang="nn-NO" dirty="0"/>
                  <a:t>P(0.5) = [1 0] x 0.125 + [3 3] x 3 x 0.5 x 0.25 + [6 3] x 3 x 0.25 x 0.5 + [8 1] x 0.125</a:t>
                </a:r>
              </a:p>
              <a:p>
                <a:pPr marL="0" indent="0">
                  <a:buNone/>
                </a:pPr>
                <a:r>
                  <a:rPr lang="nn-NO" dirty="0"/>
                  <a:t>P(0.5) = [1 0] x 0.125 + [3 3] x 0.375 + [6 3] x 0.375 + [8 1] x 0.125</a:t>
                </a:r>
              </a:p>
              <a:p>
                <a:pPr marL="0" indent="0">
                  <a:buNone/>
                </a:pPr>
                <a:r>
                  <a:rPr lang="nn-NO" dirty="0"/>
                  <a:t>P(0.5) = [0.125 0] + [1.125 1.125] + [2.25 1.125] + [1 0.125]</a:t>
                </a:r>
              </a:p>
              <a:p>
                <a:pPr marL="0" indent="0">
                  <a:buNone/>
                </a:pPr>
                <a:r>
                  <a:rPr lang="nn-NO" b="1" dirty="0"/>
                  <a:t>P(0.5) = [4.5 2.375]</a:t>
                </a:r>
                <a:endParaRPr lang="en-US" b="1"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b="7"/>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25</a:t>
            </a:fld>
            <a:endParaRPr lang="en-US"/>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𝐿</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r>
                                <a:rPr lang="en-US" sz="2800" i="1">
                                  <a:latin typeface="Cambria Math" panose="02040503050406030204" pitchFamily="18" charset="0"/>
                                </a:rPr>
                                <m:t>1−</m:t>
                              </m:r>
                              <m:r>
                                <a:rPr lang="en-US" sz="2800" i="1">
                                  <a:latin typeface="Cambria Math" panose="02040503050406030204" pitchFamily="18" charset="0"/>
                                </a:rPr>
                                <m:t>𝑡</m:t>
                              </m:r>
                            </m:e>
                          </m:d>
                        </m:e>
                        <m:sup>
                          <m:r>
                            <a:rPr lang="en-US" sz="2800" i="1">
                              <a:latin typeface="Cambria Math" panose="02040503050406030204" pitchFamily="18" charset="0"/>
                            </a:rPr>
                            <m:t>3</m:t>
                          </m:r>
                        </m:sup>
                      </m:sSup>
                      <m:r>
                        <a:rPr lang="en-US" sz="2800" i="1">
                          <a:latin typeface="Cambria Math" panose="02040503050406030204" pitchFamily="18" charset="0"/>
                        </a:rPr>
                        <m:t>+3</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r>
                                <a:rPr lang="en-US" sz="2800" i="1">
                                  <a:latin typeface="Cambria Math" panose="02040503050406030204" pitchFamily="18" charset="0"/>
                                </a:rPr>
                                <m:t>1−</m:t>
                              </m:r>
                              <m:r>
                                <a:rPr lang="en-US" sz="2800" i="1">
                                  <a:latin typeface="Cambria Math" panose="02040503050406030204" pitchFamily="18" charset="0"/>
                                </a:rPr>
                                <m:t>𝑡</m:t>
                              </m:r>
                            </m:e>
                          </m:d>
                        </m:e>
                        <m:sup>
                          <m:r>
                            <a:rPr lang="en-US" sz="2800" i="1">
                              <a:latin typeface="Cambria Math" panose="02040503050406030204" pitchFamily="18" charset="0"/>
                            </a:rPr>
                            <m:t>2</m:t>
                          </m:r>
                        </m:sup>
                      </m:sSup>
                      <m:r>
                        <a:rPr lang="en-US" sz="2800" b="0" i="1" smtClean="0">
                          <a:latin typeface="Cambria Math" panose="02040503050406030204" pitchFamily="18" charset="0"/>
                        </a:rPr>
                        <m:t>𝑡</m:t>
                      </m:r>
                      <m:r>
                        <a:rPr lang="en-US" sz="2800" i="1">
                          <a:latin typeface="Cambria Math" panose="02040503050406030204" pitchFamily="18" charset="0"/>
                        </a:rPr>
                        <m:t>+3</m:t>
                      </m:r>
                      <m:d>
                        <m:dPr>
                          <m:ctrlPr>
                            <a:rPr lang="en-US" sz="2800" i="1">
                              <a:latin typeface="Cambria Math" panose="02040503050406030204" pitchFamily="18" charset="0"/>
                            </a:rPr>
                          </m:ctrlPr>
                        </m:dPr>
                        <m:e>
                          <m:r>
                            <a:rPr lang="en-US" sz="2800" i="1">
                              <a:latin typeface="Cambria Math" panose="02040503050406030204" pitchFamily="18" charset="0"/>
                            </a:rPr>
                            <m:t>1−</m:t>
                          </m:r>
                          <m:r>
                            <a:rPr lang="en-US" sz="2800" i="1">
                              <a:latin typeface="Cambria Math" panose="02040503050406030204" pitchFamily="18" charset="0"/>
                            </a:rPr>
                            <m:t>𝑡</m:t>
                          </m:r>
                        </m:e>
                      </m:d>
                      <m:sSup>
                        <m:sSupPr>
                          <m:ctrlPr>
                            <a:rPr lang="en-US" sz="2800" i="1">
                              <a:latin typeface="Cambria Math" panose="02040503050406030204" pitchFamily="18" charset="0"/>
                            </a:rPr>
                          </m:ctrlPr>
                        </m:sSupPr>
                        <m:e>
                          <m:r>
                            <a:rPr lang="en-US" sz="2800" i="1">
                              <a:latin typeface="Cambria Math" panose="02040503050406030204" pitchFamily="18" charset="0"/>
                            </a:rPr>
                            <m:t>𝑡</m:t>
                          </m:r>
                        </m:e>
                        <m:sup>
                          <m:r>
                            <a:rPr lang="en-US" sz="2800" i="1">
                              <a:latin typeface="Cambria Math" panose="02040503050406030204" pitchFamily="18" charset="0"/>
                            </a:rPr>
                            <m:t>2</m:t>
                          </m:r>
                        </m:sup>
                      </m:sSup>
                      <m:r>
                        <a:rPr lang="en-US" sz="2800" i="1">
                          <a:latin typeface="Cambria Math" panose="02040503050406030204" pitchFamily="18" charset="0"/>
                        </a:rPr>
                        <m:t>+</m:t>
                      </m:r>
                      <m:sSup>
                        <m:sSupPr>
                          <m:ctrlPr>
                            <a:rPr lang="en-US" sz="2800" i="1">
                              <a:latin typeface="Cambria Math" panose="02040503050406030204" pitchFamily="18" charset="0"/>
                            </a:rPr>
                          </m:ctrlPr>
                        </m:sSupPr>
                        <m:e>
                          <m:r>
                            <a:rPr lang="en-US" sz="2800" b="0" i="1" smtClean="0">
                              <a:latin typeface="Cambria Math" panose="02040503050406030204" pitchFamily="18" charset="0"/>
                            </a:rPr>
                            <m:t>𝑡</m:t>
                          </m:r>
                        </m:e>
                        <m:sup>
                          <m:r>
                            <a:rPr lang="en-US" sz="2800" b="0" i="1" smtClean="0">
                              <a:latin typeface="Cambria Math" panose="02040503050406030204" pitchFamily="18" charset="0"/>
                            </a:rPr>
                            <m:t>3</m:t>
                          </m:r>
                        </m:sup>
                      </m:sSup>
                      <m:r>
                        <a:rPr lang="en-US" sz="2800" i="1">
                          <a:latin typeface="Cambria Math" panose="02040503050406030204" pitchFamily="18" charset="0"/>
                        </a:rPr>
                        <m:t>=0</m:t>
                      </m:r>
                    </m:oMath>
                  </m:oMathPara>
                </a14:m>
                <a:endParaRPr lang="en-US" sz="2800" dirty="0"/>
              </a:p>
              <a:p>
                <a:pPr marL="0" indent="0">
                  <a:buNone/>
                </a:pPr>
                <a:endParaRPr lang="en-US" dirty="0"/>
              </a:p>
              <a:p>
                <a:pPr marL="0" indent="0">
                  <a:buNone/>
                </a:pPr>
                <a:r>
                  <a:rPr lang="en-US" dirty="0"/>
                  <a:t>f</a:t>
                </a:r>
                <a:r>
                  <a:rPr lang="en-US" sz="2800" dirty="0"/>
                  <a:t>or </a:t>
                </a:r>
                <a:r>
                  <a:rPr lang="en-US" sz="2800" b="1" dirty="0"/>
                  <a:t>t = 0.7</a:t>
                </a:r>
              </a:p>
              <a:p>
                <a:pPr marL="0" indent="0">
                  <a:buNone/>
                </a:pPr>
                <a:endParaRPr lang="en-US" dirty="0"/>
              </a:p>
              <a:p>
                <a:pPr marL="0" indent="0">
                  <a:buNone/>
                </a:pPr>
                <a:r>
                  <a:rPr lang="fr-FR" dirty="0"/>
                  <a:t>P(0.7) = [1 0](1-0.7)3 + [3 3]3(0.7)(1-0.7)2 + [6 3]3(0.7)2(1-0.7) + [8 1](0.7)3</a:t>
                </a:r>
              </a:p>
              <a:p>
                <a:pPr marL="0" indent="0">
                  <a:buNone/>
                </a:pPr>
                <a:r>
                  <a:rPr lang="fr-FR" dirty="0"/>
                  <a:t>P(0.7) = [1 0](0.3)3 + [3 3]3(0.7)(0.3)2 + [6 3]3(0.7)2(0.3) + [8 1](0.7)3</a:t>
                </a:r>
              </a:p>
              <a:p>
                <a:pPr marL="0" indent="0">
                  <a:buNone/>
                </a:pPr>
                <a:r>
                  <a:rPr lang="fr-FR" dirty="0"/>
                  <a:t>P(0.7) = [1 0] x 0.027 + [3 3] x 3 x 0.7 x 0.09 + [6 3] x 3 x 0.49 x 0.3 + [8 1] x 0.343</a:t>
                </a:r>
              </a:p>
              <a:p>
                <a:pPr marL="0" indent="0">
                  <a:buNone/>
                </a:pPr>
                <a:r>
                  <a:rPr lang="fr-FR" dirty="0"/>
                  <a:t>P(0.7) = [1 0] x 0.027 + [3 3] x 0.189 + [6 3] x 0.441 + [8 1] x 0.343</a:t>
                </a:r>
              </a:p>
              <a:p>
                <a:pPr marL="0" indent="0">
                  <a:buNone/>
                </a:pPr>
                <a:r>
                  <a:rPr lang="fr-FR" dirty="0"/>
                  <a:t>P(0.7) = [0.027 0] + [0.567 0.567] + [2.646 1.323] + [2.744 0.343]</a:t>
                </a:r>
              </a:p>
              <a:p>
                <a:pPr marL="0" indent="0">
                  <a:buNone/>
                </a:pPr>
                <a:r>
                  <a:rPr lang="fr-FR" b="1" dirty="0"/>
                  <a:t>P(0.7) = [5.984 2.233]</a:t>
                </a:r>
                <a:endParaRPr lang="en-US" b="1"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b="7"/>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26</a:t>
            </a:fld>
            <a:endParaRPr lang="en-US"/>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𝐿</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r>
                                <a:rPr lang="en-US" sz="2800" i="1">
                                  <a:latin typeface="Cambria Math" panose="02040503050406030204" pitchFamily="18" charset="0"/>
                                </a:rPr>
                                <m:t>1−</m:t>
                              </m:r>
                              <m:r>
                                <a:rPr lang="en-US" sz="2800" i="1">
                                  <a:latin typeface="Cambria Math" panose="02040503050406030204" pitchFamily="18" charset="0"/>
                                </a:rPr>
                                <m:t>𝑡</m:t>
                              </m:r>
                            </m:e>
                          </m:d>
                        </m:e>
                        <m:sup>
                          <m:r>
                            <a:rPr lang="en-US" sz="2800" i="1">
                              <a:latin typeface="Cambria Math" panose="02040503050406030204" pitchFamily="18" charset="0"/>
                            </a:rPr>
                            <m:t>3</m:t>
                          </m:r>
                        </m:sup>
                      </m:sSup>
                      <m:r>
                        <a:rPr lang="en-US" sz="2800" i="1">
                          <a:latin typeface="Cambria Math" panose="02040503050406030204" pitchFamily="18" charset="0"/>
                        </a:rPr>
                        <m:t>+3</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r>
                                <a:rPr lang="en-US" sz="2800" i="1">
                                  <a:latin typeface="Cambria Math" panose="02040503050406030204" pitchFamily="18" charset="0"/>
                                </a:rPr>
                                <m:t>1−</m:t>
                              </m:r>
                              <m:r>
                                <a:rPr lang="en-US" sz="2800" i="1">
                                  <a:latin typeface="Cambria Math" panose="02040503050406030204" pitchFamily="18" charset="0"/>
                                </a:rPr>
                                <m:t>𝑡</m:t>
                              </m:r>
                            </m:e>
                          </m:d>
                        </m:e>
                        <m:sup>
                          <m:r>
                            <a:rPr lang="en-US" sz="2800" i="1">
                              <a:latin typeface="Cambria Math" panose="02040503050406030204" pitchFamily="18" charset="0"/>
                            </a:rPr>
                            <m:t>2</m:t>
                          </m:r>
                        </m:sup>
                      </m:sSup>
                      <m:r>
                        <a:rPr lang="en-US" sz="2800" b="0" i="1" smtClean="0">
                          <a:latin typeface="Cambria Math" panose="02040503050406030204" pitchFamily="18" charset="0"/>
                        </a:rPr>
                        <m:t>𝑡</m:t>
                      </m:r>
                      <m:r>
                        <a:rPr lang="en-US" sz="2800" i="1">
                          <a:latin typeface="Cambria Math" panose="02040503050406030204" pitchFamily="18" charset="0"/>
                        </a:rPr>
                        <m:t>+3</m:t>
                      </m:r>
                      <m:d>
                        <m:dPr>
                          <m:ctrlPr>
                            <a:rPr lang="en-US" sz="2800" i="1">
                              <a:latin typeface="Cambria Math" panose="02040503050406030204" pitchFamily="18" charset="0"/>
                            </a:rPr>
                          </m:ctrlPr>
                        </m:dPr>
                        <m:e>
                          <m:r>
                            <a:rPr lang="en-US" sz="2800" i="1">
                              <a:latin typeface="Cambria Math" panose="02040503050406030204" pitchFamily="18" charset="0"/>
                            </a:rPr>
                            <m:t>1−</m:t>
                          </m:r>
                          <m:r>
                            <a:rPr lang="en-US" sz="2800" i="1">
                              <a:latin typeface="Cambria Math" panose="02040503050406030204" pitchFamily="18" charset="0"/>
                            </a:rPr>
                            <m:t>𝑡</m:t>
                          </m:r>
                        </m:e>
                      </m:d>
                      <m:sSup>
                        <m:sSupPr>
                          <m:ctrlPr>
                            <a:rPr lang="en-US" sz="2800" i="1">
                              <a:latin typeface="Cambria Math" panose="02040503050406030204" pitchFamily="18" charset="0"/>
                            </a:rPr>
                          </m:ctrlPr>
                        </m:sSupPr>
                        <m:e>
                          <m:r>
                            <a:rPr lang="en-US" sz="2800" i="1">
                              <a:latin typeface="Cambria Math" panose="02040503050406030204" pitchFamily="18" charset="0"/>
                            </a:rPr>
                            <m:t>𝑡</m:t>
                          </m:r>
                        </m:e>
                        <m:sup>
                          <m:r>
                            <a:rPr lang="en-US" sz="2800" i="1">
                              <a:latin typeface="Cambria Math" panose="02040503050406030204" pitchFamily="18" charset="0"/>
                            </a:rPr>
                            <m:t>2</m:t>
                          </m:r>
                        </m:sup>
                      </m:sSup>
                      <m:r>
                        <a:rPr lang="en-US" sz="2800" i="1">
                          <a:latin typeface="Cambria Math" panose="02040503050406030204" pitchFamily="18" charset="0"/>
                        </a:rPr>
                        <m:t>+</m:t>
                      </m:r>
                      <m:sSup>
                        <m:sSupPr>
                          <m:ctrlPr>
                            <a:rPr lang="en-US" sz="2800" i="1">
                              <a:latin typeface="Cambria Math" panose="02040503050406030204" pitchFamily="18" charset="0"/>
                            </a:rPr>
                          </m:ctrlPr>
                        </m:sSupPr>
                        <m:e>
                          <m:r>
                            <a:rPr lang="en-US" sz="2800" b="0" i="1" smtClean="0">
                              <a:latin typeface="Cambria Math" panose="02040503050406030204" pitchFamily="18" charset="0"/>
                            </a:rPr>
                            <m:t>𝑡</m:t>
                          </m:r>
                        </m:e>
                        <m:sup>
                          <m:r>
                            <a:rPr lang="en-US" sz="2800" b="0" i="1" smtClean="0">
                              <a:latin typeface="Cambria Math" panose="02040503050406030204" pitchFamily="18" charset="0"/>
                            </a:rPr>
                            <m:t>3</m:t>
                          </m:r>
                        </m:sup>
                      </m:sSup>
                      <m:r>
                        <a:rPr lang="en-US" sz="2800" i="1">
                          <a:latin typeface="Cambria Math" panose="02040503050406030204" pitchFamily="18" charset="0"/>
                        </a:rPr>
                        <m:t>=0</m:t>
                      </m:r>
                    </m:oMath>
                  </m:oMathPara>
                </a14:m>
                <a:endParaRPr lang="en-US" sz="2800" dirty="0"/>
              </a:p>
              <a:p>
                <a:pPr marL="0" indent="0">
                  <a:buNone/>
                </a:pPr>
                <a:endParaRPr lang="en-US" dirty="0"/>
              </a:p>
              <a:p>
                <a:pPr marL="0" indent="0">
                  <a:buNone/>
                </a:pPr>
                <a:r>
                  <a:rPr lang="en-US" dirty="0"/>
                  <a:t>f</a:t>
                </a:r>
                <a:r>
                  <a:rPr lang="en-US" sz="2800" dirty="0"/>
                  <a:t>or </a:t>
                </a:r>
                <a:r>
                  <a:rPr lang="en-US" sz="2800" b="1" dirty="0"/>
                  <a:t>t = 1</a:t>
                </a:r>
              </a:p>
              <a:p>
                <a:pPr marL="0" indent="0">
                  <a:buNone/>
                </a:pPr>
                <a:endParaRPr lang="en-US" dirty="0"/>
              </a:p>
              <a:p>
                <a:pPr marL="0" indent="0">
                  <a:buNone/>
                </a:pPr>
                <a:r>
                  <a:rPr lang="nn-NO" dirty="0"/>
                  <a:t>P(1) = [1 0](1-1)3 + [3 3]3(1)(1-1)2 + [6 3]3(1)2(1-1) + [8 1](1)3</a:t>
                </a:r>
              </a:p>
              <a:p>
                <a:pPr marL="0" indent="0">
                  <a:buNone/>
                </a:pPr>
                <a:r>
                  <a:rPr lang="nn-NO" dirty="0"/>
                  <a:t>P(1) = [1 0] x 0 + [3 3] x 3 x 1 x 0 + [6 3] x 3 x 1 x 0 + [8 1] x 1</a:t>
                </a:r>
              </a:p>
              <a:p>
                <a:pPr marL="0" indent="0">
                  <a:buNone/>
                </a:pPr>
                <a:r>
                  <a:rPr lang="nn-NO" dirty="0"/>
                  <a:t>P(1) = 0 + 0 + 0 + [8 1]</a:t>
                </a:r>
              </a:p>
              <a:p>
                <a:pPr marL="0" indent="0">
                  <a:buNone/>
                </a:pPr>
                <a:r>
                  <a:rPr lang="nn-NO" b="1" dirty="0"/>
                  <a:t>P(1) = [8 1]</a:t>
                </a:r>
                <a:endParaRPr lang="en-US" b="1"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b="7"/>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27</a:t>
            </a:fld>
            <a:endParaRPr lang="en-US"/>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00300" y="2324894"/>
            <a:ext cx="7391400" cy="3352800"/>
          </a:xfrm>
        </p:spPr>
      </p:pic>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28</a:t>
            </a:fld>
            <a:endParaRPr lang="en-US"/>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r>
              <a:rPr lang="en-US" sz="4400" b="1" dirty="0"/>
              <a:t>THANK</a:t>
            </a:r>
            <a:r>
              <a:rPr lang="en-US" sz="4400" dirty="0"/>
              <a:t>YOU</a:t>
            </a:r>
          </a:p>
        </p:txBody>
      </p:sp>
      <p:sp>
        <p:nvSpPr>
          <p:cNvPr id="4" name="Footer Placeholder 3"/>
          <p:cNvSpPr>
            <a:spLocks noGrp="1"/>
          </p:cNvSpPr>
          <p:nvPr>
            <p:ph type="ftr" sz="quarter" idx="11"/>
          </p:nvPr>
        </p:nvSpPr>
        <p:spPr/>
        <p:txBody>
          <a:bodyPr/>
          <a:lstStyle/>
          <a:p>
            <a:r>
              <a:rPr lang="en-US"/>
              <a:t>feraputriayu@umm.ac.id</a:t>
            </a:r>
          </a:p>
        </p:txBody>
      </p:sp>
      <p:sp>
        <p:nvSpPr>
          <p:cNvPr id="5" name="Slide Number Placeholder 4"/>
          <p:cNvSpPr>
            <a:spLocks noGrp="1"/>
          </p:cNvSpPr>
          <p:nvPr>
            <p:ph type="sldNum" sz="quarter" idx="12"/>
          </p:nvPr>
        </p:nvSpPr>
        <p:spPr/>
        <p:txBody>
          <a:bodyPr/>
          <a:lstStyle/>
          <a:p>
            <a:fld id="{79596C48-2C34-4EDC-A0FF-CA1207F3E0C1}" type="slidenum">
              <a:rPr lang="en-US" smtClean="0"/>
              <a:t>29</a:t>
            </a:fld>
            <a:endParaRPr lang="en-US"/>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281</TotalTime>
  <Words>3104</Words>
  <Application>Microsoft Office PowerPoint</Application>
  <PresentationFormat>Widescreen</PresentationFormat>
  <Paragraphs>387</Paragraphs>
  <Slides>29</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Calibri Light</vt:lpstr>
      <vt:lpstr>Cambria Math</vt:lpstr>
      <vt:lpstr>Times New Roman</vt:lpstr>
      <vt:lpstr>Office Theme</vt:lpstr>
      <vt:lpstr>Computer Graphic</vt:lpstr>
      <vt:lpstr>PowerPoint Presentation</vt:lpstr>
      <vt:lpstr>PowerPoint Presentation</vt:lpstr>
      <vt:lpstr>PowerPoint Presentation</vt:lpstr>
      <vt:lpstr>PowerPoint Presentation</vt:lpstr>
      <vt:lpstr>Applications of Bezier Curves-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Pengantar Topologi</dc:title>
  <dc:creator>ozora</dc:creator>
  <cp:lastModifiedBy>Fesal Farendika</cp:lastModifiedBy>
  <cp:revision>1572</cp:revision>
  <dcterms:created xsi:type="dcterms:W3CDTF">2018-07-26T02:12:00Z</dcterms:created>
  <dcterms:modified xsi:type="dcterms:W3CDTF">2026-04-29T13:48:45Z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BCC055B366D644BFBA36B22B300E0654</vt:lpwstr>
  </property>
  <property fmtid="{D5CDD505-2E9C-101B-9397-08002B2CF9AE}" pid="3" name="KSOProductBuildVer">
    <vt:lpwstr>1033-11.2.0.11537</vt:lpwstr>
  </property>
</Properties>
</file>