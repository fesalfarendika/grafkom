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303" r:id="rId5"/>
    <p:sldId id="364" r:id="rId6"/>
    <p:sldId id="383" r:id="rId7"/>
    <p:sldId id="309" r:id="rId8"/>
    <p:sldId id="310" r:id="rId9"/>
    <p:sldId id="365" r:id="rId10"/>
    <p:sldId id="314" r:id="rId11"/>
    <p:sldId id="312" r:id="rId12"/>
    <p:sldId id="315" r:id="rId13"/>
    <p:sldId id="316" r:id="rId14"/>
    <p:sldId id="326" r:id="rId15"/>
    <p:sldId id="327" r:id="rId16"/>
    <p:sldId id="328" r:id="rId17"/>
    <p:sldId id="356" r:id="rId18"/>
    <p:sldId id="329" r:id="rId19"/>
    <p:sldId id="330" r:id="rId20"/>
    <p:sldId id="331" r:id="rId21"/>
    <p:sldId id="335" r:id="rId22"/>
    <p:sldId id="336" r:id="rId23"/>
    <p:sldId id="324" r:id="rId24"/>
    <p:sldId id="323" r:id="rId25"/>
    <p:sldId id="360" r:id="rId26"/>
    <p:sldId id="361" r:id="rId27"/>
    <p:sldId id="342" r:id="rId28"/>
    <p:sldId id="362" r:id="rId29"/>
    <p:sldId id="363" r:id="rId30"/>
    <p:sldId id="401" r:id="rId31"/>
    <p:sldId id="319" r:id="rId32"/>
    <p:sldId id="313" r:id="rId33"/>
    <p:sldId id="351" r:id="rId34"/>
    <p:sldId id="350" r:id="rId35"/>
    <p:sldId id="384" r:id="rId36"/>
    <p:sldId id="345" r:id="rId37"/>
    <p:sldId id="349" r:id="rId38"/>
    <p:sldId id="348" r:id="rId39"/>
    <p:sldId id="346" r:id="rId40"/>
    <p:sldId id="354" r:id="rId41"/>
    <p:sldId id="353" r:id="rId42"/>
    <p:sldId id="380" r:id="rId43"/>
    <p:sldId id="421" r:id="rId44"/>
    <p:sldId id="40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CC"/>
    <a:srgbClr val="33CCFF"/>
    <a:srgbClr val="66FFFF"/>
    <a:srgbClr val="FFFF00"/>
    <a:srgbClr val="5B9BD5"/>
    <a:srgbClr val="D2DEEF"/>
    <a:srgbClr val="EAEF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5201" autoAdjust="0"/>
  </p:normalViewPr>
  <p:slideViewPr>
    <p:cSldViewPr snapToGrid="0">
      <p:cViewPr varScale="1">
        <p:scale>
          <a:sx n="123" d="100"/>
          <a:sy n="123" d="100"/>
        </p:scale>
        <p:origin x="12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B02212-5716-44E5-A1D3-DEEEA75002B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A403D-8322-4310-AF42-A6DE546E1CC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DD9D3C-2FF3-4260-83CA-6E5EE589618D}" type="slidenum">
              <a:rPr lang="en-US" smtClean="0"/>
            </a:fld>
            <a:endParaRPr lang="en-US"/>
          </a:p>
        </p:txBody>
      </p:sp>
      <p:sp>
        <p:nvSpPr>
          <p:cNvPr id="5" name="Date Placeholder 4"/>
          <p:cNvSpPr>
            <a:spLocks noGrp="1"/>
          </p:cNvSpPr>
          <p:nvPr>
            <p:ph type="dt" idx="11"/>
          </p:nvPr>
        </p:nvSpPr>
        <p:spPr/>
        <p:txBody>
          <a:bodyPr/>
          <a:lstStyle/>
          <a:p>
            <a:fld id="{8DF37FCA-1AC5-4417-9439-50102B5C964F}" type="datetime1">
              <a:rPr lang="en-US" smtClean="0"/>
            </a:fld>
            <a:endParaRPr lang="en-US"/>
          </a:p>
        </p:txBody>
      </p:sp>
      <p:sp>
        <p:nvSpPr>
          <p:cNvPr id="6" name="Header Placeholder 5"/>
          <p:cNvSpPr>
            <a:spLocks noGrp="1"/>
          </p:cNvSpPr>
          <p:nvPr>
            <p:ph type="hdr" sz="quarter" idx="12"/>
          </p:nvPr>
        </p:nvSpPr>
        <p:spPr/>
        <p:txBody>
          <a:bodyPr/>
          <a:lstStyle/>
          <a:p>
            <a:r>
              <a:rPr lang="en-US"/>
              <a:t>christian.s.k.aditya@gmail.com</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73422DC-CA48-491D-BED8-C127EAB81957}" type="datetime1">
              <a:rPr lang="en-US" smtClean="0"/>
            </a:fld>
            <a:endParaRPr lang="en-US"/>
          </a:p>
        </p:txBody>
      </p:sp>
      <p:sp>
        <p:nvSpPr>
          <p:cNvPr id="5" name="Footer Placeholder 4"/>
          <p:cNvSpPr>
            <a:spLocks noGrp="1"/>
          </p:cNvSpPr>
          <p:nvPr>
            <p:ph type="ftr" sz="quarter" idx="11"/>
          </p:nvPr>
        </p:nvSpPr>
        <p:spPr/>
        <p:txBody>
          <a:bodyPr/>
          <a:lstStyle/>
          <a:p>
            <a:r>
              <a:rPr lang="en-US"/>
              <a:t>feraputriayu@umm.ac.id</a:t>
            </a:r>
            <a:endParaRPr lang="en-US"/>
          </a:p>
        </p:txBody>
      </p:sp>
      <p:sp>
        <p:nvSpPr>
          <p:cNvPr id="6" name="Slide Number Placeholder 5"/>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209B19A-500B-47D8-A3BB-592E3FCE0E90}" type="datetime1">
              <a:rPr lang="en-US" smtClean="0"/>
            </a:fld>
            <a:endParaRPr lang="en-US"/>
          </a:p>
        </p:txBody>
      </p:sp>
      <p:sp>
        <p:nvSpPr>
          <p:cNvPr id="5" name="Footer Placeholder 4"/>
          <p:cNvSpPr>
            <a:spLocks noGrp="1"/>
          </p:cNvSpPr>
          <p:nvPr>
            <p:ph type="ftr" sz="quarter" idx="11"/>
          </p:nvPr>
        </p:nvSpPr>
        <p:spPr/>
        <p:txBody>
          <a:bodyPr/>
          <a:lstStyle/>
          <a:p>
            <a:r>
              <a:rPr lang="en-US"/>
              <a:t>feraputriayu@umm.ac.id</a:t>
            </a:r>
            <a:endParaRPr lang="en-US"/>
          </a:p>
        </p:txBody>
      </p:sp>
      <p:sp>
        <p:nvSpPr>
          <p:cNvPr id="6" name="Slide Number Placeholder 5"/>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925081C-A2B4-4732-88EC-17A3C6CC76B7}" type="datetime1">
              <a:rPr lang="en-US" smtClean="0"/>
            </a:fld>
            <a:endParaRPr lang="en-US"/>
          </a:p>
        </p:txBody>
      </p:sp>
      <p:sp>
        <p:nvSpPr>
          <p:cNvPr id="5" name="Footer Placeholder 4"/>
          <p:cNvSpPr>
            <a:spLocks noGrp="1"/>
          </p:cNvSpPr>
          <p:nvPr>
            <p:ph type="ftr" sz="quarter" idx="11"/>
          </p:nvPr>
        </p:nvSpPr>
        <p:spPr/>
        <p:txBody>
          <a:bodyPr/>
          <a:lstStyle/>
          <a:p>
            <a:r>
              <a:rPr lang="en-US"/>
              <a:t>feraputriayu@umm.ac.id</a:t>
            </a:r>
            <a:endParaRPr lang="en-US"/>
          </a:p>
        </p:txBody>
      </p:sp>
      <p:sp>
        <p:nvSpPr>
          <p:cNvPr id="6" name="Slide Number Placeholder 5"/>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CE162BAC-28C6-4076-BCC6-F86D0266FC9E}" type="datetime1">
              <a:rPr lang="en-US" smtClean="0"/>
            </a:fld>
            <a:endParaRPr lang="en-US"/>
          </a:p>
        </p:txBody>
      </p:sp>
      <p:sp>
        <p:nvSpPr>
          <p:cNvPr id="6" name="Footer Placeholder 5"/>
          <p:cNvSpPr>
            <a:spLocks noGrp="1"/>
          </p:cNvSpPr>
          <p:nvPr>
            <p:ph type="ftr" sz="quarter" idx="11"/>
          </p:nvPr>
        </p:nvSpPr>
        <p:spPr/>
        <p:txBody>
          <a:bodyPr/>
          <a:lstStyle/>
          <a:p>
            <a:r>
              <a:rPr lang="en-US"/>
              <a:t>feraputriayu@umm.ac.id</a:t>
            </a:r>
            <a:endParaRPr lang="en-US"/>
          </a:p>
        </p:txBody>
      </p:sp>
      <p:sp>
        <p:nvSpPr>
          <p:cNvPr id="7" name="Slide Number Placeholder 6"/>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E82B90F-74B0-4B92-BA68-947BE41DE279}" type="datetime1">
              <a:rPr lang="en-US" smtClean="0"/>
            </a:fld>
            <a:endParaRPr lang="en-US"/>
          </a:p>
        </p:txBody>
      </p:sp>
      <p:sp>
        <p:nvSpPr>
          <p:cNvPr id="8" name="Footer Placeholder 7"/>
          <p:cNvSpPr>
            <a:spLocks noGrp="1"/>
          </p:cNvSpPr>
          <p:nvPr>
            <p:ph type="ftr" sz="quarter" idx="11"/>
          </p:nvPr>
        </p:nvSpPr>
        <p:spPr/>
        <p:txBody>
          <a:bodyPr/>
          <a:lstStyle/>
          <a:p>
            <a:r>
              <a:rPr lang="en-US"/>
              <a:t>feraputriayu@umm.ac.id</a:t>
            </a:r>
            <a:endParaRPr lang="en-US"/>
          </a:p>
        </p:txBody>
      </p:sp>
      <p:sp>
        <p:nvSpPr>
          <p:cNvPr id="9" name="Slide Number Placeholder 8"/>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65232FC-160F-4707-96D6-AF1265BD60E8}" type="datetime1">
              <a:rPr lang="en-US" smtClean="0"/>
            </a:fld>
            <a:endParaRPr lang="en-US"/>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F5E80D-13F2-4E80-9F2F-F4DF9456D2C6}" type="datetime1">
              <a:rPr lang="en-US" smtClean="0"/>
            </a:fld>
            <a:endParaRPr lang="en-US"/>
          </a:p>
        </p:txBody>
      </p:sp>
      <p:sp>
        <p:nvSpPr>
          <p:cNvPr id="3" name="Footer Placeholder 2"/>
          <p:cNvSpPr>
            <a:spLocks noGrp="1"/>
          </p:cNvSpPr>
          <p:nvPr>
            <p:ph type="ftr" sz="quarter" idx="11"/>
          </p:nvPr>
        </p:nvSpPr>
        <p:spPr/>
        <p:txBody>
          <a:bodyPr/>
          <a:lstStyle/>
          <a:p>
            <a:r>
              <a:rPr lang="en-US"/>
              <a:t>feraputriayu@umm.ac.id</a:t>
            </a:r>
            <a:endParaRPr lang="en-US"/>
          </a:p>
        </p:txBody>
      </p:sp>
      <p:sp>
        <p:nvSpPr>
          <p:cNvPr id="4" name="Slide Number Placeholder 3"/>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88AF6CF-D08D-4894-843E-9257FE1FCA90}" type="datetime1">
              <a:rPr lang="en-US" smtClean="0"/>
            </a:fld>
            <a:endParaRPr lang="en-US"/>
          </a:p>
        </p:txBody>
      </p:sp>
      <p:sp>
        <p:nvSpPr>
          <p:cNvPr id="6" name="Footer Placeholder 5"/>
          <p:cNvSpPr>
            <a:spLocks noGrp="1"/>
          </p:cNvSpPr>
          <p:nvPr>
            <p:ph type="ftr" sz="quarter" idx="11"/>
          </p:nvPr>
        </p:nvSpPr>
        <p:spPr/>
        <p:txBody>
          <a:bodyPr/>
          <a:lstStyle/>
          <a:p>
            <a:r>
              <a:rPr lang="en-US"/>
              <a:t>feraputriayu@umm.ac.id</a:t>
            </a:r>
            <a:endParaRPr lang="en-US"/>
          </a:p>
        </p:txBody>
      </p:sp>
      <p:sp>
        <p:nvSpPr>
          <p:cNvPr id="7" name="Slide Number Placeholder 6"/>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E66BD8E-E412-45E9-B120-C82A6A6CA3A1}" type="datetime1">
              <a:rPr lang="en-US" smtClean="0"/>
            </a:fld>
            <a:endParaRPr lang="en-US"/>
          </a:p>
        </p:txBody>
      </p:sp>
      <p:sp>
        <p:nvSpPr>
          <p:cNvPr id="6" name="Footer Placeholder 5"/>
          <p:cNvSpPr>
            <a:spLocks noGrp="1"/>
          </p:cNvSpPr>
          <p:nvPr>
            <p:ph type="ftr" sz="quarter" idx="11"/>
          </p:nvPr>
        </p:nvSpPr>
        <p:spPr/>
        <p:txBody>
          <a:bodyPr/>
          <a:lstStyle/>
          <a:p>
            <a:r>
              <a:rPr lang="en-US"/>
              <a:t>feraputriayu@umm.ac.id</a:t>
            </a:r>
            <a:endParaRPr lang="en-US"/>
          </a:p>
        </p:txBody>
      </p:sp>
      <p:sp>
        <p:nvSpPr>
          <p:cNvPr id="7" name="Slide Number Placeholder 6"/>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1ADDD81-7D00-48C2-8B1D-B248D1347316}" type="datetime1">
              <a:rPr lang="en-US" smtClean="0"/>
            </a:fld>
            <a:endParaRPr lang="en-US"/>
          </a:p>
        </p:txBody>
      </p:sp>
      <p:sp>
        <p:nvSpPr>
          <p:cNvPr id="5" name="Footer Placeholder 4"/>
          <p:cNvSpPr>
            <a:spLocks noGrp="1"/>
          </p:cNvSpPr>
          <p:nvPr>
            <p:ph type="ftr" sz="quarter" idx="11"/>
          </p:nvPr>
        </p:nvSpPr>
        <p:spPr/>
        <p:txBody>
          <a:bodyPr/>
          <a:lstStyle/>
          <a:p>
            <a:r>
              <a:rPr lang="en-US"/>
              <a:t>feraputriayu@umm.ac.id</a:t>
            </a:r>
            <a:endParaRPr lang="en-US"/>
          </a:p>
        </p:txBody>
      </p:sp>
      <p:sp>
        <p:nvSpPr>
          <p:cNvPr id="6" name="Slide Number Placeholder 5"/>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1DE0E75-CD42-4B89-A74C-92CCE7B42F1B}" type="datetime1">
              <a:rPr lang="en-US" smtClean="0"/>
            </a:fld>
            <a:endParaRPr lang="en-US"/>
          </a:p>
        </p:txBody>
      </p:sp>
      <p:sp>
        <p:nvSpPr>
          <p:cNvPr id="5" name="Footer Placeholder 4"/>
          <p:cNvSpPr>
            <a:spLocks noGrp="1"/>
          </p:cNvSpPr>
          <p:nvPr>
            <p:ph type="ftr" sz="quarter" idx="11"/>
          </p:nvPr>
        </p:nvSpPr>
        <p:spPr/>
        <p:txBody>
          <a:bodyPr/>
          <a:lstStyle/>
          <a:p>
            <a:r>
              <a:rPr lang="en-US"/>
              <a:t>feraputriayu@umm.ac.id</a:t>
            </a:r>
            <a:endParaRPr lang="en-US"/>
          </a:p>
        </p:txBody>
      </p:sp>
      <p:sp>
        <p:nvSpPr>
          <p:cNvPr id="6" name="Slide Number Placeholder 5"/>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7DC963-DB2E-40EE-BEC9-350309FFA362}"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feraputriayu@umm.ac.id</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596C48-2C34-4EDC-A0FF-CA1207F3E0C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image" Target="../media/image1.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image" Target="../media/image1.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ctrTitle"/>
          </p:nvPr>
        </p:nvSpPr>
        <p:spPr/>
        <p:txBody>
          <a:bodyPr>
            <a:normAutofit/>
          </a:bodyPr>
          <a:lstStyle/>
          <a:p>
            <a:r>
              <a:rPr lang="en-US" sz="6600" b="1" dirty="0">
                <a:effectLst>
                  <a:outerShdw blurRad="38100" dist="38100" dir="2700000" algn="tl">
                    <a:srgbClr val="000000">
                      <a:alpha val="43137"/>
                    </a:srgbClr>
                  </a:outerShdw>
                </a:effectLst>
              </a:rPr>
              <a:t>Computer Graphics</a:t>
            </a:r>
            <a:endParaRPr lang="en-US" sz="6600" b="1"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p:txBody>
          <a:bodyPr/>
          <a:lstStyle/>
          <a:p>
            <a:r>
              <a:rPr lang="en-US" b="1" i="1" dirty="0"/>
              <a:t>Week 3 : </a:t>
            </a:r>
            <a:r>
              <a:rPr lang="en-US" i="1"/>
              <a:t>Color Space</a:t>
            </a:r>
            <a:endParaRPr lang="en-US" i="1" dirty="0"/>
          </a:p>
        </p:txBody>
      </p:sp>
      <p:sp>
        <p:nvSpPr>
          <p:cNvPr id="5" name="Footer Placeholder 4"/>
          <p:cNvSpPr>
            <a:spLocks noGrp="1"/>
          </p:cNvSpPr>
          <p:nvPr>
            <p:ph type="ftr" sz="quarter" idx="11"/>
          </p:nvPr>
        </p:nvSpPr>
        <p:spPr/>
        <p:txBody>
          <a:bodyPr/>
          <a:lstStyle/>
          <a:p>
            <a:r>
              <a:rPr lang="en-US"/>
              <a:t>feraputriayu@umm.ac.id</a:t>
            </a:r>
            <a:endParaRPr lang="en-US"/>
          </a:p>
        </p:txBody>
      </p:sp>
      <p:sp>
        <p:nvSpPr>
          <p:cNvPr id="6" name="Slide Number Placeholder 5"/>
          <p:cNvSpPr>
            <a:spLocks noGrp="1"/>
          </p:cNvSpPr>
          <p:nvPr>
            <p:ph type="sldNum" sz="quarter" idx="12"/>
          </p:nvPr>
        </p:nvSpPr>
        <p:spPr/>
        <p:txBody>
          <a:bodyPr/>
          <a:lstStyle/>
          <a:p>
            <a:fld id="{3B400F24-E945-4E23-AE98-19FD98E2160D}" type="slidenum">
              <a:rPr lang="en-US" smtClean="0"/>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dirty="0"/>
              <a:t>OUTLINES</a:t>
            </a:r>
            <a:endParaRPr lang="en-US" dirty="0"/>
          </a:p>
        </p:txBody>
      </p:sp>
      <p:sp>
        <p:nvSpPr>
          <p:cNvPr id="3" name="Content Placeholder 2"/>
          <p:cNvSpPr>
            <a:spLocks noGrp="1"/>
          </p:cNvSpPr>
          <p:nvPr>
            <p:ph idx="1"/>
          </p:nvPr>
        </p:nvSpPr>
        <p:spPr/>
        <p:txBody>
          <a:bodyPr/>
          <a:lstStyle/>
          <a:p>
            <a:pPr marL="514350" indent="-514350">
              <a:buAutoNum type="arabicPeriod"/>
            </a:pPr>
            <a:r>
              <a:rPr lang="en-US" dirty="0"/>
              <a:t>RGB</a:t>
            </a:r>
            <a:endParaRPr lang="en-US" dirty="0"/>
          </a:p>
          <a:p>
            <a:pPr marL="514350" indent="-514350">
              <a:buAutoNum type="arabicPeriod"/>
            </a:pPr>
            <a:r>
              <a:rPr lang="en-US" dirty="0"/>
              <a:t>Hexadecimal Number</a:t>
            </a:r>
            <a:endParaRPr lang="en-US" dirty="0"/>
          </a:p>
          <a:p>
            <a:pPr marL="514350" indent="-514350">
              <a:buAutoNum type="arabicPeriod"/>
            </a:pPr>
            <a:r>
              <a:rPr lang="en-US" dirty="0"/>
              <a:t>CMYK</a:t>
            </a:r>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 Space</a:t>
            </a:r>
            <a:endParaRPr lang="en-US" dirty="0"/>
          </a:p>
        </p:txBody>
      </p:sp>
      <p:sp>
        <p:nvSpPr>
          <p:cNvPr id="3" name="Content Placeholder 2"/>
          <p:cNvSpPr>
            <a:spLocks noGrp="1"/>
          </p:cNvSpPr>
          <p:nvPr>
            <p:ph idx="1"/>
          </p:nvPr>
        </p:nvSpPr>
        <p:spPr/>
        <p:txBody>
          <a:bodyPr>
            <a:normAutofit/>
          </a:bodyPr>
          <a:lstStyle/>
          <a:p>
            <a:pPr marL="0" indent="0">
              <a:buNone/>
            </a:pPr>
            <a:r>
              <a:rPr lang="en-US" sz="2400" dirty="0"/>
              <a:t>A color space is a useful conceptual tool for understanding the color capabilities of a particular device or digital file. When trying to reproduce color on another device, color spaces can show whether you will be able to retain shadow/highlight detail, color saturation, and by how much either will be compromised.</a:t>
            </a:r>
            <a:endParaRPr lang="en-US" sz="2400" dirty="0"/>
          </a:p>
          <a:p>
            <a:pPr marL="0" indent="0">
              <a:buNone/>
            </a:pPr>
            <a:endParaRPr lang="en-US" sz="2400" dirty="0"/>
          </a:p>
          <a:p>
            <a:pPr marL="0" indent="0">
              <a:buNone/>
            </a:pPr>
            <a:r>
              <a:rPr lang="en-US" sz="2400" dirty="0"/>
              <a:t>Color spaces are the mathematical representation of a set of colors. There are many color models. Some of them are </a:t>
            </a:r>
            <a:r>
              <a:rPr lang="en-US" sz="2400" b="1" dirty="0"/>
              <a:t>RGB</a:t>
            </a:r>
            <a:r>
              <a:rPr lang="en-US" sz="2400" dirty="0"/>
              <a:t>, </a:t>
            </a:r>
            <a:r>
              <a:rPr lang="en-US" sz="2400" b="1" dirty="0"/>
              <a:t>CMYK</a:t>
            </a:r>
            <a:r>
              <a:rPr lang="en-US" sz="2400" dirty="0"/>
              <a:t>, </a:t>
            </a:r>
            <a:r>
              <a:rPr lang="en-US" sz="2400" b="1" dirty="0"/>
              <a:t>YIQ</a:t>
            </a:r>
            <a:r>
              <a:rPr lang="en-US" sz="2400" dirty="0"/>
              <a:t>, </a:t>
            </a:r>
            <a:r>
              <a:rPr lang="en-US" sz="2400" b="1" dirty="0"/>
              <a:t>HSV</a:t>
            </a:r>
            <a:r>
              <a:rPr lang="en-US" sz="2400" dirty="0"/>
              <a:t>, </a:t>
            </a:r>
            <a:r>
              <a:rPr lang="en-US" sz="2400" b="1" dirty="0"/>
              <a:t>HLS</a:t>
            </a:r>
            <a:r>
              <a:rPr lang="en-US" sz="2400" dirty="0"/>
              <a:t>, etc.</a:t>
            </a:r>
            <a:endParaRPr lang="en-US" sz="24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2000" dirty="0"/>
              <a:t>In computer graphics and photography, color space refers to a specific organization of colors.</a:t>
            </a:r>
            <a:endParaRPr lang="en-US" sz="2000" dirty="0"/>
          </a:p>
          <a:p>
            <a:pPr marL="0" indent="0">
              <a:buNone/>
            </a:pPr>
            <a:endParaRPr lang="en-US" sz="2000" dirty="0"/>
          </a:p>
          <a:p>
            <a:pPr marL="0" indent="0">
              <a:buNone/>
            </a:pPr>
            <a:r>
              <a:rPr lang="en-US" sz="2000" dirty="0"/>
              <a:t>The three most common are red, green, and blue (RGB), cyan, magenta, yellow, and key (CMYK), and hue-saturation-value (HSV).</a:t>
            </a:r>
            <a:endParaRPr lang="en-US" sz="2000" dirty="0"/>
          </a:p>
          <a:p>
            <a:pPr marL="0" indent="0">
              <a:buNone/>
            </a:pPr>
            <a:endParaRPr lang="en-US" sz="2000" dirty="0"/>
          </a:p>
          <a:p>
            <a:pPr marL="0" indent="0">
              <a:buNone/>
            </a:pPr>
            <a:r>
              <a:rPr lang="en-US" sz="2000" dirty="0"/>
              <a:t>Each color space has its own uses:</a:t>
            </a:r>
            <a:endParaRPr lang="en-US" sz="2000" dirty="0"/>
          </a:p>
          <a:p>
            <a:r>
              <a:rPr lang="en-US" sz="2000" dirty="0"/>
              <a:t>RGB is better for website images because it works with monitors.</a:t>
            </a:r>
            <a:endParaRPr lang="en-US" sz="2000" dirty="0"/>
          </a:p>
          <a:p>
            <a:r>
              <a:rPr lang="en-US" sz="2000" dirty="0"/>
              <a:t>CMYK is often used in print because it allows for more color variations.</a:t>
            </a:r>
            <a:endParaRPr lang="en-US" sz="2000" dirty="0"/>
          </a:p>
          <a:p>
            <a:r>
              <a:rPr lang="en-US" sz="2000" dirty="0"/>
              <a:t>HSV is great for editing because it separates out the lightness variations from the hue and saturation variations.</a:t>
            </a:r>
            <a:endParaRPr lang="en-US" sz="20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US" sz="4400" dirty="0"/>
          </a:p>
          <a:p>
            <a:pPr marL="0" indent="0" algn="ctr">
              <a:buNone/>
            </a:pPr>
            <a:endParaRPr lang="en-US" sz="4400" dirty="0"/>
          </a:p>
          <a:p>
            <a:pPr marL="0" indent="0" algn="ctr">
              <a:buNone/>
            </a:pPr>
            <a:r>
              <a:rPr lang="en-US" sz="4400" dirty="0"/>
              <a:t>1. RGB</a:t>
            </a:r>
            <a:endParaRPr lang="en-US" sz="44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b="1" dirty="0">
                <a:solidFill>
                  <a:srgbClr val="FF0000"/>
                </a:solidFill>
              </a:rPr>
              <a:t>R</a:t>
            </a:r>
            <a:r>
              <a:rPr lang="en-US" b="1" dirty="0">
                <a:solidFill>
                  <a:srgbClr val="92D050"/>
                </a:solidFill>
              </a:rPr>
              <a:t>G</a:t>
            </a:r>
            <a:r>
              <a:rPr lang="en-US" b="1" dirty="0">
                <a:solidFill>
                  <a:schemeClr val="accent1"/>
                </a:solidFill>
              </a:rPr>
              <a:t>B</a:t>
            </a:r>
            <a:endParaRPr lang="en-US" b="1" dirty="0">
              <a:solidFill>
                <a:schemeClr val="accent1"/>
              </a:solidFill>
            </a:endParaRPr>
          </a:p>
        </p:txBody>
      </p:sp>
      <p:sp>
        <p:nvSpPr>
          <p:cNvPr id="3" name="Content Placeholder 2"/>
          <p:cNvSpPr>
            <a:spLocks noGrp="1"/>
          </p:cNvSpPr>
          <p:nvPr>
            <p:ph idx="1"/>
          </p:nvPr>
        </p:nvSpPr>
        <p:spPr/>
        <p:txBody>
          <a:bodyPr/>
          <a:lstStyle/>
          <a:p>
            <a:pPr marL="0" indent="0">
              <a:buNone/>
            </a:pPr>
            <a:r>
              <a:rPr lang="en-US" dirty="0"/>
              <a:t>The </a:t>
            </a:r>
            <a:r>
              <a:rPr lang="en-US" b="1" dirty="0">
                <a:solidFill>
                  <a:srgbClr val="FF0000"/>
                </a:solidFill>
              </a:rPr>
              <a:t>R</a:t>
            </a:r>
            <a:r>
              <a:rPr lang="en-US" b="1" dirty="0">
                <a:solidFill>
                  <a:srgbClr val="92D050"/>
                </a:solidFill>
              </a:rPr>
              <a:t>G</a:t>
            </a:r>
            <a:r>
              <a:rPr lang="en-US" b="1" dirty="0">
                <a:solidFill>
                  <a:schemeClr val="accent1"/>
                </a:solidFill>
              </a:rPr>
              <a:t>B</a:t>
            </a:r>
            <a:r>
              <a:rPr lang="en-US" dirty="0"/>
              <a:t> color model is an additive color model in which </a:t>
            </a:r>
            <a:r>
              <a:rPr lang="en-US" b="1" dirty="0">
                <a:solidFill>
                  <a:srgbClr val="FF0000"/>
                </a:solidFill>
              </a:rPr>
              <a:t>Red</a:t>
            </a:r>
            <a:r>
              <a:rPr lang="en-US" dirty="0"/>
              <a:t>, </a:t>
            </a:r>
            <a:r>
              <a:rPr lang="en-US" b="1" dirty="0">
                <a:solidFill>
                  <a:srgbClr val="92D050"/>
                </a:solidFill>
              </a:rPr>
              <a:t>Green</a:t>
            </a:r>
            <a:r>
              <a:rPr lang="en-US" dirty="0"/>
              <a:t> and </a:t>
            </a:r>
            <a:r>
              <a:rPr lang="en-US" b="1" dirty="0">
                <a:solidFill>
                  <a:srgbClr val="00B0F0"/>
                </a:solidFill>
              </a:rPr>
              <a:t>Blue</a:t>
            </a:r>
            <a:r>
              <a:rPr lang="en-US" dirty="0"/>
              <a:t> light are added together in various ways to reproduce a broad array of colors. The name of the model comes from the initials of the three additive primary colors, </a:t>
            </a:r>
            <a:r>
              <a:rPr lang="en-US" b="1" dirty="0">
                <a:solidFill>
                  <a:srgbClr val="FF0000"/>
                </a:solidFill>
              </a:rPr>
              <a:t>Red</a:t>
            </a:r>
            <a:r>
              <a:rPr lang="en-US" dirty="0"/>
              <a:t>, </a:t>
            </a:r>
            <a:r>
              <a:rPr lang="en-US" b="1" dirty="0">
                <a:solidFill>
                  <a:srgbClr val="92D050"/>
                </a:solidFill>
              </a:rPr>
              <a:t>Green</a:t>
            </a:r>
            <a:r>
              <a:rPr lang="en-US" dirty="0"/>
              <a:t>, and </a:t>
            </a:r>
            <a:r>
              <a:rPr lang="en-US" b="1" dirty="0">
                <a:solidFill>
                  <a:srgbClr val="00B0F0"/>
                </a:solidFill>
              </a:rPr>
              <a:t>Blue</a:t>
            </a:r>
            <a:r>
              <a:rPr lang="en-US" dirty="0"/>
              <a:t>.</a:t>
            </a:r>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81182" y="3273157"/>
            <a:ext cx="2804087" cy="2804087"/>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365125"/>
                <a:ext cx="6825343" cy="5811838"/>
              </a:xfrm>
            </p:spPr>
            <p:txBody>
              <a:bodyPr>
                <a:normAutofit/>
              </a:bodyPr>
              <a:lstStyle/>
              <a:p>
                <a:pPr marL="0" indent="0">
                  <a:buNone/>
                </a:pPr>
                <a:r>
                  <a:rPr lang="en-US" sz="2400" dirty="0"/>
                  <a:t>The </a:t>
                </a:r>
                <a:r>
                  <a:rPr lang="en-US" sz="2400" b="1" dirty="0">
                    <a:solidFill>
                      <a:srgbClr val="FF0000"/>
                    </a:solidFill>
                  </a:rPr>
                  <a:t>R</a:t>
                </a:r>
                <a:r>
                  <a:rPr lang="en-US" sz="2400" b="1" dirty="0">
                    <a:solidFill>
                      <a:srgbClr val="92D050"/>
                    </a:solidFill>
                  </a:rPr>
                  <a:t>G</a:t>
                </a:r>
                <a:r>
                  <a:rPr lang="en-US" sz="2400" b="1" dirty="0">
                    <a:solidFill>
                      <a:schemeClr val="accent1"/>
                    </a:solidFill>
                  </a:rPr>
                  <a:t>B</a:t>
                </a:r>
                <a:r>
                  <a:rPr lang="en-US" sz="2400" dirty="0"/>
                  <a:t> model is usually presented in the form of a three-dimensional cube, with red, green, and blue colors at the corners of the axis.</a:t>
                </a:r>
                <a:endParaRPr lang="en-US" sz="2400" dirty="0"/>
              </a:p>
              <a:p>
                <a:pPr marL="0" indent="0">
                  <a:buNone/>
                </a:pPr>
                <a:endParaRPr lang="en-US" sz="2400" dirty="0"/>
              </a:p>
              <a:p>
                <a:pPr marL="0" indent="0">
                  <a:buNone/>
                </a:pPr>
                <a:r>
                  <a:rPr lang="en-US" sz="2400" dirty="0"/>
                  <a:t>The </a:t>
                </a:r>
                <a:r>
                  <a:rPr lang="en-US" sz="2400" b="1" dirty="0"/>
                  <a:t>Black</a:t>
                </a:r>
                <a:r>
                  <a:rPr lang="en-US" sz="2400" dirty="0"/>
                  <a:t> color is at the origin and the white color is at the opposite end of the cube.</a:t>
                </a:r>
                <a:endParaRPr lang="en-US" sz="2400" dirty="0"/>
              </a:p>
              <a:p>
                <a:pPr marL="0" indent="0">
                  <a:buNone/>
                </a:pPr>
                <a:endParaRPr lang="en-US" sz="2400" dirty="0"/>
              </a:p>
              <a:p>
                <a:pPr marL="0" indent="0">
                  <a:buNone/>
                </a:pPr>
                <a:r>
                  <a:rPr lang="en-US" sz="2400" dirty="0"/>
                  <a:t>The image below shows a real color cube with a resolution of 24 bits. Please note, using 24 bits, the number of colors reaches 16,777,216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24</m:t>
                        </m:r>
                      </m:sup>
                    </m:sSup>
                  </m:oMath>
                </a14:m>
                <a:r>
                  <a:rPr lang="en-US" sz="2400" dirty="0"/>
                  <a:t>).</a:t>
                </a:r>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365125"/>
                <a:ext cx="6825343" cy="5811838"/>
              </a:xfrm>
              <a:blipFill rotWithShape="1">
                <a:blip r:embed="rId1"/>
                <a:stretch>
                  <a:fillRect r="5" b="5"/>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sp>
        <p:nvSpPr>
          <p:cNvPr id="9" name="Rectangle 8"/>
          <p:cNvSpPr/>
          <p:nvPr/>
        </p:nvSpPr>
        <p:spPr>
          <a:xfrm>
            <a:off x="8564096" y="5182391"/>
            <a:ext cx="2600455" cy="307777"/>
          </a:xfrm>
          <a:prstGeom prst="rect">
            <a:avLst/>
          </a:prstGeom>
        </p:spPr>
        <p:txBody>
          <a:bodyPr wrap="none">
            <a:spAutoFit/>
          </a:bodyPr>
          <a:lstStyle/>
          <a:p>
            <a:r>
              <a:rPr lang="en-US" sz="1400" i="1" dirty="0"/>
              <a:t>RGB color space scheme in cubes</a:t>
            </a:r>
            <a:endParaRPr lang="en-US" sz="1400" i="1"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8835" y="250595"/>
            <a:ext cx="3150979" cy="2704782"/>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98410" y="3059057"/>
            <a:ext cx="2180321" cy="1951094"/>
          </a:xfrm>
          <a:prstGeom prst="rect">
            <a:avLst/>
          </a:prstGeo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The </a:t>
            </a:r>
            <a:r>
              <a:rPr lang="en-US" b="1" dirty="0">
                <a:solidFill>
                  <a:srgbClr val="FF0000"/>
                </a:solidFill>
              </a:rPr>
              <a:t>Red</a:t>
            </a:r>
            <a:r>
              <a:rPr lang="en-US" dirty="0"/>
              <a:t>, </a:t>
            </a:r>
            <a:r>
              <a:rPr lang="en-US" b="1" dirty="0">
                <a:solidFill>
                  <a:srgbClr val="92D050"/>
                </a:solidFill>
              </a:rPr>
              <a:t>Green</a:t>
            </a:r>
            <a:r>
              <a:rPr lang="en-US" dirty="0"/>
              <a:t> and </a:t>
            </a:r>
            <a:r>
              <a:rPr lang="en-US" b="1" dirty="0">
                <a:solidFill>
                  <a:srgbClr val="00B0F0"/>
                </a:solidFill>
              </a:rPr>
              <a:t>Blue</a:t>
            </a:r>
            <a:r>
              <a:rPr lang="en-US" dirty="0"/>
              <a:t> use 8 bits each, which have integer values from 0 to 255. This makes 256*256*256 = </a:t>
            </a:r>
            <a:r>
              <a:rPr lang="en-US" b="1" dirty="0"/>
              <a:t>16.777.216 possible colors</a:t>
            </a:r>
            <a:r>
              <a:rPr lang="en-US" dirty="0"/>
              <a:t>.</a:t>
            </a:r>
            <a:endParaRPr lang="en-US" dirty="0"/>
          </a:p>
          <a:p>
            <a:pPr marL="0" indent="0">
              <a:buNone/>
            </a:pPr>
            <a:endParaRPr lang="en-US" dirty="0"/>
          </a:p>
          <a:p>
            <a:pPr marL="0" indent="0">
              <a:buNone/>
            </a:pPr>
            <a:r>
              <a:rPr lang="en-US" dirty="0"/>
              <a:t>Each pixel in the LED monitor displays colors this way, by combination of </a:t>
            </a:r>
            <a:r>
              <a:rPr lang="en-US" b="1" dirty="0">
                <a:solidFill>
                  <a:srgbClr val="FF0000"/>
                </a:solidFill>
              </a:rPr>
              <a:t>Red</a:t>
            </a:r>
            <a:r>
              <a:rPr lang="en-US" dirty="0"/>
              <a:t>, </a:t>
            </a:r>
            <a:r>
              <a:rPr lang="en-US" b="1" dirty="0">
                <a:solidFill>
                  <a:srgbClr val="92D050"/>
                </a:solidFill>
              </a:rPr>
              <a:t>Green</a:t>
            </a:r>
            <a:r>
              <a:rPr lang="en-US" dirty="0"/>
              <a:t> and </a:t>
            </a:r>
            <a:r>
              <a:rPr lang="en-US" b="1" dirty="0">
                <a:solidFill>
                  <a:srgbClr val="00B0F0"/>
                </a:solidFill>
              </a:rPr>
              <a:t>Blue</a:t>
            </a:r>
            <a:r>
              <a:rPr lang="en-US" dirty="0"/>
              <a:t> LEDs (Light Emitting Diodes).</a:t>
            </a:r>
            <a:endParaRPr lang="en-US" dirty="0"/>
          </a:p>
          <a:p>
            <a:pPr marL="0" indent="0">
              <a:buNone/>
            </a:pPr>
            <a:endParaRPr lang="en-US" dirty="0"/>
          </a:p>
          <a:p>
            <a:pPr marL="0" indent="0">
              <a:buNone/>
            </a:pPr>
            <a:r>
              <a:rPr lang="en-US" dirty="0"/>
              <a:t>When the </a:t>
            </a:r>
            <a:r>
              <a:rPr lang="en-US" b="1" dirty="0">
                <a:solidFill>
                  <a:srgbClr val="FF0000"/>
                </a:solidFill>
              </a:rPr>
              <a:t>Red</a:t>
            </a:r>
            <a:r>
              <a:rPr lang="en-US" dirty="0"/>
              <a:t> pixel is set to 0, the LED is turned off. When the </a:t>
            </a:r>
            <a:r>
              <a:rPr lang="en-US" b="1" dirty="0">
                <a:solidFill>
                  <a:srgbClr val="FF0000"/>
                </a:solidFill>
              </a:rPr>
              <a:t>Red</a:t>
            </a:r>
            <a:r>
              <a:rPr lang="en-US" dirty="0"/>
              <a:t> pixel is set to 255, the LED is turned fully on.</a:t>
            </a:r>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b="1" dirty="0">
                <a:solidFill>
                  <a:srgbClr val="FF0000"/>
                </a:solidFill>
              </a:rPr>
              <a:t>R</a:t>
            </a:r>
            <a:r>
              <a:rPr lang="en-US" b="1" dirty="0">
                <a:solidFill>
                  <a:srgbClr val="92D050"/>
                </a:solidFill>
              </a:rPr>
              <a:t>G</a:t>
            </a:r>
            <a:r>
              <a:rPr lang="en-US" b="1" dirty="0">
                <a:solidFill>
                  <a:schemeClr val="accent1"/>
                </a:solidFill>
              </a:rPr>
              <a:t>B</a:t>
            </a:r>
            <a:r>
              <a:rPr lang="en-US" dirty="0"/>
              <a:t> : Additive</a:t>
            </a:r>
            <a:endParaRPr lang="en-US" dirty="0"/>
          </a:p>
        </p:txBody>
      </p:sp>
      <p:sp>
        <p:nvSpPr>
          <p:cNvPr id="3" name="Content Placeholder 2"/>
          <p:cNvSpPr>
            <a:spLocks noGrp="1"/>
          </p:cNvSpPr>
          <p:nvPr>
            <p:ph idx="1"/>
          </p:nvPr>
        </p:nvSpPr>
        <p:spPr/>
        <p:txBody>
          <a:bodyPr/>
          <a:lstStyle/>
          <a:p>
            <a:pPr marL="0" indent="0">
              <a:buNone/>
            </a:pPr>
            <a:r>
              <a:rPr lang="en-US" dirty="0"/>
              <a:t>Additive colors are colors that come from light and are called spectrum. </a:t>
            </a:r>
            <a:r>
              <a:rPr lang="en-US" b="1" dirty="0">
                <a:solidFill>
                  <a:srgbClr val="FF0000"/>
                </a:solidFill>
              </a:rPr>
              <a:t>R</a:t>
            </a:r>
            <a:r>
              <a:rPr lang="en-US" b="1" dirty="0">
                <a:solidFill>
                  <a:srgbClr val="92D050"/>
                </a:solidFill>
              </a:rPr>
              <a:t>G</a:t>
            </a:r>
            <a:r>
              <a:rPr lang="en-US" b="1" dirty="0">
                <a:solidFill>
                  <a:schemeClr val="accent1"/>
                </a:solidFill>
              </a:rPr>
              <a:t>B</a:t>
            </a:r>
            <a:r>
              <a:rPr lang="en-US" dirty="0"/>
              <a:t> is obtained from parsing light.</a:t>
            </a:r>
            <a:endParaRPr lang="en-US" dirty="0"/>
          </a:p>
          <a:p>
            <a:pPr marL="0" indent="0">
              <a:buNone/>
            </a:pPr>
            <a:endParaRPr lang="en-US" dirty="0"/>
          </a:p>
          <a:p>
            <a:pPr marL="0" indent="0">
              <a:buNone/>
            </a:pPr>
            <a:r>
              <a:rPr lang="en-US" dirty="0"/>
              <a:t>The color is expressed as an RGB triplet (</a:t>
            </a:r>
            <a:r>
              <a:rPr lang="en-US" b="1" dirty="0">
                <a:solidFill>
                  <a:srgbClr val="FF0000"/>
                </a:solidFill>
              </a:rPr>
              <a:t>R</a:t>
            </a:r>
            <a:r>
              <a:rPr lang="en-US" dirty="0"/>
              <a:t>,</a:t>
            </a:r>
            <a:r>
              <a:rPr lang="en-US" b="1" dirty="0">
                <a:solidFill>
                  <a:srgbClr val="92D050"/>
                </a:solidFill>
              </a:rPr>
              <a:t>G</a:t>
            </a:r>
            <a:r>
              <a:rPr lang="en-US" dirty="0"/>
              <a:t>,</a:t>
            </a:r>
            <a:r>
              <a:rPr lang="en-US" b="1" dirty="0">
                <a:solidFill>
                  <a:srgbClr val="5B9BD5"/>
                </a:solidFill>
              </a:rPr>
              <a:t>B</a:t>
            </a:r>
            <a:r>
              <a:rPr lang="en-US" dirty="0"/>
              <a:t>), each component of which can vary from zero to a defined maximum value. If all the components are at zero the result is black; if all are at maximum, the result is the brightest representable white.</a:t>
            </a:r>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b="1" dirty="0">
                <a:solidFill>
                  <a:srgbClr val="FF0000"/>
                </a:solidFill>
                <a:sym typeface="+mn-ea"/>
              </a:rPr>
              <a:t>R</a:t>
            </a:r>
            <a:r>
              <a:rPr lang="en-US" b="1" dirty="0">
                <a:solidFill>
                  <a:srgbClr val="92D050"/>
                </a:solidFill>
                <a:sym typeface="+mn-ea"/>
              </a:rPr>
              <a:t>G</a:t>
            </a:r>
            <a:r>
              <a:rPr lang="en-US" b="1" dirty="0">
                <a:solidFill>
                  <a:schemeClr val="accent1"/>
                </a:solidFill>
                <a:sym typeface="+mn-ea"/>
              </a:rPr>
              <a:t>B</a:t>
            </a:r>
            <a:r>
              <a:rPr lang="en-US" dirty="0">
                <a:sym typeface="+mn-ea"/>
              </a:rPr>
              <a:t> ranges quantified</a:t>
            </a:r>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b="1" dirty="0">
                <a:solidFill>
                  <a:srgbClr val="FF0000"/>
                </a:solidFill>
              </a:rPr>
              <a:t>R</a:t>
            </a:r>
            <a:r>
              <a:rPr lang="en-US" b="1" dirty="0">
                <a:solidFill>
                  <a:srgbClr val="92D050"/>
                </a:solidFill>
              </a:rPr>
              <a:t>G</a:t>
            </a:r>
            <a:r>
              <a:rPr lang="en-US" b="1" dirty="0">
                <a:solidFill>
                  <a:schemeClr val="accent1"/>
                </a:solidFill>
              </a:rPr>
              <a:t>B</a:t>
            </a:r>
            <a:r>
              <a:rPr lang="en-US" dirty="0"/>
              <a:t> ranges may be quantified in several different ways:</a:t>
            </a:r>
            <a:endParaRPr lang="en-US" dirty="0"/>
          </a:p>
          <a:p>
            <a:pPr marL="0" indent="0">
              <a:buNone/>
            </a:pPr>
            <a:endParaRPr lang="en-US" dirty="0"/>
          </a:p>
          <a:p>
            <a:r>
              <a:rPr lang="en-US" b="1" dirty="0"/>
              <a:t>From 0 to 1</a:t>
            </a:r>
            <a:r>
              <a:rPr lang="en-US" dirty="0"/>
              <a:t>, with any fractional value in between. This representation is used in theoretical analyses, and in systems that use floating point representations.</a:t>
            </a:r>
            <a:endParaRPr lang="en-US" dirty="0"/>
          </a:p>
          <a:p>
            <a:r>
              <a:rPr lang="en-US" dirty="0"/>
              <a:t>Each color component value can also be written as a percentage, </a:t>
            </a:r>
            <a:r>
              <a:rPr lang="en-US" b="1" dirty="0"/>
              <a:t>from 0% to 100%</a:t>
            </a:r>
            <a:r>
              <a:rPr lang="en-US" dirty="0"/>
              <a:t>.</a:t>
            </a:r>
            <a:endParaRPr lang="en-US" dirty="0"/>
          </a:p>
          <a:p>
            <a:r>
              <a:rPr lang="en-US" dirty="0"/>
              <a:t>In computers, the component values are often stored as integer numbers in the range </a:t>
            </a:r>
            <a:r>
              <a:rPr lang="en-US" b="1" dirty="0"/>
              <a:t>0 to 255</a:t>
            </a:r>
            <a:r>
              <a:rPr lang="en-US" dirty="0"/>
              <a:t>, the range that a single 8-bit byte can offer. These are often represented as either decimal or hexadecimal numbers.</a:t>
            </a:r>
            <a:endParaRPr lang="en-US" dirty="0"/>
          </a:p>
          <a:p>
            <a:pPr marL="0" indent="0">
              <a:buNone/>
            </a:pPr>
            <a:endParaRPr lang="en-US" dirty="0"/>
          </a:p>
          <a:p>
            <a:pPr marL="0" indent="0">
              <a:buNone/>
            </a:pPr>
            <a:r>
              <a:rPr lang="en-US" dirty="0"/>
              <a:t>High-end digital image equipment are often able to deal with larger integer ranges for each primary color, such as </a:t>
            </a:r>
            <a:r>
              <a:rPr lang="en-US" b="1" dirty="0"/>
              <a:t>0 … 1023 (10 bits)</a:t>
            </a:r>
            <a:r>
              <a:rPr lang="en-US" dirty="0"/>
              <a:t>, </a:t>
            </a:r>
            <a:r>
              <a:rPr lang="en-US" b="1" dirty="0"/>
              <a:t>0 … 65.535 (16 bits)</a:t>
            </a:r>
            <a:r>
              <a:rPr lang="en-US" dirty="0"/>
              <a:t> or even larger (more or less independent from the particular computer's word size).</a:t>
            </a:r>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graphicFrame>
        <p:nvGraphicFramePr>
          <p:cNvPr id="6" name="Table 5"/>
          <p:cNvGraphicFramePr>
            <a:graphicFrameLocks noGrp="1"/>
          </p:cNvGraphicFramePr>
          <p:nvPr/>
        </p:nvGraphicFramePr>
        <p:xfrm>
          <a:off x="1961661" y="1774743"/>
          <a:ext cx="8128000" cy="323596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sz="2400" b="1" dirty="0"/>
                        <a:t>Notation</a:t>
                      </a:r>
                      <a:endParaRPr lang="en-US" sz="2400" b="1" dirty="0"/>
                    </a:p>
                  </a:txBody>
                  <a:tcPr/>
                </a:tc>
                <a:tc>
                  <a:txBody>
                    <a:bodyPr/>
                    <a:lstStyle/>
                    <a:p>
                      <a:r>
                        <a:rPr lang="en-US" sz="2400" b="1" dirty="0"/>
                        <a:t>RGB triplet</a:t>
                      </a:r>
                      <a:endParaRPr lang="en-US" sz="2400" b="1" dirty="0"/>
                    </a:p>
                  </a:txBody>
                  <a:tcPr/>
                </a:tc>
              </a:tr>
              <a:tr h="370840">
                <a:tc>
                  <a:txBody>
                    <a:bodyPr/>
                    <a:lstStyle/>
                    <a:p>
                      <a:r>
                        <a:rPr lang="en-US" sz="2400" dirty="0"/>
                        <a:t>Arithmetic</a:t>
                      </a:r>
                      <a:endParaRPr lang="en-US" sz="2400" dirty="0"/>
                    </a:p>
                  </a:txBody>
                  <a:tcPr/>
                </a:tc>
                <a:tc>
                  <a:txBody>
                    <a:bodyPr/>
                    <a:lstStyle/>
                    <a:p>
                      <a:r>
                        <a:rPr lang="en-US" sz="2400" dirty="0"/>
                        <a:t>(1.0, 0.0, 0.0)</a:t>
                      </a:r>
                      <a:endParaRPr lang="en-US" sz="2400" dirty="0"/>
                    </a:p>
                  </a:txBody>
                  <a:tcPr/>
                </a:tc>
              </a:tr>
              <a:tr h="370840">
                <a:tc>
                  <a:txBody>
                    <a:bodyPr/>
                    <a:lstStyle/>
                    <a:p>
                      <a:r>
                        <a:rPr lang="en-US" sz="2400" dirty="0"/>
                        <a:t>Percentage</a:t>
                      </a:r>
                      <a:endParaRPr lang="en-US" sz="2400" dirty="0"/>
                    </a:p>
                  </a:txBody>
                  <a:tcPr/>
                </a:tc>
                <a:tc>
                  <a:txBody>
                    <a:bodyPr/>
                    <a:lstStyle/>
                    <a:p>
                      <a:r>
                        <a:rPr lang="en-US" sz="2400" dirty="0"/>
                        <a:t>(100%, 0%, 0%)</a:t>
                      </a:r>
                      <a:endParaRPr lang="en-US" sz="2400" dirty="0"/>
                    </a:p>
                  </a:txBody>
                  <a:tcPr/>
                </a:tc>
              </a:tr>
              <a:tr h="370840">
                <a:tc>
                  <a:txBody>
                    <a:bodyPr/>
                    <a:lstStyle/>
                    <a:p>
                      <a:r>
                        <a:rPr lang="en-US" sz="2400" dirty="0"/>
                        <a:t>Digital 8-bit per channel</a:t>
                      </a:r>
                      <a:endParaRPr lang="en-US" sz="2400" dirty="0"/>
                    </a:p>
                  </a:txBody>
                  <a:tcPr/>
                </a:tc>
                <a:tc>
                  <a:txBody>
                    <a:bodyPr/>
                    <a:lstStyle/>
                    <a:p>
                      <a:r>
                        <a:rPr lang="en-US" sz="2400" dirty="0"/>
                        <a:t>(255, 0, 0) or sometimes #FF0000 (hexadecimal)</a:t>
                      </a:r>
                      <a:endParaRPr lang="en-US" sz="2400" dirty="0"/>
                    </a:p>
                  </a:txBody>
                  <a:tcPr/>
                </a:tc>
              </a:tr>
              <a:tr h="370840">
                <a:tc>
                  <a:txBody>
                    <a:bodyPr/>
                    <a:lstStyle/>
                    <a:p>
                      <a:r>
                        <a:rPr lang="en-US" sz="2400" dirty="0"/>
                        <a:t>Digital 12-bit per channel</a:t>
                      </a:r>
                      <a:endParaRPr lang="en-US" sz="2400" dirty="0"/>
                    </a:p>
                  </a:txBody>
                  <a:tcPr/>
                </a:tc>
                <a:tc>
                  <a:txBody>
                    <a:bodyPr/>
                    <a:lstStyle/>
                    <a:p>
                      <a:r>
                        <a:rPr lang="en-US" sz="2400" dirty="0"/>
                        <a:t>(4.095, 0, 0)</a:t>
                      </a:r>
                      <a:endParaRPr lang="en-US" sz="2400" dirty="0"/>
                    </a:p>
                  </a:txBody>
                  <a:tcPr/>
                </a:tc>
              </a:tr>
              <a:tr h="370840">
                <a:tc>
                  <a:txBody>
                    <a:bodyPr/>
                    <a:lstStyle/>
                    <a:p>
                      <a:r>
                        <a:rPr lang="en-US" sz="2400" dirty="0"/>
                        <a:t>Digital 16-bit per channel</a:t>
                      </a:r>
                      <a:endParaRPr lang="en-US" sz="2400" dirty="0"/>
                    </a:p>
                  </a:txBody>
                  <a:tcPr/>
                </a:tc>
                <a:tc>
                  <a:txBody>
                    <a:bodyPr/>
                    <a:lstStyle/>
                    <a:p>
                      <a:r>
                        <a:rPr lang="en-US" sz="2400" dirty="0"/>
                        <a:t>(65.535, 0, 0)</a:t>
                      </a:r>
                      <a:endParaRPr lang="en-US" sz="2400" dirty="0"/>
                    </a:p>
                  </a:txBody>
                  <a:tcPr/>
                </a:tc>
              </a:tr>
              <a:tr h="370840">
                <a:tc>
                  <a:txBody>
                    <a:bodyPr/>
                    <a:lstStyle/>
                    <a:p>
                      <a:r>
                        <a:rPr lang="en-US" sz="2400" dirty="0"/>
                        <a:t>Digital 24-bit per channel</a:t>
                      </a:r>
                      <a:endParaRPr lang="en-US" sz="2400" dirty="0"/>
                    </a:p>
                  </a:txBody>
                  <a:tcPr/>
                </a:tc>
                <a:tc>
                  <a:txBody>
                    <a:bodyPr/>
                    <a:lstStyle/>
                    <a:p>
                      <a:r>
                        <a:rPr lang="en-US" sz="2400" dirty="0"/>
                        <a:t>(16.777.215, 0, 0)</a:t>
                      </a:r>
                      <a:endParaRPr lang="en-US" sz="2400" dirty="0"/>
                    </a:p>
                  </a:txBody>
                  <a:tcPr/>
                </a:tc>
              </a:tr>
              <a:tr h="370840">
                <a:tc>
                  <a:txBody>
                    <a:bodyPr/>
                    <a:lstStyle/>
                    <a:p>
                      <a:r>
                        <a:rPr lang="en-US" sz="2400" dirty="0"/>
                        <a:t>Digital 32-bit per channel</a:t>
                      </a:r>
                      <a:endParaRPr lang="en-US" sz="2400" dirty="0"/>
                    </a:p>
                  </a:txBody>
                  <a:tcPr/>
                </a:tc>
                <a:tc>
                  <a:txBody>
                    <a:bodyPr/>
                    <a:lstStyle/>
                    <a:p>
                      <a:r>
                        <a:rPr lang="en-US" sz="2400" dirty="0"/>
                        <a:t>(4.294.967.295, 0, 0)</a:t>
                      </a:r>
                      <a:endParaRPr lang="en-US" sz="2400" dirty="0"/>
                    </a:p>
                  </a:txBody>
                  <a:tcPr/>
                </a:tc>
              </a:tr>
            </a:tbl>
          </a:graphicData>
        </a:graphic>
      </p:graphicFrame>
      <p:sp>
        <p:nvSpPr>
          <p:cNvPr id="7" name="Rectangle 6"/>
          <p:cNvSpPr/>
          <p:nvPr/>
        </p:nvSpPr>
        <p:spPr>
          <a:xfrm>
            <a:off x="1054735" y="1080135"/>
            <a:ext cx="10082530" cy="460375"/>
          </a:xfrm>
          <a:prstGeom prst="rect">
            <a:avLst/>
          </a:prstGeom>
        </p:spPr>
        <p:txBody>
          <a:bodyPr wrap="square">
            <a:spAutoFit/>
          </a:bodyPr>
          <a:lstStyle/>
          <a:p>
            <a:r>
              <a:rPr lang="en-US" sz="2400" dirty="0"/>
              <a:t>For example, brightest saturated red is written in the different RGB notations as:</a:t>
            </a:r>
            <a:endParaRPr lang="en-US" sz="2400" dirty="0"/>
          </a:p>
        </p:txBody>
      </p:sp>
      <p:pic>
        <p:nvPicPr>
          <p:cNvPr id="8" name="Picture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US" sz="4400" dirty="0"/>
          </a:p>
          <a:p>
            <a:pPr marL="0" indent="0" algn="ctr">
              <a:buNone/>
            </a:pPr>
            <a:endParaRPr lang="en-US" sz="4400" dirty="0"/>
          </a:p>
          <a:p>
            <a:pPr marL="0" indent="0" algn="ctr">
              <a:buNone/>
            </a:pPr>
            <a:r>
              <a:rPr lang="en-US" sz="4400" dirty="0"/>
              <a:t>2. Hexadecimal Number</a:t>
            </a:r>
            <a:endParaRPr lang="en-US" sz="44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dirty="0"/>
              <a:t>Decimal Number</a:t>
            </a:r>
            <a:endParaRPr lang="en-US" dirty="0"/>
          </a:p>
        </p:txBody>
      </p:sp>
      <p:sp>
        <p:nvSpPr>
          <p:cNvPr id="3" name="Content Placeholder 2"/>
          <p:cNvSpPr>
            <a:spLocks noGrp="1"/>
          </p:cNvSpPr>
          <p:nvPr>
            <p:ph idx="1"/>
          </p:nvPr>
        </p:nvSpPr>
        <p:spPr/>
        <p:txBody>
          <a:bodyPr>
            <a:normAutofit fontScale="92500" lnSpcReduction="20000"/>
          </a:bodyPr>
          <a:lstStyle/>
          <a:p>
            <a:r>
              <a:rPr lang="en-US" dirty="0"/>
              <a:t>Decimal number system is the most commonly used and the most familiar one to the general public. </a:t>
            </a:r>
            <a:endParaRPr lang="en-US" dirty="0"/>
          </a:p>
          <a:p>
            <a:r>
              <a:rPr lang="en-US" dirty="0"/>
              <a:t>Also known as </a:t>
            </a:r>
            <a:r>
              <a:rPr lang="en-US" b="1" dirty="0"/>
              <a:t>Base 10</a:t>
            </a:r>
            <a:r>
              <a:rPr lang="en-US" dirty="0"/>
              <a:t> numbering system since it is based on 10 following symbols: 0, 1, 2, 3, 4, 5, 6, 7, 8 and 9. </a:t>
            </a:r>
            <a:endParaRPr lang="en-US" dirty="0"/>
          </a:p>
          <a:p>
            <a:endParaRPr lang="en-US" dirty="0"/>
          </a:p>
          <a:p>
            <a:r>
              <a:rPr lang="en-US" dirty="0"/>
              <a:t>In decimal system, every digit has its own position as well as the decimal point. I.e. the number 356.74 has 4 in the Hundredths position, 7 in the Tenths position, 6 in the Units position, 5 in the Tens position, and 3 in the Hundreds position.</a:t>
            </a:r>
            <a:endParaRPr lang="en-US" dirty="0"/>
          </a:p>
          <a:p>
            <a:endParaRPr lang="en-US" dirty="0"/>
          </a:p>
          <a:p>
            <a:r>
              <a:rPr lang="en-US" dirty="0"/>
              <a:t>Decimal number system is also one of the oldest known numeral system, which is historically related to Hindu-Arabic numeral system.</a:t>
            </a:r>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Hexadecimal Number</a:t>
            </a:r>
            <a:endParaRPr lang="en-US" dirty="0"/>
          </a:p>
        </p:txBody>
      </p:sp>
      <p:sp>
        <p:nvSpPr>
          <p:cNvPr id="3" name="Content Placeholder 2"/>
          <p:cNvSpPr>
            <a:spLocks noGrp="1"/>
          </p:cNvSpPr>
          <p:nvPr>
            <p:ph idx="1"/>
          </p:nvPr>
        </p:nvSpPr>
        <p:spPr/>
        <p:txBody>
          <a:bodyPr>
            <a:normAutofit fontScale="90000" lnSpcReduction="20000"/>
          </a:bodyPr>
          <a:lstStyle/>
          <a:p>
            <a:r>
              <a:rPr lang="en-US" dirty="0"/>
              <a:t>Hex, or hexadecimal, is a number system of </a:t>
            </a:r>
            <a:r>
              <a:rPr lang="en-US" b="1" dirty="0"/>
              <a:t>base 16</a:t>
            </a:r>
            <a:r>
              <a:rPr lang="en-US" dirty="0"/>
              <a:t>. </a:t>
            </a:r>
            <a:endParaRPr lang="en-US" dirty="0"/>
          </a:p>
          <a:p>
            <a:r>
              <a:rPr lang="en-US" dirty="0"/>
              <a:t>This number system is especially interesting because in our casually used decimal system we have only 10 digits to represent numbers. </a:t>
            </a:r>
            <a:endParaRPr lang="en-US" dirty="0"/>
          </a:p>
          <a:p>
            <a:endParaRPr lang="en-US" dirty="0"/>
          </a:p>
          <a:p>
            <a:r>
              <a:rPr lang="en-US" dirty="0"/>
              <a:t>As hex system has 16 digits, the extra needed 6 digits are represented by the first 6 letters of English alphabet. </a:t>
            </a:r>
            <a:endParaRPr lang="en-US" dirty="0"/>
          </a:p>
          <a:p>
            <a:r>
              <a:rPr lang="en-US" dirty="0"/>
              <a:t>Hence, hex digits are 0,1,2,3,4,5,6,7,8 and 9 A, B, C, D, E, F. </a:t>
            </a:r>
            <a:endParaRPr lang="en-US" dirty="0"/>
          </a:p>
          <a:p>
            <a:endParaRPr lang="en-US" dirty="0"/>
          </a:p>
          <a:p>
            <a:r>
              <a:rPr lang="en-US" dirty="0"/>
              <a:t>This number system is the most commonly used in mathematics and information technologies. I.e. in html programming colors can be represented by a 6-digit hexadecimal number: FFFFFF represents white, 000000 represents black, and so on.</a:t>
            </a:r>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a:t>Hex representation</a:t>
            </a:r>
            <a:endParaRPr lang="en-US"/>
          </a:p>
        </p:txBody>
      </p:sp>
      <p:sp>
        <p:nvSpPr>
          <p:cNvPr id="3" name="Content Placeholder 2"/>
          <p:cNvSpPr>
            <a:spLocks noGrp="1"/>
          </p:cNvSpPr>
          <p:nvPr>
            <p:ph idx="1"/>
          </p:nvPr>
        </p:nvSpPr>
        <p:spPr/>
        <p:txBody>
          <a:bodyPr/>
          <a:lstStyle/>
          <a:p>
            <a:r>
              <a:rPr lang="en-US" dirty="0"/>
              <a:t>Uses 10 digits and 6 letters, 0,1,2,3,4,5,6,7,8,9,A,B,C,D,E,F.</a:t>
            </a:r>
            <a:endParaRPr lang="en-US" dirty="0"/>
          </a:p>
          <a:p>
            <a:r>
              <a:rPr lang="en-US" dirty="0"/>
              <a:t>Letters represents numbers starting from 10. </a:t>
            </a:r>
            <a:endParaRPr lang="en-US" dirty="0"/>
          </a:p>
          <a:p>
            <a:pPr lvl="1"/>
            <a:r>
              <a:rPr lang="en-US" dirty="0"/>
              <a:t>A = 10, B = 11, C = 12, D = 13, E = 14, F = 15.</a:t>
            </a:r>
            <a:endParaRPr lang="en-US" dirty="0"/>
          </a:p>
          <a:p>
            <a:r>
              <a:rPr lang="en-US" dirty="0"/>
              <a:t>Also called base 16 number system.</a:t>
            </a:r>
            <a:endParaRPr lang="en-US" dirty="0"/>
          </a:p>
          <a:p>
            <a:r>
              <a:rPr lang="en-US" dirty="0"/>
              <a:t>Each position in a hexadecimal number represents a 0 power of the base (16). Example 16</a:t>
            </a:r>
            <a:r>
              <a:rPr lang="en-US" baseline="30000" dirty="0"/>
              <a:t>0</a:t>
            </a:r>
            <a:r>
              <a:rPr lang="en-US" dirty="0"/>
              <a:t>.</a:t>
            </a:r>
            <a:endParaRPr lang="en-US" dirty="0"/>
          </a:p>
          <a:p>
            <a:r>
              <a:rPr lang="en-US" dirty="0"/>
              <a:t>Last position in a hexadecimal number represents an x power of the base (16). Example 16</a:t>
            </a:r>
            <a:r>
              <a:rPr lang="en-US" baseline="30000" dirty="0"/>
              <a:t>x</a:t>
            </a:r>
            <a:r>
              <a:rPr lang="en-US" dirty="0"/>
              <a:t> where x represents the last position - 1.</a:t>
            </a:r>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dirty="0"/>
              <a:t>Converting Decimal To Hexadecimal</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r>
                  <a:rPr lang="en-US" dirty="0"/>
                  <a:t>Decimal to hex conversion examples:</a:t>
                </a:r>
                <a:endParaRPr lang="en-US" dirty="0"/>
              </a:p>
              <a:p>
                <a:pPr marL="0" indent="0">
                  <a:buNone/>
                </a:pPr>
                <a:endParaRPr lang="en-US" dirty="0"/>
              </a:p>
              <a:p>
                <a:pPr marL="0" indent="0">
                  <a:buNone/>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79</m:t>
                          </m:r>
                          <m:r>
                            <a:rPr lang="en-US" b="0" i="1" smtClean="0">
                              <a:latin typeface="Cambria Math" panose="02040503050406030204" pitchFamily="18" charset="0"/>
                            </a:rPr>
                            <m:t>)</m:t>
                          </m:r>
                        </m:e>
                        <m:sub>
                          <m:r>
                            <a:rPr lang="en-US" b="0" i="1" smtClean="0">
                              <a:latin typeface="Cambria Math" panose="02040503050406030204" pitchFamily="18" charset="0"/>
                            </a:rPr>
                            <m:t>10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m:t>
                          </m:r>
                          <m:r>
                            <a:rPr lang="en-US" b="0" i="1" smtClean="0">
                              <a:latin typeface="Cambria Math" panose="02040503050406030204" pitchFamily="18" charset="0"/>
                            </a:rPr>
                            <m:t>4</m:t>
                          </m:r>
                          <m:r>
                            <a:rPr lang="en-US" b="0" i="1" smtClean="0">
                              <a:latin typeface="Cambria Math" panose="02040503050406030204" pitchFamily="18" charset="0"/>
                            </a:rPr>
                            <m:t>𝐹</m:t>
                          </m:r>
                          <m:r>
                            <a:rPr lang="en-US" i="1">
                              <a:latin typeface="Cambria Math" panose="02040503050406030204" pitchFamily="18" charset="0"/>
                            </a:rPr>
                            <m:t>)</m:t>
                          </m:r>
                        </m:e>
                        <m:sub>
                          <m:r>
                            <a:rPr lang="en-US" b="0" i="1" smtClean="0">
                              <a:latin typeface="Cambria Math" panose="02040503050406030204" pitchFamily="18" charset="0"/>
                            </a:rPr>
                            <m:t>16</m:t>
                          </m:r>
                        </m:sub>
                      </m:sSub>
                    </m:oMath>
                  </m:oMathPara>
                </a14:m>
                <a:endParaRPr lang="en-US" dirty="0"/>
              </a:p>
              <a:p>
                <a:pPr marL="0" indent="0">
                  <a:buNone/>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b="0" i="1" smtClean="0">
                              <a:latin typeface="Cambria Math" panose="02040503050406030204" pitchFamily="18" charset="0"/>
                            </a:rPr>
                            <m:t>120</m:t>
                          </m:r>
                          <m:r>
                            <a:rPr lang="en-US" i="1">
                              <a:latin typeface="Cambria Math" panose="02040503050406030204" pitchFamily="18" charset="0"/>
                            </a:rPr>
                            <m:t>)</m:t>
                          </m:r>
                        </m:e>
                        <m:sub>
                          <m:r>
                            <a:rPr lang="en-US" i="1">
                              <a:latin typeface="Cambria Math" panose="02040503050406030204" pitchFamily="18" charset="0"/>
                            </a:rPr>
                            <m:t>10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m:t>
                          </m:r>
                          <m:r>
                            <a:rPr lang="en-US" b="0" i="1" smtClean="0">
                              <a:latin typeface="Cambria Math" panose="02040503050406030204" pitchFamily="18" charset="0"/>
                            </a:rPr>
                            <m:t>78</m:t>
                          </m:r>
                          <m:r>
                            <a:rPr lang="en-US" i="1">
                              <a:latin typeface="Cambria Math" panose="02040503050406030204" pitchFamily="18" charset="0"/>
                            </a:rPr>
                            <m:t>)</m:t>
                          </m:r>
                        </m:e>
                        <m:sub>
                          <m:r>
                            <a:rPr lang="en-US" i="1">
                              <a:latin typeface="Cambria Math" panose="02040503050406030204" pitchFamily="18" charset="0"/>
                            </a:rPr>
                            <m:t>16</m:t>
                          </m:r>
                        </m:sub>
                      </m:sSub>
                    </m:oMath>
                  </m:oMathPara>
                </a14:m>
                <a:endParaRPr lang="en-US" dirty="0"/>
              </a:p>
              <a:p>
                <a:pPr marL="0" indent="0">
                  <a:buNone/>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b="0" i="1" smtClean="0">
                              <a:latin typeface="Cambria Math" panose="02040503050406030204" pitchFamily="18" charset="0"/>
                            </a:rPr>
                            <m:t>1728</m:t>
                          </m:r>
                          <m:r>
                            <a:rPr lang="en-US" i="1">
                              <a:latin typeface="Cambria Math" panose="02040503050406030204" pitchFamily="18" charset="0"/>
                            </a:rPr>
                            <m:t>)</m:t>
                          </m:r>
                        </m:e>
                        <m:sub>
                          <m:r>
                            <a:rPr lang="en-US" i="1">
                              <a:latin typeface="Cambria Math" panose="02040503050406030204" pitchFamily="18" charset="0"/>
                            </a:rPr>
                            <m:t>10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m:t>
                          </m:r>
                          <m:r>
                            <a:rPr lang="en-US" b="0" i="1" smtClean="0">
                              <a:latin typeface="Cambria Math" panose="02040503050406030204" pitchFamily="18" charset="0"/>
                            </a:rPr>
                            <m:t>6</m:t>
                          </m:r>
                          <m:r>
                            <a:rPr lang="en-US" b="0" i="1" smtClean="0">
                              <a:latin typeface="Cambria Math" panose="02040503050406030204" pitchFamily="18" charset="0"/>
                            </a:rPr>
                            <m:t>𝐶</m:t>
                          </m:r>
                          <m:r>
                            <a:rPr lang="en-US" b="0" i="1" smtClean="0">
                              <a:latin typeface="Cambria Math" panose="02040503050406030204" pitchFamily="18" charset="0"/>
                            </a:rPr>
                            <m:t>0</m:t>
                          </m:r>
                          <m:r>
                            <a:rPr lang="en-US" b="0" i="1" smtClean="0">
                              <a:latin typeface="Cambria Math" panose="02040503050406030204" pitchFamily="18" charset="0"/>
                            </a:rPr>
                            <m:t>)</m:t>
                          </m:r>
                        </m:e>
                        <m:sub>
                          <m:r>
                            <a:rPr lang="en-US" i="1">
                              <a:latin typeface="Cambria Math" panose="02040503050406030204" pitchFamily="18" charset="0"/>
                            </a:rPr>
                            <m:t>16</m:t>
                          </m:r>
                        </m:sub>
                      </m:sSub>
                    </m:oMath>
                  </m:oMathPara>
                </a14:m>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dirty="0"/>
              <a:t>Converting Decimal To Hexadecimal (2)</a:t>
            </a:r>
            <a:endParaRPr lang="en-US" dirty="0"/>
          </a:p>
        </p:txBody>
      </p:sp>
      <p:sp>
        <p:nvSpPr>
          <p:cNvPr id="3" name="Content Placeholder 2"/>
          <p:cNvSpPr>
            <a:spLocks noGrp="1"/>
          </p:cNvSpPr>
          <p:nvPr>
            <p:ph idx="1"/>
          </p:nvPr>
        </p:nvSpPr>
        <p:spPr/>
        <p:txBody>
          <a:bodyPr>
            <a:normAutofit/>
          </a:bodyPr>
          <a:lstStyle/>
          <a:p>
            <a:pPr marL="0" indent="0">
              <a:buNone/>
            </a:pPr>
            <a:r>
              <a:rPr lang="en-US" sz="2400" b="1" dirty="0"/>
              <a:t>Steps:</a:t>
            </a:r>
            <a:endParaRPr lang="en-US" sz="2400" b="1" dirty="0"/>
          </a:p>
          <a:p>
            <a:pPr marL="514350" indent="-514350">
              <a:buFont typeface="+mj-lt"/>
              <a:buAutoNum type="arabicPeriod"/>
            </a:pPr>
            <a:r>
              <a:rPr lang="en-US" sz="2400" dirty="0"/>
              <a:t>Divide the decimal number by 16. Treat the division as an integer division.  </a:t>
            </a:r>
            <a:endParaRPr lang="en-US" sz="2400" dirty="0"/>
          </a:p>
          <a:p>
            <a:pPr marL="514350" indent="-514350">
              <a:buFont typeface="+mj-lt"/>
              <a:buAutoNum type="arabicPeriod"/>
            </a:pPr>
            <a:r>
              <a:rPr lang="en-US" sz="2400" dirty="0"/>
              <a:t>Write down the remainder (in hexadecimal).</a:t>
            </a:r>
            <a:endParaRPr lang="en-US" sz="2400" dirty="0"/>
          </a:p>
          <a:p>
            <a:pPr marL="514350" indent="-514350">
              <a:buFont typeface="+mj-lt"/>
              <a:buAutoNum type="arabicPeriod"/>
            </a:pPr>
            <a:r>
              <a:rPr lang="en-US" sz="2400" dirty="0"/>
              <a:t>Divide the result again by 16. Treat the division as an integer division.  </a:t>
            </a:r>
            <a:endParaRPr lang="en-US" sz="2400" dirty="0"/>
          </a:p>
          <a:p>
            <a:pPr marL="514350" indent="-514350">
              <a:buFont typeface="+mj-lt"/>
              <a:buAutoNum type="arabicPeriod"/>
            </a:pPr>
            <a:r>
              <a:rPr lang="en-US" sz="2400" dirty="0"/>
              <a:t>Repeat step 2 and 3 until result is 0.</a:t>
            </a:r>
            <a:endParaRPr lang="en-US" sz="2400" dirty="0"/>
          </a:p>
          <a:p>
            <a:pPr marL="514350" indent="-514350">
              <a:buFont typeface="+mj-lt"/>
              <a:buAutoNum type="arabicPeriod"/>
            </a:pPr>
            <a:r>
              <a:rPr lang="en-US" sz="2400" dirty="0"/>
              <a:t>The hex value is the digit sequence of the remainders from the last to first.</a:t>
            </a:r>
            <a:endParaRPr lang="en-US" sz="24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graphicFrame>
        <p:nvGraphicFramePr>
          <p:cNvPr id="6" name="Content Placeholder 5"/>
          <p:cNvGraphicFramePr>
            <a:graphicFrameLocks noGrp="1"/>
          </p:cNvGraphicFramePr>
          <p:nvPr>
            <p:ph idx="1"/>
          </p:nvPr>
        </p:nvGraphicFramePr>
        <p:xfrm>
          <a:off x="983343" y="911222"/>
          <a:ext cx="10515600" cy="4706620"/>
        </p:xfrm>
        <a:graphic>
          <a:graphicData uri="http://schemas.openxmlformats.org/drawingml/2006/table">
            <a:tbl>
              <a:tblPr firstRow="1" bandRow="1">
                <a:tableStyleId>{5C22544A-7EE6-4342-B048-85BDC9FD1C3A}</a:tableStyleId>
              </a:tblPr>
              <a:tblGrid>
                <a:gridCol w="7043057"/>
                <a:gridCol w="972457"/>
                <a:gridCol w="798286"/>
                <a:gridCol w="1701800"/>
              </a:tblGrid>
              <a:tr h="370840">
                <a:tc>
                  <a:txBody>
                    <a:bodyPr/>
                    <a:lstStyle/>
                    <a:p>
                      <a:pPr algn="ctr"/>
                      <a:r>
                        <a:rPr lang="en-US" sz="1800" b="1" dirty="0"/>
                        <a:t>NOTES</a:t>
                      </a:r>
                      <a:endParaRPr lang="en-US" sz="1800" b="1" dirty="0"/>
                    </a:p>
                  </a:txBody>
                  <a:tcPr marL="19050" marR="19050" marT="19050" marB="19050" anchor="ctr"/>
                </a:tc>
                <a:tc>
                  <a:txBody>
                    <a:bodyPr/>
                    <a:lstStyle/>
                    <a:p>
                      <a:pPr algn="ctr"/>
                      <a:r>
                        <a:rPr lang="en-US" sz="1800" b="1" dirty="0"/>
                        <a:t>DIVISION</a:t>
                      </a:r>
                      <a:endParaRPr lang="en-US" sz="1800" b="1" dirty="0"/>
                    </a:p>
                  </a:txBody>
                  <a:tcPr marL="19050" marR="19050" marT="19050" marB="19050" anchor="ctr"/>
                </a:tc>
                <a:tc>
                  <a:txBody>
                    <a:bodyPr/>
                    <a:lstStyle/>
                    <a:p>
                      <a:pPr algn="ctr"/>
                      <a:r>
                        <a:rPr lang="en-US" sz="1800" b="1" dirty="0"/>
                        <a:t>RESULT</a:t>
                      </a:r>
                      <a:endParaRPr lang="en-US" sz="1800" b="1" dirty="0"/>
                    </a:p>
                  </a:txBody>
                  <a:tcPr marL="19050" marR="19050" marT="19050" marB="19050" anchor="ctr"/>
                </a:tc>
                <a:tc>
                  <a:txBody>
                    <a:bodyPr/>
                    <a:lstStyle/>
                    <a:p>
                      <a:pPr algn="ctr"/>
                      <a:r>
                        <a:rPr lang="en-US" sz="1800" b="1" dirty="0"/>
                        <a:t>REMAINDER </a:t>
                      </a:r>
                      <a:br>
                        <a:rPr lang="en-US" sz="1800" b="1" dirty="0"/>
                      </a:br>
                      <a:r>
                        <a:rPr lang="en-US" sz="1800" b="1" dirty="0"/>
                        <a:t>(in HEX)</a:t>
                      </a:r>
                      <a:endParaRPr lang="en-US" sz="1800" b="1" dirty="0"/>
                    </a:p>
                  </a:txBody>
                  <a:tcPr marL="19050" marR="19050" marT="19050" marB="19050" anchor="ctr"/>
                </a:tc>
              </a:tr>
              <a:tr h="370840">
                <a:tc>
                  <a:txBody>
                    <a:bodyPr/>
                    <a:lstStyle/>
                    <a:p>
                      <a:r>
                        <a:rPr lang="en-US" sz="1800" dirty="0"/>
                        <a:t>Start by dividing the number by 16, that is (1128 / 16 = 70.5).</a:t>
                      </a:r>
                      <a:endParaRPr lang="en-US" sz="1800" dirty="0"/>
                    </a:p>
                    <a:p>
                      <a:r>
                        <a:rPr lang="en-US" sz="1800" dirty="0"/>
                        <a:t>So the integer division result is 70 (throw out anything after the decimal point). --&gt; Record it on the RESULT column.</a:t>
                      </a:r>
                      <a:endParaRPr lang="en-US" sz="1800" dirty="0"/>
                    </a:p>
                    <a:p>
                      <a:endParaRPr lang="en-US" sz="1800" dirty="0"/>
                    </a:p>
                    <a:p>
                      <a:r>
                        <a:rPr lang="en-US" sz="1800" dirty="0"/>
                        <a:t>The remainder is (70.5 - 70) multiplied with 16; or (0.5 times 16), which is 8.</a:t>
                      </a:r>
                      <a:br>
                        <a:rPr lang="en-US" sz="1800" dirty="0"/>
                      </a:br>
                      <a:r>
                        <a:rPr lang="en-US" sz="1800" dirty="0"/>
                        <a:t>Record it on the REMAINDER column.</a:t>
                      </a:r>
                      <a:endParaRPr lang="en-US" sz="1800" dirty="0"/>
                    </a:p>
                  </a:txBody>
                  <a:tcPr marL="19050" marR="19050" marT="19050" marB="19050" anchor="ctr"/>
                </a:tc>
                <a:tc>
                  <a:txBody>
                    <a:bodyPr/>
                    <a:lstStyle/>
                    <a:p>
                      <a:pPr algn="ctr"/>
                      <a:r>
                        <a:rPr lang="en-US" sz="1800" dirty="0"/>
                        <a:t>1128 /</a:t>
                      </a:r>
                      <a:r>
                        <a:rPr lang="en-US" sz="1800" baseline="0" dirty="0"/>
                        <a:t> 16</a:t>
                      </a:r>
                      <a:endParaRPr lang="en-US" sz="1800" baseline="0" dirty="0"/>
                    </a:p>
                  </a:txBody>
                  <a:tcPr marL="19050" marR="19050" marT="19050" marB="19050" anchor="ctr"/>
                </a:tc>
                <a:tc>
                  <a:txBody>
                    <a:bodyPr/>
                    <a:lstStyle/>
                    <a:p>
                      <a:pPr algn="ctr"/>
                      <a:r>
                        <a:rPr lang="en-US" sz="1800" dirty="0"/>
                        <a:t>70</a:t>
                      </a:r>
                      <a:endParaRPr lang="en-US" sz="1800" dirty="0"/>
                    </a:p>
                  </a:txBody>
                  <a:tcPr marL="19050" marR="19050" marT="19050" marB="19050" anchor="ctr"/>
                </a:tc>
                <a:tc>
                  <a:txBody>
                    <a:bodyPr/>
                    <a:lstStyle/>
                    <a:p>
                      <a:pPr algn="ctr"/>
                      <a:r>
                        <a:rPr lang="en-US" sz="1800" b="1" dirty="0"/>
                        <a:t>8</a:t>
                      </a:r>
                      <a:endParaRPr lang="en-US" sz="1800" b="1" dirty="0"/>
                    </a:p>
                  </a:txBody>
                  <a:tcPr marL="19050" marR="19050" marT="19050" marB="19050" anchor="ctr"/>
                </a:tc>
              </a:tr>
              <a:tr h="370840">
                <a:tc>
                  <a:txBody>
                    <a:bodyPr/>
                    <a:lstStyle/>
                    <a:p>
                      <a:r>
                        <a:rPr lang="en-US" sz="1800" dirty="0"/>
                        <a:t>Then, divide the result again by 16, that is  (70 / 16 =</a:t>
                      </a:r>
                      <a:r>
                        <a:rPr lang="en-US" sz="1800" baseline="0" dirty="0"/>
                        <a:t> 4.375</a:t>
                      </a:r>
                      <a:r>
                        <a:rPr lang="en-US" sz="1800" dirty="0"/>
                        <a:t>). So the integer division result is 4 (throw out anything after the decimal point)</a:t>
                      </a:r>
                      <a:endParaRPr lang="en-US" sz="1800" dirty="0"/>
                    </a:p>
                    <a:p>
                      <a:endParaRPr lang="en-US" sz="1800" dirty="0"/>
                    </a:p>
                    <a:p>
                      <a:r>
                        <a:rPr lang="en-US" sz="1800" dirty="0"/>
                        <a:t>The remainder is (0.375 multiplied with 16, which is 6.</a:t>
                      </a:r>
                      <a:endParaRPr lang="en-US" sz="1800" dirty="0"/>
                    </a:p>
                  </a:txBody>
                  <a:tcPr marL="19050" marR="19050" marT="19050" marB="19050" anchor="ctr"/>
                </a:tc>
                <a:tc>
                  <a:txBody>
                    <a:bodyPr/>
                    <a:lstStyle/>
                    <a:p>
                      <a:pPr algn="ctr"/>
                      <a:r>
                        <a:rPr lang="en-US" sz="1800" dirty="0"/>
                        <a:t>70 / 16</a:t>
                      </a:r>
                      <a:endParaRPr lang="en-US" sz="1800" dirty="0"/>
                    </a:p>
                  </a:txBody>
                  <a:tcPr marL="19050" marR="19050" marT="19050" marB="19050" anchor="ctr"/>
                </a:tc>
                <a:tc>
                  <a:txBody>
                    <a:bodyPr/>
                    <a:lstStyle/>
                    <a:p>
                      <a:pPr algn="ctr"/>
                      <a:r>
                        <a:rPr lang="en-US" sz="1800" dirty="0"/>
                        <a:t>4</a:t>
                      </a:r>
                      <a:endParaRPr lang="en-US" sz="1800" dirty="0"/>
                    </a:p>
                  </a:txBody>
                  <a:tcPr marL="19050" marR="19050" marT="19050" marB="19050" anchor="ctr"/>
                </a:tc>
                <a:tc>
                  <a:txBody>
                    <a:bodyPr/>
                    <a:lstStyle/>
                    <a:p>
                      <a:pPr algn="ctr"/>
                      <a:r>
                        <a:rPr lang="en-US" sz="1800" b="1" dirty="0"/>
                        <a:t>6</a:t>
                      </a:r>
                      <a:endParaRPr lang="en-US" sz="1800" b="1" dirty="0"/>
                    </a:p>
                  </a:txBody>
                  <a:tcPr marL="19050" marR="19050" marT="19050" marB="19050" anchor="ctr"/>
                </a:tc>
              </a:tr>
              <a:tr h="370840">
                <a:tc>
                  <a:txBody>
                    <a:bodyPr/>
                    <a:lstStyle/>
                    <a:p>
                      <a:r>
                        <a:rPr lang="en-US" sz="1800" dirty="0"/>
                        <a:t>Note here that 4 / 16 = 0.25. So the integer division result is 0.</a:t>
                      </a:r>
                      <a:endParaRPr lang="en-US" sz="1800" dirty="0"/>
                    </a:p>
                    <a:p>
                      <a:endParaRPr lang="en-US" sz="1800" dirty="0"/>
                    </a:p>
                    <a:p>
                      <a:r>
                        <a:rPr lang="en-US" sz="1800" dirty="0"/>
                        <a:t>The remainder is (0.25 - 0) multiplied with 16, which is 4.</a:t>
                      </a:r>
                      <a:endParaRPr lang="en-US" sz="1800" dirty="0"/>
                    </a:p>
                  </a:txBody>
                  <a:tcPr marL="19050" marR="19050" marT="19050" marB="19050" anchor="ctr"/>
                </a:tc>
                <a:tc>
                  <a:txBody>
                    <a:bodyPr/>
                    <a:lstStyle/>
                    <a:p>
                      <a:pPr algn="ctr"/>
                      <a:r>
                        <a:rPr lang="en-US" sz="1800" dirty="0"/>
                        <a:t>4 / 16</a:t>
                      </a:r>
                      <a:endParaRPr lang="en-US" sz="1800" dirty="0"/>
                    </a:p>
                  </a:txBody>
                  <a:tcPr marL="19050" marR="19050" marT="19050" marB="19050" anchor="ctr"/>
                </a:tc>
                <a:tc>
                  <a:txBody>
                    <a:bodyPr/>
                    <a:lstStyle/>
                    <a:p>
                      <a:pPr algn="ctr"/>
                      <a:r>
                        <a:rPr lang="en-US" sz="1800" dirty="0"/>
                        <a:t>0</a:t>
                      </a:r>
                      <a:endParaRPr lang="en-US" sz="1800" dirty="0"/>
                    </a:p>
                  </a:txBody>
                  <a:tcPr marL="19050" marR="19050" marT="19050" marB="19050" anchor="ctr"/>
                </a:tc>
                <a:tc>
                  <a:txBody>
                    <a:bodyPr/>
                    <a:lstStyle/>
                    <a:p>
                      <a:pPr algn="ctr"/>
                      <a:r>
                        <a:rPr lang="en-US" sz="1800" b="1" dirty="0"/>
                        <a:t>4</a:t>
                      </a:r>
                      <a:endParaRPr lang="en-US" sz="1800" b="1" dirty="0"/>
                    </a:p>
                  </a:txBody>
                  <a:tcPr marL="19050" marR="19050" marT="19050" marB="19050" anchor="ctr"/>
                </a:tc>
              </a:tr>
              <a:tr h="370840">
                <a:tc>
                  <a:txBody>
                    <a:bodyPr/>
                    <a:lstStyle/>
                    <a:p>
                      <a:r>
                        <a:rPr lang="en-US" sz="1800" dirty="0"/>
                        <a:t>Stop because the result is already 0 (0 divided by 16 will always be 0)</a:t>
                      </a:r>
                      <a:endParaRPr lang="en-US" sz="1800" dirty="0"/>
                    </a:p>
                  </a:txBody>
                  <a:tcPr marL="19050" marR="19050" marT="19050" marB="19050" anchor="ctr"/>
                </a:tc>
                <a:tc>
                  <a:txBody>
                    <a:bodyPr/>
                    <a:lstStyle/>
                    <a:p>
                      <a:pPr algn="ctr"/>
                      <a:r>
                        <a:rPr lang="en-US" sz="1800"/>
                        <a:t> </a:t>
                      </a:r>
                      <a:endParaRPr lang="en-US" sz="1800"/>
                    </a:p>
                  </a:txBody>
                  <a:tcPr marL="19050" marR="19050" marT="19050" marB="19050" anchor="ctr"/>
                </a:tc>
                <a:tc>
                  <a:txBody>
                    <a:bodyPr/>
                    <a:lstStyle/>
                    <a:p>
                      <a:pPr algn="ctr"/>
                      <a:r>
                        <a:rPr lang="en-US" sz="1800"/>
                        <a:t> </a:t>
                      </a:r>
                      <a:endParaRPr lang="en-US" sz="1800"/>
                    </a:p>
                  </a:txBody>
                  <a:tcPr marL="19050" marR="19050" marT="19050" marB="19050" anchor="ctr"/>
                </a:tc>
                <a:tc>
                  <a:txBody>
                    <a:bodyPr/>
                    <a:lstStyle/>
                    <a:p>
                      <a:pPr algn="ctr"/>
                      <a:r>
                        <a:rPr lang="en-US" sz="1800" dirty="0"/>
                        <a:t> </a:t>
                      </a:r>
                      <a:endParaRPr lang="en-US" sz="1800" dirty="0"/>
                    </a:p>
                  </a:txBody>
                  <a:tcPr marL="19050" marR="19050" marT="19050" marB="19050" anchor="ctr"/>
                </a:tc>
              </a:tr>
              <a:tr h="370840">
                <a:tc>
                  <a:txBody>
                    <a:bodyPr/>
                    <a:lstStyle/>
                    <a:p>
                      <a:r>
                        <a:rPr lang="en-US" sz="1800" dirty="0"/>
                        <a:t>Well, here is the answer. These numbers come from the REMAINDER column values (read from bottom to top)</a:t>
                      </a:r>
                      <a:endParaRPr lang="en-US" sz="1800" dirty="0"/>
                    </a:p>
                  </a:txBody>
                  <a:tcPr marL="19050" marR="19050" marT="19050" marB="19050" anchor="ctr"/>
                </a:tc>
                <a:tc>
                  <a:txBody>
                    <a:bodyPr/>
                    <a:lstStyle/>
                    <a:p>
                      <a:pPr algn="ctr"/>
                      <a:r>
                        <a:rPr lang="en-US" sz="1800"/>
                        <a:t> </a:t>
                      </a:r>
                      <a:endParaRPr lang="en-US" sz="1800"/>
                    </a:p>
                  </a:txBody>
                  <a:tcPr marL="19050" marR="19050" marT="19050" marB="19050" anchor="ctr"/>
                </a:tc>
                <a:tc>
                  <a:txBody>
                    <a:bodyPr/>
                    <a:lstStyle/>
                    <a:p>
                      <a:pPr algn="ctr"/>
                      <a:r>
                        <a:rPr lang="en-US" sz="1800"/>
                        <a:t> </a:t>
                      </a:r>
                      <a:endParaRPr lang="en-US" sz="1800"/>
                    </a:p>
                  </a:txBody>
                  <a:tcPr marL="19050" marR="19050" marT="19050" marB="19050" anchor="ctr"/>
                </a:tc>
                <a:tc>
                  <a:txBody>
                    <a:bodyPr/>
                    <a:lstStyle/>
                    <a:p>
                      <a:pPr algn="ctr"/>
                      <a:r>
                        <a:rPr lang="en-US" sz="1800" b="1" dirty="0"/>
                        <a:t>468</a:t>
                      </a:r>
                      <a:endParaRPr lang="en-US" sz="1800" b="1" dirty="0"/>
                    </a:p>
                  </a:txBody>
                  <a:tcPr marL="19050" marR="19050" marT="19050" marB="19050" anchor="ctr"/>
                </a:tc>
              </a:tr>
            </a:tbl>
          </a:graphicData>
        </a:graphic>
      </p:graphicFrame>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sp>
        <p:nvSpPr>
          <p:cNvPr id="7" name="Rectangle 6"/>
          <p:cNvSpPr/>
          <p:nvPr/>
        </p:nvSpPr>
        <p:spPr>
          <a:xfrm>
            <a:off x="2149321" y="185177"/>
            <a:ext cx="7892415" cy="521970"/>
          </a:xfrm>
          <a:prstGeom prst="rect">
            <a:avLst/>
          </a:prstGeom>
        </p:spPr>
        <p:txBody>
          <a:bodyPr wrap="none">
            <a:spAutoFit/>
          </a:bodyPr>
          <a:lstStyle/>
          <a:p>
            <a:r>
              <a:rPr lang="en-US" sz="2800" dirty="0"/>
              <a:t>Convert the number </a:t>
            </a:r>
            <a:r>
              <a:rPr lang="en-US" sz="2800" b="1" dirty="0"/>
              <a:t>1128</a:t>
            </a:r>
            <a:r>
              <a:rPr lang="en-US" sz="2800" dirty="0"/>
              <a:t> DECIMAL to HEXADECIMAL</a:t>
            </a:r>
            <a:endParaRPr lang="en-US" sz="2800"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graphicFrame>
        <p:nvGraphicFramePr>
          <p:cNvPr id="6" name="Content Placeholder 5"/>
          <p:cNvGraphicFramePr>
            <a:graphicFrameLocks noGrp="1"/>
          </p:cNvGraphicFramePr>
          <p:nvPr>
            <p:ph idx="1"/>
          </p:nvPr>
        </p:nvGraphicFramePr>
        <p:xfrm>
          <a:off x="838200" y="1825625"/>
          <a:ext cx="10515600" cy="169926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pPr algn="ctr"/>
                      <a:r>
                        <a:rPr lang="en-US" b="1"/>
                        <a:t>DIVISION</a:t>
                      </a:r>
                      <a:endParaRPr lang="en-US" dirty="0"/>
                    </a:p>
                  </a:txBody>
                  <a:tcPr marL="19050" marR="19050" marT="19050" marB="19050" anchor="ctr"/>
                </a:tc>
                <a:tc>
                  <a:txBody>
                    <a:bodyPr/>
                    <a:lstStyle/>
                    <a:p>
                      <a:pPr algn="ctr"/>
                      <a:r>
                        <a:rPr lang="en-US" b="1" dirty="0"/>
                        <a:t>RESULT</a:t>
                      </a:r>
                      <a:endParaRPr lang="en-US" dirty="0"/>
                    </a:p>
                  </a:txBody>
                  <a:tcPr marL="19050" marR="19050" marT="19050" marB="19050" anchor="ctr"/>
                </a:tc>
                <a:tc>
                  <a:txBody>
                    <a:bodyPr/>
                    <a:lstStyle/>
                    <a:p>
                      <a:pPr algn="ctr"/>
                      <a:r>
                        <a:rPr lang="en-US" b="1" dirty="0"/>
                        <a:t>REMAINDER</a:t>
                      </a:r>
                      <a:br>
                        <a:rPr lang="en-US" b="1" dirty="0"/>
                      </a:br>
                      <a:r>
                        <a:rPr lang="en-US" b="1" dirty="0"/>
                        <a:t>(in HEX)</a:t>
                      </a:r>
                      <a:endParaRPr lang="en-US" dirty="0"/>
                    </a:p>
                  </a:txBody>
                  <a:tcPr marL="19050" marR="19050" marT="19050" marB="19050" anchor="ctr"/>
                </a:tc>
              </a:tr>
              <a:tr h="370840">
                <a:tc>
                  <a:txBody>
                    <a:bodyPr/>
                    <a:lstStyle/>
                    <a:p>
                      <a:pPr algn="ctr"/>
                      <a:r>
                        <a:rPr lang="en-US" dirty="0"/>
                        <a:t>188 / 16</a:t>
                      </a:r>
                      <a:endParaRPr lang="en-US" dirty="0"/>
                    </a:p>
                  </a:txBody>
                  <a:tcPr marL="19050" marR="19050" marT="19050" marB="19050" anchor="ctr"/>
                </a:tc>
                <a:tc>
                  <a:txBody>
                    <a:bodyPr/>
                    <a:lstStyle/>
                    <a:p>
                      <a:pPr algn="ctr"/>
                      <a:r>
                        <a:rPr lang="en-US" dirty="0"/>
                        <a:t>11</a:t>
                      </a:r>
                      <a:endParaRPr lang="en-US" dirty="0"/>
                    </a:p>
                  </a:txBody>
                  <a:tcPr marL="19050" marR="19050" marT="19050" marB="19050" anchor="ctr"/>
                </a:tc>
                <a:tc>
                  <a:txBody>
                    <a:bodyPr/>
                    <a:lstStyle/>
                    <a:p>
                      <a:pPr algn="ctr"/>
                      <a:r>
                        <a:rPr lang="en-US" dirty="0"/>
                        <a:t>C (12 decimal)</a:t>
                      </a:r>
                      <a:endParaRPr lang="en-US" dirty="0"/>
                    </a:p>
                  </a:txBody>
                  <a:tcPr marL="19050" marR="19050" marT="19050" marB="19050" anchor="ctr"/>
                </a:tc>
              </a:tr>
              <a:tr h="370840">
                <a:tc>
                  <a:txBody>
                    <a:bodyPr/>
                    <a:lstStyle/>
                    <a:p>
                      <a:pPr algn="ctr"/>
                      <a:r>
                        <a:rPr lang="en-US" dirty="0"/>
                        <a:t>11 / 16</a:t>
                      </a:r>
                      <a:endParaRPr lang="en-US" dirty="0"/>
                    </a:p>
                  </a:txBody>
                  <a:tcPr marL="19050" marR="19050" marT="19050" marB="19050" anchor="ctr"/>
                </a:tc>
                <a:tc>
                  <a:txBody>
                    <a:bodyPr/>
                    <a:lstStyle/>
                    <a:p>
                      <a:pPr algn="ctr"/>
                      <a:r>
                        <a:rPr lang="en-US" dirty="0"/>
                        <a:t>0</a:t>
                      </a:r>
                      <a:endParaRPr lang="en-US" dirty="0"/>
                    </a:p>
                  </a:txBody>
                  <a:tcPr marL="19050" marR="19050" marT="19050" marB="19050" anchor="ctr"/>
                </a:tc>
                <a:tc>
                  <a:txBody>
                    <a:bodyPr/>
                    <a:lstStyle/>
                    <a:p>
                      <a:pPr algn="ctr"/>
                      <a:r>
                        <a:rPr lang="en-US" dirty="0"/>
                        <a:t>B (11 decimal)</a:t>
                      </a:r>
                      <a:endParaRPr lang="en-US" dirty="0"/>
                    </a:p>
                  </a:txBody>
                  <a:tcPr marL="19050" marR="19050" marT="19050" marB="19050" anchor="ctr"/>
                </a:tc>
              </a:tr>
              <a:tr h="370840">
                <a:tc>
                  <a:txBody>
                    <a:bodyPr/>
                    <a:lstStyle/>
                    <a:p>
                      <a:pPr algn="ctr"/>
                      <a:r>
                        <a:rPr lang="en-US" b="1" dirty="0"/>
                        <a:t>ANSWER</a:t>
                      </a:r>
                      <a:endParaRPr lang="en-US" b="1" dirty="0"/>
                    </a:p>
                  </a:txBody>
                  <a:tcPr marL="19050" marR="19050" marT="19050" marB="19050" anchor="ctr"/>
                </a:tc>
                <a:tc>
                  <a:txBody>
                    <a:bodyPr/>
                    <a:lstStyle/>
                    <a:p>
                      <a:pPr algn="ctr"/>
                      <a:r>
                        <a:rPr lang="en-US" b="1" dirty="0"/>
                        <a:t> </a:t>
                      </a:r>
                      <a:endParaRPr lang="en-US" b="1" dirty="0"/>
                    </a:p>
                  </a:txBody>
                  <a:tcPr marL="19050" marR="19050" marT="19050" marB="19050" anchor="ctr"/>
                </a:tc>
                <a:tc>
                  <a:txBody>
                    <a:bodyPr/>
                    <a:lstStyle/>
                    <a:p>
                      <a:pPr algn="ctr"/>
                      <a:r>
                        <a:rPr lang="en-US" b="1" dirty="0"/>
                        <a:t>BC</a:t>
                      </a:r>
                      <a:endParaRPr lang="en-US" b="1" dirty="0"/>
                    </a:p>
                  </a:txBody>
                  <a:tcPr marL="19050" marR="19050" marT="19050" marB="19050" anchor="ctr"/>
                </a:tc>
              </a:tr>
            </a:tbl>
          </a:graphicData>
        </a:graphic>
      </p:graphicFrame>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sp>
        <p:nvSpPr>
          <p:cNvPr id="7" name="Rectangle 6"/>
          <p:cNvSpPr/>
          <p:nvPr/>
        </p:nvSpPr>
        <p:spPr>
          <a:xfrm>
            <a:off x="3414241" y="1096220"/>
            <a:ext cx="5613203" cy="400110"/>
          </a:xfrm>
          <a:prstGeom prst="rect">
            <a:avLst/>
          </a:prstGeom>
        </p:spPr>
        <p:txBody>
          <a:bodyPr wrap="none">
            <a:spAutoFit/>
          </a:bodyPr>
          <a:lstStyle/>
          <a:p>
            <a:r>
              <a:rPr lang="en-US" sz="2000" dirty="0"/>
              <a:t>Convert the number </a:t>
            </a:r>
            <a:r>
              <a:rPr lang="en-US" sz="2000" b="1" dirty="0"/>
              <a:t>188</a:t>
            </a:r>
            <a:r>
              <a:rPr lang="en-US" sz="2000" dirty="0"/>
              <a:t> DECIMAL to HEXADECIMAL</a:t>
            </a:r>
            <a:endParaRPr lang="en-US" sz="2000"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dirty="0"/>
              <a:t>Converting Hexadecimal to Decimal</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r>
                  <a:rPr lang="en-US" dirty="0"/>
                  <a:t>Convert the number 1128 HEXADECIMAL to DECIMAL</a:t>
                </a:r>
                <a:endParaRPr lang="en-US" dirty="0"/>
              </a:p>
              <a:p>
                <a:pPr marL="0" indent="0">
                  <a:buNone/>
                </a:pPr>
                <a14:m>
                  <m:oMath xmlns:m="http://schemas.openxmlformats.org/officeDocument/2006/math">
                    <m:r>
                      <a:rPr lang="en-US" b="1" i="1" smtClean="0">
                        <a:solidFill>
                          <a:srgbClr val="FF0000"/>
                        </a:solidFill>
                        <a:latin typeface="Cambria Math" panose="02040503050406030204" pitchFamily="18" charset="0"/>
                      </a:rPr>
                      <m:t>𝟏</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16</m:t>
                            </m:r>
                          </m:e>
                          <m:sup>
                            <m:r>
                              <a:rPr lang="en-US" b="1" i="1" smtClean="0">
                                <a:solidFill>
                                  <a:schemeClr val="accent5"/>
                                </a:solidFill>
                                <a:latin typeface="Cambria Math" panose="02040503050406030204" pitchFamily="18" charset="0"/>
                                <a:ea typeface="Cambria Math" panose="02040503050406030204" pitchFamily="18" charset="0"/>
                              </a:rPr>
                              <m:t>𝟑</m:t>
                            </m:r>
                          </m:sup>
                        </m:sSup>
                      </m:e>
                    </m:d>
                    <m:r>
                      <a:rPr lang="en-US" i="1">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𝟏</m:t>
                    </m:r>
                    <m:r>
                      <a:rPr lang="en-US" i="1">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16</m:t>
                            </m:r>
                          </m:e>
                          <m:sup>
                            <m:r>
                              <a:rPr lang="en-US" b="1" i="1" smtClean="0">
                                <a:solidFill>
                                  <a:schemeClr val="accent5"/>
                                </a:solidFill>
                                <a:latin typeface="Cambria Math" panose="02040503050406030204" pitchFamily="18" charset="0"/>
                                <a:ea typeface="Cambria Math" panose="02040503050406030204" pitchFamily="18" charset="0"/>
                              </a:rPr>
                              <m:t>𝟐</m:t>
                            </m:r>
                          </m:sup>
                        </m:sSup>
                      </m:e>
                    </m:d>
                    <m:r>
                      <a:rPr lang="en-US" b="0" i="1" smtClean="0">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𝟐</m:t>
                    </m:r>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16</m:t>
                            </m:r>
                          </m:e>
                          <m:sup>
                            <m:r>
                              <a:rPr lang="en-US" b="1" i="1" smtClean="0">
                                <a:solidFill>
                                  <a:schemeClr val="accent5"/>
                                </a:solidFill>
                                <a:latin typeface="Cambria Math" panose="02040503050406030204" pitchFamily="18" charset="0"/>
                                <a:ea typeface="Cambria Math" panose="02040503050406030204" pitchFamily="18" charset="0"/>
                              </a:rPr>
                              <m:t>𝟏</m:t>
                            </m:r>
                          </m:sup>
                        </m:sSup>
                      </m:e>
                    </m:d>
                    <m:r>
                      <a:rPr lang="en-US" b="0" i="1" smtClean="0">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𝟖</m:t>
                    </m:r>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16</m:t>
                            </m:r>
                          </m:e>
                          <m:sup>
                            <m:r>
                              <a:rPr lang="en-US" b="1" i="1" smtClean="0">
                                <a:solidFill>
                                  <a:schemeClr val="accent5"/>
                                </a:solidFill>
                                <a:latin typeface="Cambria Math" panose="02040503050406030204" pitchFamily="18" charset="0"/>
                                <a:ea typeface="Cambria Math" panose="02040503050406030204" pitchFamily="18" charset="0"/>
                              </a:rPr>
                              <m:t>𝟎</m:t>
                            </m:r>
                          </m:sup>
                        </m:sSup>
                      </m:e>
                    </m:d>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𝟒𝟑𝟗𝟐</m:t>
                    </m:r>
                  </m:oMath>
                </a14:m>
                <a:r>
                  <a:rPr lang="en-US" dirty="0"/>
                  <a:t>	</a:t>
                </a:r>
                <a:endParaRPr lang="en-US" dirty="0"/>
              </a:p>
              <a:p>
                <a:pPr marL="0" indent="0">
                  <a:buNone/>
                </a:pPr>
                <a:endParaRPr lang="en-US" dirty="0"/>
              </a:p>
              <a:p>
                <a:pPr marL="0" indent="0">
                  <a:buNone/>
                </a:pPr>
                <a:r>
                  <a:rPr lang="en-US" dirty="0"/>
                  <a:t>Convert the number 1531 HEXADECIMAL to DECIMAL</a:t>
                </a:r>
                <a:endParaRPr lang="en-US" dirty="0"/>
              </a:p>
              <a:p>
                <a:pPr marL="0" indent="0">
                  <a:buNone/>
                </a:pPr>
                <a14:m>
                  <m:oMath xmlns:m="http://schemas.openxmlformats.org/officeDocument/2006/math">
                    <m:r>
                      <a:rPr lang="en-US" b="1" i="1" smtClean="0">
                        <a:solidFill>
                          <a:srgbClr val="FF0000"/>
                        </a:solidFill>
                        <a:latin typeface="Cambria Math" panose="02040503050406030204" pitchFamily="18" charset="0"/>
                      </a:rPr>
                      <m:t>𝟏</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16</m:t>
                            </m:r>
                          </m:e>
                          <m:sup>
                            <m:r>
                              <a:rPr lang="en-US" b="1" i="1" smtClean="0">
                                <a:solidFill>
                                  <a:schemeClr val="accent5"/>
                                </a:solidFill>
                                <a:latin typeface="Cambria Math" panose="02040503050406030204" pitchFamily="18" charset="0"/>
                                <a:ea typeface="Cambria Math" panose="02040503050406030204" pitchFamily="18" charset="0"/>
                              </a:rPr>
                              <m:t>𝟑</m:t>
                            </m:r>
                          </m:sup>
                        </m:sSup>
                      </m:e>
                    </m:d>
                    <m:r>
                      <a:rPr lang="en-US" i="1">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𝟓</m:t>
                    </m:r>
                    <m:r>
                      <a:rPr lang="en-US" i="1">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16</m:t>
                            </m:r>
                          </m:e>
                          <m:sup>
                            <m:r>
                              <a:rPr lang="en-US" b="1" i="1" smtClean="0">
                                <a:solidFill>
                                  <a:schemeClr val="accent5"/>
                                </a:solidFill>
                                <a:latin typeface="Cambria Math" panose="02040503050406030204" pitchFamily="18" charset="0"/>
                                <a:ea typeface="Cambria Math" panose="02040503050406030204" pitchFamily="18" charset="0"/>
                              </a:rPr>
                              <m:t>𝟐</m:t>
                            </m:r>
                          </m:sup>
                        </m:sSup>
                      </m:e>
                    </m:d>
                    <m:r>
                      <a:rPr lang="en-US" b="0" i="1" smtClean="0">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𝟑</m:t>
                    </m:r>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16</m:t>
                            </m:r>
                          </m:e>
                          <m:sup>
                            <m:r>
                              <a:rPr lang="en-US" b="1" i="1" smtClean="0">
                                <a:solidFill>
                                  <a:schemeClr val="accent5"/>
                                </a:solidFill>
                                <a:latin typeface="Cambria Math" panose="02040503050406030204" pitchFamily="18" charset="0"/>
                                <a:ea typeface="Cambria Math" panose="02040503050406030204" pitchFamily="18" charset="0"/>
                              </a:rPr>
                              <m:t>𝟏</m:t>
                            </m:r>
                          </m:sup>
                        </m:sSup>
                      </m:e>
                    </m:d>
                    <m:r>
                      <a:rPr lang="en-US" b="0" i="1" smtClean="0">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𝟏</m:t>
                    </m:r>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16</m:t>
                            </m:r>
                          </m:e>
                          <m:sup>
                            <m:r>
                              <a:rPr lang="en-US" b="1" i="1" smtClean="0">
                                <a:solidFill>
                                  <a:schemeClr val="accent5"/>
                                </a:solidFill>
                                <a:latin typeface="Cambria Math" panose="02040503050406030204" pitchFamily="18" charset="0"/>
                                <a:ea typeface="Cambria Math" panose="02040503050406030204" pitchFamily="18" charset="0"/>
                              </a:rPr>
                              <m:t>𝟎</m:t>
                            </m:r>
                          </m:sup>
                        </m:sSup>
                      </m:e>
                    </m:d>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𝟓𝟒𝟐𝟓</m:t>
                    </m:r>
                  </m:oMath>
                </a14:m>
                <a:r>
                  <a:rPr lang="en-US" dirty="0"/>
                  <a:t>	</a:t>
                </a:r>
                <a:endParaRPr lang="en-US" dirty="0"/>
              </a:p>
              <a:p>
                <a:pPr marL="0" indent="0">
                  <a:buNone/>
                </a:pP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b="7"/>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dirty="0"/>
              <a:t>feraputriayu@umm.ac.id</a:t>
            </a:r>
            <a:endParaRPr lang="en-US" dirty="0"/>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dirty="0"/>
              <a:t>Hexadecimals Color</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5"/>
                <a:ext cx="4909457" cy="4351338"/>
              </a:xfrm>
            </p:spPr>
            <p:txBody>
              <a:bodyPr>
                <a:normAutofit/>
              </a:bodyPr>
              <a:lstStyle/>
              <a:p>
                <a:r>
                  <a:rPr lang="en-US" sz="2400" dirty="0"/>
                  <a:t>1 byte = 8 bit (10101011) </a:t>
                </a:r>
                <a:endParaRPr lang="en-US" sz="2400" dirty="0">
                  <a:sym typeface="Wingdings" panose="05000000000000000000" pitchFamily="2" charset="2"/>
                </a:endParaRPr>
              </a:p>
              <a:p>
                <a14:m>
                  <m:oMath xmlns:m="http://schemas.openxmlformats.org/officeDocument/2006/math">
                    <m:sSup>
                      <m:sSupPr>
                        <m:ctrlPr>
                          <a:rPr lang="en-US" sz="2400" i="1" smtClean="0">
                            <a:latin typeface="Cambria Math" panose="02040503050406030204" pitchFamily="18" charset="0"/>
                            <a:sym typeface="Wingdings" panose="05000000000000000000" pitchFamily="2" charset="2"/>
                          </a:rPr>
                        </m:ctrlPr>
                      </m:sSupPr>
                      <m:e>
                        <m:r>
                          <a:rPr lang="en-US" sz="2400" b="0" i="1" smtClean="0">
                            <a:latin typeface="Cambria Math" panose="02040503050406030204" pitchFamily="18" charset="0"/>
                            <a:sym typeface="Wingdings" panose="05000000000000000000" pitchFamily="2" charset="2"/>
                          </a:rPr>
                          <m:t>2</m:t>
                        </m:r>
                      </m:e>
                      <m:sup>
                        <m:r>
                          <a:rPr lang="en-US" sz="2400" b="0" i="1" smtClean="0">
                            <a:latin typeface="Cambria Math" panose="02040503050406030204" pitchFamily="18" charset="0"/>
                            <a:sym typeface="Wingdings" panose="05000000000000000000" pitchFamily="2" charset="2"/>
                          </a:rPr>
                          <m:t>8</m:t>
                        </m:r>
                      </m:sup>
                    </m:sSup>
                    <m:r>
                      <a:rPr lang="en-US" sz="2400" b="0" i="1" smtClean="0">
                        <a:latin typeface="Cambria Math" panose="02040503050406030204" pitchFamily="18" charset="0"/>
                        <a:sym typeface="Wingdings" panose="05000000000000000000" pitchFamily="2" charset="2"/>
                      </a:rPr>
                      <m:t>=</m:t>
                    </m:r>
                    <m:r>
                      <a:rPr lang="en-US" sz="2400" b="0" i="1" smtClean="0">
                        <a:latin typeface="Cambria Math" panose="02040503050406030204" pitchFamily="18" charset="0"/>
                        <a:sym typeface="Wingdings" panose="05000000000000000000" pitchFamily="2" charset="2"/>
                      </a:rPr>
                      <m:t>256</m:t>
                    </m:r>
                  </m:oMath>
                </a14:m>
                <a:r>
                  <a:rPr lang="en-US" sz="2400" dirty="0"/>
                  <a:t> (0 … 255)</a:t>
                </a:r>
                <a:endParaRPr lang="en-US" sz="2400" dirty="0"/>
              </a:p>
              <a:p>
                <a:endParaRPr lang="en-US" sz="2400" dirty="0"/>
              </a:p>
              <a:p>
                <a:r>
                  <a:rPr lang="en-US" sz="2400" dirty="0"/>
                  <a:t>FOUR binary digits make ONE hexadecimal digit</a:t>
                </a:r>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838200" y="1825625"/>
                <a:ext cx="4909457" cy="4351338"/>
              </a:xfrm>
              <a:blipFill rotWithShape="1">
                <a:blip r:embed="rId2"/>
                <a:stretch>
                  <a:fillRect r="6" b="7"/>
                </a:stretch>
              </a:blipFill>
            </p:spPr>
            <p:txBody>
              <a:bodyPr/>
              <a:lstStyle/>
              <a:p>
                <a:r>
                  <a:rPr lang="en-US" altLang="en-US">
                    <a:noFill/>
                  </a:rPr>
                  <a:t> </a:t>
                </a:r>
              </a:p>
            </p:txBody>
          </p:sp>
        </mc:Fallback>
      </mc:AlternateContent>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graphicFrame>
        <p:nvGraphicFramePr>
          <p:cNvPr id="7" name="Table 6"/>
          <p:cNvGraphicFramePr>
            <a:graphicFrameLocks noGrp="1"/>
          </p:cNvGraphicFramePr>
          <p:nvPr/>
        </p:nvGraphicFramePr>
        <p:xfrm>
          <a:off x="5993219" y="365125"/>
          <a:ext cx="5820228" cy="5536118"/>
        </p:xfrm>
        <a:graphic>
          <a:graphicData uri="http://schemas.openxmlformats.org/drawingml/2006/table">
            <a:tbl>
              <a:tblPr firstRow="1" bandRow="1">
                <a:tableStyleId>{5C22544A-7EE6-4342-B048-85BDC9FD1C3A}</a:tableStyleId>
              </a:tblPr>
              <a:tblGrid>
                <a:gridCol w="1940076"/>
                <a:gridCol w="1940076"/>
                <a:gridCol w="1940076"/>
              </a:tblGrid>
              <a:tr h="323493">
                <a:tc>
                  <a:txBody>
                    <a:bodyPr/>
                    <a:lstStyle/>
                    <a:p>
                      <a:pPr algn="ctr"/>
                      <a:r>
                        <a:rPr lang="en-US" sz="1800" dirty="0">
                          <a:effectLst/>
                        </a:rPr>
                        <a:t>Decimal:</a:t>
                      </a:r>
                      <a:endParaRPr lang="en-US" sz="1800" dirty="0">
                        <a:effectLst/>
                      </a:endParaRPr>
                    </a:p>
                  </a:txBody>
                  <a:tcPr marL="40907" marR="40907" marT="40907" marB="40907" anchor="ctr"/>
                </a:tc>
                <a:tc>
                  <a:txBody>
                    <a:bodyPr/>
                    <a:lstStyle/>
                    <a:p>
                      <a:pPr algn="ctr"/>
                      <a:r>
                        <a:rPr lang="en-US" sz="1800" dirty="0">
                          <a:effectLst/>
                        </a:rPr>
                        <a:t>Binary:</a:t>
                      </a:r>
                      <a:endParaRPr lang="en-US" sz="1800" dirty="0">
                        <a:effectLst/>
                      </a:endParaRPr>
                    </a:p>
                  </a:txBody>
                  <a:tcPr marL="40907" marR="40907" marT="40907" marB="40907" anchor="ctr"/>
                </a:tc>
                <a:tc>
                  <a:txBody>
                    <a:bodyPr/>
                    <a:lstStyle/>
                    <a:p>
                      <a:pPr algn="ctr"/>
                      <a:r>
                        <a:rPr lang="en-US" sz="1800" dirty="0">
                          <a:effectLst/>
                        </a:rPr>
                        <a:t>Hexadecimal:</a:t>
                      </a:r>
                      <a:endParaRPr lang="en-US" sz="1800" dirty="0">
                        <a:effectLst/>
                      </a:endParaRPr>
                    </a:p>
                  </a:txBody>
                  <a:tcPr marL="40907" marR="40907" marT="40907" marB="40907" anchor="ctr"/>
                </a:tc>
              </a:tr>
              <a:tr h="323493">
                <a:tc>
                  <a:txBody>
                    <a:bodyPr/>
                    <a:lstStyle/>
                    <a:p>
                      <a:pPr algn="ctr"/>
                      <a:r>
                        <a:rPr lang="en-US" sz="1800" dirty="0">
                          <a:effectLst/>
                        </a:rPr>
                        <a:t>0</a:t>
                      </a:r>
                      <a:endParaRPr lang="en-US" sz="1800" dirty="0">
                        <a:effectLst/>
                      </a:endParaRPr>
                    </a:p>
                  </a:txBody>
                  <a:tcPr marL="40907" marR="40907" marT="40907" marB="40907" anchor="ctr"/>
                </a:tc>
                <a:tc>
                  <a:txBody>
                    <a:bodyPr/>
                    <a:lstStyle/>
                    <a:p>
                      <a:pPr algn="ctr"/>
                      <a:r>
                        <a:rPr lang="en-US" sz="1800" dirty="0">
                          <a:effectLst/>
                        </a:rPr>
                        <a:t>0</a:t>
                      </a:r>
                      <a:endParaRPr lang="en-US" sz="1800" dirty="0">
                        <a:effectLst/>
                      </a:endParaRPr>
                    </a:p>
                  </a:txBody>
                  <a:tcPr marL="40907" marR="40907" marT="40907" marB="40907" anchor="ctr"/>
                </a:tc>
                <a:tc>
                  <a:txBody>
                    <a:bodyPr/>
                    <a:lstStyle/>
                    <a:p>
                      <a:pPr algn="ctr"/>
                      <a:r>
                        <a:rPr lang="en-US" sz="1800" dirty="0">
                          <a:effectLst/>
                        </a:rPr>
                        <a:t>0</a:t>
                      </a:r>
                      <a:endParaRPr lang="en-US" sz="1800" dirty="0">
                        <a:effectLst/>
                      </a:endParaRPr>
                    </a:p>
                  </a:txBody>
                  <a:tcPr marL="40907" marR="40907" marT="40907" marB="40907" anchor="ctr"/>
                </a:tc>
              </a:tr>
              <a:tr h="323493">
                <a:tc>
                  <a:txBody>
                    <a:bodyPr/>
                    <a:lstStyle/>
                    <a:p>
                      <a:pPr algn="ctr"/>
                      <a:r>
                        <a:rPr lang="en-US" sz="1800" dirty="0">
                          <a:effectLst/>
                        </a:rPr>
                        <a:t>1</a:t>
                      </a:r>
                      <a:endParaRPr lang="en-US" sz="1800" dirty="0">
                        <a:effectLst/>
                      </a:endParaRPr>
                    </a:p>
                  </a:txBody>
                  <a:tcPr marL="40907" marR="40907" marT="40907" marB="40907" anchor="ctr"/>
                </a:tc>
                <a:tc>
                  <a:txBody>
                    <a:bodyPr/>
                    <a:lstStyle/>
                    <a:p>
                      <a:pPr algn="ctr"/>
                      <a:r>
                        <a:rPr lang="en-US" sz="1800">
                          <a:effectLst/>
                        </a:rPr>
                        <a:t>1</a:t>
                      </a:r>
                      <a:endParaRPr lang="en-US" sz="1800">
                        <a:effectLst/>
                      </a:endParaRPr>
                    </a:p>
                  </a:txBody>
                  <a:tcPr marL="40907" marR="40907" marT="40907" marB="40907" anchor="ctr"/>
                </a:tc>
                <a:tc>
                  <a:txBody>
                    <a:bodyPr/>
                    <a:lstStyle/>
                    <a:p>
                      <a:pPr algn="ctr"/>
                      <a:r>
                        <a:rPr lang="en-US" sz="1800">
                          <a:effectLst/>
                        </a:rPr>
                        <a:t>1</a:t>
                      </a:r>
                      <a:endParaRPr lang="en-US" sz="1800">
                        <a:effectLst/>
                      </a:endParaRPr>
                    </a:p>
                  </a:txBody>
                  <a:tcPr marL="40907" marR="40907" marT="40907" marB="40907" anchor="ctr"/>
                </a:tc>
              </a:tr>
              <a:tr h="323493">
                <a:tc>
                  <a:txBody>
                    <a:bodyPr/>
                    <a:lstStyle/>
                    <a:p>
                      <a:pPr algn="ctr"/>
                      <a:r>
                        <a:rPr lang="en-US" sz="1800" dirty="0">
                          <a:effectLst/>
                        </a:rPr>
                        <a:t>2</a:t>
                      </a:r>
                      <a:endParaRPr lang="en-US" sz="1800" dirty="0">
                        <a:effectLst/>
                      </a:endParaRPr>
                    </a:p>
                  </a:txBody>
                  <a:tcPr marL="40907" marR="40907" marT="40907" marB="40907" anchor="ctr"/>
                </a:tc>
                <a:tc>
                  <a:txBody>
                    <a:bodyPr/>
                    <a:lstStyle/>
                    <a:p>
                      <a:pPr algn="ctr"/>
                      <a:r>
                        <a:rPr lang="en-US" sz="1800" dirty="0">
                          <a:effectLst/>
                        </a:rPr>
                        <a:t>10</a:t>
                      </a:r>
                      <a:endParaRPr lang="en-US" sz="1800" dirty="0">
                        <a:effectLst/>
                      </a:endParaRPr>
                    </a:p>
                  </a:txBody>
                  <a:tcPr marL="40907" marR="40907" marT="40907" marB="40907" anchor="ctr"/>
                </a:tc>
                <a:tc>
                  <a:txBody>
                    <a:bodyPr/>
                    <a:lstStyle/>
                    <a:p>
                      <a:pPr algn="ctr"/>
                      <a:r>
                        <a:rPr lang="en-US" sz="1800" dirty="0">
                          <a:effectLst/>
                        </a:rPr>
                        <a:t>2</a:t>
                      </a:r>
                      <a:endParaRPr lang="en-US" sz="1800" dirty="0">
                        <a:effectLst/>
                      </a:endParaRPr>
                    </a:p>
                  </a:txBody>
                  <a:tcPr marL="40907" marR="40907" marT="40907" marB="40907" anchor="ctr"/>
                </a:tc>
              </a:tr>
              <a:tr h="323493">
                <a:tc>
                  <a:txBody>
                    <a:bodyPr/>
                    <a:lstStyle/>
                    <a:p>
                      <a:pPr algn="ctr"/>
                      <a:r>
                        <a:rPr lang="en-US" sz="1800">
                          <a:effectLst/>
                        </a:rPr>
                        <a:t>3</a:t>
                      </a:r>
                      <a:endParaRPr lang="en-US" sz="1800">
                        <a:effectLst/>
                      </a:endParaRPr>
                    </a:p>
                  </a:txBody>
                  <a:tcPr marL="40907" marR="40907" marT="40907" marB="40907" anchor="ctr"/>
                </a:tc>
                <a:tc>
                  <a:txBody>
                    <a:bodyPr/>
                    <a:lstStyle/>
                    <a:p>
                      <a:pPr algn="ctr"/>
                      <a:r>
                        <a:rPr lang="en-US" sz="1800" dirty="0">
                          <a:effectLst/>
                        </a:rPr>
                        <a:t>11</a:t>
                      </a:r>
                      <a:endParaRPr lang="en-US" sz="1800" dirty="0">
                        <a:effectLst/>
                      </a:endParaRPr>
                    </a:p>
                  </a:txBody>
                  <a:tcPr marL="40907" marR="40907" marT="40907" marB="40907" anchor="ctr"/>
                </a:tc>
                <a:tc>
                  <a:txBody>
                    <a:bodyPr/>
                    <a:lstStyle/>
                    <a:p>
                      <a:pPr algn="ctr"/>
                      <a:r>
                        <a:rPr lang="en-US" sz="1800">
                          <a:effectLst/>
                        </a:rPr>
                        <a:t>3</a:t>
                      </a:r>
                      <a:endParaRPr lang="en-US" sz="1800">
                        <a:effectLst/>
                      </a:endParaRPr>
                    </a:p>
                  </a:txBody>
                  <a:tcPr marL="40907" marR="40907" marT="40907" marB="40907" anchor="ctr"/>
                </a:tc>
              </a:tr>
              <a:tr h="323493">
                <a:tc>
                  <a:txBody>
                    <a:bodyPr/>
                    <a:lstStyle/>
                    <a:p>
                      <a:pPr algn="ctr"/>
                      <a:r>
                        <a:rPr lang="en-US" sz="1800">
                          <a:effectLst/>
                        </a:rPr>
                        <a:t>4</a:t>
                      </a:r>
                      <a:endParaRPr lang="en-US" sz="1800">
                        <a:effectLst/>
                      </a:endParaRPr>
                    </a:p>
                  </a:txBody>
                  <a:tcPr marL="40907" marR="40907" marT="40907" marB="40907" anchor="ctr"/>
                </a:tc>
                <a:tc>
                  <a:txBody>
                    <a:bodyPr/>
                    <a:lstStyle/>
                    <a:p>
                      <a:pPr algn="ctr"/>
                      <a:r>
                        <a:rPr lang="en-US" sz="1800" dirty="0">
                          <a:effectLst/>
                        </a:rPr>
                        <a:t>100</a:t>
                      </a:r>
                      <a:endParaRPr lang="en-US" sz="1800" dirty="0">
                        <a:effectLst/>
                      </a:endParaRPr>
                    </a:p>
                  </a:txBody>
                  <a:tcPr marL="40907" marR="40907" marT="40907" marB="40907" anchor="ctr"/>
                </a:tc>
                <a:tc>
                  <a:txBody>
                    <a:bodyPr/>
                    <a:lstStyle/>
                    <a:p>
                      <a:pPr algn="ctr"/>
                      <a:r>
                        <a:rPr lang="en-US" sz="1800">
                          <a:effectLst/>
                        </a:rPr>
                        <a:t>4</a:t>
                      </a:r>
                      <a:endParaRPr lang="en-US" sz="1800">
                        <a:effectLst/>
                      </a:endParaRPr>
                    </a:p>
                  </a:txBody>
                  <a:tcPr marL="40907" marR="40907" marT="40907" marB="40907" anchor="ctr"/>
                </a:tc>
              </a:tr>
              <a:tr h="323493">
                <a:tc>
                  <a:txBody>
                    <a:bodyPr/>
                    <a:lstStyle/>
                    <a:p>
                      <a:pPr algn="ctr"/>
                      <a:r>
                        <a:rPr lang="en-US" sz="1800" dirty="0">
                          <a:effectLst/>
                        </a:rPr>
                        <a:t>5</a:t>
                      </a:r>
                      <a:endParaRPr lang="en-US" sz="1800" dirty="0">
                        <a:effectLst/>
                      </a:endParaRPr>
                    </a:p>
                  </a:txBody>
                  <a:tcPr marL="40907" marR="40907" marT="40907" marB="40907" anchor="ctr"/>
                </a:tc>
                <a:tc>
                  <a:txBody>
                    <a:bodyPr/>
                    <a:lstStyle/>
                    <a:p>
                      <a:pPr algn="ctr"/>
                      <a:r>
                        <a:rPr lang="en-US" sz="1800" dirty="0">
                          <a:effectLst/>
                        </a:rPr>
                        <a:t>101</a:t>
                      </a:r>
                      <a:endParaRPr lang="en-US" sz="1800" dirty="0">
                        <a:effectLst/>
                      </a:endParaRPr>
                    </a:p>
                  </a:txBody>
                  <a:tcPr marL="40907" marR="40907" marT="40907" marB="40907" anchor="ctr"/>
                </a:tc>
                <a:tc>
                  <a:txBody>
                    <a:bodyPr/>
                    <a:lstStyle/>
                    <a:p>
                      <a:pPr algn="ctr"/>
                      <a:r>
                        <a:rPr lang="en-US" sz="1800" dirty="0">
                          <a:effectLst/>
                        </a:rPr>
                        <a:t>5</a:t>
                      </a:r>
                      <a:endParaRPr lang="en-US" sz="1800" dirty="0">
                        <a:effectLst/>
                      </a:endParaRPr>
                    </a:p>
                  </a:txBody>
                  <a:tcPr marL="40907" marR="40907" marT="40907" marB="40907" anchor="ctr"/>
                </a:tc>
              </a:tr>
              <a:tr h="323493">
                <a:tc>
                  <a:txBody>
                    <a:bodyPr/>
                    <a:lstStyle/>
                    <a:p>
                      <a:pPr algn="ctr"/>
                      <a:r>
                        <a:rPr lang="en-US" sz="1800">
                          <a:effectLst/>
                        </a:rPr>
                        <a:t>6</a:t>
                      </a:r>
                      <a:endParaRPr lang="en-US" sz="1800">
                        <a:effectLst/>
                      </a:endParaRPr>
                    </a:p>
                  </a:txBody>
                  <a:tcPr marL="40907" marR="40907" marT="40907" marB="40907" anchor="ctr"/>
                </a:tc>
                <a:tc>
                  <a:txBody>
                    <a:bodyPr/>
                    <a:lstStyle/>
                    <a:p>
                      <a:pPr algn="ctr"/>
                      <a:r>
                        <a:rPr lang="en-US" sz="1800" dirty="0">
                          <a:effectLst/>
                        </a:rPr>
                        <a:t>110</a:t>
                      </a:r>
                      <a:endParaRPr lang="en-US" sz="1800" dirty="0">
                        <a:effectLst/>
                      </a:endParaRPr>
                    </a:p>
                  </a:txBody>
                  <a:tcPr marL="40907" marR="40907" marT="40907" marB="40907" anchor="ctr"/>
                </a:tc>
                <a:tc>
                  <a:txBody>
                    <a:bodyPr/>
                    <a:lstStyle/>
                    <a:p>
                      <a:pPr algn="ctr"/>
                      <a:r>
                        <a:rPr lang="en-US" sz="1800">
                          <a:effectLst/>
                        </a:rPr>
                        <a:t>6</a:t>
                      </a:r>
                      <a:endParaRPr lang="en-US" sz="1800">
                        <a:effectLst/>
                      </a:endParaRPr>
                    </a:p>
                  </a:txBody>
                  <a:tcPr marL="40907" marR="40907" marT="40907" marB="40907" anchor="ctr"/>
                </a:tc>
              </a:tr>
              <a:tr h="323493">
                <a:tc>
                  <a:txBody>
                    <a:bodyPr/>
                    <a:lstStyle/>
                    <a:p>
                      <a:pPr algn="ctr"/>
                      <a:r>
                        <a:rPr lang="en-US" sz="1800">
                          <a:effectLst/>
                        </a:rPr>
                        <a:t>7</a:t>
                      </a:r>
                      <a:endParaRPr lang="en-US" sz="1800">
                        <a:effectLst/>
                      </a:endParaRPr>
                    </a:p>
                  </a:txBody>
                  <a:tcPr marL="40907" marR="40907" marT="40907" marB="40907" anchor="ctr"/>
                </a:tc>
                <a:tc>
                  <a:txBody>
                    <a:bodyPr/>
                    <a:lstStyle/>
                    <a:p>
                      <a:pPr algn="ctr"/>
                      <a:r>
                        <a:rPr lang="en-US" sz="1800" dirty="0">
                          <a:effectLst/>
                        </a:rPr>
                        <a:t>111</a:t>
                      </a:r>
                      <a:endParaRPr lang="en-US" sz="1800" dirty="0">
                        <a:effectLst/>
                      </a:endParaRPr>
                    </a:p>
                  </a:txBody>
                  <a:tcPr marL="40907" marR="40907" marT="40907" marB="40907" anchor="ctr"/>
                </a:tc>
                <a:tc>
                  <a:txBody>
                    <a:bodyPr/>
                    <a:lstStyle/>
                    <a:p>
                      <a:pPr algn="ctr"/>
                      <a:r>
                        <a:rPr lang="en-US" sz="1800">
                          <a:effectLst/>
                        </a:rPr>
                        <a:t>7</a:t>
                      </a:r>
                      <a:endParaRPr lang="en-US" sz="1800">
                        <a:effectLst/>
                      </a:endParaRPr>
                    </a:p>
                  </a:txBody>
                  <a:tcPr marL="40907" marR="40907" marT="40907" marB="40907" anchor="ctr"/>
                </a:tc>
              </a:tr>
              <a:tr h="323493">
                <a:tc>
                  <a:txBody>
                    <a:bodyPr/>
                    <a:lstStyle/>
                    <a:p>
                      <a:pPr algn="ctr"/>
                      <a:r>
                        <a:rPr lang="en-US" sz="1800">
                          <a:effectLst/>
                        </a:rPr>
                        <a:t>8</a:t>
                      </a:r>
                      <a:endParaRPr lang="en-US" sz="1800">
                        <a:effectLst/>
                      </a:endParaRPr>
                    </a:p>
                  </a:txBody>
                  <a:tcPr marL="40907" marR="40907" marT="40907" marB="40907" anchor="ctr"/>
                </a:tc>
                <a:tc>
                  <a:txBody>
                    <a:bodyPr/>
                    <a:lstStyle/>
                    <a:p>
                      <a:pPr algn="ctr"/>
                      <a:r>
                        <a:rPr lang="en-US" sz="1800" dirty="0">
                          <a:effectLst/>
                        </a:rPr>
                        <a:t>1000</a:t>
                      </a:r>
                      <a:endParaRPr lang="en-US" sz="1800" dirty="0">
                        <a:effectLst/>
                      </a:endParaRPr>
                    </a:p>
                  </a:txBody>
                  <a:tcPr marL="40907" marR="40907" marT="40907" marB="40907" anchor="ctr"/>
                </a:tc>
                <a:tc>
                  <a:txBody>
                    <a:bodyPr/>
                    <a:lstStyle/>
                    <a:p>
                      <a:pPr algn="ctr"/>
                      <a:r>
                        <a:rPr lang="en-US" sz="1800" dirty="0">
                          <a:effectLst/>
                        </a:rPr>
                        <a:t>8</a:t>
                      </a:r>
                      <a:endParaRPr lang="en-US" sz="1800" dirty="0">
                        <a:effectLst/>
                      </a:endParaRPr>
                    </a:p>
                  </a:txBody>
                  <a:tcPr marL="40907" marR="40907" marT="40907" marB="40907" anchor="ctr"/>
                </a:tc>
              </a:tr>
              <a:tr h="323493">
                <a:tc>
                  <a:txBody>
                    <a:bodyPr/>
                    <a:lstStyle/>
                    <a:p>
                      <a:pPr algn="ctr"/>
                      <a:r>
                        <a:rPr lang="en-US" sz="1800">
                          <a:effectLst/>
                        </a:rPr>
                        <a:t>9</a:t>
                      </a:r>
                      <a:endParaRPr lang="en-US" sz="1800">
                        <a:effectLst/>
                      </a:endParaRPr>
                    </a:p>
                  </a:txBody>
                  <a:tcPr marL="40907" marR="40907" marT="40907" marB="40907" anchor="ctr"/>
                </a:tc>
                <a:tc>
                  <a:txBody>
                    <a:bodyPr/>
                    <a:lstStyle/>
                    <a:p>
                      <a:pPr algn="ctr"/>
                      <a:r>
                        <a:rPr lang="en-US" sz="1800">
                          <a:effectLst/>
                        </a:rPr>
                        <a:t>1001</a:t>
                      </a:r>
                      <a:endParaRPr lang="en-US" sz="1800">
                        <a:effectLst/>
                      </a:endParaRPr>
                    </a:p>
                  </a:txBody>
                  <a:tcPr marL="40907" marR="40907" marT="40907" marB="40907" anchor="ctr"/>
                </a:tc>
                <a:tc>
                  <a:txBody>
                    <a:bodyPr/>
                    <a:lstStyle/>
                    <a:p>
                      <a:pPr algn="ctr"/>
                      <a:r>
                        <a:rPr lang="en-US" sz="1800" dirty="0">
                          <a:effectLst/>
                        </a:rPr>
                        <a:t>9</a:t>
                      </a:r>
                      <a:endParaRPr lang="en-US" sz="1800" dirty="0">
                        <a:effectLst/>
                      </a:endParaRPr>
                    </a:p>
                  </a:txBody>
                  <a:tcPr marL="40907" marR="40907" marT="40907" marB="40907" anchor="ctr"/>
                </a:tc>
              </a:tr>
              <a:tr h="323493">
                <a:tc>
                  <a:txBody>
                    <a:bodyPr/>
                    <a:lstStyle/>
                    <a:p>
                      <a:pPr algn="ctr"/>
                      <a:r>
                        <a:rPr lang="en-US" sz="1800">
                          <a:effectLst/>
                        </a:rPr>
                        <a:t>10</a:t>
                      </a:r>
                      <a:endParaRPr lang="en-US" sz="1800">
                        <a:effectLst/>
                      </a:endParaRPr>
                    </a:p>
                  </a:txBody>
                  <a:tcPr marL="40907" marR="40907" marT="40907" marB="40907" anchor="ctr"/>
                </a:tc>
                <a:tc>
                  <a:txBody>
                    <a:bodyPr/>
                    <a:lstStyle/>
                    <a:p>
                      <a:pPr algn="ctr"/>
                      <a:r>
                        <a:rPr lang="en-US" sz="1800">
                          <a:effectLst/>
                        </a:rPr>
                        <a:t>1010</a:t>
                      </a:r>
                      <a:endParaRPr lang="en-US" sz="1800">
                        <a:effectLst/>
                      </a:endParaRPr>
                    </a:p>
                  </a:txBody>
                  <a:tcPr marL="40907" marR="40907" marT="40907" marB="40907" anchor="ctr"/>
                </a:tc>
                <a:tc>
                  <a:txBody>
                    <a:bodyPr/>
                    <a:lstStyle/>
                    <a:p>
                      <a:pPr algn="ctr"/>
                      <a:r>
                        <a:rPr lang="en-US" sz="1800" dirty="0">
                          <a:effectLst/>
                        </a:rPr>
                        <a:t>A</a:t>
                      </a:r>
                      <a:endParaRPr lang="en-US" sz="1800" dirty="0">
                        <a:effectLst/>
                      </a:endParaRPr>
                    </a:p>
                  </a:txBody>
                  <a:tcPr marL="40907" marR="40907" marT="40907" marB="40907" anchor="ctr"/>
                </a:tc>
              </a:tr>
              <a:tr h="323493">
                <a:tc>
                  <a:txBody>
                    <a:bodyPr/>
                    <a:lstStyle/>
                    <a:p>
                      <a:pPr algn="ctr"/>
                      <a:r>
                        <a:rPr lang="en-US" sz="1800">
                          <a:effectLst/>
                        </a:rPr>
                        <a:t>11</a:t>
                      </a:r>
                      <a:endParaRPr lang="en-US" sz="1800">
                        <a:effectLst/>
                      </a:endParaRPr>
                    </a:p>
                  </a:txBody>
                  <a:tcPr marL="40907" marR="40907" marT="40907" marB="40907" anchor="ctr"/>
                </a:tc>
                <a:tc>
                  <a:txBody>
                    <a:bodyPr/>
                    <a:lstStyle/>
                    <a:p>
                      <a:pPr algn="ctr"/>
                      <a:r>
                        <a:rPr lang="en-US" sz="1800">
                          <a:effectLst/>
                        </a:rPr>
                        <a:t>1011</a:t>
                      </a:r>
                      <a:endParaRPr lang="en-US" sz="1800">
                        <a:effectLst/>
                      </a:endParaRPr>
                    </a:p>
                  </a:txBody>
                  <a:tcPr marL="40907" marR="40907" marT="40907" marB="40907" anchor="ctr"/>
                </a:tc>
                <a:tc>
                  <a:txBody>
                    <a:bodyPr/>
                    <a:lstStyle/>
                    <a:p>
                      <a:pPr algn="ctr"/>
                      <a:r>
                        <a:rPr lang="en-US" sz="1800" dirty="0">
                          <a:effectLst/>
                        </a:rPr>
                        <a:t>B</a:t>
                      </a:r>
                      <a:endParaRPr lang="en-US" sz="1800" dirty="0">
                        <a:effectLst/>
                      </a:endParaRPr>
                    </a:p>
                  </a:txBody>
                  <a:tcPr marL="40907" marR="40907" marT="40907" marB="40907" anchor="ctr"/>
                </a:tc>
              </a:tr>
              <a:tr h="323493">
                <a:tc>
                  <a:txBody>
                    <a:bodyPr/>
                    <a:lstStyle/>
                    <a:p>
                      <a:pPr algn="ctr"/>
                      <a:r>
                        <a:rPr lang="en-US" sz="1800" dirty="0">
                          <a:effectLst/>
                        </a:rPr>
                        <a:t>12</a:t>
                      </a:r>
                      <a:endParaRPr lang="en-US" sz="1800" dirty="0">
                        <a:effectLst/>
                      </a:endParaRPr>
                    </a:p>
                  </a:txBody>
                  <a:tcPr marL="40907" marR="40907" marT="40907" marB="40907" anchor="ctr"/>
                </a:tc>
                <a:tc>
                  <a:txBody>
                    <a:bodyPr/>
                    <a:lstStyle/>
                    <a:p>
                      <a:pPr algn="ctr"/>
                      <a:r>
                        <a:rPr lang="en-US" sz="1800" dirty="0">
                          <a:effectLst/>
                        </a:rPr>
                        <a:t>1100</a:t>
                      </a:r>
                      <a:endParaRPr lang="en-US" sz="1800" dirty="0">
                        <a:effectLst/>
                      </a:endParaRPr>
                    </a:p>
                  </a:txBody>
                  <a:tcPr marL="40907" marR="40907" marT="40907" marB="40907" anchor="ctr"/>
                </a:tc>
                <a:tc>
                  <a:txBody>
                    <a:bodyPr/>
                    <a:lstStyle/>
                    <a:p>
                      <a:pPr algn="ctr"/>
                      <a:r>
                        <a:rPr lang="en-US" sz="1800" dirty="0">
                          <a:effectLst/>
                        </a:rPr>
                        <a:t>C</a:t>
                      </a:r>
                      <a:endParaRPr lang="en-US" sz="1800" dirty="0">
                        <a:effectLst/>
                      </a:endParaRPr>
                    </a:p>
                  </a:txBody>
                  <a:tcPr marL="40907" marR="40907" marT="40907" marB="40907" anchor="ctr"/>
                </a:tc>
              </a:tr>
              <a:tr h="323493">
                <a:tc>
                  <a:txBody>
                    <a:bodyPr/>
                    <a:lstStyle/>
                    <a:p>
                      <a:pPr algn="ctr"/>
                      <a:r>
                        <a:rPr lang="en-US" sz="1800">
                          <a:effectLst/>
                        </a:rPr>
                        <a:t>13</a:t>
                      </a:r>
                      <a:endParaRPr lang="en-US" sz="1800">
                        <a:effectLst/>
                      </a:endParaRPr>
                    </a:p>
                  </a:txBody>
                  <a:tcPr marL="40907" marR="40907" marT="40907" marB="40907" anchor="ctr"/>
                </a:tc>
                <a:tc>
                  <a:txBody>
                    <a:bodyPr/>
                    <a:lstStyle/>
                    <a:p>
                      <a:pPr algn="ctr"/>
                      <a:r>
                        <a:rPr lang="en-US" sz="1800" dirty="0">
                          <a:effectLst/>
                        </a:rPr>
                        <a:t>1101</a:t>
                      </a:r>
                      <a:endParaRPr lang="en-US" sz="1800" dirty="0">
                        <a:effectLst/>
                      </a:endParaRPr>
                    </a:p>
                  </a:txBody>
                  <a:tcPr marL="40907" marR="40907" marT="40907" marB="40907" anchor="ctr"/>
                </a:tc>
                <a:tc>
                  <a:txBody>
                    <a:bodyPr/>
                    <a:lstStyle/>
                    <a:p>
                      <a:pPr algn="ctr"/>
                      <a:r>
                        <a:rPr lang="en-US" sz="1800" dirty="0">
                          <a:effectLst/>
                        </a:rPr>
                        <a:t>D</a:t>
                      </a:r>
                      <a:endParaRPr lang="en-US" sz="1800" dirty="0">
                        <a:effectLst/>
                      </a:endParaRPr>
                    </a:p>
                  </a:txBody>
                  <a:tcPr marL="40907" marR="40907" marT="40907" marB="40907" anchor="ctr"/>
                </a:tc>
              </a:tr>
              <a:tr h="323493">
                <a:tc>
                  <a:txBody>
                    <a:bodyPr/>
                    <a:lstStyle/>
                    <a:p>
                      <a:pPr algn="ctr"/>
                      <a:r>
                        <a:rPr lang="en-US" sz="1800">
                          <a:effectLst/>
                        </a:rPr>
                        <a:t>14</a:t>
                      </a:r>
                      <a:endParaRPr lang="en-US" sz="1800">
                        <a:effectLst/>
                      </a:endParaRPr>
                    </a:p>
                  </a:txBody>
                  <a:tcPr marL="40907" marR="40907" marT="40907" marB="40907" anchor="ctr"/>
                </a:tc>
                <a:tc>
                  <a:txBody>
                    <a:bodyPr/>
                    <a:lstStyle/>
                    <a:p>
                      <a:pPr algn="ctr"/>
                      <a:r>
                        <a:rPr lang="en-US" sz="1800">
                          <a:effectLst/>
                        </a:rPr>
                        <a:t>1110</a:t>
                      </a:r>
                      <a:endParaRPr lang="en-US" sz="1800">
                        <a:effectLst/>
                      </a:endParaRPr>
                    </a:p>
                  </a:txBody>
                  <a:tcPr marL="40907" marR="40907" marT="40907" marB="40907" anchor="ctr"/>
                </a:tc>
                <a:tc>
                  <a:txBody>
                    <a:bodyPr/>
                    <a:lstStyle/>
                    <a:p>
                      <a:pPr algn="ctr"/>
                      <a:r>
                        <a:rPr lang="en-US" sz="1800" dirty="0">
                          <a:effectLst/>
                        </a:rPr>
                        <a:t>E</a:t>
                      </a:r>
                      <a:endParaRPr lang="en-US" sz="1800" dirty="0">
                        <a:effectLst/>
                      </a:endParaRPr>
                    </a:p>
                  </a:txBody>
                  <a:tcPr marL="40907" marR="40907" marT="40907" marB="40907" anchor="ctr"/>
                </a:tc>
              </a:tr>
              <a:tr h="323493">
                <a:tc>
                  <a:txBody>
                    <a:bodyPr/>
                    <a:lstStyle/>
                    <a:p>
                      <a:pPr algn="ctr"/>
                      <a:r>
                        <a:rPr lang="en-US" sz="1800" dirty="0">
                          <a:effectLst/>
                        </a:rPr>
                        <a:t>15</a:t>
                      </a:r>
                      <a:endParaRPr lang="en-US" sz="1800" dirty="0">
                        <a:effectLst/>
                      </a:endParaRPr>
                    </a:p>
                  </a:txBody>
                  <a:tcPr marL="40907" marR="40907" marT="40907" marB="40907" anchor="ctr"/>
                </a:tc>
                <a:tc>
                  <a:txBody>
                    <a:bodyPr/>
                    <a:lstStyle/>
                    <a:p>
                      <a:pPr algn="ctr"/>
                      <a:r>
                        <a:rPr lang="en-US" sz="1800" dirty="0">
                          <a:effectLst/>
                        </a:rPr>
                        <a:t>1111</a:t>
                      </a:r>
                      <a:endParaRPr lang="en-US" sz="1800" dirty="0">
                        <a:effectLst/>
                      </a:endParaRPr>
                    </a:p>
                  </a:txBody>
                  <a:tcPr marL="40907" marR="40907" marT="40907" marB="40907" anchor="ctr"/>
                </a:tc>
                <a:tc>
                  <a:txBody>
                    <a:bodyPr/>
                    <a:lstStyle/>
                    <a:p>
                      <a:pPr algn="ctr"/>
                      <a:r>
                        <a:rPr lang="en-US" sz="1800" dirty="0">
                          <a:effectLst/>
                        </a:rPr>
                        <a:t>F</a:t>
                      </a:r>
                      <a:endParaRPr lang="en-US" sz="1800" dirty="0">
                        <a:effectLst/>
                      </a:endParaRPr>
                    </a:p>
                  </a:txBody>
                  <a:tcPr marL="40907" marR="40907" marT="40907" marB="40907" anchor="ctr"/>
                </a:tc>
              </a:tr>
            </a:tbl>
          </a:graphicData>
        </a:graphic>
      </p:graphicFrame>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dirty="0"/>
              <a:t>Hexadecimals Color (2)</a:t>
            </a:r>
            <a:endParaRPr lang="en-US" dirty="0"/>
          </a:p>
        </p:txBody>
      </p:sp>
      <p:graphicFrame>
        <p:nvGraphicFramePr>
          <p:cNvPr id="7" name="Content Placeholder 6"/>
          <p:cNvGraphicFramePr>
            <a:graphicFrameLocks noGrp="1"/>
          </p:cNvGraphicFramePr>
          <p:nvPr>
            <p:ph idx="1"/>
          </p:nvPr>
        </p:nvGraphicFramePr>
        <p:xfrm>
          <a:off x="838200" y="4664514"/>
          <a:ext cx="10515600" cy="370840"/>
        </p:xfrm>
        <a:graphic>
          <a:graphicData uri="http://schemas.openxmlformats.org/drawingml/2006/table">
            <a:tbl>
              <a:tblPr firstRow="1" bandRow="1">
                <a:tableStyleId>{5C22544A-7EE6-4342-B048-85BDC9FD1C3A}</a:tableStyleId>
              </a:tblPr>
              <a:tblGrid>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tblGrid>
              <a:tr h="370840">
                <a:tc>
                  <a:txBody>
                    <a:bodyPr/>
                    <a:lstStyle/>
                    <a:p>
                      <a:pPr algn="ctr"/>
                      <a:r>
                        <a:rPr lang="en-US" dirty="0"/>
                        <a:t>1</a:t>
                      </a:r>
                      <a:endParaRPr lang="en-US" dirty="0"/>
                    </a:p>
                  </a:txBody>
                  <a:tcPr>
                    <a:solidFill>
                      <a:srgbClr val="FF0000"/>
                    </a:solidFill>
                  </a:tcPr>
                </a:tc>
                <a:tc>
                  <a:txBody>
                    <a:bodyPr/>
                    <a:lstStyle/>
                    <a:p>
                      <a:pPr algn="ctr"/>
                      <a:r>
                        <a:rPr lang="en-US" dirty="0"/>
                        <a:t>1</a:t>
                      </a:r>
                      <a:endParaRPr lang="en-US" dirty="0"/>
                    </a:p>
                  </a:txBody>
                  <a:tcPr>
                    <a:solidFill>
                      <a:srgbClr val="FF0000"/>
                    </a:solidFill>
                  </a:tcPr>
                </a:tc>
                <a:tc>
                  <a:txBody>
                    <a:bodyPr/>
                    <a:lstStyle/>
                    <a:p>
                      <a:pPr algn="ctr"/>
                      <a:r>
                        <a:rPr lang="en-US" dirty="0"/>
                        <a:t>1</a:t>
                      </a:r>
                      <a:endParaRPr lang="en-US" dirty="0"/>
                    </a:p>
                  </a:txBody>
                  <a:tcPr>
                    <a:solidFill>
                      <a:srgbClr val="FF0000"/>
                    </a:solidFill>
                  </a:tcPr>
                </a:tc>
                <a:tc>
                  <a:txBody>
                    <a:bodyPr/>
                    <a:lstStyle/>
                    <a:p>
                      <a:pPr algn="ctr"/>
                      <a:r>
                        <a:rPr lang="en-US" dirty="0"/>
                        <a:t>1</a:t>
                      </a:r>
                      <a:endParaRPr lang="en-US" dirty="0"/>
                    </a:p>
                  </a:txBody>
                  <a:tcPr>
                    <a:solidFill>
                      <a:srgbClr val="FF0000"/>
                    </a:solidFill>
                  </a:tcPr>
                </a:tc>
                <a:tc>
                  <a:txBody>
                    <a:bodyPr/>
                    <a:lstStyle/>
                    <a:p>
                      <a:pPr algn="ctr"/>
                      <a:r>
                        <a:rPr lang="en-US" dirty="0"/>
                        <a:t>1</a:t>
                      </a:r>
                      <a:endParaRPr lang="en-US" dirty="0"/>
                    </a:p>
                  </a:txBody>
                  <a:tcPr>
                    <a:solidFill>
                      <a:srgbClr val="FF0000"/>
                    </a:solidFill>
                  </a:tcPr>
                </a:tc>
                <a:tc>
                  <a:txBody>
                    <a:bodyPr/>
                    <a:lstStyle/>
                    <a:p>
                      <a:pPr algn="ctr"/>
                      <a:r>
                        <a:rPr lang="en-US" dirty="0"/>
                        <a:t>1</a:t>
                      </a:r>
                      <a:endParaRPr lang="en-US" dirty="0"/>
                    </a:p>
                  </a:txBody>
                  <a:tcPr>
                    <a:solidFill>
                      <a:srgbClr val="FF0000"/>
                    </a:solidFill>
                  </a:tcPr>
                </a:tc>
                <a:tc>
                  <a:txBody>
                    <a:bodyPr/>
                    <a:lstStyle/>
                    <a:p>
                      <a:pPr algn="ctr"/>
                      <a:r>
                        <a:rPr lang="en-US" dirty="0"/>
                        <a:t>1</a:t>
                      </a:r>
                      <a:endParaRPr lang="en-US" dirty="0"/>
                    </a:p>
                  </a:txBody>
                  <a:tcPr>
                    <a:solidFill>
                      <a:srgbClr val="FF0000"/>
                    </a:solidFill>
                  </a:tcPr>
                </a:tc>
                <a:tc>
                  <a:txBody>
                    <a:bodyPr/>
                    <a:lstStyle/>
                    <a:p>
                      <a:pPr algn="ctr"/>
                      <a:r>
                        <a:rPr lang="en-US" dirty="0"/>
                        <a:t>1</a:t>
                      </a:r>
                      <a:endParaRPr lang="en-US" dirty="0"/>
                    </a:p>
                  </a:txBody>
                  <a:tcPr>
                    <a:solidFill>
                      <a:srgbClr val="FF000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tc>
                <a:tc>
                  <a:txBody>
                    <a:bodyPr/>
                    <a:lstStyle/>
                    <a:p>
                      <a:pPr algn="ctr"/>
                      <a:r>
                        <a:rPr lang="en-US" dirty="0"/>
                        <a:t>1</a:t>
                      </a:r>
                      <a:endParaRPr lang="en-US" dirty="0"/>
                    </a:p>
                  </a:txBody>
                  <a:tcPr/>
                </a:tc>
                <a:tc>
                  <a:txBody>
                    <a:bodyPr/>
                    <a:lstStyle/>
                    <a:p>
                      <a:pPr algn="ctr"/>
                      <a:r>
                        <a:rPr lang="en-US" dirty="0"/>
                        <a:t>1</a:t>
                      </a:r>
                      <a:endParaRPr lang="en-US" dirty="0"/>
                    </a:p>
                  </a:txBody>
                  <a:tcPr/>
                </a:tc>
                <a:tc>
                  <a:txBody>
                    <a:bodyPr/>
                    <a:lstStyle/>
                    <a:p>
                      <a:pPr algn="ctr"/>
                      <a:r>
                        <a:rPr lang="en-US" dirty="0"/>
                        <a:t>1</a:t>
                      </a:r>
                      <a:endParaRPr lang="en-US" dirty="0"/>
                    </a:p>
                  </a:txBody>
                  <a:tcPr/>
                </a:tc>
                <a:tc>
                  <a:txBody>
                    <a:bodyPr/>
                    <a:lstStyle/>
                    <a:p>
                      <a:pPr algn="ctr"/>
                      <a:r>
                        <a:rPr lang="en-US" dirty="0"/>
                        <a:t>1</a:t>
                      </a:r>
                      <a:endParaRPr lang="en-US" dirty="0"/>
                    </a:p>
                  </a:txBody>
                  <a:tcPr/>
                </a:tc>
                <a:tc>
                  <a:txBody>
                    <a:bodyPr/>
                    <a:lstStyle/>
                    <a:p>
                      <a:pPr algn="ctr"/>
                      <a:r>
                        <a:rPr lang="en-US" dirty="0"/>
                        <a:t>1</a:t>
                      </a:r>
                      <a:endParaRPr lang="en-US" dirty="0"/>
                    </a:p>
                  </a:txBody>
                  <a:tcPr/>
                </a:tc>
                <a:tc>
                  <a:txBody>
                    <a:bodyPr/>
                    <a:lstStyle/>
                    <a:p>
                      <a:pPr algn="ctr"/>
                      <a:r>
                        <a:rPr lang="en-US" dirty="0"/>
                        <a:t>1</a:t>
                      </a:r>
                      <a:endParaRPr lang="en-US" dirty="0"/>
                    </a:p>
                  </a:txBody>
                  <a:tcPr/>
                </a:tc>
                <a:tc>
                  <a:txBody>
                    <a:bodyPr/>
                    <a:lstStyle/>
                    <a:p>
                      <a:pPr algn="ctr"/>
                      <a:r>
                        <a:rPr lang="en-US" dirty="0"/>
                        <a:t>1</a:t>
                      </a:r>
                      <a:endParaRPr lang="en-US" dirty="0"/>
                    </a:p>
                  </a:txBody>
                  <a:tcPr/>
                </a:tc>
              </a:tr>
            </a:tbl>
          </a:graphicData>
        </a:graphic>
      </p:graphicFrame>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mc:AlternateContent xmlns:mc="http://schemas.openxmlformats.org/markup-compatibility/2006">
        <mc:Choice xmlns:a14="http://schemas.microsoft.com/office/drawing/2010/main" Requires="a14">
          <p:sp>
            <p:nvSpPr>
              <p:cNvPr id="8" name="TextBox 7"/>
              <p:cNvSpPr txBox="1"/>
              <p:nvPr/>
            </p:nvSpPr>
            <p:spPr>
              <a:xfrm>
                <a:off x="838200" y="3410734"/>
                <a:ext cx="5490029" cy="1323439"/>
              </a:xfrm>
              <a:prstGeom prst="rect">
                <a:avLst/>
              </a:prstGeom>
              <a:noFill/>
            </p:spPr>
            <p:txBody>
              <a:bodyPr wrap="square" rtlCol="0">
                <a:spAutoFit/>
              </a:bodyPr>
              <a:lstStyle/>
              <a:p>
                <a14:m>
                  <m:oMathPara xmlns:m="http://schemas.openxmlformats.org/officeDocument/2006/math">
                    <m:oMathParaPr>
                      <m:jc m:val="left"/>
                    </m:oMathParaPr>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24</m:t>
                          </m:r>
                        </m:sup>
                      </m:sSup>
                      <m:r>
                        <a:rPr lang="en-US" sz="2000" b="0" i="1">
                          <a:latin typeface="Cambria Math" panose="02040503050406030204" pitchFamily="18" charset="0"/>
                        </a:rPr>
                        <m:t>=</m:t>
                      </m:r>
                      <m:r>
                        <a:rPr lang="en-US" sz="2000" b="0" i="1">
                          <a:latin typeface="Cambria Math" panose="02040503050406030204" pitchFamily="18" charset="0"/>
                        </a:rPr>
                        <m:t>16</m:t>
                      </m:r>
                      <m:r>
                        <a:rPr lang="en-US" sz="2000" b="0" i="1" smtClean="0">
                          <a:latin typeface="Cambria Math" panose="02040503050406030204" pitchFamily="18" charset="0"/>
                        </a:rPr>
                        <m:t>.</m:t>
                      </m:r>
                      <m:r>
                        <a:rPr lang="en-US" sz="2000" b="0" i="1">
                          <a:latin typeface="Cambria Math" panose="02040503050406030204" pitchFamily="18" charset="0"/>
                        </a:rPr>
                        <m:t>777</m:t>
                      </m:r>
                      <m:r>
                        <a:rPr lang="en-US" sz="2000" b="0" i="1" smtClean="0">
                          <a:latin typeface="Cambria Math" panose="02040503050406030204" pitchFamily="18" charset="0"/>
                        </a:rPr>
                        <m:t>.</m:t>
                      </m:r>
                      <m:r>
                        <a:rPr lang="en-US" sz="2000" b="0" i="1">
                          <a:latin typeface="Cambria Math" panose="02040503050406030204" pitchFamily="18" charset="0"/>
                        </a:rPr>
                        <m:t>216</m:t>
                      </m:r>
                    </m:oMath>
                  </m:oMathPara>
                </a14:m>
                <a:endParaRPr lang="en-US" sz="2000" dirty="0"/>
              </a:p>
              <a:p>
                <a:endParaRPr lang="en-US" sz="2000" dirty="0"/>
              </a:p>
              <a:p>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2</m:t>
                        </m:r>
                      </m:e>
                      <m:sup>
                        <m:r>
                          <a:rPr lang="en-US" sz="2000" b="0" i="1" smtClean="0">
                            <a:latin typeface="Cambria Math" panose="02040503050406030204" pitchFamily="18" charset="0"/>
                          </a:rPr>
                          <m:t>8</m:t>
                        </m:r>
                      </m:sup>
                    </m:sSup>
                    <m:r>
                      <a:rPr lang="en-US" sz="2000" b="0" i="1" smtClean="0">
                        <a:latin typeface="Cambria Math" panose="02040503050406030204" pitchFamily="18" charset="0"/>
                      </a:rPr>
                      <m:t> </m:t>
                    </m:r>
                    <m:r>
                      <a:rPr lang="en-US" sz="2000" b="0" i="1" smtClean="0">
                        <a:latin typeface="Cambria Math" panose="02040503050406030204" pitchFamily="18" charset="0"/>
                      </a:rPr>
                      <m:t>𝑥</m:t>
                    </m:r>
                    <m:r>
                      <a:rPr lang="en-US" sz="2000" b="0" i="1" smtClean="0">
                        <a:latin typeface="Cambria Math" panose="02040503050406030204" pitchFamily="18" charset="0"/>
                      </a:rPr>
                      <m:t> </m:t>
                    </m:r>
                    <m:sSup>
                      <m:sSupPr>
                        <m:ctrlPr>
                          <a:rPr lang="en-US" sz="2000" i="1">
                            <a:latin typeface="Cambria Math" panose="02040503050406030204" pitchFamily="18" charset="0"/>
                          </a:rPr>
                        </m:ctrlPr>
                      </m:sSupPr>
                      <m:e>
                        <m:r>
                          <a:rPr lang="en-US" sz="2000" b="0" i="1">
                            <a:latin typeface="Cambria Math" panose="02040503050406030204" pitchFamily="18" charset="0"/>
                          </a:rPr>
                          <m:t>2</m:t>
                        </m:r>
                      </m:e>
                      <m:sup>
                        <m:r>
                          <a:rPr lang="en-US" sz="2000" b="0" i="1">
                            <a:latin typeface="Cambria Math" panose="02040503050406030204" pitchFamily="18" charset="0"/>
                          </a:rPr>
                          <m:t>8</m:t>
                        </m:r>
                      </m:sup>
                    </m:sSup>
                    <m:r>
                      <a:rPr lang="en-US" sz="2000" b="0" i="1" smtClean="0">
                        <a:latin typeface="Cambria Math" panose="02040503050406030204" pitchFamily="18" charset="0"/>
                      </a:rPr>
                      <m:t> </m:t>
                    </m:r>
                    <m:r>
                      <a:rPr lang="en-US" sz="2000" b="0" i="1" smtClean="0">
                        <a:latin typeface="Cambria Math" panose="02040503050406030204" pitchFamily="18" charset="0"/>
                      </a:rPr>
                      <m:t>𝑥</m:t>
                    </m:r>
                    <m:r>
                      <a:rPr lang="en-US" sz="2000" b="0" i="1" smtClean="0">
                        <a:latin typeface="Cambria Math" panose="02040503050406030204" pitchFamily="18" charset="0"/>
                      </a:rPr>
                      <m:t> </m:t>
                    </m:r>
                    <m:sSup>
                      <m:sSupPr>
                        <m:ctrlPr>
                          <a:rPr lang="en-US" sz="2000" i="1">
                            <a:latin typeface="Cambria Math" panose="02040503050406030204" pitchFamily="18" charset="0"/>
                          </a:rPr>
                        </m:ctrlPr>
                      </m:sSupPr>
                      <m:e>
                        <m:r>
                          <a:rPr lang="en-US" sz="2000" b="0" i="1">
                            <a:latin typeface="Cambria Math" panose="02040503050406030204" pitchFamily="18" charset="0"/>
                          </a:rPr>
                          <m:t>2</m:t>
                        </m:r>
                      </m:e>
                      <m:sup>
                        <m:r>
                          <a:rPr lang="en-US" sz="2000" b="0" i="1">
                            <a:latin typeface="Cambria Math" panose="02040503050406030204" pitchFamily="18" charset="0"/>
                          </a:rPr>
                          <m:t>8</m:t>
                        </m:r>
                      </m:sup>
                    </m:sSup>
                    <m:r>
                      <a:rPr lang="en-US" sz="2000" b="0" i="1" smtClean="0">
                        <a:latin typeface="Cambria Math" panose="02040503050406030204" pitchFamily="18" charset="0"/>
                      </a:rPr>
                      <m:t>=</m:t>
                    </m:r>
                    <m:r>
                      <a:rPr lang="en-US" sz="2000" b="0" i="1">
                        <a:latin typeface="Cambria Math" panose="02040503050406030204" pitchFamily="18" charset="0"/>
                      </a:rPr>
                      <m:t>16</m:t>
                    </m:r>
                    <m:r>
                      <a:rPr lang="en-US" sz="2000" b="0" i="1" smtClean="0">
                        <a:latin typeface="Cambria Math" panose="02040503050406030204" pitchFamily="18" charset="0"/>
                      </a:rPr>
                      <m:t>.</m:t>
                    </m:r>
                    <m:r>
                      <a:rPr lang="en-US" sz="2000" b="0" i="1">
                        <a:latin typeface="Cambria Math" panose="02040503050406030204" pitchFamily="18" charset="0"/>
                      </a:rPr>
                      <m:t>777</m:t>
                    </m:r>
                    <m:r>
                      <a:rPr lang="en-US" sz="2000" b="0" i="1" smtClean="0">
                        <a:latin typeface="Cambria Math" panose="02040503050406030204" pitchFamily="18" charset="0"/>
                      </a:rPr>
                      <m:t>.</m:t>
                    </m:r>
                    <m:r>
                      <a:rPr lang="en-US" sz="2000" b="0" i="1">
                        <a:latin typeface="Cambria Math" panose="02040503050406030204" pitchFamily="18" charset="0"/>
                      </a:rPr>
                      <m:t>216</m:t>
                    </m:r>
                  </m:oMath>
                </a14:m>
                <a:r>
                  <a:rPr lang="en-US" sz="2000" dirty="0"/>
                  <a:t> (16 Million </a:t>
                </a:r>
                <a:r>
                  <a:rPr lang="en-US" sz="2000" dirty="0" err="1"/>
                  <a:t>Collors</a:t>
                </a:r>
                <a:r>
                  <a:rPr lang="en-US" sz="2000" dirty="0"/>
                  <a:t>)</a:t>
                </a:r>
                <a:endParaRPr lang="en-US" sz="2000" dirty="0"/>
              </a:p>
              <a:p>
                <a:endParaRPr lang="en-US" sz="2000" dirty="0"/>
              </a:p>
            </p:txBody>
          </p:sp>
        </mc:Choice>
        <mc:Fallback>
          <p:sp>
            <p:nvSpPr>
              <p:cNvPr id="8" name="TextBox 7"/>
              <p:cNvSpPr txBox="1">
                <a:spLocks noRot="1" noChangeAspect="1" noMove="1" noResize="1" noEditPoints="1" noAdjustHandles="1" noChangeArrowheads="1" noChangeShapeType="1" noTextEdit="1"/>
              </p:cNvSpPr>
              <p:nvPr/>
            </p:nvSpPr>
            <p:spPr>
              <a:xfrm>
                <a:off x="838200" y="3410734"/>
                <a:ext cx="5490029" cy="1323439"/>
              </a:xfrm>
              <a:prstGeom prst="rect">
                <a:avLst/>
              </a:prstGeom>
              <a:blipFill rotWithShape="1">
                <a:blip r:embed="rId2"/>
                <a:stretch>
                  <a:fillRect t="-11" r="8" b="19"/>
                </a:stretch>
              </a:blipFill>
            </p:spPr>
            <p:txBody>
              <a:bodyPr/>
              <a:lstStyle/>
              <a:p>
                <a:r>
                  <a:rPr lang="en-US" altLang="en-US">
                    <a:noFill/>
                  </a:rPr>
                  <a:t> </a:t>
                </a:r>
              </a:p>
            </p:txBody>
          </p:sp>
        </mc:Fallback>
      </mc:AlternateContent>
      <p:graphicFrame>
        <p:nvGraphicFramePr>
          <p:cNvPr id="9" name="Content Placeholder 6"/>
          <p:cNvGraphicFramePr/>
          <p:nvPr/>
        </p:nvGraphicFramePr>
        <p:xfrm>
          <a:off x="838200" y="5295216"/>
          <a:ext cx="10515600" cy="37084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370840">
                <a:tc>
                  <a:txBody>
                    <a:bodyPr/>
                    <a:lstStyle/>
                    <a:p>
                      <a:pPr algn="ctr"/>
                      <a:r>
                        <a:rPr lang="en-US" dirty="0"/>
                        <a:t>F</a:t>
                      </a:r>
                      <a:endParaRPr lang="en-US" dirty="0"/>
                    </a:p>
                  </a:txBody>
                  <a:tcPr>
                    <a:solidFill>
                      <a:srgbClr val="FF0000"/>
                    </a:solidFill>
                  </a:tcPr>
                </a:tc>
                <a:tc>
                  <a:txBody>
                    <a:bodyPr/>
                    <a:lstStyle/>
                    <a:p>
                      <a:pPr algn="ctr"/>
                      <a:r>
                        <a:rPr lang="en-US" dirty="0"/>
                        <a:t>F</a:t>
                      </a:r>
                      <a:endParaRPr lang="en-US" dirty="0"/>
                    </a:p>
                  </a:txBody>
                  <a:tcPr>
                    <a:solidFill>
                      <a:srgbClr val="FF0000"/>
                    </a:solidFill>
                  </a:tcPr>
                </a:tc>
                <a:tc>
                  <a:txBody>
                    <a:bodyPr/>
                    <a:lstStyle/>
                    <a:p>
                      <a:pPr algn="ctr"/>
                      <a:r>
                        <a:rPr lang="en-US" dirty="0"/>
                        <a:t>F</a:t>
                      </a:r>
                      <a:endParaRPr lang="en-US" dirty="0"/>
                    </a:p>
                  </a:txBody>
                  <a:tcPr>
                    <a:solidFill>
                      <a:srgbClr val="92D050"/>
                    </a:solidFill>
                  </a:tcPr>
                </a:tc>
                <a:tc>
                  <a:txBody>
                    <a:bodyPr/>
                    <a:lstStyle/>
                    <a:p>
                      <a:pPr algn="ctr"/>
                      <a:r>
                        <a:rPr lang="en-US" dirty="0"/>
                        <a:t>F</a:t>
                      </a:r>
                      <a:endParaRPr lang="en-US" dirty="0"/>
                    </a:p>
                  </a:txBody>
                  <a:tcPr>
                    <a:solidFill>
                      <a:srgbClr val="92D050"/>
                    </a:solidFill>
                  </a:tcPr>
                </a:tc>
                <a:tc>
                  <a:txBody>
                    <a:bodyPr/>
                    <a:lstStyle/>
                    <a:p>
                      <a:pPr algn="ctr"/>
                      <a:r>
                        <a:rPr lang="en-US" dirty="0"/>
                        <a:t>F</a:t>
                      </a:r>
                      <a:endParaRPr lang="en-US" dirty="0"/>
                    </a:p>
                  </a:txBody>
                  <a:tcPr/>
                </a:tc>
                <a:tc>
                  <a:txBody>
                    <a:bodyPr/>
                    <a:lstStyle/>
                    <a:p>
                      <a:pPr algn="ctr"/>
                      <a:r>
                        <a:rPr lang="en-US" dirty="0"/>
                        <a:t>F</a:t>
                      </a:r>
                      <a:endParaRPr lang="en-US" dirty="0"/>
                    </a:p>
                  </a:txBody>
                  <a:tcPr/>
                </a:tc>
              </a:tr>
            </a:tbl>
          </a:graphicData>
        </a:graphic>
      </p:graphicFrame>
      <p:sp>
        <p:nvSpPr>
          <p:cNvPr id="10" name="Rectangle 9"/>
          <p:cNvSpPr/>
          <p:nvPr/>
        </p:nvSpPr>
        <p:spPr>
          <a:xfrm>
            <a:off x="838200" y="1842307"/>
            <a:ext cx="10515600" cy="1631216"/>
          </a:xfrm>
          <a:prstGeom prst="rect">
            <a:avLst/>
          </a:prstGeom>
        </p:spPr>
        <p:txBody>
          <a:bodyPr wrap="square">
            <a:spAutoFit/>
          </a:bodyPr>
          <a:lstStyle/>
          <a:p>
            <a:pPr marL="285750" indent="-285750">
              <a:buFont typeface="Arial" panose="020B0604020202020204" pitchFamily="34" charset="0"/>
              <a:buChar char="•"/>
            </a:pPr>
            <a:r>
              <a:rPr lang="en-US" sz="2000" dirty="0"/>
              <a:t>ONE hexadecimal digit can have 16 different values (0 to 15 in decimal)</a:t>
            </a:r>
            <a:endParaRPr lang="en-US" sz="2000" dirty="0"/>
          </a:p>
          <a:p>
            <a:pPr marL="285750" indent="-285750">
              <a:buFont typeface="Arial" panose="020B0604020202020204" pitchFamily="34" charset="0"/>
              <a:buChar char="•"/>
            </a:pPr>
            <a:r>
              <a:rPr lang="en-US" sz="2000" dirty="0"/>
              <a:t>TWO hexadecimal digits together (called a "byte“, 1 byte = 8 bit) can make 16 × 16 = 256 different levels of color.</a:t>
            </a:r>
            <a:endParaRPr lang="en-US" sz="2000" dirty="0"/>
          </a:p>
          <a:p>
            <a:pPr marL="285750" indent="-285750">
              <a:buFont typeface="Arial" panose="020B0604020202020204" pitchFamily="34" charset="0"/>
              <a:buChar char="•"/>
            </a:pPr>
            <a:r>
              <a:rPr lang="en-US" sz="2000" dirty="0"/>
              <a:t>0 to 255 (in decimal) or 00 to FF (in hexadecimal)</a:t>
            </a:r>
            <a:endParaRPr lang="en-US" sz="2000" dirty="0"/>
          </a:p>
          <a:p>
            <a:pPr marL="285750" indent="-285750">
              <a:buFont typeface="Arial" panose="020B0604020202020204" pitchFamily="34" charset="0"/>
              <a:buChar char="•"/>
            </a:pPr>
            <a:endParaRPr lang="en-US" sz="2000"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3" name="Content Placeholder 2"/>
          <p:cNvSpPr>
            <a:spLocks noGrp="1"/>
          </p:cNvSpPr>
          <p:nvPr>
            <p:ph idx="1"/>
          </p:nvPr>
        </p:nvSpPr>
        <p:spPr>
          <a:xfrm>
            <a:off x="838200" y="365126"/>
            <a:ext cx="10515600" cy="521140"/>
          </a:xfrm>
        </p:spPr>
        <p:txBody>
          <a:bodyPr>
            <a:noAutofit/>
          </a:bodyPr>
          <a:lstStyle/>
          <a:p>
            <a:pPr marL="0" indent="0">
              <a:buNone/>
            </a:pPr>
            <a:r>
              <a:rPr lang="en-US" sz="2400" b="1" dirty="0"/>
              <a:t>RGB Color Format &amp; Calculation</a:t>
            </a:r>
            <a:r>
              <a:rPr lang="en-US" sz="2400" dirty="0"/>
              <a:t>.</a:t>
            </a:r>
            <a:r>
              <a:rPr lang="en-US" sz="2400" b="1" dirty="0"/>
              <a:t> </a:t>
            </a:r>
            <a:r>
              <a:rPr lang="en-US" sz="2400" dirty="0"/>
              <a:t>RGB code has 24 bits format (bits 0…23):</a:t>
            </a:r>
            <a:endParaRPr lang="en-US" sz="2400" dirty="0"/>
          </a:p>
          <a:p>
            <a:pPr marL="0" indent="0">
              <a:buNone/>
            </a:pPr>
            <a:endParaRPr lang="en-US" sz="2400" dirty="0"/>
          </a:p>
          <a:p>
            <a:pPr marL="0" indent="0">
              <a:buNone/>
            </a:pPr>
            <a:endParaRPr lang="en-US" sz="24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a:stretch>
            <a:fillRect/>
          </a:stretch>
        </p:blipFill>
        <p:spPr>
          <a:xfrm>
            <a:off x="2700337" y="977846"/>
            <a:ext cx="6791325" cy="1047750"/>
          </a:xfrm>
          <a:prstGeom prst="rect">
            <a:avLst/>
          </a:prstGeom>
        </p:spPr>
      </p:pic>
      <p:sp>
        <p:nvSpPr>
          <p:cNvPr id="7" name="Content Placeholder 2"/>
          <p:cNvSpPr txBox="1"/>
          <p:nvPr/>
        </p:nvSpPr>
        <p:spPr>
          <a:xfrm>
            <a:off x="838199" y="2236763"/>
            <a:ext cx="10515600" cy="36857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RGB = (</a:t>
            </a:r>
            <a:r>
              <a:rPr lang="en-US" sz="2400" b="1" dirty="0">
                <a:solidFill>
                  <a:srgbClr val="FF0000"/>
                </a:solidFill>
              </a:rPr>
              <a:t>R</a:t>
            </a:r>
            <a:r>
              <a:rPr lang="en-US" sz="2400" dirty="0"/>
              <a:t>*65536) + (</a:t>
            </a:r>
            <a:r>
              <a:rPr lang="en-US" sz="2400" b="1" dirty="0">
                <a:solidFill>
                  <a:srgbClr val="92D050"/>
                </a:solidFill>
              </a:rPr>
              <a:t>G</a:t>
            </a:r>
            <a:r>
              <a:rPr lang="en-US" sz="2400" dirty="0"/>
              <a:t>*256) + </a:t>
            </a:r>
            <a:r>
              <a:rPr lang="en-US" sz="2400" b="1" dirty="0">
                <a:solidFill>
                  <a:srgbClr val="5B9BD5"/>
                </a:solidFill>
              </a:rPr>
              <a:t>B</a:t>
            </a:r>
            <a:endParaRPr lang="en-US" sz="2400" b="1" dirty="0">
              <a:solidFill>
                <a:srgbClr val="5B9BD5"/>
              </a:solidFill>
            </a:endParaRPr>
          </a:p>
          <a:p>
            <a:pPr marL="0" indent="0">
              <a:buNone/>
            </a:pPr>
            <a:endParaRPr lang="en-US" sz="2400" dirty="0"/>
          </a:p>
          <a:p>
            <a:pPr marL="0" indent="0">
              <a:buNone/>
            </a:pPr>
            <a:r>
              <a:rPr lang="en-US" sz="2400" dirty="0"/>
              <a:t>White RGB code = (</a:t>
            </a:r>
            <a:r>
              <a:rPr lang="en-US" sz="2400" b="1" dirty="0">
                <a:solidFill>
                  <a:srgbClr val="FF0000"/>
                </a:solidFill>
              </a:rPr>
              <a:t>255</a:t>
            </a:r>
            <a:r>
              <a:rPr lang="en-US" sz="2400" dirty="0"/>
              <a:t>*65.536) + (</a:t>
            </a:r>
            <a:r>
              <a:rPr lang="en-US" sz="2400" b="1" dirty="0">
                <a:solidFill>
                  <a:srgbClr val="92D050"/>
                </a:solidFill>
              </a:rPr>
              <a:t>255</a:t>
            </a:r>
            <a:r>
              <a:rPr lang="en-US" sz="2400" dirty="0"/>
              <a:t>*256) + </a:t>
            </a:r>
            <a:r>
              <a:rPr lang="en-US" sz="2400" b="1" dirty="0">
                <a:solidFill>
                  <a:srgbClr val="5B9BD5"/>
                </a:solidFill>
              </a:rPr>
              <a:t>255</a:t>
            </a:r>
            <a:r>
              <a:rPr lang="en-US" sz="2400" dirty="0"/>
              <a:t> = 16.777.215 = #</a:t>
            </a:r>
            <a:r>
              <a:rPr lang="en-US" sz="2400" b="1" dirty="0">
                <a:solidFill>
                  <a:srgbClr val="FF0000"/>
                </a:solidFill>
              </a:rPr>
              <a:t>FF</a:t>
            </a:r>
            <a:r>
              <a:rPr lang="en-US" sz="2400" b="1" dirty="0">
                <a:solidFill>
                  <a:srgbClr val="92D050"/>
                </a:solidFill>
              </a:rPr>
              <a:t>FF</a:t>
            </a:r>
            <a:r>
              <a:rPr lang="en-US" sz="2400" b="1" dirty="0">
                <a:solidFill>
                  <a:srgbClr val="5B9BD5"/>
                </a:solidFill>
              </a:rPr>
              <a:t>FF</a:t>
            </a:r>
            <a:endParaRPr lang="en-US" sz="2400" b="1" dirty="0">
              <a:solidFill>
                <a:srgbClr val="5B9BD5"/>
              </a:solidFill>
            </a:endParaRPr>
          </a:p>
          <a:p>
            <a:pPr marL="0" indent="0">
              <a:buNone/>
            </a:pPr>
            <a:r>
              <a:rPr lang="en-US" sz="2400" dirty="0"/>
              <a:t>Blue RGB code = (</a:t>
            </a:r>
            <a:r>
              <a:rPr lang="en-US" sz="2400" b="1" dirty="0">
                <a:solidFill>
                  <a:srgbClr val="FF0000"/>
                </a:solidFill>
              </a:rPr>
              <a:t>0</a:t>
            </a:r>
            <a:r>
              <a:rPr lang="en-US" sz="2400" dirty="0"/>
              <a:t>*65.536) + (</a:t>
            </a:r>
            <a:r>
              <a:rPr lang="en-US" sz="2400" b="1" dirty="0">
                <a:solidFill>
                  <a:srgbClr val="92D050"/>
                </a:solidFill>
              </a:rPr>
              <a:t>0</a:t>
            </a:r>
            <a:r>
              <a:rPr lang="en-US" sz="2400" dirty="0"/>
              <a:t>*256) + </a:t>
            </a:r>
            <a:r>
              <a:rPr lang="en-US" sz="2400" b="1" dirty="0">
                <a:solidFill>
                  <a:srgbClr val="5B9BD5"/>
                </a:solidFill>
              </a:rPr>
              <a:t>255</a:t>
            </a:r>
            <a:r>
              <a:rPr lang="en-US" sz="2400" dirty="0"/>
              <a:t> = 255 = #</a:t>
            </a:r>
            <a:r>
              <a:rPr lang="en-US" sz="2400" b="1" dirty="0">
                <a:solidFill>
                  <a:srgbClr val="FF0000"/>
                </a:solidFill>
              </a:rPr>
              <a:t>00</a:t>
            </a:r>
            <a:r>
              <a:rPr lang="en-US" sz="2400" b="1" dirty="0">
                <a:solidFill>
                  <a:srgbClr val="92D050"/>
                </a:solidFill>
              </a:rPr>
              <a:t>00</a:t>
            </a:r>
            <a:r>
              <a:rPr lang="en-US" sz="2400" b="1" dirty="0">
                <a:solidFill>
                  <a:srgbClr val="5B9BD5"/>
                </a:solidFill>
              </a:rPr>
              <a:t>FF</a:t>
            </a:r>
            <a:endParaRPr lang="en-US" sz="2400" b="1" dirty="0">
              <a:solidFill>
                <a:srgbClr val="5B9BD5"/>
              </a:solidFill>
            </a:endParaRPr>
          </a:p>
          <a:p>
            <a:pPr marL="0" indent="0">
              <a:buNone/>
            </a:pPr>
            <a:r>
              <a:rPr lang="es-ES" sz="2400" dirty="0"/>
              <a:t>Red RGB </a:t>
            </a:r>
            <a:r>
              <a:rPr lang="es-ES" sz="2400" dirty="0" err="1"/>
              <a:t>code</a:t>
            </a:r>
            <a:r>
              <a:rPr lang="es-ES" sz="2400" dirty="0"/>
              <a:t> = (</a:t>
            </a:r>
            <a:r>
              <a:rPr lang="es-ES" sz="2400" b="1" dirty="0">
                <a:solidFill>
                  <a:srgbClr val="FF0000"/>
                </a:solidFill>
              </a:rPr>
              <a:t>255</a:t>
            </a:r>
            <a:r>
              <a:rPr lang="es-ES" sz="2400" dirty="0"/>
              <a:t>*65.536) + (</a:t>
            </a:r>
            <a:r>
              <a:rPr lang="es-ES" sz="2400" b="1" dirty="0">
                <a:solidFill>
                  <a:srgbClr val="92D050"/>
                </a:solidFill>
              </a:rPr>
              <a:t>0</a:t>
            </a:r>
            <a:r>
              <a:rPr lang="es-ES" sz="2400" dirty="0"/>
              <a:t>*256) + </a:t>
            </a:r>
            <a:r>
              <a:rPr lang="es-ES" sz="2400" b="1" dirty="0">
                <a:solidFill>
                  <a:srgbClr val="5B9BD5"/>
                </a:solidFill>
              </a:rPr>
              <a:t>0</a:t>
            </a:r>
            <a:r>
              <a:rPr lang="es-ES" sz="2400" dirty="0"/>
              <a:t> = 16.711.680 = #</a:t>
            </a:r>
            <a:r>
              <a:rPr lang="es-ES" sz="2400" b="1" dirty="0">
                <a:solidFill>
                  <a:srgbClr val="FF0000"/>
                </a:solidFill>
              </a:rPr>
              <a:t>FF</a:t>
            </a:r>
            <a:r>
              <a:rPr lang="es-ES" sz="2400" b="1" dirty="0">
                <a:solidFill>
                  <a:srgbClr val="92D050"/>
                </a:solidFill>
              </a:rPr>
              <a:t>00</a:t>
            </a:r>
            <a:r>
              <a:rPr lang="es-ES" sz="2400" b="1" dirty="0">
                <a:solidFill>
                  <a:srgbClr val="5B9BD5"/>
                </a:solidFill>
              </a:rPr>
              <a:t>00</a:t>
            </a:r>
            <a:endParaRPr lang="es-ES" sz="2400" b="1" dirty="0">
              <a:solidFill>
                <a:srgbClr val="5B9BD5"/>
              </a:solidFill>
            </a:endParaRPr>
          </a:p>
          <a:p>
            <a:pPr marL="0" indent="0">
              <a:buNone/>
            </a:pPr>
            <a:r>
              <a:rPr lang="nl-NL" sz="2400" dirty="0"/>
              <a:t>Green RGB code = (</a:t>
            </a:r>
            <a:r>
              <a:rPr lang="nl-NL" sz="2400" b="1" dirty="0">
                <a:solidFill>
                  <a:srgbClr val="FF0000"/>
                </a:solidFill>
              </a:rPr>
              <a:t>0</a:t>
            </a:r>
            <a:r>
              <a:rPr lang="nl-NL" sz="2400" dirty="0"/>
              <a:t>*65.536) + (</a:t>
            </a:r>
            <a:r>
              <a:rPr lang="nl-NL" sz="2400" b="1" dirty="0">
                <a:solidFill>
                  <a:srgbClr val="92D050"/>
                </a:solidFill>
              </a:rPr>
              <a:t>255</a:t>
            </a:r>
            <a:r>
              <a:rPr lang="nl-NL" sz="2400" dirty="0"/>
              <a:t>*256) + </a:t>
            </a:r>
            <a:r>
              <a:rPr lang="nl-NL" sz="2400" b="1" dirty="0">
                <a:solidFill>
                  <a:srgbClr val="5B9BD5"/>
                </a:solidFill>
              </a:rPr>
              <a:t>0</a:t>
            </a:r>
            <a:r>
              <a:rPr lang="nl-NL" sz="2400" dirty="0"/>
              <a:t> = 65.280 = #</a:t>
            </a:r>
            <a:r>
              <a:rPr lang="nl-NL" sz="2400" b="1" dirty="0">
                <a:solidFill>
                  <a:srgbClr val="FF0000"/>
                </a:solidFill>
              </a:rPr>
              <a:t>00</a:t>
            </a:r>
            <a:r>
              <a:rPr lang="nl-NL" sz="2400" b="1" dirty="0">
                <a:solidFill>
                  <a:srgbClr val="92D050"/>
                </a:solidFill>
              </a:rPr>
              <a:t>FF</a:t>
            </a:r>
            <a:r>
              <a:rPr lang="nl-NL" sz="2400" b="1" dirty="0">
                <a:solidFill>
                  <a:srgbClr val="5B9BD5"/>
                </a:solidFill>
              </a:rPr>
              <a:t>00</a:t>
            </a:r>
            <a:endParaRPr lang="nl-NL" sz="2400" b="1" dirty="0">
              <a:solidFill>
                <a:srgbClr val="5B9BD5"/>
              </a:solidFill>
            </a:endParaRPr>
          </a:p>
          <a:p>
            <a:pPr marL="0" indent="0">
              <a:buNone/>
            </a:pPr>
            <a:r>
              <a:rPr lang="es-ES" sz="2400" dirty="0"/>
              <a:t>Gray RGB </a:t>
            </a:r>
            <a:r>
              <a:rPr lang="es-ES" sz="2400" dirty="0" err="1"/>
              <a:t>code</a:t>
            </a:r>
            <a:r>
              <a:rPr lang="es-ES" sz="2400" dirty="0"/>
              <a:t> = (</a:t>
            </a:r>
            <a:r>
              <a:rPr lang="es-ES" sz="2400" b="1" dirty="0">
                <a:solidFill>
                  <a:srgbClr val="FF0000"/>
                </a:solidFill>
              </a:rPr>
              <a:t>128</a:t>
            </a:r>
            <a:r>
              <a:rPr lang="es-ES" sz="2400" dirty="0"/>
              <a:t>*65.536) + (</a:t>
            </a:r>
            <a:r>
              <a:rPr lang="es-ES" sz="2400" b="1" dirty="0">
                <a:solidFill>
                  <a:srgbClr val="92D050"/>
                </a:solidFill>
              </a:rPr>
              <a:t>128</a:t>
            </a:r>
            <a:r>
              <a:rPr lang="es-ES" sz="2400" dirty="0"/>
              <a:t>*256) + </a:t>
            </a:r>
            <a:r>
              <a:rPr lang="es-ES" sz="2400" b="1" dirty="0">
                <a:solidFill>
                  <a:srgbClr val="5B9BD5"/>
                </a:solidFill>
              </a:rPr>
              <a:t>128</a:t>
            </a:r>
            <a:r>
              <a:rPr lang="es-ES" sz="2400" dirty="0"/>
              <a:t> = 8.421.504 = #</a:t>
            </a:r>
            <a:r>
              <a:rPr lang="es-ES" sz="2400" b="1" dirty="0">
                <a:solidFill>
                  <a:srgbClr val="FF0000"/>
                </a:solidFill>
              </a:rPr>
              <a:t>80</a:t>
            </a:r>
            <a:r>
              <a:rPr lang="es-ES" sz="2400" b="1" dirty="0">
                <a:solidFill>
                  <a:srgbClr val="92D050"/>
                </a:solidFill>
              </a:rPr>
              <a:t>80</a:t>
            </a:r>
            <a:r>
              <a:rPr lang="es-ES" sz="2400" b="1" dirty="0">
                <a:solidFill>
                  <a:srgbClr val="5B9BD5"/>
                </a:solidFill>
              </a:rPr>
              <a:t>80</a:t>
            </a:r>
            <a:endParaRPr lang="es-ES" sz="2400" b="1" dirty="0">
              <a:solidFill>
                <a:srgbClr val="5B9BD5"/>
              </a:solidFill>
            </a:endParaRPr>
          </a:p>
          <a:p>
            <a:pPr marL="0" indent="0">
              <a:buNone/>
            </a:pPr>
            <a:r>
              <a:rPr lang="en-US" sz="2400" dirty="0"/>
              <a:t>Yellow RGB code = (</a:t>
            </a:r>
            <a:r>
              <a:rPr lang="en-US" sz="2400" b="1" dirty="0">
                <a:solidFill>
                  <a:srgbClr val="FF0000"/>
                </a:solidFill>
              </a:rPr>
              <a:t>255</a:t>
            </a:r>
            <a:r>
              <a:rPr lang="en-US" sz="2400" dirty="0"/>
              <a:t>*65.536) + (</a:t>
            </a:r>
            <a:r>
              <a:rPr lang="en-US" sz="2400" b="1" dirty="0">
                <a:solidFill>
                  <a:srgbClr val="92D050"/>
                </a:solidFill>
              </a:rPr>
              <a:t>255</a:t>
            </a:r>
            <a:r>
              <a:rPr lang="en-US" sz="2400" dirty="0"/>
              <a:t>*256) + </a:t>
            </a:r>
            <a:r>
              <a:rPr lang="en-US" sz="2400" b="1" dirty="0">
                <a:solidFill>
                  <a:srgbClr val="5B9BD5"/>
                </a:solidFill>
              </a:rPr>
              <a:t>0</a:t>
            </a:r>
            <a:r>
              <a:rPr lang="en-US" sz="2400" dirty="0"/>
              <a:t> = 16.776.960 = #</a:t>
            </a:r>
            <a:r>
              <a:rPr lang="en-US" sz="2400" b="1" dirty="0">
                <a:solidFill>
                  <a:srgbClr val="FF0000"/>
                </a:solidFill>
              </a:rPr>
              <a:t>FF</a:t>
            </a:r>
            <a:r>
              <a:rPr lang="en-US" sz="2400" b="1" dirty="0">
                <a:solidFill>
                  <a:srgbClr val="92D050"/>
                </a:solidFill>
              </a:rPr>
              <a:t>FF</a:t>
            </a:r>
            <a:r>
              <a:rPr lang="en-US" sz="2400" b="1" dirty="0">
                <a:solidFill>
                  <a:srgbClr val="5B9BD5"/>
                </a:solidFill>
              </a:rPr>
              <a:t>00</a:t>
            </a:r>
            <a:endParaRPr lang="es-ES" sz="2400" b="1" dirty="0">
              <a:solidFill>
                <a:srgbClr val="5B9BD5"/>
              </a:solidFill>
            </a:endParaRPr>
          </a:p>
          <a:p>
            <a:pPr marL="0" indent="0">
              <a:buNone/>
            </a:pPr>
            <a:endParaRPr lang="en-US" sz="2400"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1"/>
          <a:stretch>
            <a:fillRect/>
          </a:stretch>
        </p:blipFill>
        <p:spPr>
          <a:xfrm>
            <a:off x="3386137" y="776287"/>
            <a:ext cx="5419725" cy="5305425"/>
          </a:xfrm>
          <a:prstGeom prst="rect">
            <a:avLst/>
          </a:prstGeom>
        </p:spPr>
      </p:pic>
      <p:sp>
        <p:nvSpPr>
          <p:cNvPr id="7" name="Rectangle 6"/>
          <p:cNvSpPr/>
          <p:nvPr/>
        </p:nvSpPr>
        <p:spPr>
          <a:xfrm>
            <a:off x="5096366" y="270816"/>
            <a:ext cx="1999265" cy="461665"/>
          </a:xfrm>
          <a:prstGeom prst="rect">
            <a:avLst/>
          </a:prstGeom>
        </p:spPr>
        <p:txBody>
          <a:bodyPr wrap="none">
            <a:spAutoFit/>
          </a:bodyPr>
          <a:lstStyle/>
          <a:p>
            <a:r>
              <a:rPr lang="en-US" sz="2400" dirty="0">
                <a:solidFill>
                  <a:srgbClr val="222222"/>
                </a:solidFill>
                <a:latin typeface="Arial" panose="020B0604020202020204" pitchFamily="34" charset="0"/>
              </a:rPr>
              <a:t>Basic Colors:</a:t>
            </a:r>
            <a:endParaRPr lang="en-US" sz="2400"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graphicFrame>
        <p:nvGraphicFramePr>
          <p:cNvPr id="7" name="Table 6"/>
          <p:cNvGraphicFramePr>
            <a:graphicFrameLocks noGrp="1"/>
          </p:cNvGraphicFramePr>
          <p:nvPr/>
        </p:nvGraphicFramePr>
        <p:xfrm>
          <a:off x="922866" y="1214085"/>
          <a:ext cx="5008377" cy="1925922"/>
        </p:xfrm>
        <a:graphic>
          <a:graphicData uri="http://schemas.openxmlformats.org/drawingml/2006/table">
            <a:tbl>
              <a:tblPr firstRow="1" bandRow="1">
                <a:tableStyleId>{5C22544A-7EE6-4342-B048-85BDC9FD1C3A}</a:tableStyleId>
              </a:tblPr>
              <a:tblGrid>
                <a:gridCol w="1669459"/>
                <a:gridCol w="1669459"/>
                <a:gridCol w="1669459"/>
              </a:tblGrid>
              <a:tr h="582950">
                <a:tc>
                  <a:txBody>
                    <a:bodyPr/>
                    <a:lstStyle/>
                    <a:p>
                      <a:pPr algn="ctr"/>
                      <a:r>
                        <a:rPr lang="en-US" sz="1600" b="1" i="0" dirty="0">
                          <a:effectLst/>
                        </a:rPr>
                        <a:t>DIVISION</a:t>
                      </a:r>
                      <a:endParaRPr lang="en-US" sz="1600" b="1" i="0" dirty="0">
                        <a:effectLst/>
                      </a:endParaRPr>
                    </a:p>
                  </a:txBody>
                  <a:tcPr marL="43118" marR="43118" marT="43118" marB="43118" anchor="ctr"/>
                </a:tc>
                <a:tc>
                  <a:txBody>
                    <a:bodyPr/>
                    <a:lstStyle/>
                    <a:p>
                      <a:pPr algn="ctr"/>
                      <a:r>
                        <a:rPr lang="en-US" sz="1600" b="1" i="0" dirty="0">
                          <a:effectLst/>
                        </a:rPr>
                        <a:t>RESULT</a:t>
                      </a:r>
                      <a:endParaRPr lang="en-US" sz="1600" b="1" i="0" dirty="0">
                        <a:effectLst/>
                      </a:endParaRPr>
                    </a:p>
                  </a:txBody>
                  <a:tcPr marL="43118" marR="43118" marT="43118" marB="43118" anchor="ctr"/>
                </a:tc>
                <a:tc>
                  <a:txBody>
                    <a:bodyPr/>
                    <a:lstStyle/>
                    <a:p>
                      <a:pPr algn="ctr"/>
                      <a:r>
                        <a:rPr lang="en-US" sz="1600" b="1" i="0" dirty="0">
                          <a:effectLst/>
                        </a:rPr>
                        <a:t>REMAINDER</a:t>
                      </a:r>
                      <a:endParaRPr lang="en-US" sz="1600" b="1" i="0" dirty="0">
                        <a:effectLst/>
                      </a:endParaRPr>
                    </a:p>
                    <a:p>
                      <a:pPr algn="ctr"/>
                      <a:r>
                        <a:rPr lang="en-US" sz="1600" b="1" i="0" dirty="0">
                          <a:effectLst/>
                        </a:rPr>
                        <a:t>(in BIN)</a:t>
                      </a:r>
                      <a:endParaRPr lang="en-US" sz="1600" b="1" i="0" dirty="0">
                        <a:effectLst/>
                      </a:endParaRPr>
                    </a:p>
                  </a:txBody>
                  <a:tcPr marL="43118" marR="43118" marT="43118" marB="43118" anchor="ctr">
                    <a:solidFill>
                      <a:srgbClr val="92D050"/>
                    </a:solidFill>
                  </a:tcPr>
                </a:tc>
              </a:tr>
              <a:tr h="335743">
                <a:tc>
                  <a:txBody>
                    <a:bodyPr/>
                    <a:lstStyle/>
                    <a:p>
                      <a:pPr algn="ctr"/>
                      <a:r>
                        <a:rPr lang="en-US" sz="1600" b="0" dirty="0">
                          <a:effectLst/>
                        </a:rPr>
                        <a:t>13/2</a:t>
                      </a:r>
                      <a:endParaRPr lang="en-US" sz="1600" b="0" dirty="0">
                        <a:effectLst/>
                      </a:endParaRPr>
                    </a:p>
                  </a:txBody>
                  <a:tcPr marL="43118" marR="43118" marT="43118" marB="43118" anchor="ctr"/>
                </a:tc>
                <a:tc>
                  <a:txBody>
                    <a:bodyPr/>
                    <a:lstStyle/>
                    <a:p>
                      <a:pPr algn="ctr"/>
                      <a:r>
                        <a:rPr lang="en-US" sz="1600" b="0" dirty="0">
                          <a:effectLst/>
                        </a:rPr>
                        <a:t>6</a:t>
                      </a:r>
                      <a:endParaRPr lang="en-US" sz="1600" b="0" dirty="0">
                        <a:effectLst/>
                      </a:endParaRPr>
                    </a:p>
                  </a:txBody>
                  <a:tcPr marL="43118" marR="43118" marT="43118" marB="43118" anchor="ctr"/>
                </a:tc>
                <a:tc>
                  <a:txBody>
                    <a:bodyPr/>
                    <a:lstStyle/>
                    <a:p>
                      <a:pPr algn="ctr"/>
                      <a:r>
                        <a:rPr lang="en-US" sz="1600" b="0" dirty="0">
                          <a:effectLst/>
                        </a:rPr>
                        <a:t>1</a:t>
                      </a:r>
                      <a:endParaRPr lang="en-US" sz="1600" b="0" dirty="0">
                        <a:effectLst/>
                      </a:endParaRPr>
                    </a:p>
                  </a:txBody>
                  <a:tcPr marL="43118" marR="43118" marT="43118" marB="43118" anchor="ctr">
                    <a:solidFill>
                      <a:srgbClr val="92D050"/>
                    </a:solidFill>
                  </a:tcPr>
                </a:tc>
              </a:tr>
              <a:tr h="335743">
                <a:tc>
                  <a:txBody>
                    <a:bodyPr/>
                    <a:lstStyle/>
                    <a:p>
                      <a:pPr algn="ctr"/>
                      <a:r>
                        <a:rPr lang="en-US" sz="1600" b="0">
                          <a:effectLst/>
                        </a:rPr>
                        <a:t>6/2</a:t>
                      </a:r>
                      <a:endParaRPr lang="en-US" sz="1600" b="0">
                        <a:effectLst/>
                      </a:endParaRPr>
                    </a:p>
                  </a:txBody>
                  <a:tcPr marL="43118" marR="43118" marT="43118" marB="43118" anchor="ctr"/>
                </a:tc>
                <a:tc>
                  <a:txBody>
                    <a:bodyPr/>
                    <a:lstStyle/>
                    <a:p>
                      <a:pPr algn="ctr"/>
                      <a:r>
                        <a:rPr lang="en-US" sz="1600" b="0">
                          <a:effectLst/>
                        </a:rPr>
                        <a:t>3</a:t>
                      </a:r>
                      <a:endParaRPr lang="en-US" sz="1600" b="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solidFill>
                      <a:srgbClr val="92D050"/>
                    </a:solidFill>
                  </a:tcPr>
                </a:tc>
              </a:tr>
              <a:tr h="335743">
                <a:tc>
                  <a:txBody>
                    <a:bodyPr/>
                    <a:lstStyle/>
                    <a:p>
                      <a:pPr algn="ctr"/>
                      <a:r>
                        <a:rPr lang="en-US" sz="1600" b="0">
                          <a:effectLst/>
                        </a:rPr>
                        <a:t>3/2</a:t>
                      </a:r>
                      <a:endParaRPr lang="en-US" sz="1600" b="0">
                        <a:effectLst/>
                      </a:endParaRPr>
                    </a:p>
                  </a:txBody>
                  <a:tcPr marL="43118" marR="43118" marT="43118" marB="43118" anchor="ctr"/>
                </a:tc>
                <a:tc>
                  <a:txBody>
                    <a:bodyPr/>
                    <a:lstStyle/>
                    <a:p>
                      <a:pPr algn="ctr"/>
                      <a:r>
                        <a:rPr lang="en-US" sz="1600" b="0">
                          <a:effectLst/>
                        </a:rPr>
                        <a:t>1</a:t>
                      </a:r>
                      <a:endParaRPr lang="en-US" sz="1600" b="0">
                        <a:effectLst/>
                      </a:endParaRPr>
                    </a:p>
                  </a:txBody>
                  <a:tcPr marL="43118" marR="43118" marT="43118" marB="43118" anchor="ctr"/>
                </a:tc>
                <a:tc>
                  <a:txBody>
                    <a:bodyPr/>
                    <a:lstStyle/>
                    <a:p>
                      <a:pPr algn="ctr"/>
                      <a:r>
                        <a:rPr lang="en-US" sz="1600" b="0" dirty="0">
                          <a:effectLst/>
                        </a:rPr>
                        <a:t>1</a:t>
                      </a:r>
                      <a:endParaRPr lang="en-US" sz="1600" b="0" dirty="0">
                        <a:effectLst/>
                      </a:endParaRPr>
                    </a:p>
                  </a:txBody>
                  <a:tcPr marL="43118" marR="43118" marT="43118" marB="43118" anchor="ctr">
                    <a:solidFill>
                      <a:srgbClr val="92D050"/>
                    </a:solidFill>
                  </a:tcPr>
                </a:tc>
              </a:tr>
              <a:tr h="335743">
                <a:tc>
                  <a:txBody>
                    <a:bodyPr/>
                    <a:lstStyle/>
                    <a:p>
                      <a:pPr algn="ctr"/>
                      <a:r>
                        <a:rPr lang="en-US" sz="1600" b="0">
                          <a:effectLst/>
                        </a:rPr>
                        <a:t>1/2</a:t>
                      </a:r>
                      <a:endParaRPr lang="en-US" sz="1600" b="0">
                        <a:effectLst/>
                      </a:endParaRPr>
                    </a:p>
                  </a:txBody>
                  <a:tcPr marL="43118" marR="43118" marT="43118" marB="43118" anchor="ctr"/>
                </a:tc>
                <a:tc>
                  <a:txBody>
                    <a:bodyPr/>
                    <a:lstStyle/>
                    <a:p>
                      <a:pPr algn="ctr"/>
                      <a:r>
                        <a:rPr lang="en-US" sz="1600" b="0">
                          <a:effectLst/>
                        </a:rPr>
                        <a:t>0</a:t>
                      </a:r>
                      <a:endParaRPr lang="en-US" sz="1600" b="0">
                        <a:effectLst/>
                      </a:endParaRPr>
                    </a:p>
                  </a:txBody>
                  <a:tcPr marL="43118" marR="43118" marT="43118" marB="43118" anchor="ctr"/>
                </a:tc>
                <a:tc>
                  <a:txBody>
                    <a:bodyPr/>
                    <a:lstStyle/>
                    <a:p>
                      <a:pPr algn="ctr"/>
                      <a:r>
                        <a:rPr lang="en-US" sz="1600" b="0" dirty="0">
                          <a:effectLst/>
                        </a:rPr>
                        <a:t>1</a:t>
                      </a:r>
                      <a:endParaRPr lang="en-US" sz="1600" b="0" dirty="0">
                        <a:effectLst/>
                      </a:endParaRPr>
                    </a:p>
                  </a:txBody>
                  <a:tcPr marL="43118" marR="43118" marT="43118" marB="43118" anchor="ctr">
                    <a:solidFill>
                      <a:srgbClr val="92D050"/>
                    </a:solidFill>
                  </a:tcPr>
                </a:tc>
              </a:tr>
            </a:tbl>
          </a:graphicData>
        </a:graphic>
      </p:graphicFrame>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graphicFrame>
        <p:nvGraphicFramePr>
          <p:cNvPr id="11" name="Table 10"/>
          <p:cNvGraphicFramePr>
            <a:graphicFrameLocks noGrp="1"/>
          </p:cNvGraphicFramePr>
          <p:nvPr/>
        </p:nvGraphicFramePr>
        <p:xfrm>
          <a:off x="6345423" y="1214085"/>
          <a:ext cx="5008377" cy="918693"/>
        </p:xfrm>
        <a:graphic>
          <a:graphicData uri="http://schemas.openxmlformats.org/drawingml/2006/table">
            <a:tbl>
              <a:tblPr firstRow="1" bandRow="1">
                <a:tableStyleId>{5C22544A-7EE6-4342-B048-85BDC9FD1C3A}</a:tableStyleId>
              </a:tblPr>
              <a:tblGrid>
                <a:gridCol w="1669459"/>
                <a:gridCol w="1669459"/>
                <a:gridCol w="1669459"/>
              </a:tblGrid>
              <a:tr h="582950">
                <a:tc>
                  <a:txBody>
                    <a:bodyPr/>
                    <a:lstStyle/>
                    <a:p>
                      <a:pPr algn="ctr"/>
                      <a:r>
                        <a:rPr lang="en-US" sz="1600" b="1" i="0" dirty="0">
                          <a:effectLst/>
                        </a:rPr>
                        <a:t>DIVISION</a:t>
                      </a:r>
                      <a:endParaRPr lang="en-US" sz="1600" b="1" i="0" dirty="0">
                        <a:effectLst/>
                      </a:endParaRPr>
                    </a:p>
                  </a:txBody>
                  <a:tcPr marL="43118" marR="43118" marT="43118" marB="43118" anchor="ctr"/>
                </a:tc>
                <a:tc>
                  <a:txBody>
                    <a:bodyPr/>
                    <a:lstStyle/>
                    <a:p>
                      <a:pPr algn="ctr"/>
                      <a:r>
                        <a:rPr lang="en-US" sz="1600" b="1" i="0" dirty="0">
                          <a:effectLst/>
                        </a:rPr>
                        <a:t>RESULT</a:t>
                      </a:r>
                      <a:endParaRPr lang="en-US" sz="1600" b="1" i="0" dirty="0">
                        <a:effectLst/>
                      </a:endParaRPr>
                    </a:p>
                  </a:txBody>
                  <a:tcPr marL="43118" marR="43118" marT="43118" marB="43118" anchor="ctr"/>
                </a:tc>
                <a:tc>
                  <a:txBody>
                    <a:bodyPr/>
                    <a:lstStyle/>
                    <a:p>
                      <a:pPr algn="ctr"/>
                      <a:r>
                        <a:rPr lang="en-US" sz="1600" b="1" i="0" dirty="0">
                          <a:effectLst/>
                        </a:rPr>
                        <a:t>REMAINDER</a:t>
                      </a:r>
                      <a:endParaRPr lang="en-US" sz="1600" b="1" i="0" dirty="0">
                        <a:effectLst/>
                      </a:endParaRPr>
                    </a:p>
                    <a:p>
                      <a:pPr algn="ctr"/>
                      <a:r>
                        <a:rPr lang="en-US" sz="1600" b="1" i="0" dirty="0">
                          <a:effectLst/>
                        </a:rPr>
                        <a:t>(in HEX)</a:t>
                      </a:r>
                      <a:endParaRPr lang="en-US" sz="1600" b="1" i="0" dirty="0">
                        <a:effectLst/>
                      </a:endParaRPr>
                    </a:p>
                  </a:txBody>
                  <a:tcPr marL="43118" marR="43118" marT="43118" marB="43118" anchor="ctr">
                    <a:solidFill>
                      <a:srgbClr val="92D050"/>
                    </a:solidFill>
                  </a:tcPr>
                </a:tc>
              </a:tr>
              <a:tr h="335743">
                <a:tc>
                  <a:txBody>
                    <a:bodyPr/>
                    <a:lstStyle/>
                    <a:p>
                      <a:pPr algn="ctr"/>
                      <a:r>
                        <a:rPr lang="en-US" sz="1600" b="0" dirty="0">
                          <a:effectLst/>
                        </a:rPr>
                        <a:t>13/16</a:t>
                      </a:r>
                      <a:endParaRPr lang="en-US" sz="1600" b="0" dirty="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tc>
                <a:tc>
                  <a:txBody>
                    <a:bodyPr/>
                    <a:lstStyle/>
                    <a:p>
                      <a:pPr algn="ctr"/>
                      <a:r>
                        <a:rPr lang="en-US" sz="1600" b="0" dirty="0">
                          <a:effectLst/>
                        </a:rPr>
                        <a:t>D (13 in Decimal)</a:t>
                      </a:r>
                      <a:endParaRPr lang="en-US" sz="1600" b="0" dirty="0">
                        <a:effectLst/>
                      </a:endParaRPr>
                    </a:p>
                  </a:txBody>
                  <a:tcPr marL="43118" marR="43118" marT="43118" marB="43118" anchor="ctr">
                    <a:solidFill>
                      <a:srgbClr val="92D050"/>
                    </a:solidFill>
                  </a:tcPr>
                </a:tc>
              </a:tr>
            </a:tbl>
          </a:graphicData>
        </a:graphic>
      </p:graphicFrame>
      <mc:AlternateContent xmlns:mc="http://schemas.openxmlformats.org/markup-compatibility/2006">
        <mc:Choice xmlns:a14="http://schemas.microsoft.com/office/drawing/2010/main" Requires="a14">
          <p:sp>
            <p:nvSpPr>
              <p:cNvPr id="6" name="Rectangle 5"/>
              <p:cNvSpPr/>
              <p:nvPr/>
            </p:nvSpPr>
            <p:spPr>
              <a:xfrm>
                <a:off x="922866" y="587651"/>
                <a:ext cx="3668184" cy="369332"/>
              </a:xfrm>
              <a:prstGeom prst="rect">
                <a:avLst/>
              </a:prstGeom>
            </p:spPr>
            <p:txBody>
              <a:bodyPr wrap="none">
                <a:spAutoFit/>
              </a:bodyPr>
              <a:lstStyle/>
              <a:p>
                <a:r>
                  <a:rPr lang="nl-NL" dirty="0"/>
                  <a:t>Convert to binary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13</m:t>
                        </m:r>
                        <m:r>
                          <a:rPr lang="en-US" i="1">
                            <a:latin typeface="Cambria Math" panose="02040503050406030204" pitchFamily="18" charset="0"/>
                          </a:rPr>
                          <m:t>)</m:t>
                        </m:r>
                      </m:e>
                      <m:sub>
                        <m:r>
                          <a:rPr lang="en-US" i="1">
                            <a:latin typeface="Cambria Math" panose="02040503050406030204" pitchFamily="18" charset="0"/>
                          </a:rPr>
                          <m:t>10</m:t>
                        </m:r>
                      </m:sub>
                    </m:sSub>
                  </m:oMath>
                </a14:m>
                <a:r>
                  <a:rPr lang="nl-NL"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1101</m:t>
                        </m:r>
                        <m:r>
                          <a:rPr lang="en-US" i="1">
                            <a:latin typeface="Cambria Math" panose="02040503050406030204" pitchFamily="18" charset="0"/>
                          </a:rPr>
                          <m:t>)</m:t>
                        </m:r>
                      </m:e>
                      <m:sub>
                        <m:r>
                          <a:rPr lang="en-US" i="1">
                            <a:latin typeface="Cambria Math" panose="02040503050406030204" pitchFamily="18" charset="0"/>
                          </a:rPr>
                          <m:t>2</m:t>
                        </m:r>
                      </m:sub>
                    </m:sSub>
                  </m:oMath>
                </a14:m>
                <a:endParaRPr lang="en-US" dirty="0"/>
              </a:p>
            </p:txBody>
          </p:sp>
        </mc:Choice>
        <mc:Fallback>
          <p:sp>
            <p:nvSpPr>
              <p:cNvPr id="6" name="Rectangle 5"/>
              <p:cNvSpPr>
                <a:spLocks noRot="1" noChangeAspect="1" noMove="1" noResize="1" noEditPoints="1" noAdjustHandles="1" noChangeArrowheads="1" noChangeShapeType="1" noTextEdit="1"/>
              </p:cNvSpPr>
              <p:nvPr/>
            </p:nvSpPr>
            <p:spPr>
              <a:xfrm>
                <a:off x="922866" y="587651"/>
                <a:ext cx="3668184" cy="369332"/>
              </a:xfrm>
              <a:prstGeom prst="rect">
                <a:avLst/>
              </a:prstGeom>
              <a:blipFill rotWithShape="1">
                <a:blip r:embed="rId3"/>
                <a:stretch>
                  <a:fillRect l="-6" t="-75" b="10"/>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2" name="Rectangle 11"/>
              <p:cNvSpPr/>
              <p:nvPr/>
            </p:nvSpPr>
            <p:spPr>
              <a:xfrm>
                <a:off x="6345423" y="582372"/>
                <a:ext cx="3997441" cy="369332"/>
              </a:xfrm>
              <a:prstGeom prst="rect">
                <a:avLst/>
              </a:prstGeom>
            </p:spPr>
            <p:txBody>
              <a:bodyPr wrap="none">
                <a:spAutoFit/>
              </a:bodyPr>
              <a:lstStyle/>
              <a:p>
                <a:r>
                  <a:rPr lang="nl-NL" dirty="0"/>
                  <a:t>Convert to hexadecimal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13</m:t>
                        </m:r>
                        <m:r>
                          <a:rPr lang="en-US" i="1">
                            <a:latin typeface="Cambria Math" panose="02040503050406030204" pitchFamily="18" charset="0"/>
                          </a:rPr>
                          <m:t>)</m:t>
                        </m:r>
                      </m:e>
                      <m:sub>
                        <m:r>
                          <a:rPr lang="en-US" i="1">
                            <a:latin typeface="Cambria Math" panose="02040503050406030204" pitchFamily="18" charset="0"/>
                          </a:rPr>
                          <m:t>10</m:t>
                        </m:r>
                      </m:sub>
                    </m:sSub>
                  </m:oMath>
                </a14:m>
                <a:r>
                  <a:rPr lang="nl-NL"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b="0" i="1" smtClean="0">
                            <a:latin typeface="Cambria Math" panose="02040503050406030204" pitchFamily="18" charset="0"/>
                          </a:rPr>
                          <m:t>𝐷</m:t>
                        </m:r>
                        <m:r>
                          <a:rPr lang="en-US" i="1">
                            <a:latin typeface="Cambria Math" panose="02040503050406030204" pitchFamily="18" charset="0"/>
                          </a:rPr>
                          <m:t>)</m:t>
                        </m:r>
                      </m:e>
                      <m:sub>
                        <m:r>
                          <a:rPr lang="en-US" b="0" i="1" smtClean="0">
                            <a:latin typeface="Cambria Math" panose="02040503050406030204" pitchFamily="18" charset="0"/>
                          </a:rPr>
                          <m:t>16</m:t>
                        </m:r>
                      </m:sub>
                    </m:sSub>
                  </m:oMath>
                </a14:m>
                <a:endParaRPr lang="en-US" dirty="0"/>
              </a:p>
            </p:txBody>
          </p:sp>
        </mc:Choice>
        <mc:Fallback>
          <p:sp>
            <p:nvSpPr>
              <p:cNvPr id="12" name="Rectangle 11"/>
              <p:cNvSpPr>
                <a:spLocks noRot="1" noChangeAspect="1" noMove="1" noResize="1" noEditPoints="1" noAdjustHandles="1" noChangeArrowheads="1" noChangeShapeType="1" noTextEdit="1"/>
              </p:cNvSpPr>
              <p:nvPr/>
            </p:nvSpPr>
            <p:spPr>
              <a:xfrm>
                <a:off x="6345423" y="582372"/>
                <a:ext cx="3997441" cy="369332"/>
              </a:xfrm>
              <a:prstGeom prst="rect">
                <a:avLst/>
              </a:prstGeom>
              <a:blipFill rotWithShape="1">
                <a:blip r:embed="rId4"/>
                <a:stretch>
                  <a:fillRect l="-13" t="-21" r="15" b="128"/>
                </a:stretch>
              </a:blipFill>
            </p:spPr>
            <p:txBody>
              <a:bodyPr/>
              <a:lstStyle/>
              <a:p>
                <a:r>
                  <a:rPr lang="en-US" altLang="en-US">
                    <a:noFill/>
                  </a:rPr>
                  <a:t> </a:t>
                </a:r>
              </a:p>
            </p:txBody>
          </p:sp>
        </mc:Fallback>
      </mc:AlternateContent>
      <p:graphicFrame>
        <p:nvGraphicFramePr>
          <p:cNvPr id="14" name="Content Placeholder 6"/>
          <p:cNvGraphicFramePr/>
          <p:nvPr/>
        </p:nvGraphicFramePr>
        <p:xfrm>
          <a:off x="838200" y="4848502"/>
          <a:ext cx="10515600" cy="370840"/>
        </p:xfrm>
        <a:graphic>
          <a:graphicData uri="http://schemas.openxmlformats.org/drawingml/2006/table">
            <a:tbl>
              <a:tblPr firstRow="1" bandRow="1">
                <a:tableStyleId>{5C22544A-7EE6-4342-B048-85BDC9FD1C3A}</a:tableStyleId>
              </a:tblPr>
              <a:tblGrid>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tblGrid>
              <a:tr h="370840">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1</a:t>
                      </a:r>
                      <a:endParaRPr lang="en-US" dirty="0"/>
                    </a:p>
                  </a:txBody>
                  <a:tcPr/>
                </a:tc>
                <a:tc>
                  <a:txBody>
                    <a:bodyPr/>
                    <a:lstStyle/>
                    <a:p>
                      <a:pPr algn="ctr"/>
                      <a:r>
                        <a:rPr lang="en-US" dirty="0"/>
                        <a:t>1</a:t>
                      </a:r>
                      <a:endParaRPr lang="en-US" dirty="0"/>
                    </a:p>
                  </a:txBody>
                  <a:tcPr/>
                </a:tc>
                <a:tc>
                  <a:txBody>
                    <a:bodyPr/>
                    <a:lstStyle/>
                    <a:p>
                      <a:pPr algn="ctr"/>
                      <a:r>
                        <a:rPr lang="en-US" dirty="0"/>
                        <a:t>0</a:t>
                      </a:r>
                      <a:endParaRPr lang="en-US" dirty="0"/>
                    </a:p>
                  </a:txBody>
                  <a:tcPr/>
                </a:tc>
                <a:tc>
                  <a:txBody>
                    <a:bodyPr/>
                    <a:lstStyle/>
                    <a:p>
                      <a:pPr algn="ctr"/>
                      <a:r>
                        <a:rPr lang="en-US" dirty="0"/>
                        <a:t>1</a:t>
                      </a:r>
                      <a:endParaRPr lang="en-US" dirty="0"/>
                    </a:p>
                  </a:txBody>
                  <a:tcPr/>
                </a:tc>
              </a:tr>
            </a:tbl>
          </a:graphicData>
        </a:graphic>
      </p:graphicFrame>
      <p:graphicFrame>
        <p:nvGraphicFramePr>
          <p:cNvPr id="15" name="Content Placeholder 6"/>
          <p:cNvGraphicFramePr/>
          <p:nvPr/>
        </p:nvGraphicFramePr>
        <p:xfrm>
          <a:off x="838200" y="5479204"/>
          <a:ext cx="10515600" cy="37084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370840">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tc>
                <a:tc>
                  <a:txBody>
                    <a:bodyPr/>
                    <a:lstStyle/>
                    <a:p>
                      <a:pPr algn="ctr"/>
                      <a:r>
                        <a:rPr lang="en-US" dirty="0"/>
                        <a:t>D</a:t>
                      </a:r>
                      <a:endParaRPr lang="en-US" dirty="0"/>
                    </a:p>
                  </a:txBody>
                  <a:tcPr/>
                </a:tc>
              </a:tr>
            </a:tbl>
          </a:graphicData>
        </a:graphic>
      </p:graphicFrame>
      <mc:AlternateContent xmlns:mc="http://schemas.openxmlformats.org/markup-compatibility/2006">
        <mc:Choice xmlns:a14="http://schemas.microsoft.com/office/drawing/2010/main" Requires="a14">
          <p:sp>
            <p:nvSpPr>
              <p:cNvPr id="16" name="TextBox 15"/>
              <p:cNvSpPr txBox="1"/>
              <p:nvPr/>
            </p:nvSpPr>
            <p:spPr>
              <a:xfrm>
                <a:off x="6893605" y="3524922"/>
                <a:ext cx="4460195" cy="369332"/>
              </a:xfrm>
              <a:prstGeom prst="rect">
                <a:avLst/>
              </a:prstGeom>
              <a:noFill/>
              <a:ln>
                <a:solidFill>
                  <a:schemeClr val="accent1"/>
                </a:solidFill>
              </a:ln>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1101</m:t>
                      </m:r>
                      <m:r>
                        <a:rPr lang="en-US" b="0" i="1" smtClean="0">
                          <a:latin typeface="Cambria Math" panose="02040503050406030204" pitchFamily="18" charset="0"/>
                        </a:rPr>
                        <m:t>= </m:t>
                      </m:r>
                      <m:r>
                        <a:rPr lang="en-US" b="0" i="1" smtClean="0">
                          <a:latin typeface="Cambria Math" panose="02040503050406030204" pitchFamily="18" charset="0"/>
                        </a:rPr>
                        <m:t>1</m:t>
                      </m:r>
                      <m:r>
                        <a:rPr lang="en-US" b="0" i="1" smtClean="0">
                          <a:latin typeface="Cambria Math" panose="02040503050406030204" pitchFamily="18" charset="0"/>
                        </a:rPr>
                        <m:t>𝑥</m:t>
                      </m:r>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0</m:t>
                          </m:r>
                        </m:sup>
                      </m:sSup>
                      <m:r>
                        <a:rPr lang="en-US" b="0" i="1" smtClean="0">
                          <a:latin typeface="Cambria Math" panose="02040503050406030204" pitchFamily="18" charset="0"/>
                        </a:rPr>
                        <m:t>+</m:t>
                      </m:r>
                      <m:r>
                        <a:rPr lang="en-US" b="0" i="1" smtClean="0">
                          <a:latin typeface="Cambria Math" panose="02040503050406030204" pitchFamily="18" charset="0"/>
                        </a:rPr>
                        <m:t>0</m:t>
                      </m:r>
                      <m:r>
                        <a:rPr lang="en-US" i="1">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1</m:t>
                          </m:r>
                        </m:sup>
                      </m:sSup>
                      <m:r>
                        <a:rPr lang="en-US" b="0" i="1" smtClean="0">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𝑥</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m:t>
                      </m:r>
                      <m:r>
                        <a:rPr lang="en-US" b="0" i="1" smtClean="0">
                          <a:latin typeface="Cambria Math" panose="02040503050406030204" pitchFamily="18" charset="0"/>
                        </a:rPr>
                        <m:t>13</m:t>
                      </m:r>
                    </m:oMath>
                  </m:oMathPara>
                </a14:m>
                <a:endParaRPr lang="en-US" dirty="0"/>
              </a:p>
            </p:txBody>
          </p:sp>
        </mc:Choice>
        <mc:Fallback>
          <p:sp>
            <p:nvSpPr>
              <p:cNvPr id="16" name="TextBox 15"/>
              <p:cNvSpPr txBox="1">
                <a:spLocks noRot="1" noChangeAspect="1" noMove="1" noResize="1" noEditPoints="1" noAdjustHandles="1" noChangeArrowheads="1" noChangeShapeType="1" noTextEdit="1"/>
              </p:cNvSpPr>
              <p:nvPr/>
            </p:nvSpPr>
            <p:spPr>
              <a:xfrm>
                <a:off x="6893605" y="3524922"/>
                <a:ext cx="4460195" cy="369332"/>
              </a:xfrm>
              <a:prstGeom prst="rect">
                <a:avLst/>
              </a:prstGeom>
              <a:blipFill rotWithShape="1">
                <a:blip r:embed="rId5"/>
                <a:stretch>
                  <a:fillRect l="-115" t="-1385" r="-100" b="-1258"/>
                </a:stretch>
              </a:blipFill>
              <a:ln>
                <a:solidFill>
                  <a:schemeClr val="accent1"/>
                </a:solidFill>
              </a:ln>
            </p:spPr>
            <p:txBody>
              <a:bodyPr/>
              <a:lstStyle/>
              <a:p>
                <a:r>
                  <a:rPr lang="en-US" altLang="en-US">
                    <a:noFill/>
                  </a:rPr>
                  <a:t> </a:t>
                </a:r>
              </a:p>
            </p:txBody>
          </p:sp>
        </mc:Fallback>
      </mc:AlternateContent>
      <p:cxnSp>
        <p:nvCxnSpPr>
          <p:cNvPr id="17" name="Straight Arrow Connector 16"/>
          <p:cNvCxnSpPr/>
          <p:nvPr/>
        </p:nvCxnSpPr>
        <p:spPr>
          <a:xfrm flipH="1" flipV="1">
            <a:off x="9556513" y="4146388"/>
            <a:ext cx="879258" cy="493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797605" y="4009713"/>
            <a:ext cx="6096000" cy="646331"/>
          </a:xfrm>
          <a:prstGeom prst="rect">
            <a:avLst/>
          </a:prstGeom>
        </p:spPr>
        <p:txBody>
          <a:bodyPr>
            <a:spAutoFit/>
          </a:bodyPr>
          <a:lstStyle/>
          <a:p>
            <a:r>
              <a:rPr lang="nl-NL" dirty="0"/>
              <a:t>Change into 24 bits</a:t>
            </a:r>
            <a:endParaRPr lang="nl-NL" dirty="0"/>
          </a:p>
          <a:p>
            <a:r>
              <a:rPr lang="nl-NL" b="1" dirty="0"/>
              <a:t>#00000D</a:t>
            </a:r>
            <a:endParaRPr lang="en-US" b="1" dirty="0"/>
          </a:p>
        </p:txBody>
      </p:sp>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graphicFrame>
        <p:nvGraphicFramePr>
          <p:cNvPr id="7" name="Table 6"/>
          <p:cNvGraphicFramePr>
            <a:graphicFrameLocks noGrp="1"/>
          </p:cNvGraphicFramePr>
          <p:nvPr/>
        </p:nvGraphicFramePr>
        <p:xfrm>
          <a:off x="922866" y="1214085"/>
          <a:ext cx="5008377" cy="2261665"/>
        </p:xfrm>
        <a:graphic>
          <a:graphicData uri="http://schemas.openxmlformats.org/drawingml/2006/table">
            <a:tbl>
              <a:tblPr firstRow="1" bandRow="1">
                <a:tableStyleId>{5C22544A-7EE6-4342-B048-85BDC9FD1C3A}</a:tableStyleId>
              </a:tblPr>
              <a:tblGrid>
                <a:gridCol w="1669459"/>
                <a:gridCol w="1669459"/>
                <a:gridCol w="1669459"/>
              </a:tblGrid>
              <a:tr h="582950">
                <a:tc>
                  <a:txBody>
                    <a:bodyPr/>
                    <a:lstStyle/>
                    <a:p>
                      <a:pPr algn="ctr"/>
                      <a:r>
                        <a:rPr lang="en-US" sz="1600" b="1" i="0" dirty="0">
                          <a:effectLst/>
                        </a:rPr>
                        <a:t>DIVISION</a:t>
                      </a:r>
                      <a:endParaRPr lang="en-US" sz="1600" b="1" i="0" dirty="0">
                        <a:effectLst/>
                      </a:endParaRPr>
                    </a:p>
                  </a:txBody>
                  <a:tcPr marL="43118" marR="43118" marT="43118" marB="43118" anchor="ctr"/>
                </a:tc>
                <a:tc>
                  <a:txBody>
                    <a:bodyPr/>
                    <a:lstStyle/>
                    <a:p>
                      <a:pPr algn="ctr"/>
                      <a:r>
                        <a:rPr lang="en-US" sz="1600" b="1" i="0" dirty="0">
                          <a:effectLst/>
                        </a:rPr>
                        <a:t>RESULT</a:t>
                      </a:r>
                      <a:endParaRPr lang="en-US" sz="1600" b="1" i="0" dirty="0">
                        <a:effectLst/>
                      </a:endParaRPr>
                    </a:p>
                  </a:txBody>
                  <a:tcPr marL="43118" marR="43118" marT="43118" marB="43118" anchor="ctr"/>
                </a:tc>
                <a:tc>
                  <a:txBody>
                    <a:bodyPr/>
                    <a:lstStyle/>
                    <a:p>
                      <a:pPr algn="ctr"/>
                      <a:r>
                        <a:rPr lang="en-US" sz="1600" b="1" i="0" dirty="0">
                          <a:effectLst/>
                        </a:rPr>
                        <a:t>REMAINDER</a:t>
                      </a:r>
                      <a:endParaRPr lang="en-US" sz="1600" b="1" i="0" dirty="0">
                        <a:effectLst/>
                      </a:endParaRPr>
                    </a:p>
                    <a:p>
                      <a:pPr algn="ctr"/>
                      <a:r>
                        <a:rPr lang="en-US" sz="1600" b="1" i="0" dirty="0">
                          <a:effectLst/>
                        </a:rPr>
                        <a:t>(in BIN)</a:t>
                      </a:r>
                      <a:endParaRPr lang="en-US" sz="1600" b="1" i="0" dirty="0">
                        <a:effectLst/>
                      </a:endParaRPr>
                    </a:p>
                  </a:txBody>
                  <a:tcPr marL="43118" marR="43118" marT="43118" marB="43118" anchor="ctr">
                    <a:solidFill>
                      <a:srgbClr val="92D050"/>
                    </a:solidFill>
                  </a:tcPr>
                </a:tc>
              </a:tr>
              <a:tr h="335743">
                <a:tc>
                  <a:txBody>
                    <a:bodyPr/>
                    <a:lstStyle/>
                    <a:p>
                      <a:pPr algn="ctr"/>
                      <a:r>
                        <a:rPr lang="en-US" sz="1600" b="0" dirty="0">
                          <a:effectLst/>
                        </a:rPr>
                        <a:t>65.280/2</a:t>
                      </a:r>
                      <a:endParaRPr lang="en-US" sz="1600" b="0" dirty="0">
                        <a:effectLst/>
                      </a:endParaRPr>
                    </a:p>
                  </a:txBody>
                  <a:tcPr marL="43118" marR="43118" marT="43118" marB="43118" anchor="ctr"/>
                </a:tc>
                <a:tc>
                  <a:txBody>
                    <a:bodyPr/>
                    <a:lstStyle/>
                    <a:p>
                      <a:pPr algn="ctr"/>
                      <a:r>
                        <a:rPr lang="en-US" sz="1600" b="0" dirty="0">
                          <a:effectLst/>
                        </a:rPr>
                        <a:t>32.640</a:t>
                      </a:r>
                      <a:endParaRPr lang="en-US" sz="1600" b="0" dirty="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solidFill>
                      <a:srgbClr val="92D050"/>
                    </a:solidFill>
                  </a:tcPr>
                </a:tc>
              </a:tr>
              <a:tr h="335743">
                <a:tc>
                  <a:txBody>
                    <a:bodyPr/>
                    <a:lstStyle/>
                    <a:p>
                      <a:pPr algn="ctr"/>
                      <a:r>
                        <a:rPr lang="en-US" sz="1600" b="0" dirty="0">
                          <a:effectLst/>
                        </a:rPr>
                        <a:t>32.640/2</a:t>
                      </a:r>
                      <a:endParaRPr lang="en-US" sz="1600" b="0" dirty="0">
                        <a:effectLst/>
                      </a:endParaRPr>
                    </a:p>
                  </a:txBody>
                  <a:tcPr marL="43118" marR="43118" marT="43118" marB="43118" anchor="ctr"/>
                </a:tc>
                <a:tc>
                  <a:txBody>
                    <a:bodyPr/>
                    <a:lstStyle/>
                    <a:p>
                      <a:pPr algn="ctr"/>
                      <a:r>
                        <a:rPr lang="en-US" sz="1600" b="0" dirty="0">
                          <a:effectLst/>
                        </a:rPr>
                        <a:t>16.320</a:t>
                      </a:r>
                      <a:endParaRPr lang="en-US" sz="1600" b="0" dirty="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solidFill>
                      <a:srgbClr val="92D050"/>
                    </a:solidFill>
                  </a:tcPr>
                </a:tc>
              </a:tr>
              <a:tr h="335743">
                <a:tc>
                  <a:txBody>
                    <a:bodyPr/>
                    <a:lstStyle/>
                    <a:p>
                      <a:pPr algn="ctr"/>
                      <a:r>
                        <a:rPr lang="en-US" sz="1600" b="0" dirty="0">
                          <a:effectLst/>
                        </a:rPr>
                        <a:t>16.320/2</a:t>
                      </a:r>
                      <a:endParaRPr lang="en-US" sz="1600" b="0" dirty="0">
                        <a:effectLst/>
                      </a:endParaRPr>
                    </a:p>
                  </a:txBody>
                  <a:tcPr marL="43118" marR="43118" marT="43118" marB="43118" anchor="ctr"/>
                </a:tc>
                <a:tc>
                  <a:txBody>
                    <a:bodyPr/>
                    <a:lstStyle/>
                    <a:p>
                      <a:pPr algn="ctr"/>
                      <a:r>
                        <a:rPr lang="en-US" sz="1600" b="0" dirty="0">
                          <a:effectLst/>
                        </a:rPr>
                        <a:t>8.160</a:t>
                      </a:r>
                      <a:endParaRPr lang="en-US" sz="1600" b="0" dirty="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solidFill>
                      <a:srgbClr val="92D050"/>
                    </a:solidFill>
                  </a:tcPr>
                </a:tc>
              </a:tr>
              <a:tr h="335743">
                <a:tc>
                  <a:txBody>
                    <a:bodyPr/>
                    <a:lstStyle/>
                    <a:p>
                      <a:pPr algn="ctr"/>
                      <a:r>
                        <a:rPr lang="en-US" sz="1600" b="0" dirty="0">
                          <a:effectLst/>
                        </a:rPr>
                        <a:t>8.160/2</a:t>
                      </a:r>
                      <a:endParaRPr lang="en-US" sz="1600" b="0" dirty="0">
                        <a:effectLst/>
                      </a:endParaRPr>
                    </a:p>
                  </a:txBody>
                  <a:tcPr marL="43118" marR="43118" marT="43118" marB="43118" anchor="ctr"/>
                </a:tc>
                <a:tc>
                  <a:txBody>
                    <a:bodyPr/>
                    <a:lstStyle/>
                    <a:p>
                      <a:pPr algn="ctr"/>
                      <a:r>
                        <a:rPr lang="en-US" sz="1600" b="0" dirty="0">
                          <a:effectLst/>
                        </a:rPr>
                        <a:t>4.080</a:t>
                      </a:r>
                      <a:endParaRPr lang="en-US" sz="1600" b="0" dirty="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solidFill>
                      <a:srgbClr val="92D050"/>
                    </a:solidFill>
                  </a:tcPr>
                </a:tc>
              </a:tr>
              <a:tr h="335743">
                <a:tc>
                  <a:txBody>
                    <a:bodyPr/>
                    <a:lstStyle/>
                    <a:p>
                      <a:pPr algn="ctr"/>
                      <a:r>
                        <a:rPr lang="en-US" sz="1600" b="0" dirty="0">
                          <a:effectLst/>
                        </a:rPr>
                        <a:t>…</a:t>
                      </a:r>
                      <a:endParaRPr lang="en-US" sz="1600" b="0" dirty="0">
                        <a:effectLst/>
                      </a:endParaRPr>
                    </a:p>
                  </a:txBody>
                  <a:tcPr marL="43118" marR="43118" marT="43118" marB="43118" anchor="ctr"/>
                </a:tc>
                <a:tc>
                  <a:txBody>
                    <a:bodyPr/>
                    <a:lstStyle/>
                    <a:p>
                      <a:pPr algn="ctr"/>
                      <a:r>
                        <a:rPr lang="en-US" sz="1600" b="0" dirty="0">
                          <a:effectLst/>
                        </a:rPr>
                        <a:t>…</a:t>
                      </a:r>
                      <a:endParaRPr lang="en-US" sz="1600" b="0" dirty="0">
                        <a:effectLst/>
                      </a:endParaRPr>
                    </a:p>
                  </a:txBody>
                  <a:tcPr marL="43118" marR="43118" marT="43118" marB="43118" anchor="ctr"/>
                </a:tc>
                <a:tc>
                  <a:txBody>
                    <a:bodyPr/>
                    <a:lstStyle/>
                    <a:p>
                      <a:pPr algn="ctr"/>
                      <a:r>
                        <a:rPr lang="en-US" sz="1600" b="0" dirty="0">
                          <a:effectLst/>
                        </a:rPr>
                        <a:t>…</a:t>
                      </a:r>
                      <a:endParaRPr lang="en-US" sz="1600" b="0" dirty="0">
                        <a:effectLst/>
                      </a:endParaRPr>
                    </a:p>
                  </a:txBody>
                  <a:tcPr marL="43118" marR="43118" marT="43118" marB="43118" anchor="ctr">
                    <a:solidFill>
                      <a:srgbClr val="92D050"/>
                    </a:solidFill>
                  </a:tcPr>
                </a:tc>
              </a:tr>
            </a:tbl>
          </a:graphicData>
        </a:graphic>
      </p:graphicFrame>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graphicFrame>
        <p:nvGraphicFramePr>
          <p:cNvPr id="11" name="Table 10"/>
          <p:cNvGraphicFramePr>
            <a:graphicFrameLocks noGrp="1"/>
          </p:cNvGraphicFramePr>
          <p:nvPr/>
        </p:nvGraphicFramePr>
        <p:xfrm>
          <a:off x="6345423" y="1214085"/>
          <a:ext cx="5008377" cy="1925922"/>
        </p:xfrm>
        <a:graphic>
          <a:graphicData uri="http://schemas.openxmlformats.org/drawingml/2006/table">
            <a:tbl>
              <a:tblPr firstRow="1" bandRow="1">
                <a:tableStyleId>{5C22544A-7EE6-4342-B048-85BDC9FD1C3A}</a:tableStyleId>
              </a:tblPr>
              <a:tblGrid>
                <a:gridCol w="1669459"/>
                <a:gridCol w="1669459"/>
                <a:gridCol w="1669459"/>
              </a:tblGrid>
              <a:tr h="582950">
                <a:tc>
                  <a:txBody>
                    <a:bodyPr/>
                    <a:lstStyle/>
                    <a:p>
                      <a:pPr algn="ctr"/>
                      <a:r>
                        <a:rPr lang="en-US" sz="1600" b="1" i="0" dirty="0">
                          <a:effectLst/>
                        </a:rPr>
                        <a:t>DIVISION</a:t>
                      </a:r>
                      <a:endParaRPr lang="en-US" sz="1600" b="1" i="0" dirty="0">
                        <a:effectLst/>
                      </a:endParaRPr>
                    </a:p>
                  </a:txBody>
                  <a:tcPr marL="43118" marR="43118" marT="43118" marB="43118" anchor="ctr"/>
                </a:tc>
                <a:tc>
                  <a:txBody>
                    <a:bodyPr/>
                    <a:lstStyle/>
                    <a:p>
                      <a:pPr algn="ctr"/>
                      <a:r>
                        <a:rPr lang="en-US" sz="1600" b="1" i="0" dirty="0">
                          <a:effectLst/>
                        </a:rPr>
                        <a:t>RESULT</a:t>
                      </a:r>
                      <a:endParaRPr lang="en-US" sz="1600" b="1" i="0" dirty="0">
                        <a:effectLst/>
                      </a:endParaRPr>
                    </a:p>
                  </a:txBody>
                  <a:tcPr marL="43118" marR="43118" marT="43118" marB="43118" anchor="ctr"/>
                </a:tc>
                <a:tc>
                  <a:txBody>
                    <a:bodyPr/>
                    <a:lstStyle/>
                    <a:p>
                      <a:pPr algn="ctr"/>
                      <a:r>
                        <a:rPr lang="en-US" sz="1600" b="1" i="0" dirty="0">
                          <a:effectLst/>
                        </a:rPr>
                        <a:t>REMAINDER</a:t>
                      </a:r>
                      <a:endParaRPr lang="en-US" sz="1600" b="1" i="0" dirty="0">
                        <a:effectLst/>
                      </a:endParaRPr>
                    </a:p>
                    <a:p>
                      <a:pPr algn="ctr"/>
                      <a:r>
                        <a:rPr lang="en-US" sz="1600" b="1" i="0" dirty="0">
                          <a:effectLst/>
                        </a:rPr>
                        <a:t>(in HEX)</a:t>
                      </a:r>
                      <a:endParaRPr lang="en-US" sz="1600" b="1" i="0" dirty="0">
                        <a:effectLst/>
                      </a:endParaRPr>
                    </a:p>
                  </a:txBody>
                  <a:tcPr marL="43118" marR="43118" marT="43118" marB="43118" anchor="ctr">
                    <a:solidFill>
                      <a:srgbClr val="92D050"/>
                    </a:solidFill>
                  </a:tcPr>
                </a:tc>
              </a:tr>
              <a:tr h="335743">
                <a:tc>
                  <a:txBody>
                    <a:bodyPr/>
                    <a:lstStyle/>
                    <a:p>
                      <a:pPr algn="ctr"/>
                      <a:r>
                        <a:rPr lang="en-US" sz="1600" b="0" dirty="0">
                          <a:effectLst/>
                        </a:rPr>
                        <a:t>65.280/16</a:t>
                      </a:r>
                      <a:endParaRPr lang="en-US" sz="1600" b="0" dirty="0">
                        <a:effectLst/>
                      </a:endParaRPr>
                    </a:p>
                  </a:txBody>
                  <a:tcPr marL="43118" marR="43118" marT="43118" marB="43118" anchor="ctr"/>
                </a:tc>
                <a:tc>
                  <a:txBody>
                    <a:bodyPr/>
                    <a:lstStyle/>
                    <a:p>
                      <a:pPr algn="ctr"/>
                      <a:r>
                        <a:rPr lang="en-US" sz="1600" b="0" dirty="0">
                          <a:effectLst/>
                        </a:rPr>
                        <a:t>4.080</a:t>
                      </a:r>
                      <a:endParaRPr lang="en-US" sz="1600" b="0" dirty="0">
                        <a:effectLst/>
                      </a:endParaRPr>
                    </a:p>
                  </a:txBody>
                  <a:tcPr marL="43118" marR="43118" marT="43118" marB="43118" anchor="ctr"/>
                </a:tc>
                <a:tc>
                  <a:txBody>
                    <a:bodyPr/>
                    <a:lstStyle/>
                    <a:p>
                      <a:pPr algn="ctr"/>
                      <a:r>
                        <a:rPr lang="en-US" sz="1600" b="0" dirty="0">
                          <a:effectLst/>
                        </a:rPr>
                        <a:t>0 (0 in Decimal)</a:t>
                      </a:r>
                      <a:endParaRPr lang="en-US" sz="1600" b="0" dirty="0">
                        <a:effectLst/>
                      </a:endParaRPr>
                    </a:p>
                  </a:txBody>
                  <a:tcPr marL="43118" marR="43118" marT="43118" marB="43118" anchor="ctr">
                    <a:solidFill>
                      <a:srgbClr val="92D050"/>
                    </a:solidFill>
                  </a:tcPr>
                </a:tc>
              </a:tr>
              <a:tr h="3357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4.080/16</a:t>
                      </a:r>
                      <a:endParaRPr lang="en-US" sz="1600" b="0" dirty="0">
                        <a:effectLst/>
                      </a:endParaRPr>
                    </a:p>
                  </a:txBody>
                  <a:tcPr marL="43118" marR="43118" marT="43118" marB="43118" anchor="ctr"/>
                </a:tc>
                <a:tc>
                  <a:txBody>
                    <a:bodyPr/>
                    <a:lstStyle/>
                    <a:p>
                      <a:pPr algn="ctr"/>
                      <a:r>
                        <a:rPr lang="en-US" sz="1600" b="0" dirty="0">
                          <a:effectLst/>
                        </a:rPr>
                        <a:t>255</a:t>
                      </a:r>
                      <a:endParaRPr lang="en-US" sz="1600" b="0" dirty="0">
                        <a:effectLst/>
                      </a:endParaRPr>
                    </a:p>
                  </a:txBody>
                  <a:tcPr marL="43118" marR="43118" marT="43118" marB="43118"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0 (0 in Decimal)</a:t>
                      </a:r>
                      <a:endParaRPr lang="en-US" sz="1600" b="0" dirty="0">
                        <a:effectLst/>
                      </a:endParaRPr>
                    </a:p>
                  </a:txBody>
                  <a:tcPr marL="43118" marR="43118" marT="43118" marB="43118" anchor="ctr">
                    <a:solidFill>
                      <a:srgbClr val="92D050"/>
                    </a:solidFill>
                  </a:tcPr>
                </a:tc>
              </a:tr>
              <a:tr h="3357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255/16</a:t>
                      </a:r>
                      <a:endParaRPr lang="en-US" sz="1600" b="0" dirty="0">
                        <a:effectLst/>
                      </a:endParaRPr>
                    </a:p>
                  </a:txBody>
                  <a:tcPr marL="43118" marR="43118" marT="43118" marB="43118" anchor="ctr"/>
                </a:tc>
                <a:tc>
                  <a:txBody>
                    <a:bodyPr/>
                    <a:lstStyle/>
                    <a:p>
                      <a:pPr algn="ctr"/>
                      <a:r>
                        <a:rPr lang="en-US" sz="1600" b="0" dirty="0">
                          <a:effectLst/>
                        </a:rPr>
                        <a:t>15</a:t>
                      </a:r>
                      <a:endParaRPr lang="en-US" sz="1600" b="0" dirty="0">
                        <a:effectLst/>
                      </a:endParaRPr>
                    </a:p>
                  </a:txBody>
                  <a:tcPr marL="43118" marR="43118" marT="43118" marB="43118"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F</a:t>
                      </a:r>
                      <a:r>
                        <a:rPr lang="en-US" sz="1600" b="0" baseline="0" dirty="0">
                          <a:effectLst/>
                        </a:rPr>
                        <a:t> (15 in Decimal)</a:t>
                      </a:r>
                      <a:endParaRPr lang="en-US" sz="1600" b="0" dirty="0">
                        <a:effectLst/>
                      </a:endParaRPr>
                    </a:p>
                  </a:txBody>
                  <a:tcPr marL="43118" marR="43118" marT="43118" marB="43118" anchor="ctr">
                    <a:solidFill>
                      <a:srgbClr val="92D050"/>
                    </a:solidFill>
                  </a:tcPr>
                </a:tc>
              </a:tr>
              <a:tr h="3357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15/16</a:t>
                      </a:r>
                      <a:endParaRPr lang="en-US" sz="1600" b="0" dirty="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F</a:t>
                      </a:r>
                      <a:r>
                        <a:rPr lang="en-US" sz="1600" b="0" baseline="0" dirty="0">
                          <a:effectLst/>
                        </a:rPr>
                        <a:t> (15 in Decimal)</a:t>
                      </a:r>
                      <a:endParaRPr lang="en-US" sz="1600" b="0" dirty="0">
                        <a:effectLst/>
                      </a:endParaRPr>
                    </a:p>
                  </a:txBody>
                  <a:tcPr marL="43118" marR="43118" marT="43118" marB="43118" anchor="ctr">
                    <a:solidFill>
                      <a:srgbClr val="92D050"/>
                    </a:solidFill>
                  </a:tcPr>
                </a:tc>
              </a:tr>
            </a:tbl>
          </a:graphicData>
        </a:graphic>
      </p:graphicFrame>
      <mc:AlternateContent xmlns:mc="http://schemas.openxmlformats.org/markup-compatibility/2006">
        <mc:Choice xmlns:a14="http://schemas.microsoft.com/office/drawing/2010/main" Requires="a14">
          <p:sp>
            <p:nvSpPr>
              <p:cNvPr id="6" name="Rectangle 5"/>
              <p:cNvSpPr/>
              <p:nvPr/>
            </p:nvSpPr>
            <p:spPr>
              <a:xfrm>
                <a:off x="922866" y="587651"/>
                <a:ext cx="5208670" cy="369332"/>
              </a:xfrm>
              <a:prstGeom prst="rect">
                <a:avLst/>
              </a:prstGeom>
            </p:spPr>
            <p:txBody>
              <a:bodyPr wrap="none">
                <a:spAutoFit/>
              </a:bodyPr>
              <a:lstStyle/>
              <a:p>
                <a:r>
                  <a:rPr lang="nl-NL" dirty="0"/>
                  <a:t>Convert to binary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m:rPr>
                            <m:nor/>
                          </m:rPr>
                          <a:rPr lang="nl-NL" dirty="0">
                            <a:latin typeface="Cambria Math" panose="02040503050406030204" pitchFamily="18" charset="0"/>
                          </a:rPr>
                          <m:t>65</m:t>
                        </m:r>
                        <m:r>
                          <m:rPr>
                            <m:nor/>
                          </m:rPr>
                          <a:rPr lang="en-US" b="0" i="0" dirty="0" smtClean="0">
                            <a:latin typeface="Cambria Math" panose="02040503050406030204" pitchFamily="18" charset="0"/>
                          </a:rPr>
                          <m:t>.</m:t>
                        </m:r>
                        <m:r>
                          <m:rPr>
                            <m:nor/>
                          </m:rPr>
                          <a:rPr lang="nl-NL" dirty="0">
                            <a:latin typeface="Cambria Math" panose="02040503050406030204" pitchFamily="18" charset="0"/>
                          </a:rPr>
                          <m:t>280</m:t>
                        </m:r>
                        <m:r>
                          <a:rPr lang="en-US" i="1">
                            <a:latin typeface="Cambria Math" panose="02040503050406030204" pitchFamily="18" charset="0"/>
                          </a:rPr>
                          <m:t>)</m:t>
                        </m:r>
                      </m:e>
                      <m:sub>
                        <m:r>
                          <a:rPr lang="en-US" i="1">
                            <a:latin typeface="Cambria Math" panose="02040503050406030204" pitchFamily="18" charset="0"/>
                          </a:rPr>
                          <m:t>10</m:t>
                        </m:r>
                      </m:sub>
                    </m:sSub>
                  </m:oMath>
                </a14:m>
                <a:r>
                  <a:rPr lang="nl-NL"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11</m:t>
                        </m:r>
                        <m:r>
                          <a:rPr lang="en-US" b="0" i="1" smtClean="0">
                            <a:latin typeface="Cambria Math" panose="02040503050406030204" pitchFamily="18" charset="0"/>
                          </a:rPr>
                          <m:t>1</m:t>
                        </m:r>
                        <m:r>
                          <a:rPr lang="en-US" i="1">
                            <a:latin typeface="Cambria Math" panose="02040503050406030204" pitchFamily="18" charset="0"/>
                          </a:rPr>
                          <m:t>1</m:t>
                        </m:r>
                        <m:r>
                          <a:rPr lang="en-US" b="0" i="1" smtClean="0">
                            <a:latin typeface="Cambria Math" panose="02040503050406030204" pitchFamily="18" charset="0"/>
                          </a:rPr>
                          <m:t>111000000</m:t>
                        </m:r>
                        <m:r>
                          <a:rPr lang="en-US" i="1">
                            <a:latin typeface="Cambria Math" panose="02040503050406030204" pitchFamily="18" charset="0"/>
                          </a:rPr>
                          <m:t>)</m:t>
                        </m:r>
                      </m:e>
                      <m:sub>
                        <m:r>
                          <a:rPr lang="en-US" i="1">
                            <a:latin typeface="Cambria Math" panose="02040503050406030204" pitchFamily="18" charset="0"/>
                          </a:rPr>
                          <m:t>2</m:t>
                        </m:r>
                      </m:sub>
                    </m:sSub>
                  </m:oMath>
                </a14:m>
                <a:endParaRPr lang="en-US" dirty="0"/>
              </a:p>
            </p:txBody>
          </p:sp>
        </mc:Choice>
        <mc:Fallback>
          <p:sp>
            <p:nvSpPr>
              <p:cNvPr id="6" name="Rectangle 5"/>
              <p:cNvSpPr>
                <a:spLocks noRot="1" noChangeAspect="1" noMove="1" noResize="1" noEditPoints="1" noAdjustHandles="1" noChangeArrowheads="1" noChangeShapeType="1" noTextEdit="1"/>
              </p:cNvSpPr>
              <p:nvPr/>
            </p:nvSpPr>
            <p:spPr>
              <a:xfrm>
                <a:off x="922866" y="587651"/>
                <a:ext cx="5208670" cy="369332"/>
              </a:xfrm>
              <a:prstGeom prst="rect">
                <a:avLst/>
              </a:prstGeom>
              <a:blipFill rotWithShape="1">
                <a:blip r:embed="rId3"/>
                <a:stretch>
                  <a:fillRect l="-4" t="-75" r="12" b="10"/>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2" name="Rectangle 11"/>
              <p:cNvSpPr/>
              <p:nvPr/>
            </p:nvSpPr>
            <p:spPr>
              <a:xfrm>
                <a:off x="6345423" y="582372"/>
                <a:ext cx="4428328" cy="369332"/>
              </a:xfrm>
              <a:prstGeom prst="rect">
                <a:avLst/>
              </a:prstGeom>
            </p:spPr>
            <p:txBody>
              <a:bodyPr wrap="none">
                <a:spAutoFit/>
              </a:bodyPr>
              <a:lstStyle/>
              <a:p>
                <a:r>
                  <a:rPr lang="nl-NL" dirty="0"/>
                  <a:t>Convert to hexadecimal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m:rPr>
                            <m:nor/>
                          </m:rPr>
                          <a:rPr lang="nl-NL" dirty="0">
                            <a:latin typeface="Cambria Math" panose="02040503050406030204" pitchFamily="18" charset="0"/>
                          </a:rPr>
                          <m:t>65</m:t>
                        </m:r>
                        <m:r>
                          <m:rPr>
                            <m:nor/>
                          </m:rPr>
                          <a:rPr lang="en-US" b="0" i="0" dirty="0" smtClean="0">
                            <a:latin typeface="Cambria Math" panose="02040503050406030204" pitchFamily="18" charset="0"/>
                          </a:rPr>
                          <m:t>.</m:t>
                        </m:r>
                        <m:r>
                          <m:rPr>
                            <m:nor/>
                          </m:rPr>
                          <a:rPr lang="nl-NL" dirty="0">
                            <a:latin typeface="Cambria Math" panose="02040503050406030204" pitchFamily="18" charset="0"/>
                          </a:rPr>
                          <m:t>280</m:t>
                        </m:r>
                        <m:r>
                          <a:rPr lang="en-US" i="1">
                            <a:latin typeface="Cambria Math" panose="02040503050406030204" pitchFamily="18" charset="0"/>
                          </a:rPr>
                          <m:t>)</m:t>
                        </m:r>
                      </m:e>
                      <m:sub>
                        <m:r>
                          <a:rPr lang="en-US" i="1">
                            <a:latin typeface="Cambria Math" panose="02040503050406030204" pitchFamily="18" charset="0"/>
                          </a:rPr>
                          <m:t>10</m:t>
                        </m:r>
                      </m:sub>
                    </m:sSub>
                  </m:oMath>
                </a14:m>
                <a:r>
                  <a:rPr lang="nl-NL"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m:t>
                        </m:r>
                      </m:e>
                      <m:sub>
                        <m:r>
                          <a:rPr lang="en-US" b="0" i="1" smtClean="0">
                            <a:latin typeface="Cambria Math" panose="02040503050406030204" pitchFamily="18" charset="0"/>
                          </a:rPr>
                          <m:t>16</m:t>
                        </m:r>
                      </m:sub>
                    </m:sSub>
                  </m:oMath>
                </a14:m>
                <a:endParaRPr lang="en-US" dirty="0"/>
              </a:p>
            </p:txBody>
          </p:sp>
        </mc:Choice>
        <mc:Fallback>
          <p:sp>
            <p:nvSpPr>
              <p:cNvPr id="12" name="Rectangle 11"/>
              <p:cNvSpPr>
                <a:spLocks noRot="1" noChangeAspect="1" noMove="1" noResize="1" noEditPoints="1" noAdjustHandles="1" noChangeArrowheads="1" noChangeShapeType="1" noTextEdit="1"/>
              </p:cNvSpPr>
              <p:nvPr/>
            </p:nvSpPr>
            <p:spPr>
              <a:xfrm>
                <a:off x="6345423" y="582372"/>
                <a:ext cx="4428328" cy="369332"/>
              </a:xfrm>
              <a:prstGeom prst="rect">
                <a:avLst/>
              </a:prstGeom>
              <a:blipFill rotWithShape="1">
                <a:blip r:embed="rId4"/>
                <a:stretch>
                  <a:fillRect l="-11" t="-21" r="8" b="128"/>
                </a:stretch>
              </a:blipFill>
            </p:spPr>
            <p:txBody>
              <a:bodyPr/>
              <a:lstStyle/>
              <a:p>
                <a:r>
                  <a:rPr lang="en-US" altLang="en-US">
                    <a:noFill/>
                  </a:rPr>
                  <a:t> </a:t>
                </a:r>
              </a:p>
            </p:txBody>
          </p:sp>
        </mc:Fallback>
      </mc:AlternateContent>
      <p:graphicFrame>
        <p:nvGraphicFramePr>
          <p:cNvPr id="14" name="Content Placeholder 6"/>
          <p:cNvGraphicFramePr/>
          <p:nvPr/>
        </p:nvGraphicFramePr>
        <p:xfrm>
          <a:off x="838200" y="4848502"/>
          <a:ext cx="10515600" cy="370840"/>
        </p:xfrm>
        <a:graphic>
          <a:graphicData uri="http://schemas.openxmlformats.org/drawingml/2006/table">
            <a:tbl>
              <a:tblPr firstRow="1" bandRow="1">
                <a:tableStyleId>{5C22544A-7EE6-4342-B048-85BDC9FD1C3A}</a:tableStyleId>
              </a:tblPr>
              <a:tblGrid>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tblGrid>
              <a:tr h="370840">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1</a:t>
                      </a:r>
                      <a:endParaRPr lang="en-US" dirty="0"/>
                    </a:p>
                  </a:txBody>
                  <a:tcPr>
                    <a:solidFill>
                      <a:srgbClr val="92D050"/>
                    </a:solidFill>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r>
            </a:tbl>
          </a:graphicData>
        </a:graphic>
      </p:graphicFrame>
      <p:graphicFrame>
        <p:nvGraphicFramePr>
          <p:cNvPr id="15" name="Content Placeholder 6"/>
          <p:cNvGraphicFramePr/>
          <p:nvPr/>
        </p:nvGraphicFramePr>
        <p:xfrm>
          <a:off x="838200" y="5479204"/>
          <a:ext cx="10515600" cy="37084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370840">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F</a:t>
                      </a:r>
                      <a:endParaRPr lang="en-US" dirty="0"/>
                    </a:p>
                  </a:txBody>
                  <a:tcPr>
                    <a:solidFill>
                      <a:srgbClr val="92D050"/>
                    </a:solidFill>
                  </a:tcPr>
                </a:tc>
                <a:tc>
                  <a:txBody>
                    <a:bodyPr/>
                    <a:lstStyle/>
                    <a:p>
                      <a:pPr algn="ctr"/>
                      <a:r>
                        <a:rPr lang="en-US" dirty="0"/>
                        <a:t>F</a:t>
                      </a:r>
                      <a:endParaRPr lang="en-US" dirty="0"/>
                    </a:p>
                  </a:txBody>
                  <a:tcPr>
                    <a:solidFill>
                      <a:srgbClr val="92D050"/>
                    </a:solidFill>
                  </a:tcPr>
                </a:tc>
                <a:tc>
                  <a:txBody>
                    <a:bodyPr/>
                    <a:lstStyle/>
                    <a:p>
                      <a:pPr algn="ctr"/>
                      <a:r>
                        <a:rPr lang="en-US" dirty="0"/>
                        <a:t>0</a:t>
                      </a:r>
                      <a:endParaRPr lang="en-US" dirty="0"/>
                    </a:p>
                  </a:txBody>
                  <a:tcPr/>
                </a:tc>
                <a:tc>
                  <a:txBody>
                    <a:bodyPr/>
                    <a:lstStyle/>
                    <a:p>
                      <a:pPr algn="ctr"/>
                      <a:r>
                        <a:rPr lang="en-US" dirty="0"/>
                        <a:t>0</a:t>
                      </a:r>
                      <a:endParaRPr lang="en-US" dirty="0"/>
                    </a:p>
                  </a:txBody>
                  <a:tcPr/>
                </a:tc>
              </a:tr>
            </a:tbl>
          </a:graphicData>
        </a:graphic>
      </p:graphicFrame>
      <p:sp>
        <p:nvSpPr>
          <p:cNvPr id="18" name="Rectangle 17"/>
          <p:cNvSpPr/>
          <p:nvPr/>
        </p:nvSpPr>
        <p:spPr>
          <a:xfrm>
            <a:off x="797605" y="4009713"/>
            <a:ext cx="6096000" cy="646331"/>
          </a:xfrm>
          <a:prstGeom prst="rect">
            <a:avLst/>
          </a:prstGeom>
        </p:spPr>
        <p:txBody>
          <a:bodyPr>
            <a:spAutoFit/>
          </a:bodyPr>
          <a:lstStyle/>
          <a:p>
            <a:r>
              <a:rPr lang="nl-NL" dirty="0"/>
              <a:t>Change into 24 bits</a:t>
            </a:r>
            <a:endParaRPr lang="nl-NL" dirty="0"/>
          </a:p>
          <a:p>
            <a:r>
              <a:rPr lang="nl-NL" b="1" dirty="0"/>
              <a:t>#00FF00</a:t>
            </a:r>
            <a:endParaRPr lang="en-US" b="1" dirty="0"/>
          </a:p>
        </p:txBody>
      </p:sp>
    </p:spTree>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graphicFrame>
        <p:nvGraphicFramePr>
          <p:cNvPr id="7" name="Table 6"/>
          <p:cNvGraphicFramePr>
            <a:graphicFrameLocks noGrp="1"/>
          </p:cNvGraphicFramePr>
          <p:nvPr/>
        </p:nvGraphicFramePr>
        <p:xfrm>
          <a:off x="922866" y="1214085"/>
          <a:ext cx="5008377" cy="2261665"/>
        </p:xfrm>
        <a:graphic>
          <a:graphicData uri="http://schemas.openxmlformats.org/drawingml/2006/table">
            <a:tbl>
              <a:tblPr firstRow="1" bandRow="1">
                <a:tableStyleId>{5C22544A-7EE6-4342-B048-85BDC9FD1C3A}</a:tableStyleId>
              </a:tblPr>
              <a:tblGrid>
                <a:gridCol w="1669459"/>
                <a:gridCol w="1669459"/>
                <a:gridCol w="1669459"/>
              </a:tblGrid>
              <a:tr h="582950">
                <a:tc>
                  <a:txBody>
                    <a:bodyPr/>
                    <a:lstStyle/>
                    <a:p>
                      <a:pPr algn="ctr"/>
                      <a:r>
                        <a:rPr lang="en-US" sz="1600" b="1" i="0" dirty="0">
                          <a:effectLst/>
                        </a:rPr>
                        <a:t>DIVISION</a:t>
                      </a:r>
                      <a:endParaRPr lang="en-US" sz="1600" b="1" i="0" dirty="0">
                        <a:effectLst/>
                      </a:endParaRPr>
                    </a:p>
                  </a:txBody>
                  <a:tcPr marL="43118" marR="43118" marT="43118" marB="43118" anchor="ctr"/>
                </a:tc>
                <a:tc>
                  <a:txBody>
                    <a:bodyPr/>
                    <a:lstStyle/>
                    <a:p>
                      <a:pPr algn="ctr"/>
                      <a:r>
                        <a:rPr lang="en-US" sz="1600" b="1" i="0" dirty="0">
                          <a:effectLst/>
                        </a:rPr>
                        <a:t>RESULT</a:t>
                      </a:r>
                      <a:endParaRPr lang="en-US" sz="1600" b="1" i="0" dirty="0">
                        <a:effectLst/>
                      </a:endParaRPr>
                    </a:p>
                  </a:txBody>
                  <a:tcPr marL="43118" marR="43118" marT="43118" marB="43118" anchor="ctr"/>
                </a:tc>
                <a:tc>
                  <a:txBody>
                    <a:bodyPr/>
                    <a:lstStyle/>
                    <a:p>
                      <a:pPr algn="ctr"/>
                      <a:r>
                        <a:rPr lang="en-US" sz="1600" b="1" i="0" dirty="0">
                          <a:effectLst/>
                        </a:rPr>
                        <a:t>REMAINDER</a:t>
                      </a:r>
                      <a:endParaRPr lang="en-US" sz="1600" b="1" i="0" dirty="0">
                        <a:effectLst/>
                      </a:endParaRPr>
                    </a:p>
                    <a:p>
                      <a:pPr algn="ctr"/>
                      <a:r>
                        <a:rPr lang="en-US" sz="1600" b="1" i="0" dirty="0">
                          <a:effectLst/>
                        </a:rPr>
                        <a:t>(in BIN)</a:t>
                      </a:r>
                      <a:endParaRPr lang="en-US" sz="1600" b="1" i="0" dirty="0">
                        <a:effectLst/>
                      </a:endParaRPr>
                    </a:p>
                  </a:txBody>
                  <a:tcPr marL="43118" marR="43118" marT="43118" marB="43118" anchor="ctr">
                    <a:solidFill>
                      <a:srgbClr val="92D050"/>
                    </a:solidFill>
                  </a:tcPr>
                </a:tc>
              </a:tr>
              <a:tr h="335743">
                <a:tc>
                  <a:txBody>
                    <a:bodyPr/>
                    <a:lstStyle/>
                    <a:p>
                      <a:pPr algn="ctr"/>
                      <a:r>
                        <a:rPr lang="nl-NL" sz="1600" dirty="0"/>
                        <a:t>8.421.504</a:t>
                      </a:r>
                      <a:r>
                        <a:rPr lang="en-US" sz="1600" b="0" dirty="0">
                          <a:effectLst/>
                        </a:rPr>
                        <a:t>/2</a:t>
                      </a:r>
                      <a:endParaRPr lang="en-US" sz="1600" b="0" dirty="0">
                        <a:effectLst/>
                      </a:endParaRPr>
                    </a:p>
                  </a:txBody>
                  <a:tcPr marL="43118" marR="43118" marT="43118" marB="43118" anchor="ctr"/>
                </a:tc>
                <a:tc>
                  <a:txBody>
                    <a:bodyPr/>
                    <a:lstStyle/>
                    <a:p>
                      <a:pPr algn="ctr"/>
                      <a:r>
                        <a:rPr lang="en-US" sz="1600" b="0" dirty="0">
                          <a:effectLst/>
                        </a:rPr>
                        <a:t>4.210.752</a:t>
                      </a:r>
                      <a:endParaRPr lang="en-US" sz="1600" b="0" dirty="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solidFill>
                      <a:srgbClr val="92D050"/>
                    </a:solidFill>
                  </a:tcPr>
                </a:tc>
              </a:tr>
              <a:tr h="3357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4.210.752/2</a:t>
                      </a:r>
                      <a:endParaRPr lang="en-US" sz="1600" b="0" dirty="0">
                        <a:effectLst/>
                      </a:endParaRPr>
                    </a:p>
                  </a:txBody>
                  <a:tcPr marL="43118" marR="43118" marT="43118" marB="43118" anchor="ctr"/>
                </a:tc>
                <a:tc>
                  <a:txBody>
                    <a:bodyPr/>
                    <a:lstStyle/>
                    <a:p>
                      <a:pPr algn="ctr"/>
                      <a:r>
                        <a:rPr lang="en-US" sz="1600" b="0" dirty="0">
                          <a:effectLst/>
                        </a:rPr>
                        <a:t>2.105.376</a:t>
                      </a:r>
                      <a:endParaRPr lang="en-US" sz="1600" b="0" dirty="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solidFill>
                      <a:srgbClr val="92D050"/>
                    </a:solidFill>
                  </a:tcPr>
                </a:tc>
              </a:tr>
              <a:tr h="3357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2.105.376/2</a:t>
                      </a:r>
                      <a:endParaRPr lang="en-US" sz="1600" b="0" dirty="0">
                        <a:effectLst/>
                      </a:endParaRPr>
                    </a:p>
                  </a:txBody>
                  <a:tcPr marL="43118" marR="43118" marT="43118" marB="43118" anchor="ctr"/>
                </a:tc>
                <a:tc>
                  <a:txBody>
                    <a:bodyPr/>
                    <a:lstStyle/>
                    <a:p>
                      <a:pPr algn="ctr"/>
                      <a:r>
                        <a:rPr lang="en-US" sz="1600" b="0" dirty="0">
                          <a:effectLst/>
                        </a:rPr>
                        <a:t>1.052.688</a:t>
                      </a:r>
                      <a:endParaRPr lang="en-US" sz="1600" b="0" dirty="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solidFill>
                      <a:srgbClr val="92D050"/>
                    </a:solidFill>
                  </a:tcPr>
                </a:tc>
              </a:tr>
              <a:tr h="3357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1.052.688/2</a:t>
                      </a:r>
                      <a:endParaRPr lang="en-US" sz="1600" b="0" dirty="0">
                        <a:effectLst/>
                      </a:endParaRPr>
                    </a:p>
                  </a:txBody>
                  <a:tcPr marL="43118" marR="43118" marT="43118" marB="43118" anchor="ctr"/>
                </a:tc>
                <a:tc>
                  <a:txBody>
                    <a:bodyPr/>
                    <a:lstStyle/>
                    <a:p>
                      <a:pPr algn="ctr"/>
                      <a:r>
                        <a:rPr lang="en-US" sz="1600" b="0" dirty="0">
                          <a:effectLst/>
                        </a:rPr>
                        <a:t>526.344</a:t>
                      </a:r>
                      <a:endParaRPr lang="en-US" sz="1600" b="0" dirty="0">
                        <a:effectLst/>
                      </a:endParaRPr>
                    </a:p>
                  </a:txBody>
                  <a:tcPr marL="43118" marR="43118" marT="43118" marB="43118" anchor="ctr"/>
                </a:tc>
                <a:tc>
                  <a:txBody>
                    <a:bodyPr/>
                    <a:lstStyle/>
                    <a:p>
                      <a:pPr algn="ctr"/>
                      <a:r>
                        <a:rPr lang="en-US" sz="1600" b="0" dirty="0">
                          <a:effectLst/>
                        </a:rPr>
                        <a:t>0</a:t>
                      </a:r>
                      <a:endParaRPr lang="en-US" sz="1600" b="0" dirty="0">
                        <a:effectLst/>
                      </a:endParaRPr>
                    </a:p>
                  </a:txBody>
                  <a:tcPr marL="43118" marR="43118" marT="43118" marB="43118" anchor="ctr">
                    <a:solidFill>
                      <a:srgbClr val="92D050"/>
                    </a:solidFill>
                  </a:tcPr>
                </a:tc>
              </a:tr>
              <a:tr h="335743">
                <a:tc>
                  <a:txBody>
                    <a:bodyPr/>
                    <a:lstStyle/>
                    <a:p>
                      <a:pPr algn="ctr"/>
                      <a:r>
                        <a:rPr lang="en-US" sz="1600" b="0" dirty="0">
                          <a:effectLst/>
                        </a:rPr>
                        <a:t>…</a:t>
                      </a:r>
                      <a:endParaRPr lang="en-US" sz="1600" b="0" dirty="0">
                        <a:effectLst/>
                      </a:endParaRPr>
                    </a:p>
                  </a:txBody>
                  <a:tcPr marL="43118" marR="43118" marT="43118" marB="43118" anchor="ctr"/>
                </a:tc>
                <a:tc>
                  <a:txBody>
                    <a:bodyPr/>
                    <a:lstStyle/>
                    <a:p>
                      <a:pPr algn="ctr"/>
                      <a:r>
                        <a:rPr lang="en-US" sz="1600" b="0" dirty="0">
                          <a:effectLst/>
                        </a:rPr>
                        <a:t>…</a:t>
                      </a:r>
                      <a:endParaRPr lang="en-US" sz="1600" b="0" dirty="0">
                        <a:effectLst/>
                      </a:endParaRPr>
                    </a:p>
                  </a:txBody>
                  <a:tcPr marL="43118" marR="43118" marT="43118" marB="43118" anchor="ctr"/>
                </a:tc>
                <a:tc>
                  <a:txBody>
                    <a:bodyPr/>
                    <a:lstStyle/>
                    <a:p>
                      <a:pPr algn="ctr"/>
                      <a:r>
                        <a:rPr lang="en-US" sz="1600" b="0" dirty="0">
                          <a:effectLst/>
                        </a:rPr>
                        <a:t>…</a:t>
                      </a:r>
                      <a:endParaRPr lang="en-US" sz="1600" b="0" dirty="0">
                        <a:effectLst/>
                      </a:endParaRPr>
                    </a:p>
                  </a:txBody>
                  <a:tcPr marL="43118" marR="43118" marT="43118" marB="43118" anchor="ctr">
                    <a:solidFill>
                      <a:srgbClr val="92D050"/>
                    </a:solidFill>
                  </a:tcPr>
                </a:tc>
              </a:tr>
            </a:tbl>
          </a:graphicData>
        </a:graphic>
      </p:graphicFrame>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graphicFrame>
        <p:nvGraphicFramePr>
          <p:cNvPr id="11" name="Table 10"/>
          <p:cNvGraphicFramePr>
            <a:graphicFrameLocks noGrp="1"/>
          </p:cNvGraphicFramePr>
          <p:nvPr/>
        </p:nvGraphicFramePr>
        <p:xfrm>
          <a:off x="6345423" y="1214085"/>
          <a:ext cx="5008377" cy="2261665"/>
        </p:xfrm>
        <a:graphic>
          <a:graphicData uri="http://schemas.openxmlformats.org/drawingml/2006/table">
            <a:tbl>
              <a:tblPr firstRow="1" bandRow="1">
                <a:tableStyleId>{5C22544A-7EE6-4342-B048-85BDC9FD1C3A}</a:tableStyleId>
              </a:tblPr>
              <a:tblGrid>
                <a:gridCol w="1669459"/>
                <a:gridCol w="1669459"/>
                <a:gridCol w="1669459"/>
              </a:tblGrid>
              <a:tr h="582950">
                <a:tc>
                  <a:txBody>
                    <a:bodyPr/>
                    <a:lstStyle/>
                    <a:p>
                      <a:pPr algn="ctr"/>
                      <a:r>
                        <a:rPr lang="en-US" sz="1600" b="1" i="0" dirty="0">
                          <a:effectLst/>
                        </a:rPr>
                        <a:t>DIVISION</a:t>
                      </a:r>
                      <a:endParaRPr lang="en-US" sz="1600" b="1" i="0" dirty="0">
                        <a:effectLst/>
                      </a:endParaRPr>
                    </a:p>
                  </a:txBody>
                  <a:tcPr marL="43118" marR="43118" marT="43118" marB="43118" anchor="ctr"/>
                </a:tc>
                <a:tc>
                  <a:txBody>
                    <a:bodyPr/>
                    <a:lstStyle/>
                    <a:p>
                      <a:pPr algn="ctr"/>
                      <a:r>
                        <a:rPr lang="en-US" sz="1600" b="1" i="0" dirty="0">
                          <a:effectLst/>
                        </a:rPr>
                        <a:t>RESULT</a:t>
                      </a:r>
                      <a:endParaRPr lang="en-US" sz="1600" b="1" i="0" dirty="0">
                        <a:effectLst/>
                      </a:endParaRPr>
                    </a:p>
                  </a:txBody>
                  <a:tcPr marL="43118" marR="43118" marT="43118" marB="43118" anchor="ctr"/>
                </a:tc>
                <a:tc>
                  <a:txBody>
                    <a:bodyPr/>
                    <a:lstStyle/>
                    <a:p>
                      <a:pPr algn="ctr"/>
                      <a:r>
                        <a:rPr lang="en-US" sz="1600" b="1" i="0" dirty="0">
                          <a:effectLst/>
                        </a:rPr>
                        <a:t>REMAINDER</a:t>
                      </a:r>
                      <a:endParaRPr lang="en-US" sz="1600" b="1" i="0" dirty="0">
                        <a:effectLst/>
                      </a:endParaRPr>
                    </a:p>
                    <a:p>
                      <a:pPr algn="ctr"/>
                      <a:r>
                        <a:rPr lang="en-US" sz="1600" b="1" i="0" dirty="0">
                          <a:effectLst/>
                        </a:rPr>
                        <a:t>(in HEX)</a:t>
                      </a:r>
                      <a:endParaRPr lang="en-US" sz="1600" b="1" i="0" dirty="0">
                        <a:effectLst/>
                      </a:endParaRPr>
                    </a:p>
                  </a:txBody>
                  <a:tcPr marL="43118" marR="43118" marT="43118" marB="43118" anchor="ctr">
                    <a:solidFill>
                      <a:srgbClr val="92D050"/>
                    </a:solidFill>
                  </a:tcPr>
                </a:tc>
              </a:tr>
              <a:tr h="335743">
                <a:tc>
                  <a:txBody>
                    <a:bodyPr/>
                    <a:lstStyle/>
                    <a:p>
                      <a:pPr algn="ctr"/>
                      <a:r>
                        <a:rPr lang="nl-NL" sz="1600" dirty="0"/>
                        <a:t>8.421.504</a:t>
                      </a:r>
                      <a:r>
                        <a:rPr lang="en-US" sz="1600" b="0" dirty="0">
                          <a:effectLst/>
                        </a:rPr>
                        <a:t>/16</a:t>
                      </a:r>
                      <a:endParaRPr lang="en-US" sz="1600" b="0" dirty="0">
                        <a:effectLst/>
                      </a:endParaRPr>
                    </a:p>
                  </a:txBody>
                  <a:tcPr marL="43118" marR="43118" marT="43118" marB="43118"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526.344</a:t>
                      </a:r>
                      <a:endParaRPr lang="en-US" sz="1600" b="0" dirty="0">
                        <a:effectLst/>
                      </a:endParaRPr>
                    </a:p>
                  </a:txBody>
                  <a:tcPr marL="43118" marR="43118" marT="43118" marB="43118" anchor="ctr"/>
                </a:tc>
                <a:tc>
                  <a:txBody>
                    <a:bodyPr/>
                    <a:lstStyle/>
                    <a:p>
                      <a:pPr algn="ctr"/>
                      <a:r>
                        <a:rPr lang="en-US" sz="1600" b="0" dirty="0">
                          <a:effectLst/>
                        </a:rPr>
                        <a:t>0 (0 in Decimal)</a:t>
                      </a:r>
                      <a:endParaRPr lang="en-US" sz="1600" b="0" dirty="0">
                        <a:effectLst/>
                      </a:endParaRPr>
                    </a:p>
                  </a:txBody>
                  <a:tcPr marL="43118" marR="43118" marT="43118" marB="43118" anchor="ctr">
                    <a:solidFill>
                      <a:srgbClr val="92D050"/>
                    </a:solidFill>
                  </a:tcPr>
                </a:tc>
              </a:tr>
              <a:tr h="3357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526.344/16</a:t>
                      </a:r>
                      <a:endParaRPr lang="en-US" sz="1600" b="0" dirty="0">
                        <a:effectLst/>
                      </a:endParaRPr>
                    </a:p>
                  </a:txBody>
                  <a:tcPr marL="43118" marR="43118" marT="43118" marB="43118" anchor="ctr"/>
                </a:tc>
                <a:tc>
                  <a:txBody>
                    <a:bodyPr/>
                    <a:lstStyle/>
                    <a:p>
                      <a:pPr algn="ctr"/>
                      <a:r>
                        <a:rPr lang="en-US" sz="1600" b="0" dirty="0">
                          <a:effectLst/>
                        </a:rPr>
                        <a:t>32.896</a:t>
                      </a:r>
                      <a:endParaRPr lang="en-US" sz="1600" b="0" dirty="0">
                        <a:effectLst/>
                      </a:endParaRPr>
                    </a:p>
                  </a:txBody>
                  <a:tcPr marL="43118" marR="43118" marT="43118" marB="43118"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8 (8 in Decimal)</a:t>
                      </a:r>
                      <a:endParaRPr lang="en-US" sz="1600" b="0" dirty="0">
                        <a:effectLst/>
                      </a:endParaRPr>
                    </a:p>
                  </a:txBody>
                  <a:tcPr marL="43118" marR="43118" marT="43118" marB="43118" anchor="ctr">
                    <a:solidFill>
                      <a:srgbClr val="92D050"/>
                    </a:solidFill>
                  </a:tcPr>
                </a:tc>
              </a:tr>
              <a:tr h="3357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32.896/16</a:t>
                      </a:r>
                      <a:endParaRPr lang="en-US" sz="1600" b="0" dirty="0">
                        <a:effectLst/>
                      </a:endParaRPr>
                    </a:p>
                  </a:txBody>
                  <a:tcPr marL="43118" marR="43118" marT="43118" marB="43118" anchor="ctr"/>
                </a:tc>
                <a:tc>
                  <a:txBody>
                    <a:bodyPr/>
                    <a:lstStyle/>
                    <a:p>
                      <a:pPr algn="ctr"/>
                      <a:r>
                        <a:rPr lang="en-US" sz="1600" b="0" dirty="0">
                          <a:effectLst/>
                        </a:rPr>
                        <a:t>2.056</a:t>
                      </a:r>
                      <a:endParaRPr lang="en-US" sz="1600" b="0" dirty="0">
                        <a:effectLst/>
                      </a:endParaRPr>
                    </a:p>
                  </a:txBody>
                  <a:tcPr marL="43118" marR="43118" marT="43118" marB="43118"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0</a:t>
                      </a:r>
                      <a:r>
                        <a:rPr lang="en-US" sz="1600" b="0" baseline="0" dirty="0">
                          <a:effectLst/>
                        </a:rPr>
                        <a:t> (0 in Decimal)</a:t>
                      </a:r>
                      <a:endParaRPr lang="en-US" sz="1600" b="0" dirty="0">
                        <a:effectLst/>
                      </a:endParaRPr>
                    </a:p>
                  </a:txBody>
                  <a:tcPr marL="43118" marR="43118" marT="43118" marB="43118" anchor="ctr">
                    <a:solidFill>
                      <a:srgbClr val="92D050"/>
                    </a:solidFill>
                  </a:tcPr>
                </a:tc>
              </a:tr>
              <a:tr h="3357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2.056/16</a:t>
                      </a:r>
                      <a:endParaRPr lang="en-US" sz="1600" b="0" dirty="0">
                        <a:effectLst/>
                      </a:endParaRPr>
                    </a:p>
                  </a:txBody>
                  <a:tcPr marL="43118" marR="43118" marT="43118" marB="43118" anchor="ctr"/>
                </a:tc>
                <a:tc>
                  <a:txBody>
                    <a:bodyPr/>
                    <a:lstStyle/>
                    <a:p>
                      <a:pPr algn="ctr"/>
                      <a:r>
                        <a:rPr lang="en-US" sz="1600" b="0" dirty="0">
                          <a:effectLst/>
                        </a:rPr>
                        <a:t>128</a:t>
                      </a:r>
                      <a:endParaRPr lang="en-US" sz="1600" b="0" dirty="0">
                        <a:effectLst/>
                      </a:endParaRPr>
                    </a:p>
                  </a:txBody>
                  <a:tcPr marL="43118" marR="43118" marT="43118" marB="43118"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8</a:t>
                      </a:r>
                      <a:r>
                        <a:rPr lang="en-US" sz="1600" b="0" baseline="0" dirty="0">
                          <a:effectLst/>
                        </a:rPr>
                        <a:t> (8 in Decimal)</a:t>
                      </a:r>
                      <a:endParaRPr lang="en-US" sz="1600" b="0" dirty="0">
                        <a:effectLst/>
                      </a:endParaRPr>
                    </a:p>
                  </a:txBody>
                  <a:tcPr marL="43118" marR="43118" marT="43118" marB="43118" anchor="ctr">
                    <a:solidFill>
                      <a:srgbClr val="92D050"/>
                    </a:solidFill>
                  </a:tcPr>
                </a:tc>
              </a:tr>
              <a:tr h="33574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a:t>
                      </a:r>
                      <a:endParaRPr lang="en-US" sz="1600" b="0" dirty="0">
                        <a:effectLst/>
                      </a:endParaRPr>
                    </a:p>
                  </a:txBody>
                  <a:tcPr marL="43118" marR="43118" marT="43118" marB="43118" anchor="ctr"/>
                </a:tc>
                <a:tc>
                  <a:txBody>
                    <a:bodyPr/>
                    <a:lstStyle/>
                    <a:p>
                      <a:pPr algn="ctr"/>
                      <a:r>
                        <a:rPr lang="en-US" sz="1600" b="0" dirty="0">
                          <a:effectLst/>
                        </a:rPr>
                        <a:t>…</a:t>
                      </a:r>
                      <a:endParaRPr lang="en-US" sz="1600" b="0" dirty="0">
                        <a:effectLst/>
                      </a:endParaRPr>
                    </a:p>
                  </a:txBody>
                  <a:tcPr marL="43118" marR="43118" marT="43118" marB="43118"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b="0" dirty="0">
                          <a:effectLst/>
                        </a:rPr>
                        <a:t>…</a:t>
                      </a:r>
                      <a:endParaRPr lang="en-US" sz="1600" b="0" dirty="0">
                        <a:effectLst/>
                      </a:endParaRPr>
                    </a:p>
                  </a:txBody>
                  <a:tcPr marL="43118" marR="43118" marT="43118" marB="43118" anchor="ctr">
                    <a:solidFill>
                      <a:srgbClr val="92D050"/>
                    </a:solidFill>
                  </a:tcPr>
                </a:tc>
              </a:tr>
            </a:tbl>
          </a:graphicData>
        </a:graphic>
      </p:graphicFrame>
      <mc:AlternateContent xmlns:mc="http://schemas.openxmlformats.org/markup-compatibility/2006">
        <mc:Choice xmlns:a14="http://schemas.microsoft.com/office/drawing/2010/main" Requires="a14">
          <p:sp>
            <p:nvSpPr>
              <p:cNvPr id="6" name="Rectangle 5"/>
              <p:cNvSpPr/>
              <p:nvPr/>
            </p:nvSpPr>
            <p:spPr>
              <a:xfrm>
                <a:off x="922866" y="587651"/>
                <a:ext cx="4044890" cy="369332"/>
              </a:xfrm>
              <a:prstGeom prst="rect">
                <a:avLst/>
              </a:prstGeom>
            </p:spPr>
            <p:txBody>
              <a:bodyPr wrap="none">
                <a:spAutoFit/>
              </a:bodyPr>
              <a:lstStyle/>
              <a:p>
                <a:r>
                  <a:rPr lang="nl-NL" dirty="0"/>
                  <a:t>Convert to binary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m:rPr>
                            <m:nor/>
                          </m:rPr>
                          <a:rPr lang="nl-NL" dirty="0">
                            <a:latin typeface="Cambria Math" panose="02040503050406030204" pitchFamily="18" charset="0"/>
                          </a:rPr>
                          <m:t>8</m:t>
                        </m:r>
                        <m:r>
                          <m:rPr>
                            <m:nor/>
                          </m:rPr>
                          <a:rPr lang="nl-NL" dirty="0">
                            <a:latin typeface="Cambria Math" panose="02040503050406030204" pitchFamily="18" charset="0"/>
                          </a:rPr>
                          <m:t>.</m:t>
                        </m:r>
                        <m:r>
                          <m:rPr>
                            <m:nor/>
                          </m:rPr>
                          <a:rPr lang="nl-NL" dirty="0">
                            <a:latin typeface="Cambria Math" panose="02040503050406030204" pitchFamily="18" charset="0"/>
                          </a:rPr>
                          <m:t>421</m:t>
                        </m:r>
                        <m:r>
                          <m:rPr>
                            <m:nor/>
                          </m:rPr>
                          <a:rPr lang="nl-NL" dirty="0">
                            <a:latin typeface="Cambria Math" panose="02040503050406030204" pitchFamily="18" charset="0"/>
                          </a:rPr>
                          <m:t>.</m:t>
                        </m:r>
                        <m:r>
                          <m:rPr>
                            <m:nor/>
                          </m:rPr>
                          <a:rPr lang="nl-NL" dirty="0">
                            <a:latin typeface="Cambria Math" panose="02040503050406030204" pitchFamily="18" charset="0"/>
                          </a:rPr>
                          <m:t>504</m:t>
                        </m:r>
                        <m:r>
                          <a:rPr lang="en-US" i="1">
                            <a:latin typeface="Cambria Math" panose="02040503050406030204" pitchFamily="18" charset="0"/>
                          </a:rPr>
                          <m:t>)</m:t>
                        </m:r>
                      </m:e>
                      <m:sub>
                        <m:r>
                          <a:rPr lang="en-US" i="1">
                            <a:latin typeface="Cambria Math" panose="02040503050406030204" pitchFamily="18" charset="0"/>
                          </a:rPr>
                          <m:t>10</m:t>
                        </m:r>
                      </m:sub>
                    </m:sSub>
                  </m:oMath>
                </a14:m>
                <a:r>
                  <a:rPr lang="nl-NL"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m:t>
                        </m:r>
                      </m:e>
                      <m:sub>
                        <m:r>
                          <a:rPr lang="en-US" i="1">
                            <a:latin typeface="Cambria Math" panose="02040503050406030204" pitchFamily="18" charset="0"/>
                          </a:rPr>
                          <m:t>2</m:t>
                        </m:r>
                      </m:sub>
                    </m:sSub>
                  </m:oMath>
                </a14:m>
                <a:endParaRPr lang="en-US" dirty="0"/>
              </a:p>
            </p:txBody>
          </p:sp>
        </mc:Choice>
        <mc:Fallback>
          <p:sp>
            <p:nvSpPr>
              <p:cNvPr id="6" name="Rectangle 5"/>
              <p:cNvSpPr>
                <a:spLocks noRot="1" noChangeAspect="1" noMove="1" noResize="1" noEditPoints="1" noAdjustHandles="1" noChangeArrowheads="1" noChangeShapeType="1" noTextEdit="1"/>
              </p:cNvSpPr>
              <p:nvPr/>
            </p:nvSpPr>
            <p:spPr>
              <a:xfrm>
                <a:off x="922866" y="587651"/>
                <a:ext cx="4044890" cy="369332"/>
              </a:xfrm>
              <a:prstGeom prst="rect">
                <a:avLst/>
              </a:prstGeom>
              <a:blipFill rotWithShape="1">
                <a:blip r:embed="rId3"/>
                <a:stretch>
                  <a:fillRect l="-5" t="-75" r="4" b="10"/>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2" name="Rectangle 11"/>
              <p:cNvSpPr/>
              <p:nvPr/>
            </p:nvSpPr>
            <p:spPr>
              <a:xfrm>
                <a:off x="6345423" y="582372"/>
                <a:ext cx="4675511" cy="369332"/>
              </a:xfrm>
              <a:prstGeom prst="rect">
                <a:avLst/>
              </a:prstGeom>
            </p:spPr>
            <p:txBody>
              <a:bodyPr wrap="none">
                <a:spAutoFit/>
              </a:bodyPr>
              <a:lstStyle/>
              <a:p>
                <a:r>
                  <a:rPr lang="nl-NL" dirty="0"/>
                  <a:t>Convert to hexadecimal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m:rPr>
                            <m:nor/>
                          </m:rPr>
                          <a:rPr lang="nl-NL" dirty="0">
                            <a:latin typeface="Cambria Math" panose="02040503050406030204" pitchFamily="18" charset="0"/>
                          </a:rPr>
                          <m:t>8</m:t>
                        </m:r>
                        <m:r>
                          <m:rPr>
                            <m:nor/>
                          </m:rPr>
                          <a:rPr lang="nl-NL" dirty="0">
                            <a:latin typeface="Cambria Math" panose="02040503050406030204" pitchFamily="18" charset="0"/>
                          </a:rPr>
                          <m:t>.</m:t>
                        </m:r>
                        <m:r>
                          <m:rPr>
                            <m:nor/>
                          </m:rPr>
                          <a:rPr lang="nl-NL" dirty="0">
                            <a:latin typeface="Cambria Math" panose="02040503050406030204" pitchFamily="18" charset="0"/>
                          </a:rPr>
                          <m:t>421</m:t>
                        </m:r>
                        <m:r>
                          <m:rPr>
                            <m:nor/>
                          </m:rPr>
                          <a:rPr lang="nl-NL" dirty="0">
                            <a:latin typeface="Cambria Math" panose="02040503050406030204" pitchFamily="18" charset="0"/>
                          </a:rPr>
                          <m:t>.</m:t>
                        </m:r>
                        <m:r>
                          <m:rPr>
                            <m:nor/>
                          </m:rPr>
                          <a:rPr lang="nl-NL" dirty="0">
                            <a:latin typeface="Cambria Math" panose="02040503050406030204" pitchFamily="18" charset="0"/>
                          </a:rPr>
                          <m:t>504</m:t>
                        </m:r>
                        <m:r>
                          <a:rPr lang="en-US" i="1">
                            <a:latin typeface="Cambria Math" panose="02040503050406030204" pitchFamily="18" charset="0"/>
                          </a:rPr>
                          <m:t>)</m:t>
                        </m:r>
                      </m:e>
                      <m:sub>
                        <m:r>
                          <a:rPr lang="en-US" i="1">
                            <a:latin typeface="Cambria Math" panose="02040503050406030204" pitchFamily="18" charset="0"/>
                          </a:rPr>
                          <m:t>10</m:t>
                        </m:r>
                      </m:sub>
                    </m:sSub>
                  </m:oMath>
                </a14:m>
                <a:r>
                  <a:rPr lang="nl-NL"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m:t>
                        </m:r>
                      </m:e>
                      <m:sub>
                        <m:r>
                          <a:rPr lang="en-US" b="0" i="1" smtClean="0">
                            <a:latin typeface="Cambria Math" panose="02040503050406030204" pitchFamily="18" charset="0"/>
                          </a:rPr>
                          <m:t>16</m:t>
                        </m:r>
                      </m:sub>
                    </m:sSub>
                  </m:oMath>
                </a14:m>
                <a:endParaRPr lang="en-US" dirty="0"/>
              </a:p>
            </p:txBody>
          </p:sp>
        </mc:Choice>
        <mc:Fallback>
          <p:sp>
            <p:nvSpPr>
              <p:cNvPr id="12" name="Rectangle 11"/>
              <p:cNvSpPr>
                <a:spLocks noRot="1" noChangeAspect="1" noMove="1" noResize="1" noEditPoints="1" noAdjustHandles="1" noChangeArrowheads="1" noChangeShapeType="1" noTextEdit="1"/>
              </p:cNvSpPr>
              <p:nvPr/>
            </p:nvSpPr>
            <p:spPr>
              <a:xfrm>
                <a:off x="6345423" y="582372"/>
                <a:ext cx="4675511" cy="369332"/>
              </a:xfrm>
              <a:prstGeom prst="rect">
                <a:avLst/>
              </a:prstGeom>
              <a:blipFill rotWithShape="1">
                <a:blip r:embed="rId4"/>
                <a:stretch>
                  <a:fillRect l="-11" t="-21" r="11" b="128"/>
                </a:stretch>
              </a:blipFill>
            </p:spPr>
            <p:txBody>
              <a:bodyPr/>
              <a:lstStyle/>
              <a:p>
                <a:r>
                  <a:rPr lang="en-US" altLang="en-US">
                    <a:noFill/>
                  </a:rPr>
                  <a:t> </a:t>
                </a:r>
              </a:p>
            </p:txBody>
          </p:sp>
        </mc:Fallback>
      </mc:AlternateContent>
      <p:graphicFrame>
        <p:nvGraphicFramePr>
          <p:cNvPr id="14" name="Content Placeholder 6"/>
          <p:cNvGraphicFramePr/>
          <p:nvPr/>
        </p:nvGraphicFramePr>
        <p:xfrm>
          <a:off x="838200" y="4848502"/>
          <a:ext cx="10515600" cy="370840"/>
        </p:xfrm>
        <a:graphic>
          <a:graphicData uri="http://schemas.openxmlformats.org/drawingml/2006/table">
            <a:tbl>
              <a:tblPr firstRow="1" bandRow="1">
                <a:tableStyleId>{5C22544A-7EE6-4342-B048-85BDC9FD1C3A}</a:tableStyleId>
              </a:tblPr>
              <a:tblGrid>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gridCol w="438150"/>
              </a:tblGrid>
              <a:tr h="370840">
                <a:tc>
                  <a:txBody>
                    <a:bodyPr/>
                    <a:lstStyle/>
                    <a:p>
                      <a:pPr algn="ctr"/>
                      <a:r>
                        <a:rPr lang="en-US" dirty="0"/>
                        <a:t>1</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1</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1</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c>
                  <a:txBody>
                    <a:bodyPr/>
                    <a:lstStyle/>
                    <a:p>
                      <a:pPr algn="ctr"/>
                      <a:r>
                        <a:rPr lang="en-US" dirty="0"/>
                        <a:t>0</a:t>
                      </a:r>
                      <a:endParaRPr lang="en-US" dirty="0"/>
                    </a:p>
                  </a:txBody>
                  <a:tcPr/>
                </a:tc>
              </a:tr>
            </a:tbl>
          </a:graphicData>
        </a:graphic>
      </p:graphicFrame>
      <p:graphicFrame>
        <p:nvGraphicFramePr>
          <p:cNvPr id="15" name="Content Placeholder 6"/>
          <p:cNvGraphicFramePr/>
          <p:nvPr/>
        </p:nvGraphicFramePr>
        <p:xfrm>
          <a:off x="838200" y="5479204"/>
          <a:ext cx="10515600" cy="37084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370840">
                <a:tc>
                  <a:txBody>
                    <a:bodyPr/>
                    <a:lstStyle/>
                    <a:p>
                      <a:pPr algn="ctr"/>
                      <a:r>
                        <a:rPr lang="en-US" dirty="0"/>
                        <a:t>8</a:t>
                      </a:r>
                      <a:endParaRPr lang="en-US" dirty="0"/>
                    </a:p>
                  </a:txBody>
                  <a:tcPr>
                    <a:solidFill>
                      <a:srgbClr val="FF0000"/>
                    </a:solidFill>
                  </a:tcPr>
                </a:tc>
                <a:tc>
                  <a:txBody>
                    <a:bodyPr/>
                    <a:lstStyle/>
                    <a:p>
                      <a:pPr algn="ctr"/>
                      <a:r>
                        <a:rPr lang="en-US" dirty="0"/>
                        <a:t>0</a:t>
                      </a:r>
                      <a:endParaRPr lang="en-US" dirty="0"/>
                    </a:p>
                  </a:txBody>
                  <a:tcPr>
                    <a:solidFill>
                      <a:srgbClr val="FF0000"/>
                    </a:solidFill>
                  </a:tcPr>
                </a:tc>
                <a:tc>
                  <a:txBody>
                    <a:bodyPr/>
                    <a:lstStyle/>
                    <a:p>
                      <a:pPr algn="ctr"/>
                      <a:r>
                        <a:rPr lang="en-US" dirty="0"/>
                        <a:t>8</a:t>
                      </a:r>
                      <a:endParaRPr lang="en-US" dirty="0"/>
                    </a:p>
                  </a:txBody>
                  <a:tcPr>
                    <a:solidFill>
                      <a:srgbClr val="92D050"/>
                    </a:solidFill>
                  </a:tcPr>
                </a:tc>
                <a:tc>
                  <a:txBody>
                    <a:bodyPr/>
                    <a:lstStyle/>
                    <a:p>
                      <a:pPr algn="ctr"/>
                      <a:r>
                        <a:rPr lang="en-US" dirty="0"/>
                        <a:t>0</a:t>
                      </a:r>
                      <a:endParaRPr lang="en-US" dirty="0"/>
                    </a:p>
                  </a:txBody>
                  <a:tcPr>
                    <a:solidFill>
                      <a:srgbClr val="92D050"/>
                    </a:solidFill>
                  </a:tcPr>
                </a:tc>
                <a:tc>
                  <a:txBody>
                    <a:bodyPr/>
                    <a:lstStyle/>
                    <a:p>
                      <a:pPr algn="ctr"/>
                      <a:r>
                        <a:rPr lang="en-US" dirty="0"/>
                        <a:t>8</a:t>
                      </a:r>
                      <a:endParaRPr lang="en-US" dirty="0"/>
                    </a:p>
                  </a:txBody>
                  <a:tcPr/>
                </a:tc>
                <a:tc>
                  <a:txBody>
                    <a:bodyPr/>
                    <a:lstStyle/>
                    <a:p>
                      <a:pPr algn="ctr"/>
                      <a:r>
                        <a:rPr lang="en-US" dirty="0"/>
                        <a:t>0</a:t>
                      </a:r>
                      <a:endParaRPr lang="en-US" dirty="0"/>
                    </a:p>
                  </a:txBody>
                  <a:tcPr/>
                </a:tc>
              </a:tr>
            </a:tbl>
          </a:graphicData>
        </a:graphic>
      </p:graphicFrame>
      <p:sp>
        <p:nvSpPr>
          <p:cNvPr id="18" name="Rectangle 17"/>
          <p:cNvSpPr/>
          <p:nvPr/>
        </p:nvSpPr>
        <p:spPr>
          <a:xfrm>
            <a:off x="797605" y="4009713"/>
            <a:ext cx="6096000" cy="646331"/>
          </a:xfrm>
          <a:prstGeom prst="rect">
            <a:avLst/>
          </a:prstGeom>
        </p:spPr>
        <p:txBody>
          <a:bodyPr>
            <a:spAutoFit/>
          </a:bodyPr>
          <a:lstStyle/>
          <a:p>
            <a:r>
              <a:rPr lang="nl-NL" dirty="0"/>
              <a:t>Change into 24 bits</a:t>
            </a:r>
            <a:endParaRPr lang="nl-NL" dirty="0"/>
          </a:p>
          <a:p>
            <a:r>
              <a:rPr lang="nl-NL" b="1" dirty="0"/>
              <a:t>#808080</a:t>
            </a:r>
            <a:endParaRPr lang="en-US" b="1" dirty="0"/>
          </a:p>
        </p:txBody>
      </p:sp>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2000" dirty="0"/>
              <a:t>The R,G,B values are divided by 255, to change the range from 0 … 255 to 0 ... 1:</a:t>
            </a:r>
            <a:endParaRPr lang="en-US" sz="2000" dirty="0"/>
          </a:p>
          <a:p>
            <a:pPr marL="0" indent="0">
              <a:buNone/>
            </a:pPr>
            <a:endParaRPr lang="en-US" sz="2000" dirty="0"/>
          </a:p>
          <a:p>
            <a:pPr marL="0" indent="0">
              <a:buNone/>
            </a:pPr>
            <a:r>
              <a:rPr lang="en-US" sz="2000" b="1" dirty="0">
                <a:solidFill>
                  <a:srgbClr val="FF0000"/>
                </a:solidFill>
              </a:rPr>
              <a:t>R’</a:t>
            </a:r>
            <a:r>
              <a:rPr lang="en-US" sz="2000" dirty="0"/>
              <a:t> 	= </a:t>
            </a:r>
            <a:r>
              <a:rPr lang="en-US" sz="2000" b="1" dirty="0">
                <a:solidFill>
                  <a:srgbClr val="FF0000"/>
                </a:solidFill>
              </a:rPr>
              <a:t>R</a:t>
            </a:r>
            <a:r>
              <a:rPr lang="en-US" sz="2000" dirty="0"/>
              <a:t>/255</a:t>
            </a:r>
            <a:endParaRPr lang="en-US" sz="2000" dirty="0"/>
          </a:p>
          <a:p>
            <a:pPr marL="0" indent="0">
              <a:buNone/>
            </a:pPr>
            <a:r>
              <a:rPr lang="en-US" sz="2000" b="1" dirty="0">
                <a:solidFill>
                  <a:srgbClr val="92D050"/>
                </a:solidFill>
              </a:rPr>
              <a:t>G’</a:t>
            </a:r>
            <a:r>
              <a:rPr lang="en-US" sz="2000" dirty="0"/>
              <a:t> 	= </a:t>
            </a:r>
            <a:r>
              <a:rPr lang="en-US" sz="2000" b="1" dirty="0">
                <a:solidFill>
                  <a:srgbClr val="92D050"/>
                </a:solidFill>
              </a:rPr>
              <a:t>G</a:t>
            </a:r>
            <a:r>
              <a:rPr lang="en-US" sz="2000" dirty="0"/>
              <a:t>/255</a:t>
            </a:r>
            <a:endParaRPr lang="en-US" sz="2000" dirty="0"/>
          </a:p>
          <a:p>
            <a:pPr marL="0" indent="0">
              <a:buNone/>
            </a:pPr>
            <a:r>
              <a:rPr lang="en-US" sz="2000" b="1" dirty="0">
                <a:solidFill>
                  <a:schemeClr val="accent5"/>
                </a:solidFill>
              </a:rPr>
              <a:t>B’</a:t>
            </a:r>
            <a:r>
              <a:rPr lang="en-US" sz="2000" dirty="0"/>
              <a:t> 	= </a:t>
            </a:r>
            <a:r>
              <a:rPr lang="en-US" sz="2000" b="1" dirty="0">
                <a:solidFill>
                  <a:schemeClr val="accent5"/>
                </a:solidFill>
              </a:rPr>
              <a:t>B</a:t>
            </a:r>
            <a:r>
              <a:rPr lang="en-US" sz="2000" dirty="0"/>
              <a:t>/255</a:t>
            </a:r>
            <a:endParaRPr lang="en-US" sz="20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US" sz="4400" dirty="0"/>
          </a:p>
          <a:p>
            <a:pPr marL="0" indent="0" algn="ctr">
              <a:buNone/>
            </a:pPr>
            <a:endParaRPr lang="en-US" sz="4400" dirty="0"/>
          </a:p>
          <a:p>
            <a:pPr marL="0" indent="0" algn="ctr">
              <a:buNone/>
            </a:pPr>
            <a:r>
              <a:rPr lang="en-US" sz="4400" dirty="0"/>
              <a:t>3. CMYK</a:t>
            </a:r>
            <a:endParaRPr lang="en-US" sz="44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b="1" dirty="0">
                <a:solidFill>
                  <a:srgbClr val="33CCFF"/>
                </a:solidFill>
              </a:rPr>
              <a:t>C</a:t>
            </a:r>
            <a:r>
              <a:rPr lang="en-US" b="1" dirty="0">
                <a:solidFill>
                  <a:srgbClr val="FF66CC"/>
                </a:solidFill>
              </a:rPr>
              <a:t>M</a:t>
            </a:r>
            <a:r>
              <a:rPr lang="en-US" b="1" dirty="0">
                <a:solidFill>
                  <a:schemeClr val="accent4">
                    <a:lumMod val="60000"/>
                    <a:lumOff val="40000"/>
                  </a:schemeClr>
                </a:solidFill>
              </a:rPr>
              <a:t>Y</a:t>
            </a:r>
            <a:r>
              <a:rPr lang="en-US" b="1" dirty="0"/>
              <a:t>K</a:t>
            </a:r>
            <a:endParaRPr lang="en-US" b="1" dirty="0"/>
          </a:p>
        </p:txBody>
      </p:sp>
      <p:sp>
        <p:nvSpPr>
          <p:cNvPr id="3" name="Content Placeholder 2"/>
          <p:cNvSpPr>
            <a:spLocks noGrp="1"/>
          </p:cNvSpPr>
          <p:nvPr>
            <p:ph idx="1"/>
          </p:nvPr>
        </p:nvSpPr>
        <p:spPr>
          <a:xfrm>
            <a:off x="838200" y="1825625"/>
            <a:ext cx="5543550" cy="4351338"/>
          </a:xfrm>
        </p:spPr>
        <p:txBody>
          <a:bodyPr>
            <a:normAutofit/>
          </a:bodyPr>
          <a:lstStyle/>
          <a:p>
            <a:pPr marL="0" indent="0">
              <a:buNone/>
            </a:pPr>
            <a:r>
              <a:rPr lang="en-US" sz="2400" b="1" dirty="0">
                <a:solidFill>
                  <a:srgbClr val="33CCFF"/>
                </a:solidFill>
              </a:rPr>
              <a:t>C</a:t>
            </a:r>
            <a:r>
              <a:rPr lang="en-US" sz="2400" b="1" dirty="0">
                <a:solidFill>
                  <a:srgbClr val="FF66CC"/>
                </a:solidFill>
              </a:rPr>
              <a:t>M</a:t>
            </a:r>
            <a:r>
              <a:rPr lang="en-US" sz="2400" b="1" dirty="0">
                <a:solidFill>
                  <a:schemeClr val="accent4">
                    <a:lumMod val="60000"/>
                    <a:lumOff val="40000"/>
                  </a:schemeClr>
                </a:solidFill>
              </a:rPr>
              <a:t>Y</a:t>
            </a:r>
            <a:r>
              <a:rPr lang="en-US" sz="2400" b="1" dirty="0"/>
              <a:t>K</a:t>
            </a:r>
            <a:r>
              <a:rPr lang="en-US" sz="2400" dirty="0"/>
              <a:t> stands for </a:t>
            </a:r>
            <a:r>
              <a:rPr lang="en-US" sz="2400" b="1" dirty="0">
                <a:solidFill>
                  <a:srgbClr val="33CCFF"/>
                </a:solidFill>
              </a:rPr>
              <a:t>Cyan</a:t>
            </a:r>
            <a:r>
              <a:rPr lang="en-US" sz="2400" dirty="0"/>
              <a:t>, </a:t>
            </a:r>
            <a:r>
              <a:rPr lang="en-US" sz="2400" b="1" dirty="0">
                <a:solidFill>
                  <a:srgbClr val="FF66CC"/>
                </a:solidFill>
              </a:rPr>
              <a:t>Magenta</a:t>
            </a:r>
            <a:r>
              <a:rPr lang="en-US" sz="2400" dirty="0"/>
              <a:t>, </a:t>
            </a:r>
            <a:r>
              <a:rPr lang="en-US" sz="2400" b="1" dirty="0">
                <a:solidFill>
                  <a:srgbClr val="FFC000"/>
                </a:solidFill>
              </a:rPr>
              <a:t>Yellow</a:t>
            </a:r>
            <a:r>
              <a:rPr lang="en-US" sz="2400" dirty="0"/>
              <a:t> and </a:t>
            </a:r>
            <a:r>
              <a:rPr lang="en-US" sz="2400" b="1" dirty="0"/>
              <a:t>Black</a:t>
            </a:r>
            <a:r>
              <a:rPr lang="en-US" sz="2400" dirty="0"/>
              <a:t>. </a:t>
            </a:r>
            <a:endParaRPr lang="en-US" sz="2400" dirty="0"/>
          </a:p>
          <a:p>
            <a:pPr marL="0" indent="0">
              <a:buNone/>
            </a:pPr>
            <a:endParaRPr lang="en-US" sz="2400" b="1" dirty="0">
              <a:solidFill>
                <a:srgbClr val="33CCFF"/>
              </a:solidFill>
            </a:endParaRPr>
          </a:p>
          <a:p>
            <a:pPr marL="0" indent="0">
              <a:buNone/>
            </a:pPr>
            <a:r>
              <a:rPr lang="en-US" sz="2400" b="1" dirty="0">
                <a:solidFill>
                  <a:srgbClr val="33CCFF"/>
                </a:solidFill>
              </a:rPr>
              <a:t>C</a:t>
            </a:r>
            <a:r>
              <a:rPr lang="en-US" sz="2400" b="1" dirty="0">
                <a:solidFill>
                  <a:srgbClr val="FF66CC"/>
                </a:solidFill>
              </a:rPr>
              <a:t>M</a:t>
            </a:r>
            <a:r>
              <a:rPr lang="en-US" sz="2400" b="1" dirty="0">
                <a:solidFill>
                  <a:schemeClr val="accent4">
                    <a:lumMod val="60000"/>
                    <a:lumOff val="40000"/>
                  </a:schemeClr>
                </a:solidFill>
              </a:rPr>
              <a:t>Y</a:t>
            </a:r>
            <a:r>
              <a:rPr lang="en-US" sz="2400" b="1" dirty="0"/>
              <a:t>K</a:t>
            </a:r>
            <a:r>
              <a:rPr lang="en-US" sz="2400" dirty="0"/>
              <a:t> color model is used in electrostatic and ink-jet plotters which deposits the pigmentation on paper. In these model, specified color is subtracted from the white light rather than adding blackness. It follows the Cartesian coordinate system and its subset is a unit cube.</a:t>
            </a:r>
            <a:endParaRPr lang="en-US" sz="24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8701" y="2621466"/>
            <a:ext cx="4235099" cy="2213366"/>
          </a:xfrm>
          <a:prstGeom prst="rect">
            <a:avLst/>
          </a:prstGeom>
        </p:spPr>
      </p:pic>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dirty="0"/>
              <a:t>How does </a:t>
            </a:r>
            <a:r>
              <a:rPr lang="en-US" b="1" dirty="0">
                <a:solidFill>
                  <a:srgbClr val="33CCFF"/>
                </a:solidFill>
              </a:rPr>
              <a:t>C</a:t>
            </a:r>
            <a:r>
              <a:rPr lang="en-US" b="1" dirty="0">
                <a:solidFill>
                  <a:srgbClr val="FF66CC"/>
                </a:solidFill>
              </a:rPr>
              <a:t>M</a:t>
            </a:r>
            <a:r>
              <a:rPr lang="en-US" b="1" dirty="0">
                <a:solidFill>
                  <a:schemeClr val="accent4">
                    <a:lumMod val="60000"/>
                    <a:lumOff val="40000"/>
                  </a:schemeClr>
                </a:solidFill>
              </a:rPr>
              <a:t>Y</a:t>
            </a:r>
            <a:r>
              <a:rPr lang="en-US" b="1" dirty="0"/>
              <a:t>K</a:t>
            </a:r>
            <a:r>
              <a:rPr lang="en-US" dirty="0"/>
              <a:t> Color Work?</a:t>
            </a:r>
            <a:endParaRPr lang="en-US" dirty="0"/>
          </a:p>
        </p:txBody>
      </p:sp>
      <p:sp>
        <p:nvSpPr>
          <p:cNvPr id="3" name="Content Placeholder 2"/>
          <p:cNvSpPr>
            <a:spLocks noGrp="1"/>
          </p:cNvSpPr>
          <p:nvPr>
            <p:ph idx="1"/>
          </p:nvPr>
        </p:nvSpPr>
        <p:spPr>
          <a:xfrm>
            <a:off x="838200" y="1825625"/>
            <a:ext cx="4906498" cy="4351338"/>
          </a:xfrm>
        </p:spPr>
        <p:txBody>
          <a:bodyPr>
            <a:normAutofit fontScale="92500"/>
          </a:bodyPr>
          <a:lstStyle/>
          <a:p>
            <a:pPr marL="0" indent="0">
              <a:buNone/>
            </a:pPr>
            <a:r>
              <a:rPr lang="en-US" sz="2400" dirty="0"/>
              <a:t>The </a:t>
            </a:r>
            <a:r>
              <a:rPr lang="en-US" sz="2400" b="1" dirty="0">
                <a:solidFill>
                  <a:srgbClr val="33CCFF"/>
                </a:solidFill>
              </a:rPr>
              <a:t>C</a:t>
            </a:r>
            <a:r>
              <a:rPr lang="en-US" sz="2400" b="1" dirty="0">
                <a:solidFill>
                  <a:srgbClr val="FF66CC"/>
                </a:solidFill>
              </a:rPr>
              <a:t>M</a:t>
            </a:r>
            <a:r>
              <a:rPr lang="en-US" sz="2400" b="1" dirty="0">
                <a:solidFill>
                  <a:schemeClr val="accent4">
                    <a:lumMod val="60000"/>
                    <a:lumOff val="40000"/>
                  </a:schemeClr>
                </a:solidFill>
              </a:rPr>
              <a:t>Y</a:t>
            </a:r>
            <a:r>
              <a:rPr lang="en-US" sz="2400" b="1" dirty="0"/>
              <a:t>K</a:t>
            </a:r>
            <a:r>
              <a:rPr lang="en-US" sz="2400" dirty="0"/>
              <a:t> color model is based off of the fact that surfaces appear to be certain colors because of the wavelengths of light they </a:t>
            </a:r>
            <a:r>
              <a:rPr lang="en-US" sz="2400" b="1" dirty="0"/>
              <a:t>absorb</a:t>
            </a:r>
            <a:r>
              <a:rPr lang="en-US" sz="2400" dirty="0"/>
              <a:t> and </a:t>
            </a:r>
            <a:r>
              <a:rPr lang="en-US" sz="2400" b="1" dirty="0"/>
              <a:t>reflect</a:t>
            </a:r>
            <a:r>
              <a:rPr lang="en-US" sz="2400" dirty="0"/>
              <a:t>. </a:t>
            </a:r>
            <a:endParaRPr lang="en-US" sz="2400" dirty="0"/>
          </a:p>
          <a:p>
            <a:pPr marL="0" indent="0">
              <a:buNone/>
            </a:pPr>
            <a:endParaRPr lang="en-US" sz="2400" dirty="0"/>
          </a:p>
          <a:p>
            <a:pPr marL="0" indent="0">
              <a:buNone/>
            </a:pPr>
            <a:r>
              <a:rPr lang="en-US" sz="2400" dirty="0"/>
              <a:t>For example, things that appear to be red will only reflect red light. Objects that appear to be white will reflect all wavelengths of light, and objects that appear black absorb all wavelengths (which is why you should avoid wearing black in the summer to stay cool).</a:t>
            </a:r>
            <a:endParaRPr lang="en-US" sz="24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b="8477"/>
          <a:stretch>
            <a:fillRect/>
          </a:stretch>
        </p:blipFill>
        <p:spPr>
          <a:xfrm>
            <a:off x="6194865" y="1825625"/>
            <a:ext cx="5326575" cy="3203575"/>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In theory, the mixture of these three pigments (</a:t>
            </a:r>
            <a:r>
              <a:rPr lang="en-US" b="1" dirty="0">
                <a:solidFill>
                  <a:srgbClr val="33CCFF"/>
                </a:solidFill>
              </a:rPr>
              <a:t>C</a:t>
            </a:r>
            <a:r>
              <a:rPr lang="en-US" b="1" dirty="0">
                <a:solidFill>
                  <a:srgbClr val="FF66CC"/>
                </a:solidFill>
              </a:rPr>
              <a:t>M</a:t>
            </a:r>
            <a:r>
              <a:rPr lang="en-US" b="1" dirty="0">
                <a:solidFill>
                  <a:srgbClr val="FFC000"/>
                </a:solidFill>
              </a:rPr>
              <a:t>Y</a:t>
            </a:r>
            <a:r>
              <a:rPr lang="en-US" dirty="0"/>
              <a:t>) in a balanced size will produce shades of gray, and will become black if all three are fully saturated, but in practice the results tend to be brownish dirty. </a:t>
            </a:r>
            <a:endParaRPr lang="en-US" dirty="0"/>
          </a:p>
          <a:p>
            <a:pPr marL="0" indent="0">
              <a:buNone/>
            </a:pPr>
            <a:endParaRPr lang="en-US" dirty="0"/>
          </a:p>
          <a:p>
            <a:pPr marL="0" indent="0">
              <a:buNone/>
            </a:pPr>
            <a:r>
              <a:rPr lang="en-US" dirty="0"/>
              <a:t>Therefore, the fourth color is often used, namely black, in addition to cyan, magenta and yellow. The resulting color space is then called </a:t>
            </a:r>
            <a:r>
              <a:rPr lang="en-US" b="1" dirty="0">
                <a:solidFill>
                  <a:srgbClr val="33CCFF"/>
                </a:solidFill>
              </a:rPr>
              <a:t>C</a:t>
            </a:r>
            <a:r>
              <a:rPr lang="en-US" b="1" dirty="0">
                <a:solidFill>
                  <a:srgbClr val="FF66CC"/>
                </a:solidFill>
              </a:rPr>
              <a:t>M</a:t>
            </a:r>
            <a:r>
              <a:rPr lang="en-US" b="1" dirty="0">
                <a:solidFill>
                  <a:srgbClr val="FFC000"/>
                </a:solidFill>
              </a:rPr>
              <a:t>Y</a:t>
            </a:r>
            <a:r>
              <a:rPr lang="en-US" b="1" dirty="0"/>
              <a:t>K</a:t>
            </a:r>
            <a:r>
              <a:rPr lang="en-US" dirty="0"/>
              <a:t> (</a:t>
            </a:r>
            <a:r>
              <a:rPr lang="en-US" b="1" dirty="0">
                <a:solidFill>
                  <a:srgbClr val="33CCFF"/>
                </a:solidFill>
              </a:rPr>
              <a:t>Cyan</a:t>
            </a:r>
            <a:r>
              <a:rPr lang="en-US" dirty="0"/>
              <a:t>, </a:t>
            </a:r>
            <a:r>
              <a:rPr lang="en-US" b="1" dirty="0">
                <a:solidFill>
                  <a:srgbClr val="FF66CC"/>
                </a:solidFill>
              </a:rPr>
              <a:t>Magenta</a:t>
            </a:r>
            <a:r>
              <a:rPr lang="en-US" dirty="0"/>
              <a:t>, </a:t>
            </a:r>
            <a:r>
              <a:rPr lang="en-US" b="1" dirty="0">
                <a:solidFill>
                  <a:srgbClr val="FFC000"/>
                </a:solidFill>
              </a:rPr>
              <a:t>Yellow</a:t>
            </a:r>
            <a:r>
              <a:rPr lang="en-US" dirty="0"/>
              <a:t>, </a:t>
            </a:r>
            <a:r>
              <a:rPr lang="en-US" b="1" dirty="0"/>
              <a:t>Black</a:t>
            </a:r>
            <a:r>
              <a:rPr lang="en-US" dirty="0"/>
              <a:t>). Black is called "</a:t>
            </a:r>
            <a:r>
              <a:rPr lang="en-US" b="1" dirty="0"/>
              <a:t>K</a:t>
            </a:r>
            <a:r>
              <a:rPr lang="en-US" dirty="0"/>
              <a:t>" (Key) from the term "key plate" in printing (the printing plate that creates artistic details in the image, usually using the color of black ink).</a:t>
            </a:r>
            <a:endParaRPr lang="en-US" dirty="0"/>
          </a:p>
          <a:p>
            <a:pPr marL="0" indent="0">
              <a:buNone/>
            </a:pPr>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Conversion </a:t>
            </a:r>
            <a:r>
              <a:rPr lang="en-US" b="1" dirty="0">
                <a:solidFill>
                  <a:srgbClr val="33CCFF"/>
                </a:solidFill>
              </a:rPr>
              <a:t>C</a:t>
            </a:r>
            <a:r>
              <a:rPr lang="en-US" b="1" dirty="0">
                <a:solidFill>
                  <a:srgbClr val="FF66CC"/>
                </a:solidFill>
              </a:rPr>
              <a:t>M</a:t>
            </a:r>
            <a:r>
              <a:rPr lang="en-US" b="1" dirty="0">
                <a:solidFill>
                  <a:schemeClr val="accent4">
                    <a:lumMod val="60000"/>
                    <a:lumOff val="40000"/>
                  </a:schemeClr>
                </a:solidFill>
              </a:rPr>
              <a:t>Y</a:t>
            </a:r>
            <a:r>
              <a:rPr lang="en-US" dirty="0"/>
              <a:t> to </a:t>
            </a:r>
            <a:r>
              <a:rPr lang="en-US" b="1" dirty="0">
                <a:solidFill>
                  <a:srgbClr val="33CCFF"/>
                </a:solidFill>
              </a:rPr>
              <a:t>C</a:t>
            </a:r>
            <a:r>
              <a:rPr lang="en-US" b="1" dirty="0">
                <a:solidFill>
                  <a:srgbClr val="FF66CC"/>
                </a:solidFill>
              </a:rPr>
              <a:t>M</a:t>
            </a:r>
            <a:r>
              <a:rPr lang="en-US" b="1" dirty="0">
                <a:solidFill>
                  <a:schemeClr val="accent4">
                    <a:lumMod val="60000"/>
                    <a:lumOff val="40000"/>
                  </a:schemeClr>
                </a:solidFill>
              </a:rPr>
              <a:t>Y</a:t>
            </a:r>
            <a:r>
              <a:rPr lang="en-US" b="1" dirty="0"/>
              <a:t>K</a:t>
            </a:r>
            <a:endParaRPr lang="en-US" dirty="0"/>
          </a:p>
        </p:txBody>
      </p:sp>
      <p:sp>
        <p:nvSpPr>
          <p:cNvPr id="3" name="Content Placeholder 2"/>
          <p:cNvSpPr>
            <a:spLocks noGrp="1"/>
          </p:cNvSpPr>
          <p:nvPr>
            <p:ph idx="1"/>
          </p:nvPr>
        </p:nvSpPr>
        <p:spPr>
          <a:xfrm>
            <a:off x="838200" y="1691005"/>
            <a:ext cx="6243320" cy="4351655"/>
          </a:xfrm>
        </p:spPr>
        <p:txBody>
          <a:bodyPr>
            <a:noAutofit/>
          </a:bodyPr>
          <a:lstStyle/>
          <a:p>
            <a:pPr marL="0" indent="0">
              <a:buNone/>
            </a:pPr>
            <a:r>
              <a:rPr lang="en-US" sz="1700" dirty="0"/>
              <a:t>The amount of the black component needed is conventionally specified by the letter </a:t>
            </a:r>
            <a:r>
              <a:rPr lang="en-US" sz="1700" b="1" dirty="0"/>
              <a:t>K</a:t>
            </a:r>
            <a:r>
              <a:rPr lang="en-US" sz="1700" dirty="0"/>
              <a:t>. </a:t>
            </a:r>
            <a:endParaRPr lang="en-US" sz="1700" dirty="0"/>
          </a:p>
          <a:p>
            <a:pPr marL="0" indent="0">
              <a:buNone/>
            </a:pPr>
            <a:endParaRPr lang="en-US" sz="1700" b="1" dirty="0">
              <a:solidFill>
                <a:srgbClr val="33CCFF"/>
              </a:solidFill>
            </a:endParaRPr>
          </a:p>
          <a:p>
            <a:pPr marL="0" indent="0">
              <a:buNone/>
            </a:pPr>
            <a:r>
              <a:rPr lang="en-US" sz="1700" b="1" dirty="0">
                <a:solidFill>
                  <a:srgbClr val="33CCFF"/>
                </a:solidFill>
              </a:rPr>
              <a:t>C</a:t>
            </a:r>
            <a:r>
              <a:rPr lang="en-US" sz="1700" b="1" dirty="0">
                <a:solidFill>
                  <a:srgbClr val="FF66CC"/>
                </a:solidFill>
              </a:rPr>
              <a:t>M</a:t>
            </a:r>
            <a:r>
              <a:rPr lang="en-US" sz="1700" b="1" dirty="0">
                <a:solidFill>
                  <a:srgbClr val="FFC000"/>
                </a:solidFill>
              </a:rPr>
              <a:t>Y</a:t>
            </a:r>
            <a:r>
              <a:rPr lang="en-US" sz="1700" b="1" dirty="0"/>
              <a:t>K</a:t>
            </a:r>
            <a:r>
              <a:rPr lang="en-US" sz="1700" dirty="0"/>
              <a:t> values are typically reported as percentages. Ideal </a:t>
            </a:r>
            <a:r>
              <a:rPr lang="en-US" sz="1700" b="1" dirty="0">
                <a:solidFill>
                  <a:srgbClr val="33CCFF"/>
                </a:solidFill>
              </a:rPr>
              <a:t>C</a:t>
            </a:r>
            <a:r>
              <a:rPr lang="en-US" sz="1700" b="1" dirty="0">
                <a:solidFill>
                  <a:srgbClr val="FF66CC"/>
                </a:solidFill>
              </a:rPr>
              <a:t>M</a:t>
            </a:r>
            <a:r>
              <a:rPr lang="en-US" sz="1700" b="1" dirty="0">
                <a:solidFill>
                  <a:srgbClr val="FFC000"/>
                </a:solidFill>
              </a:rPr>
              <a:t>Y</a:t>
            </a:r>
            <a:r>
              <a:rPr lang="en-US" sz="1700" b="1" dirty="0"/>
              <a:t>K</a:t>
            </a:r>
            <a:r>
              <a:rPr lang="en-US" sz="1700" dirty="0"/>
              <a:t> values can be calculated by simple formulae directly from </a:t>
            </a:r>
            <a:r>
              <a:rPr lang="en-US" sz="1700" b="1" dirty="0">
                <a:solidFill>
                  <a:srgbClr val="33CCFF"/>
                </a:solidFill>
              </a:rPr>
              <a:t>C</a:t>
            </a:r>
            <a:r>
              <a:rPr lang="en-US" sz="1700" b="1" dirty="0">
                <a:solidFill>
                  <a:srgbClr val="FF66CC"/>
                </a:solidFill>
              </a:rPr>
              <a:t>M</a:t>
            </a:r>
            <a:r>
              <a:rPr lang="en-US" sz="1700" b="1" dirty="0">
                <a:solidFill>
                  <a:srgbClr val="FFC000"/>
                </a:solidFill>
              </a:rPr>
              <a:t>Y</a:t>
            </a:r>
            <a:r>
              <a:rPr lang="en-US" sz="1700" dirty="0"/>
              <a:t> values, but these values are not accurate for </a:t>
            </a:r>
            <a:r>
              <a:rPr lang="en-US" sz="1700" dirty="0" err="1"/>
              <a:t>colour</a:t>
            </a:r>
            <a:r>
              <a:rPr lang="en-US" sz="1700" dirty="0"/>
              <a:t> printing (Ford and Roberts, 1998)</a:t>
            </a:r>
            <a:endParaRPr lang="en-US" sz="1700" dirty="0"/>
          </a:p>
          <a:p>
            <a:pPr marL="0" indent="0">
              <a:buNone/>
            </a:pPr>
            <a:endParaRPr lang="en-US" sz="1700" dirty="0"/>
          </a:p>
          <a:p>
            <a:pPr marL="0" indent="0">
              <a:buNone/>
            </a:pPr>
            <a:r>
              <a:rPr lang="en-US" sz="1700" b="1" dirty="0"/>
              <a:t>Black</a:t>
            </a:r>
            <a:r>
              <a:rPr lang="en-US" sz="1700" dirty="0"/>
              <a:t> (</a:t>
            </a:r>
            <a:r>
              <a:rPr lang="en-US" sz="1700" b="1" dirty="0"/>
              <a:t>K</a:t>
            </a:r>
            <a:r>
              <a:rPr lang="en-US" sz="1700" dirty="0"/>
              <a:t>) = min(</a:t>
            </a:r>
            <a:r>
              <a:rPr lang="en-US" sz="1700" b="1" dirty="0">
                <a:solidFill>
                  <a:srgbClr val="33CCFF"/>
                </a:solidFill>
              </a:rPr>
              <a:t>C</a:t>
            </a:r>
            <a:r>
              <a:rPr lang="en-US" sz="1700" dirty="0"/>
              <a:t>,</a:t>
            </a:r>
            <a:r>
              <a:rPr lang="en-US" sz="1700" b="1" dirty="0">
                <a:solidFill>
                  <a:srgbClr val="FF66CC"/>
                </a:solidFill>
              </a:rPr>
              <a:t>M</a:t>
            </a:r>
            <a:r>
              <a:rPr lang="en-US" sz="1700" dirty="0"/>
              <a:t>,</a:t>
            </a:r>
            <a:r>
              <a:rPr lang="en-US" sz="1700" b="1" dirty="0">
                <a:solidFill>
                  <a:srgbClr val="FFC000"/>
                </a:solidFill>
              </a:rPr>
              <a:t>Y</a:t>
            </a:r>
            <a:r>
              <a:rPr lang="en-US" sz="1700" dirty="0"/>
              <a:t>)</a:t>
            </a:r>
            <a:endParaRPr lang="en-US" sz="1700" dirty="0"/>
          </a:p>
          <a:p>
            <a:pPr marL="0" indent="0">
              <a:buNone/>
            </a:pPr>
            <a:r>
              <a:rPr lang="en-US" sz="1700" b="1" dirty="0" err="1">
                <a:solidFill>
                  <a:srgbClr val="33CCFF"/>
                </a:solidFill>
              </a:rPr>
              <a:t>Cyan</a:t>
            </a:r>
            <a:r>
              <a:rPr lang="en-US" sz="1700" b="1" baseline="-25000" dirty="0" err="1">
                <a:solidFill>
                  <a:srgbClr val="33CCFF"/>
                </a:solidFill>
              </a:rPr>
              <a:t>C</a:t>
            </a:r>
            <a:r>
              <a:rPr lang="en-US" sz="1700" b="1" baseline="-25000" dirty="0" err="1">
                <a:solidFill>
                  <a:srgbClr val="FF66CC"/>
                </a:solidFill>
              </a:rPr>
              <a:t>M</a:t>
            </a:r>
            <a:r>
              <a:rPr lang="en-US" sz="1700" b="1" baseline="-25000" dirty="0" err="1">
                <a:solidFill>
                  <a:srgbClr val="FFC000"/>
                </a:solidFill>
              </a:rPr>
              <a:t>Y</a:t>
            </a:r>
            <a:r>
              <a:rPr lang="en-US" sz="1700" b="1" baseline="-25000" dirty="0" err="1"/>
              <a:t>K</a:t>
            </a:r>
            <a:r>
              <a:rPr lang="en-US" sz="1700" dirty="0"/>
              <a:t> = (</a:t>
            </a:r>
            <a:r>
              <a:rPr lang="en-US" sz="1700" b="1" dirty="0">
                <a:solidFill>
                  <a:srgbClr val="33CCFF"/>
                </a:solidFill>
              </a:rPr>
              <a:t>C </a:t>
            </a:r>
            <a:r>
              <a:rPr lang="en-US" sz="1700" dirty="0"/>
              <a:t>- </a:t>
            </a:r>
            <a:r>
              <a:rPr lang="en-US" sz="1700" b="1" dirty="0"/>
              <a:t>K</a:t>
            </a:r>
            <a:r>
              <a:rPr lang="en-US" sz="1700" dirty="0"/>
              <a:t>) / (1 - </a:t>
            </a:r>
            <a:r>
              <a:rPr lang="en-US" sz="1700" b="1" dirty="0"/>
              <a:t>K</a:t>
            </a:r>
            <a:r>
              <a:rPr lang="en-US" sz="1700" dirty="0"/>
              <a:t>)</a:t>
            </a:r>
            <a:endParaRPr lang="en-US" sz="1700" dirty="0"/>
          </a:p>
          <a:p>
            <a:pPr marL="0" indent="0">
              <a:buNone/>
            </a:pPr>
            <a:r>
              <a:rPr lang="en-US" sz="1700" b="1" dirty="0" err="1">
                <a:solidFill>
                  <a:srgbClr val="FF66CC"/>
                </a:solidFill>
              </a:rPr>
              <a:t>Magenta</a:t>
            </a:r>
            <a:r>
              <a:rPr lang="en-US" sz="1700" b="1" baseline="-25000" dirty="0" err="1">
                <a:solidFill>
                  <a:srgbClr val="33CCFF"/>
                </a:solidFill>
              </a:rPr>
              <a:t>C</a:t>
            </a:r>
            <a:r>
              <a:rPr lang="en-US" sz="1700" b="1" baseline="-25000" dirty="0" err="1">
                <a:solidFill>
                  <a:srgbClr val="FF66CC"/>
                </a:solidFill>
              </a:rPr>
              <a:t>M</a:t>
            </a:r>
            <a:r>
              <a:rPr lang="en-US" sz="1700" b="1" baseline="-25000" dirty="0" err="1">
                <a:solidFill>
                  <a:srgbClr val="FFC000"/>
                </a:solidFill>
              </a:rPr>
              <a:t>Y</a:t>
            </a:r>
            <a:r>
              <a:rPr lang="en-US" sz="1700" b="1" baseline="-25000" dirty="0" err="1"/>
              <a:t>K</a:t>
            </a:r>
            <a:r>
              <a:rPr lang="en-US" sz="1700" dirty="0"/>
              <a:t> = (</a:t>
            </a:r>
            <a:r>
              <a:rPr lang="en-US" sz="1700" b="1" dirty="0">
                <a:solidFill>
                  <a:srgbClr val="FF66CC"/>
                </a:solidFill>
              </a:rPr>
              <a:t>M</a:t>
            </a:r>
            <a:r>
              <a:rPr lang="en-US" sz="1700" dirty="0"/>
              <a:t> - </a:t>
            </a:r>
            <a:r>
              <a:rPr lang="en-US" sz="1700" b="1" dirty="0"/>
              <a:t>K</a:t>
            </a:r>
            <a:r>
              <a:rPr lang="en-US" sz="1700" dirty="0"/>
              <a:t>) / (1 - </a:t>
            </a:r>
            <a:r>
              <a:rPr lang="en-US" sz="1700" b="1" dirty="0"/>
              <a:t>K</a:t>
            </a:r>
            <a:r>
              <a:rPr lang="en-US" sz="1700" dirty="0"/>
              <a:t>)</a:t>
            </a:r>
            <a:endParaRPr lang="en-US" sz="1700" dirty="0"/>
          </a:p>
          <a:p>
            <a:pPr marL="0" indent="0">
              <a:buNone/>
            </a:pPr>
            <a:r>
              <a:rPr lang="en-US" sz="1700" b="1" dirty="0" err="1">
                <a:solidFill>
                  <a:srgbClr val="FFC000"/>
                </a:solidFill>
              </a:rPr>
              <a:t>Yellow</a:t>
            </a:r>
            <a:r>
              <a:rPr lang="en-US" sz="1700" b="1" baseline="-25000" dirty="0" err="1">
                <a:solidFill>
                  <a:srgbClr val="33CCFF"/>
                </a:solidFill>
              </a:rPr>
              <a:t>C</a:t>
            </a:r>
            <a:r>
              <a:rPr lang="en-US" sz="1700" b="1" baseline="-25000" dirty="0" err="1">
                <a:solidFill>
                  <a:srgbClr val="FF66CC"/>
                </a:solidFill>
              </a:rPr>
              <a:t>M</a:t>
            </a:r>
            <a:r>
              <a:rPr lang="en-US" sz="1700" b="1" baseline="-25000" dirty="0" err="1">
                <a:solidFill>
                  <a:srgbClr val="FFC000"/>
                </a:solidFill>
              </a:rPr>
              <a:t>Y</a:t>
            </a:r>
            <a:r>
              <a:rPr lang="en-US" sz="1700" b="1" baseline="-25000" dirty="0" err="1"/>
              <a:t>K</a:t>
            </a:r>
            <a:r>
              <a:rPr lang="en-US" sz="1700" dirty="0"/>
              <a:t> = (</a:t>
            </a:r>
            <a:r>
              <a:rPr lang="en-US" sz="1700" b="1" dirty="0">
                <a:solidFill>
                  <a:srgbClr val="FFC000"/>
                </a:solidFill>
              </a:rPr>
              <a:t>Y</a:t>
            </a:r>
            <a:r>
              <a:rPr lang="en-US" sz="1700" dirty="0"/>
              <a:t> - </a:t>
            </a:r>
            <a:r>
              <a:rPr lang="en-US" sz="1700" b="1" dirty="0"/>
              <a:t>K</a:t>
            </a:r>
            <a:r>
              <a:rPr lang="en-US" sz="1700" dirty="0"/>
              <a:t>) / (1 - </a:t>
            </a:r>
            <a:r>
              <a:rPr lang="en-US" sz="1700" b="1" dirty="0"/>
              <a:t>K</a:t>
            </a:r>
            <a:r>
              <a:rPr lang="en-US" sz="1700" dirty="0"/>
              <a:t>)</a:t>
            </a:r>
            <a:endParaRPr lang="en-US" sz="1700" dirty="0"/>
          </a:p>
          <a:p>
            <a:pPr marL="0" indent="0">
              <a:buNone/>
            </a:pPr>
            <a:endParaRPr lang="en-US" sz="1700" dirty="0"/>
          </a:p>
          <a:p>
            <a:pPr marL="0" indent="0">
              <a:buNone/>
            </a:pPr>
            <a:r>
              <a:rPr lang="en-US" sz="1700" dirty="0"/>
              <a:t>In this case, if </a:t>
            </a:r>
            <a:r>
              <a:rPr lang="en-US" sz="1700" b="1" dirty="0"/>
              <a:t>K</a:t>
            </a:r>
            <a:r>
              <a:rPr lang="en-US" sz="1700" dirty="0"/>
              <a:t> = 1 then </a:t>
            </a:r>
            <a:r>
              <a:rPr lang="en-US" sz="1700" b="1" dirty="0">
                <a:solidFill>
                  <a:srgbClr val="33CCFF"/>
                </a:solidFill>
              </a:rPr>
              <a:t>C</a:t>
            </a:r>
            <a:r>
              <a:rPr lang="en-US" sz="1700" dirty="0"/>
              <a:t>=</a:t>
            </a:r>
            <a:r>
              <a:rPr lang="en-US" sz="1700" b="1" dirty="0">
                <a:solidFill>
                  <a:srgbClr val="FF66CC"/>
                </a:solidFill>
              </a:rPr>
              <a:t>M</a:t>
            </a:r>
            <a:r>
              <a:rPr lang="en-US" sz="1700" dirty="0"/>
              <a:t>=</a:t>
            </a:r>
            <a:r>
              <a:rPr lang="en-US" sz="1700" b="1" dirty="0">
                <a:solidFill>
                  <a:srgbClr val="FFC000"/>
                </a:solidFill>
              </a:rPr>
              <a:t>Y</a:t>
            </a:r>
            <a:r>
              <a:rPr lang="en-US" sz="1700" dirty="0"/>
              <a:t>=0</a:t>
            </a:r>
            <a:endParaRPr lang="en-US" sz="1700" dirty="0"/>
          </a:p>
        </p:txBody>
      </p:sp>
      <p:sp>
        <p:nvSpPr>
          <p:cNvPr id="4" name="Footer Placeholder 3"/>
          <p:cNvSpPr>
            <a:spLocks noGrp="1"/>
          </p:cNvSpPr>
          <p:nvPr>
            <p:ph type="ftr" sz="quarter" idx="11"/>
          </p:nvPr>
        </p:nvSpPr>
        <p:spPr/>
        <p:txBody>
          <a:bodyPr/>
          <a:lstStyle/>
          <a:p>
            <a:r>
              <a:rPr lang="en-US" dirty="0"/>
              <a:t>feraputriayu@umm.ac.id</a:t>
            </a:r>
            <a:endParaRPr lang="en-US" dirty="0"/>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sp>
        <p:nvSpPr>
          <p:cNvPr id="6" name="Content Placeholder 2"/>
          <p:cNvSpPr txBox="1"/>
          <p:nvPr/>
        </p:nvSpPr>
        <p:spPr>
          <a:xfrm>
            <a:off x="7501890" y="1822450"/>
            <a:ext cx="385191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Alternative formula (Crane, 1997)</a:t>
            </a:r>
            <a:endParaRPr lang="en-US" sz="1800" dirty="0"/>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b="1" dirty="0"/>
              <a:t>Black</a:t>
            </a:r>
            <a:r>
              <a:rPr lang="en-US" sz="1800" dirty="0"/>
              <a:t> (</a:t>
            </a:r>
            <a:r>
              <a:rPr lang="en-US" sz="1800" b="1" dirty="0"/>
              <a:t>K</a:t>
            </a:r>
            <a:r>
              <a:rPr lang="en-US" sz="1800" dirty="0"/>
              <a:t>) = min(</a:t>
            </a:r>
            <a:r>
              <a:rPr lang="en-US" sz="1800" b="1" dirty="0">
                <a:solidFill>
                  <a:srgbClr val="33CCFF"/>
                </a:solidFill>
              </a:rPr>
              <a:t>C</a:t>
            </a:r>
            <a:r>
              <a:rPr lang="en-US" sz="1800" dirty="0"/>
              <a:t>,</a:t>
            </a:r>
            <a:r>
              <a:rPr lang="en-US" sz="1800" b="1" dirty="0">
                <a:solidFill>
                  <a:srgbClr val="FF66CC"/>
                </a:solidFill>
              </a:rPr>
              <a:t>M</a:t>
            </a:r>
            <a:r>
              <a:rPr lang="en-US" sz="1800" dirty="0"/>
              <a:t>,</a:t>
            </a:r>
            <a:r>
              <a:rPr lang="en-US" sz="1800" b="1" dirty="0">
                <a:solidFill>
                  <a:srgbClr val="FFC000"/>
                </a:solidFill>
              </a:rPr>
              <a:t>Y</a:t>
            </a:r>
            <a:r>
              <a:rPr lang="en-US" sz="1800" dirty="0"/>
              <a:t>)</a:t>
            </a:r>
            <a:endParaRPr lang="en-US" sz="1800" dirty="0"/>
          </a:p>
          <a:p>
            <a:pPr marL="0" indent="0">
              <a:buFont typeface="Arial" panose="020B0604020202020204" pitchFamily="34" charset="0"/>
              <a:buNone/>
            </a:pPr>
            <a:r>
              <a:rPr lang="en-US" sz="1800" b="1" dirty="0" err="1">
                <a:solidFill>
                  <a:srgbClr val="33CCFF"/>
                </a:solidFill>
              </a:rPr>
              <a:t>Cyan</a:t>
            </a:r>
            <a:r>
              <a:rPr lang="en-US" sz="1800" b="1" baseline="-25000" dirty="0" err="1">
                <a:solidFill>
                  <a:srgbClr val="33CCFF"/>
                </a:solidFill>
              </a:rPr>
              <a:t>C</a:t>
            </a:r>
            <a:r>
              <a:rPr lang="en-US" sz="1800" b="1" baseline="-25000" dirty="0" err="1">
                <a:solidFill>
                  <a:srgbClr val="FF66CC"/>
                </a:solidFill>
              </a:rPr>
              <a:t>M</a:t>
            </a:r>
            <a:r>
              <a:rPr lang="en-US" sz="1800" b="1" baseline="-25000" dirty="0" err="1">
                <a:solidFill>
                  <a:srgbClr val="FFC000"/>
                </a:solidFill>
              </a:rPr>
              <a:t>Y</a:t>
            </a:r>
            <a:r>
              <a:rPr lang="en-US" sz="1800" b="1" baseline="-25000" dirty="0" err="1"/>
              <a:t>K</a:t>
            </a:r>
            <a:r>
              <a:rPr lang="en-US" sz="1800" dirty="0"/>
              <a:t> = </a:t>
            </a:r>
            <a:r>
              <a:rPr lang="en-US" sz="1800" b="1" dirty="0">
                <a:solidFill>
                  <a:srgbClr val="33CCFF"/>
                </a:solidFill>
              </a:rPr>
              <a:t>C</a:t>
            </a:r>
            <a:r>
              <a:rPr lang="en-US" sz="1800" dirty="0"/>
              <a:t> - </a:t>
            </a:r>
            <a:r>
              <a:rPr lang="en-US" sz="1800" b="1" dirty="0"/>
              <a:t>K</a:t>
            </a:r>
            <a:endParaRPr lang="en-US" sz="1800" b="1" dirty="0"/>
          </a:p>
          <a:p>
            <a:pPr marL="0" indent="0">
              <a:buFont typeface="Arial" panose="020B0604020202020204" pitchFamily="34" charset="0"/>
              <a:buNone/>
            </a:pPr>
            <a:r>
              <a:rPr lang="en-US" sz="1800" b="1" dirty="0" err="1">
                <a:solidFill>
                  <a:srgbClr val="FF66CC"/>
                </a:solidFill>
              </a:rPr>
              <a:t>Magenta</a:t>
            </a:r>
            <a:r>
              <a:rPr lang="en-US" sz="1800" b="1" baseline="-25000" dirty="0" err="1">
                <a:solidFill>
                  <a:srgbClr val="33CCFF"/>
                </a:solidFill>
              </a:rPr>
              <a:t>C</a:t>
            </a:r>
            <a:r>
              <a:rPr lang="en-US" sz="1800" b="1" baseline="-25000" dirty="0" err="1">
                <a:solidFill>
                  <a:srgbClr val="FF66CC"/>
                </a:solidFill>
              </a:rPr>
              <a:t>M</a:t>
            </a:r>
            <a:r>
              <a:rPr lang="en-US" sz="1800" b="1" baseline="-25000" dirty="0" err="1">
                <a:solidFill>
                  <a:srgbClr val="FFC000"/>
                </a:solidFill>
              </a:rPr>
              <a:t>Y</a:t>
            </a:r>
            <a:r>
              <a:rPr lang="en-US" sz="1800" b="1" baseline="-25000" dirty="0" err="1"/>
              <a:t>K</a:t>
            </a:r>
            <a:r>
              <a:rPr lang="en-US" sz="1800" dirty="0"/>
              <a:t> = </a:t>
            </a:r>
            <a:r>
              <a:rPr lang="en-US" sz="1800" b="1" dirty="0">
                <a:solidFill>
                  <a:srgbClr val="FF66CC"/>
                </a:solidFill>
              </a:rPr>
              <a:t>M</a:t>
            </a:r>
            <a:r>
              <a:rPr lang="en-US" sz="1800" dirty="0"/>
              <a:t> - </a:t>
            </a:r>
            <a:r>
              <a:rPr lang="en-US" sz="1800" b="1" dirty="0"/>
              <a:t>K</a:t>
            </a:r>
            <a:endParaRPr lang="en-US" sz="1800" b="1" dirty="0"/>
          </a:p>
          <a:p>
            <a:pPr marL="0" indent="0">
              <a:buFont typeface="Arial" panose="020B0604020202020204" pitchFamily="34" charset="0"/>
              <a:buNone/>
            </a:pPr>
            <a:r>
              <a:rPr lang="en-US" sz="1800" b="1" dirty="0" err="1">
                <a:solidFill>
                  <a:srgbClr val="FFC000"/>
                </a:solidFill>
              </a:rPr>
              <a:t>Yellow</a:t>
            </a:r>
            <a:r>
              <a:rPr lang="en-US" sz="1800" b="1" baseline="-25000" dirty="0" err="1">
                <a:solidFill>
                  <a:srgbClr val="33CCFF"/>
                </a:solidFill>
              </a:rPr>
              <a:t>C</a:t>
            </a:r>
            <a:r>
              <a:rPr lang="en-US" sz="1800" b="1" baseline="-25000" dirty="0" err="1">
                <a:solidFill>
                  <a:srgbClr val="FF66CC"/>
                </a:solidFill>
              </a:rPr>
              <a:t>M</a:t>
            </a:r>
            <a:r>
              <a:rPr lang="en-US" sz="1800" b="1" baseline="-25000" dirty="0" err="1">
                <a:solidFill>
                  <a:srgbClr val="FFC000"/>
                </a:solidFill>
              </a:rPr>
              <a:t>Y</a:t>
            </a:r>
            <a:r>
              <a:rPr lang="en-US" sz="1800" b="1" baseline="-25000" dirty="0" err="1"/>
              <a:t>K</a:t>
            </a:r>
            <a:r>
              <a:rPr lang="en-US" sz="1800" dirty="0"/>
              <a:t> = </a:t>
            </a:r>
            <a:r>
              <a:rPr lang="en-US" sz="1800" b="1" dirty="0">
                <a:solidFill>
                  <a:srgbClr val="FFC000"/>
                </a:solidFill>
              </a:rPr>
              <a:t>Y</a:t>
            </a:r>
            <a:r>
              <a:rPr lang="en-US" sz="1800" dirty="0"/>
              <a:t> - </a:t>
            </a:r>
            <a:r>
              <a:rPr lang="en-US" sz="1800" b="1" dirty="0"/>
              <a:t>K</a:t>
            </a:r>
            <a:endParaRPr lang="en-US" sz="1800" b="1" dirty="0"/>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dirty="0"/>
              <a:t>With this approach, one of </a:t>
            </a:r>
            <a:r>
              <a:rPr lang="en-US" sz="1800" b="1" dirty="0" err="1">
                <a:solidFill>
                  <a:srgbClr val="33CCFF"/>
                </a:solidFill>
              </a:rPr>
              <a:t>Cyan</a:t>
            </a:r>
            <a:r>
              <a:rPr lang="en-US" sz="1800" b="1" baseline="-25000" dirty="0" err="1">
                <a:solidFill>
                  <a:srgbClr val="33CCFF"/>
                </a:solidFill>
              </a:rPr>
              <a:t>C</a:t>
            </a:r>
            <a:r>
              <a:rPr lang="en-US" sz="1800" b="1" baseline="-25000" dirty="0" err="1">
                <a:solidFill>
                  <a:srgbClr val="FF66CC"/>
                </a:solidFill>
              </a:rPr>
              <a:t>M</a:t>
            </a:r>
            <a:r>
              <a:rPr lang="en-US" sz="1800" b="1" baseline="-25000" dirty="0" err="1">
                <a:solidFill>
                  <a:srgbClr val="FFC000"/>
                </a:solidFill>
              </a:rPr>
              <a:t>Y</a:t>
            </a:r>
            <a:r>
              <a:rPr lang="en-US" sz="1800" b="1" baseline="-25000" dirty="0" err="1"/>
              <a:t>K</a:t>
            </a:r>
            <a:r>
              <a:rPr lang="en-US" sz="1800" dirty="0"/>
              <a:t>, </a:t>
            </a:r>
            <a:r>
              <a:rPr lang="en-US" sz="1800" b="1" dirty="0" err="1">
                <a:solidFill>
                  <a:srgbClr val="FF66CC"/>
                </a:solidFill>
              </a:rPr>
              <a:t>Magenta</a:t>
            </a:r>
            <a:r>
              <a:rPr lang="en-US" sz="1800" b="1" baseline="-25000" dirty="0" err="1">
                <a:solidFill>
                  <a:srgbClr val="33CCFF"/>
                </a:solidFill>
              </a:rPr>
              <a:t>C</a:t>
            </a:r>
            <a:r>
              <a:rPr lang="en-US" sz="1800" b="1" baseline="-25000" dirty="0" err="1">
                <a:solidFill>
                  <a:srgbClr val="FF66CC"/>
                </a:solidFill>
              </a:rPr>
              <a:t>M</a:t>
            </a:r>
            <a:r>
              <a:rPr lang="en-US" sz="1800" b="1" baseline="-25000" dirty="0" err="1">
                <a:solidFill>
                  <a:srgbClr val="FFC000"/>
                </a:solidFill>
              </a:rPr>
              <a:t>Y</a:t>
            </a:r>
            <a:r>
              <a:rPr lang="en-US" sz="1800" b="1" baseline="-25000" dirty="0" err="1"/>
              <a:t>K</a:t>
            </a:r>
            <a:r>
              <a:rPr lang="en-US" sz="1800" dirty="0"/>
              <a:t>, or </a:t>
            </a:r>
            <a:r>
              <a:rPr lang="en-US" sz="1800" b="1" dirty="0" err="1">
                <a:solidFill>
                  <a:srgbClr val="FFC000"/>
                </a:solidFill>
              </a:rPr>
              <a:t>Yellow</a:t>
            </a:r>
            <a:r>
              <a:rPr lang="en-US" sz="1800" b="1" baseline="-25000" dirty="0" err="1">
                <a:solidFill>
                  <a:srgbClr val="33CCFF"/>
                </a:solidFill>
              </a:rPr>
              <a:t>C</a:t>
            </a:r>
            <a:r>
              <a:rPr lang="en-US" sz="1800" b="1" baseline="-25000" dirty="0" err="1">
                <a:solidFill>
                  <a:srgbClr val="FF66CC"/>
                </a:solidFill>
              </a:rPr>
              <a:t>M</a:t>
            </a:r>
            <a:r>
              <a:rPr lang="en-US" sz="1800" b="1" baseline="-25000" dirty="0" err="1">
                <a:solidFill>
                  <a:srgbClr val="FFC000"/>
                </a:solidFill>
              </a:rPr>
              <a:t>Y</a:t>
            </a:r>
            <a:r>
              <a:rPr lang="en-US" sz="1800" b="1" baseline="-25000" dirty="0" err="1"/>
              <a:t>K</a:t>
            </a:r>
            <a:r>
              <a:rPr lang="en-US" sz="1800" dirty="0"/>
              <a:t> will be 0</a:t>
            </a:r>
            <a:endParaRPr lang="en-US" sz="1800" dirty="0"/>
          </a:p>
        </p:txBody>
      </p:sp>
      <p:pic>
        <p:nvPicPr>
          <p:cNvPr id="9" name="Picture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b="1" dirty="0">
                <a:solidFill>
                  <a:srgbClr val="33CCFF"/>
                </a:solidFill>
              </a:rPr>
              <a:t>C</a:t>
            </a:r>
            <a:r>
              <a:rPr lang="en-US" b="1" dirty="0">
                <a:solidFill>
                  <a:srgbClr val="FF66CC"/>
                </a:solidFill>
              </a:rPr>
              <a:t>M</a:t>
            </a:r>
            <a:r>
              <a:rPr lang="en-US" b="1" dirty="0">
                <a:solidFill>
                  <a:schemeClr val="accent4">
                    <a:lumMod val="60000"/>
                    <a:lumOff val="40000"/>
                  </a:schemeClr>
                </a:solidFill>
              </a:rPr>
              <a:t>Y</a:t>
            </a:r>
            <a:r>
              <a:rPr lang="en-US" b="1" dirty="0"/>
              <a:t>K</a:t>
            </a:r>
            <a:r>
              <a:rPr lang="en-US" dirty="0"/>
              <a:t> : Subtractive</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Computer screens display colors using </a:t>
            </a:r>
            <a:r>
              <a:rPr lang="en-US" b="1" dirty="0">
                <a:solidFill>
                  <a:srgbClr val="FF0000"/>
                </a:solidFill>
              </a:rPr>
              <a:t>R</a:t>
            </a:r>
            <a:r>
              <a:rPr lang="en-US" b="1" dirty="0">
                <a:solidFill>
                  <a:srgbClr val="92D050"/>
                </a:solidFill>
              </a:rPr>
              <a:t>G</a:t>
            </a:r>
            <a:r>
              <a:rPr lang="en-US" b="1" dirty="0">
                <a:solidFill>
                  <a:srgbClr val="5B9BD5"/>
                </a:solidFill>
              </a:rPr>
              <a:t>B </a:t>
            </a:r>
            <a:r>
              <a:rPr lang="en-US" dirty="0"/>
              <a:t>color values.</a:t>
            </a:r>
            <a:endParaRPr lang="en-US" dirty="0"/>
          </a:p>
          <a:p>
            <a:pPr marL="0" indent="0">
              <a:buNone/>
            </a:pPr>
            <a:r>
              <a:rPr lang="en-US" dirty="0"/>
              <a:t>Printers often presents colors using </a:t>
            </a:r>
            <a:r>
              <a:rPr lang="en-US" b="1" dirty="0">
                <a:solidFill>
                  <a:srgbClr val="33CCFF"/>
                </a:solidFill>
              </a:rPr>
              <a:t>C</a:t>
            </a:r>
            <a:r>
              <a:rPr lang="en-US" b="1" dirty="0">
                <a:solidFill>
                  <a:srgbClr val="FF66CC"/>
                </a:solidFill>
              </a:rPr>
              <a:t>M</a:t>
            </a:r>
            <a:r>
              <a:rPr lang="en-US" b="1" dirty="0">
                <a:solidFill>
                  <a:schemeClr val="accent4">
                    <a:lumMod val="60000"/>
                    <a:lumOff val="40000"/>
                  </a:schemeClr>
                </a:solidFill>
              </a:rPr>
              <a:t>Y</a:t>
            </a:r>
            <a:r>
              <a:rPr lang="en-US" b="1" dirty="0"/>
              <a:t>K</a:t>
            </a:r>
            <a:r>
              <a:rPr lang="en-US" dirty="0"/>
              <a:t> color values.</a:t>
            </a:r>
            <a:endParaRPr lang="en-US" dirty="0"/>
          </a:p>
          <a:p>
            <a:pPr marL="0" indent="0">
              <a:buNone/>
            </a:pPr>
            <a:endParaRPr lang="en-US" dirty="0"/>
          </a:p>
          <a:p>
            <a:pPr marL="0" indent="0">
              <a:buNone/>
            </a:pPr>
            <a:r>
              <a:rPr lang="en-US" dirty="0"/>
              <a:t>In additive color models, such as </a:t>
            </a:r>
            <a:r>
              <a:rPr lang="en-US" b="1" dirty="0">
                <a:solidFill>
                  <a:srgbClr val="FF0000"/>
                </a:solidFill>
              </a:rPr>
              <a:t>R</a:t>
            </a:r>
            <a:r>
              <a:rPr lang="en-US" b="1" dirty="0">
                <a:solidFill>
                  <a:srgbClr val="92D050"/>
                </a:solidFill>
              </a:rPr>
              <a:t>G</a:t>
            </a:r>
            <a:r>
              <a:rPr lang="en-US" b="1" dirty="0">
                <a:solidFill>
                  <a:srgbClr val="5B9BD5"/>
                </a:solidFill>
              </a:rPr>
              <a:t>B</a:t>
            </a:r>
            <a:r>
              <a:rPr lang="en-US" dirty="0"/>
              <a:t>, white is the "additive" combination of all primary colored lights, </a:t>
            </a:r>
            <a:r>
              <a:rPr lang="en-US" b="1" dirty="0"/>
              <a:t>while black is the absence of light</a:t>
            </a:r>
            <a:r>
              <a:rPr lang="en-US" dirty="0"/>
              <a:t>.</a:t>
            </a:r>
            <a:endParaRPr lang="en-US" dirty="0"/>
          </a:p>
          <a:p>
            <a:pPr marL="0" indent="0">
              <a:buNone/>
            </a:pPr>
            <a:endParaRPr lang="en-US" dirty="0"/>
          </a:p>
          <a:p>
            <a:pPr marL="0" indent="0">
              <a:buNone/>
            </a:pPr>
            <a:r>
              <a:rPr lang="en-US" dirty="0"/>
              <a:t>In the </a:t>
            </a:r>
            <a:r>
              <a:rPr lang="en-US" b="1" dirty="0">
                <a:solidFill>
                  <a:srgbClr val="33CCFF"/>
                </a:solidFill>
              </a:rPr>
              <a:t>C</a:t>
            </a:r>
            <a:r>
              <a:rPr lang="en-US" b="1" dirty="0">
                <a:solidFill>
                  <a:srgbClr val="FF66CC"/>
                </a:solidFill>
              </a:rPr>
              <a:t>M</a:t>
            </a:r>
            <a:r>
              <a:rPr lang="en-US" b="1" dirty="0">
                <a:solidFill>
                  <a:schemeClr val="accent4">
                    <a:lumMod val="60000"/>
                    <a:lumOff val="40000"/>
                  </a:schemeClr>
                </a:solidFill>
              </a:rPr>
              <a:t>Y</a:t>
            </a:r>
            <a:r>
              <a:rPr lang="en-US" b="1" dirty="0"/>
              <a:t>K</a:t>
            </a:r>
            <a:r>
              <a:rPr lang="en-US" dirty="0"/>
              <a:t> model, it is the opposite: white is the natural color of the paper or other background, </a:t>
            </a:r>
            <a:r>
              <a:rPr lang="en-US" b="1" dirty="0"/>
              <a:t>while black results from a full combination of colored inks</a:t>
            </a:r>
            <a:r>
              <a:rPr lang="en-US" dirty="0"/>
              <a:t>.</a:t>
            </a:r>
            <a:endParaRPr lang="en-US" dirty="0"/>
          </a:p>
          <a:p>
            <a:pPr marL="0" indent="0">
              <a:buNone/>
            </a:pPr>
            <a:endParaRPr lang="en-US" dirty="0"/>
          </a:p>
          <a:p>
            <a:pPr marL="0" indent="0">
              <a:buNone/>
            </a:pPr>
            <a:r>
              <a:rPr lang="en-US" dirty="0"/>
              <a:t>Subtractive colors are colors that come from materials and are called pigments.</a:t>
            </a:r>
            <a:endParaRPr lang="en-US" dirty="0"/>
          </a:p>
          <a:p>
            <a:pPr marL="0" indent="0">
              <a:buNone/>
            </a:pPr>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pPr algn="ctr"/>
            <a:r>
              <a:rPr lang="en-US"/>
              <a:t>INK vs LIGHT</a:t>
            </a:r>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2667" y="1947960"/>
            <a:ext cx="6666666" cy="4106667"/>
          </a:xfrm>
        </p:spPr>
      </p:pic>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solidFill>
                  <a:srgbClr val="66FFFF"/>
                </a:solidFill>
              </a:rPr>
              <a:t>C</a:t>
            </a:r>
            <a:r>
              <a:rPr lang="en-US" b="1" dirty="0">
                <a:solidFill>
                  <a:srgbClr val="FF66CC"/>
                </a:solidFill>
              </a:rPr>
              <a:t>M</a:t>
            </a:r>
            <a:r>
              <a:rPr lang="en-US" b="1" dirty="0">
                <a:solidFill>
                  <a:srgbClr val="FFFF00"/>
                </a:solidFill>
              </a:rPr>
              <a:t>Y</a:t>
            </a:r>
            <a:r>
              <a:rPr lang="en-US" b="1" dirty="0"/>
              <a:t>K</a:t>
            </a:r>
            <a:r>
              <a:rPr lang="en-US" dirty="0"/>
              <a:t> color are the percent values (</a:t>
            </a:r>
            <a:r>
              <a:rPr lang="en-US" b="1" dirty="0">
                <a:solidFill>
                  <a:srgbClr val="66FFFF"/>
                </a:solidFill>
              </a:rPr>
              <a:t>C</a:t>
            </a:r>
            <a:r>
              <a:rPr lang="en-US" dirty="0"/>
              <a:t>%, </a:t>
            </a:r>
            <a:r>
              <a:rPr lang="en-US" b="1" dirty="0">
                <a:solidFill>
                  <a:srgbClr val="FF66CC"/>
                </a:solidFill>
              </a:rPr>
              <a:t>M</a:t>
            </a:r>
            <a:r>
              <a:rPr lang="en-US" dirty="0"/>
              <a:t>%, </a:t>
            </a:r>
            <a:r>
              <a:rPr lang="en-US" b="1" dirty="0">
                <a:solidFill>
                  <a:srgbClr val="FFFF00"/>
                </a:solidFill>
              </a:rPr>
              <a:t>Y</a:t>
            </a:r>
            <a:r>
              <a:rPr lang="en-US" dirty="0"/>
              <a:t>%, </a:t>
            </a:r>
            <a:r>
              <a:rPr lang="en-US" b="1" dirty="0"/>
              <a:t>K</a:t>
            </a:r>
            <a:r>
              <a:rPr lang="en-US" dirty="0"/>
              <a:t>%), </a:t>
            </a:r>
            <a:endParaRPr lang="en-US"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a:stretch>
            <a:fillRect/>
          </a:stretch>
        </p:blipFill>
        <p:spPr>
          <a:xfrm>
            <a:off x="725365" y="2485977"/>
            <a:ext cx="10697601" cy="3614548"/>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Conversion </a:t>
            </a:r>
            <a:r>
              <a:rPr lang="en-US" b="1" dirty="0">
                <a:solidFill>
                  <a:srgbClr val="FF0000"/>
                </a:solidFill>
              </a:rPr>
              <a:t>R</a:t>
            </a:r>
            <a:r>
              <a:rPr lang="en-US" b="1" dirty="0">
                <a:solidFill>
                  <a:srgbClr val="92D050"/>
                </a:solidFill>
              </a:rPr>
              <a:t>G</a:t>
            </a:r>
            <a:r>
              <a:rPr lang="en-US" b="1" dirty="0">
                <a:solidFill>
                  <a:schemeClr val="accent1"/>
                </a:solidFill>
              </a:rPr>
              <a:t>B</a:t>
            </a:r>
            <a:r>
              <a:rPr lang="en-US" dirty="0"/>
              <a:t> to </a:t>
            </a:r>
            <a:r>
              <a:rPr lang="en-US" b="1" dirty="0">
                <a:solidFill>
                  <a:srgbClr val="33CCFF"/>
                </a:solidFill>
              </a:rPr>
              <a:t>C</a:t>
            </a:r>
            <a:r>
              <a:rPr lang="en-US" b="1" dirty="0">
                <a:solidFill>
                  <a:srgbClr val="FF66CC"/>
                </a:solidFill>
              </a:rPr>
              <a:t>M</a:t>
            </a:r>
            <a:r>
              <a:rPr lang="en-US" b="1" dirty="0">
                <a:solidFill>
                  <a:schemeClr val="accent4">
                    <a:lumMod val="60000"/>
                    <a:lumOff val="40000"/>
                  </a:schemeClr>
                </a:solidFill>
              </a:rPr>
              <a:t>Y</a:t>
            </a:r>
            <a:r>
              <a:rPr lang="en-US" b="1" dirty="0"/>
              <a:t>K</a:t>
            </a:r>
            <a:endParaRPr lang="en-US" dirty="0"/>
          </a:p>
        </p:txBody>
      </p:sp>
      <p:sp>
        <p:nvSpPr>
          <p:cNvPr id="3" name="Content Placeholder 2"/>
          <p:cNvSpPr>
            <a:spLocks noGrp="1"/>
          </p:cNvSpPr>
          <p:nvPr>
            <p:ph idx="1"/>
          </p:nvPr>
        </p:nvSpPr>
        <p:spPr>
          <a:xfrm>
            <a:off x="838200" y="1825625"/>
            <a:ext cx="6943725" cy="4351655"/>
          </a:xfrm>
        </p:spPr>
        <p:txBody>
          <a:bodyPr>
            <a:normAutofit lnSpcReduction="10000"/>
          </a:bodyPr>
          <a:lstStyle/>
          <a:p>
            <a:pPr marL="0" indent="0">
              <a:buNone/>
            </a:pPr>
            <a:r>
              <a:rPr lang="en-US" sz="1600" dirty="0"/>
              <a:t>Since </a:t>
            </a:r>
            <a:r>
              <a:rPr lang="en-US" sz="1600" b="1" dirty="0">
                <a:solidFill>
                  <a:srgbClr val="FF0000"/>
                </a:solidFill>
              </a:rPr>
              <a:t>R</a:t>
            </a:r>
            <a:r>
              <a:rPr lang="en-US" sz="1600" b="1" dirty="0">
                <a:solidFill>
                  <a:srgbClr val="92D050"/>
                </a:solidFill>
              </a:rPr>
              <a:t>G</a:t>
            </a:r>
            <a:r>
              <a:rPr lang="en-US" sz="1600" b="1" dirty="0">
                <a:solidFill>
                  <a:schemeClr val="accent1"/>
                </a:solidFill>
              </a:rPr>
              <a:t>B</a:t>
            </a:r>
            <a:r>
              <a:rPr lang="en-US" sz="1600" dirty="0"/>
              <a:t> and </a:t>
            </a:r>
            <a:r>
              <a:rPr lang="en-US" sz="1600" b="1" dirty="0">
                <a:solidFill>
                  <a:srgbClr val="33CCFF"/>
                </a:solidFill>
              </a:rPr>
              <a:t>C</a:t>
            </a:r>
            <a:r>
              <a:rPr lang="en-US" sz="1600" b="1" dirty="0">
                <a:solidFill>
                  <a:srgbClr val="FF66CC"/>
                </a:solidFill>
              </a:rPr>
              <a:t>M</a:t>
            </a:r>
            <a:r>
              <a:rPr lang="en-US" sz="1600" b="1" dirty="0">
                <a:solidFill>
                  <a:schemeClr val="accent4">
                    <a:lumMod val="60000"/>
                    <a:lumOff val="40000"/>
                  </a:schemeClr>
                </a:solidFill>
              </a:rPr>
              <a:t>Y</a:t>
            </a:r>
            <a:r>
              <a:rPr lang="en-US" sz="1600" b="1" dirty="0"/>
              <a:t>K</a:t>
            </a:r>
            <a:r>
              <a:rPr lang="en-US" sz="1600" dirty="0"/>
              <a:t> spaces are both device-dependent spaces, there is no general conversion formula that converts between them (can't guarantee 100% precisely).</a:t>
            </a:r>
            <a:endParaRPr lang="en-US" sz="1600" dirty="0"/>
          </a:p>
          <a:p>
            <a:pPr marL="0" indent="0">
              <a:buNone/>
            </a:pPr>
            <a:endParaRPr lang="en-US" sz="1600" dirty="0"/>
          </a:p>
          <a:p>
            <a:pPr marL="0" indent="0">
              <a:buNone/>
            </a:pPr>
            <a:r>
              <a:rPr lang="en-US" sz="1600" dirty="0"/>
              <a:t>The </a:t>
            </a:r>
            <a:r>
              <a:rPr lang="en-US" sz="1600" b="1" dirty="0">
                <a:solidFill>
                  <a:srgbClr val="FF0000"/>
                </a:solidFill>
              </a:rPr>
              <a:t>R</a:t>
            </a:r>
            <a:r>
              <a:rPr lang="en-US" sz="1600" dirty="0"/>
              <a:t>,</a:t>
            </a:r>
            <a:r>
              <a:rPr lang="en-US" sz="1600" b="1" dirty="0">
                <a:solidFill>
                  <a:srgbClr val="92D050"/>
                </a:solidFill>
              </a:rPr>
              <a:t>G</a:t>
            </a:r>
            <a:r>
              <a:rPr lang="en-US" sz="1600" dirty="0"/>
              <a:t>,</a:t>
            </a:r>
            <a:r>
              <a:rPr lang="en-US" sz="1600" b="1" dirty="0">
                <a:solidFill>
                  <a:srgbClr val="5B9BD5"/>
                </a:solidFill>
              </a:rPr>
              <a:t>B</a:t>
            </a:r>
            <a:r>
              <a:rPr lang="en-US" sz="1600" dirty="0"/>
              <a:t> values are divided by 255 to change the range from 0 … 255 to 0 .... 1:</a:t>
            </a:r>
            <a:endParaRPr lang="en-US" sz="1600" dirty="0"/>
          </a:p>
          <a:p>
            <a:pPr marL="0" indent="0">
              <a:buNone/>
            </a:pPr>
            <a:endParaRPr lang="en-US" sz="1600" dirty="0"/>
          </a:p>
          <a:p>
            <a:pPr marL="0" indent="0">
              <a:buNone/>
            </a:pPr>
            <a:r>
              <a:rPr lang="en-US" sz="1600" b="1" dirty="0">
                <a:solidFill>
                  <a:srgbClr val="FF0000"/>
                </a:solidFill>
              </a:rPr>
              <a:t>R</a:t>
            </a:r>
            <a:r>
              <a:rPr lang="pt-BR" sz="1600" dirty="0"/>
              <a:t>' = </a:t>
            </a:r>
            <a:r>
              <a:rPr lang="en-US" sz="1600" b="1" dirty="0">
                <a:solidFill>
                  <a:srgbClr val="FF0000"/>
                </a:solidFill>
              </a:rPr>
              <a:t>R</a:t>
            </a:r>
            <a:r>
              <a:rPr lang="pt-BR" sz="1600" dirty="0"/>
              <a:t>/255</a:t>
            </a:r>
            <a:endParaRPr lang="pt-BR" sz="1600" dirty="0"/>
          </a:p>
          <a:p>
            <a:pPr marL="0" indent="0">
              <a:buNone/>
            </a:pPr>
            <a:r>
              <a:rPr lang="en-US" sz="1600" b="1" dirty="0">
                <a:solidFill>
                  <a:srgbClr val="92D050"/>
                </a:solidFill>
              </a:rPr>
              <a:t>G</a:t>
            </a:r>
            <a:r>
              <a:rPr lang="pt-BR" sz="1600" dirty="0"/>
              <a:t>' = </a:t>
            </a:r>
            <a:r>
              <a:rPr lang="en-US" sz="1600" b="1" dirty="0">
                <a:solidFill>
                  <a:srgbClr val="92D050"/>
                </a:solidFill>
              </a:rPr>
              <a:t>G</a:t>
            </a:r>
            <a:r>
              <a:rPr lang="pt-BR" sz="1600" dirty="0"/>
              <a:t>/255</a:t>
            </a:r>
            <a:endParaRPr lang="pt-BR" sz="1600" dirty="0"/>
          </a:p>
          <a:p>
            <a:pPr marL="0" indent="0">
              <a:buNone/>
            </a:pPr>
            <a:r>
              <a:rPr lang="en-US" sz="1600" b="1" dirty="0">
                <a:solidFill>
                  <a:srgbClr val="5B9BD5"/>
                </a:solidFill>
              </a:rPr>
              <a:t>B</a:t>
            </a:r>
            <a:r>
              <a:rPr lang="pt-BR" sz="1600" dirty="0"/>
              <a:t>' = </a:t>
            </a:r>
            <a:r>
              <a:rPr lang="en-US" sz="1600" b="1" dirty="0">
                <a:solidFill>
                  <a:srgbClr val="5B9BD5"/>
                </a:solidFill>
              </a:rPr>
              <a:t>B</a:t>
            </a:r>
            <a:r>
              <a:rPr lang="pt-BR" sz="1600" dirty="0"/>
              <a:t>/255</a:t>
            </a:r>
            <a:endParaRPr lang="pt-BR" sz="1600" dirty="0"/>
          </a:p>
          <a:p>
            <a:pPr marL="0" indent="0">
              <a:buNone/>
            </a:pPr>
            <a:endParaRPr lang="pt-BR" sz="1600" dirty="0"/>
          </a:p>
          <a:p>
            <a:pPr marL="0" indent="0">
              <a:buNone/>
            </a:pPr>
            <a:r>
              <a:rPr lang="en-US" sz="1600" dirty="0"/>
              <a:t>The </a:t>
            </a:r>
            <a:r>
              <a:rPr lang="en-US" sz="1600" b="1" dirty="0"/>
              <a:t>Black</a:t>
            </a:r>
            <a:r>
              <a:rPr lang="en-US" sz="1600" dirty="0"/>
              <a:t> key (</a:t>
            </a:r>
            <a:r>
              <a:rPr lang="en-US" sz="1600" b="1" dirty="0"/>
              <a:t>K</a:t>
            </a:r>
            <a:r>
              <a:rPr lang="en-US" sz="1600" dirty="0"/>
              <a:t>) color is calculated from the </a:t>
            </a:r>
            <a:r>
              <a:rPr lang="en-US" sz="1600" b="1" dirty="0">
                <a:solidFill>
                  <a:srgbClr val="FF0000"/>
                </a:solidFill>
              </a:rPr>
              <a:t>Red</a:t>
            </a:r>
            <a:r>
              <a:rPr lang="en-US" sz="1600" dirty="0"/>
              <a:t> (</a:t>
            </a:r>
            <a:r>
              <a:rPr lang="en-US" sz="1600" b="1" dirty="0">
                <a:solidFill>
                  <a:srgbClr val="FF0000"/>
                </a:solidFill>
              </a:rPr>
              <a:t>R</a:t>
            </a:r>
            <a:r>
              <a:rPr lang="en-US" sz="1600" dirty="0"/>
              <a:t>’), </a:t>
            </a:r>
            <a:r>
              <a:rPr lang="en-US" sz="1600" b="1" dirty="0">
                <a:solidFill>
                  <a:srgbClr val="92D050"/>
                </a:solidFill>
              </a:rPr>
              <a:t>Green</a:t>
            </a:r>
            <a:r>
              <a:rPr lang="en-US" sz="1600" dirty="0"/>
              <a:t> (</a:t>
            </a:r>
            <a:r>
              <a:rPr lang="en-US" sz="1600" b="1" dirty="0">
                <a:solidFill>
                  <a:srgbClr val="92D050"/>
                </a:solidFill>
              </a:rPr>
              <a:t>G</a:t>
            </a:r>
            <a:r>
              <a:rPr lang="en-US" sz="1600" dirty="0"/>
              <a:t>') and </a:t>
            </a:r>
            <a:r>
              <a:rPr lang="en-US" sz="1600" b="1" dirty="0">
                <a:solidFill>
                  <a:srgbClr val="00B0F0"/>
                </a:solidFill>
              </a:rPr>
              <a:t>Blue</a:t>
            </a:r>
            <a:r>
              <a:rPr lang="en-US" sz="1600" dirty="0"/>
              <a:t> (</a:t>
            </a:r>
            <a:r>
              <a:rPr lang="en-US" sz="1600" b="1" dirty="0">
                <a:solidFill>
                  <a:srgbClr val="00B0F0"/>
                </a:solidFill>
              </a:rPr>
              <a:t>B</a:t>
            </a:r>
            <a:r>
              <a:rPr lang="en-US" sz="1600" dirty="0"/>
              <a:t>') colors:</a:t>
            </a:r>
            <a:endParaRPr lang="en-US" sz="1600" dirty="0"/>
          </a:p>
          <a:p>
            <a:pPr marL="0" indent="0">
              <a:buNone/>
            </a:pPr>
            <a:endParaRPr lang="en-US" sz="1600" dirty="0"/>
          </a:p>
          <a:p>
            <a:pPr marL="0" indent="0">
              <a:buNone/>
            </a:pPr>
            <a:r>
              <a:rPr lang="en-US" sz="1600" b="1" dirty="0"/>
              <a:t>K</a:t>
            </a:r>
            <a:r>
              <a:rPr lang="en-US" sz="1600" dirty="0"/>
              <a:t> = 1-max(</a:t>
            </a:r>
            <a:r>
              <a:rPr lang="en-US" sz="1600" b="1" dirty="0">
                <a:solidFill>
                  <a:srgbClr val="FF0000"/>
                </a:solidFill>
              </a:rPr>
              <a:t>R</a:t>
            </a:r>
            <a:r>
              <a:rPr lang="en-US" sz="1600" dirty="0"/>
              <a:t>', </a:t>
            </a:r>
            <a:r>
              <a:rPr lang="en-US" sz="1600" b="1" dirty="0">
                <a:solidFill>
                  <a:srgbClr val="92D050"/>
                </a:solidFill>
              </a:rPr>
              <a:t>G</a:t>
            </a:r>
            <a:r>
              <a:rPr lang="en-US" sz="1600" dirty="0"/>
              <a:t>', </a:t>
            </a:r>
            <a:r>
              <a:rPr lang="en-US" sz="1600" b="1" dirty="0">
                <a:solidFill>
                  <a:srgbClr val="00B0F0"/>
                </a:solidFill>
              </a:rPr>
              <a:t>B</a:t>
            </a:r>
            <a:r>
              <a:rPr lang="en-US" sz="1600" dirty="0"/>
              <a:t>’)</a:t>
            </a:r>
            <a:endParaRPr lang="en-US" sz="1600" dirty="0"/>
          </a:p>
          <a:p>
            <a:pPr marL="0" indent="0">
              <a:buNone/>
            </a:pPr>
            <a:endParaRPr lang="en-US" sz="1600" dirty="0"/>
          </a:p>
          <a:p>
            <a:pPr marL="0" indent="0">
              <a:buNone/>
            </a:pPr>
            <a:endParaRPr lang="en-US" sz="1600" dirty="0"/>
          </a:p>
          <a:p>
            <a:pPr marL="0" indent="0">
              <a:buNone/>
            </a:pPr>
            <a:endParaRPr lang="en-US" sz="16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
        <p:nvSpPr>
          <p:cNvPr id="8" name="Content Placeholder 2"/>
          <p:cNvSpPr txBox="1"/>
          <p:nvPr/>
        </p:nvSpPr>
        <p:spPr>
          <a:xfrm>
            <a:off x="7782560" y="1825625"/>
            <a:ext cx="357124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solidFill>
                  <a:srgbClr val="33CCFF"/>
                </a:solidFill>
              </a:rPr>
              <a:t>Cyan</a:t>
            </a:r>
            <a:r>
              <a:rPr lang="en-US" sz="1800" dirty="0"/>
              <a:t> color (</a:t>
            </a:r>
            <a:r>
              <a:rPr lang="en-US" sz="1800" b="1" dirty="0">
                <a:solidFill>
                  <a:srgbClr val="33CCFF"/>
                </a:solidFill>
              </a:rPr>
              <a:t>C</a:t>
            </a:r>
            <a:r>
              <a:rPr lang="en-US" sz="1800" dirty="0"/>
              <a:t>) is calculated from </a:t>
            </a:r>
            <a:r>
              <a:rPr lang="en-US" sz="1800" b="1" dirty="0">
                <a:solidFill>
                  <a:srgbClr val="FF0000"/>
                </a:solidFill>
              </a:rPr>
              <a:t>Red</a:t>
            </a:r>
            <a:r>
              <a:rPr lang="en-US" sz="1800" dirty="0"/>
              <a:t> (</a:t>
            </a:r>
            <a:r>
              <a:rPr lang="en-US" sz="1800" b="1" dirty="0">
                <a:solidFill>
                  <a:srgbClr val="FF0000"/>
                </a:solidFill>
              </a:rPr>
              <a:t>R</a:t>
            </a:r>
            <a:r>
              <a:rPr lang="en-US" sz="1800" dirty="0"/>
              <a:t>') and </a:t>
            </a:r>
            <a:r>
              <a:rPr lang="en-US" sz="1800" b="1" dirty="0"/>
              <a:t>Black</a:t>
            </a:r>
            <a:r>
              <a:rPr lang="en-US" sz="1800" dirty="0"/>
              <a:t> (</a:t>
            </a:r>
            <a:r>
              <a:rPr lang="en-US" sz="1800" b="1" dirty="0"/>
              <a:t>K</a:t>
            </a:r>
            <a:r>
              <a:rPr lang="en-US" sz="1800" dirty="0"/>
              <a:t>) colors:</a:t>
            </a:r>
            <a:endParaRPr lang="en-US" sz="1800" dirty="0"/>
          </a:p>
          <a:p>
            <a:pPr marL="0" indent="0">
              <a:buFont typeface="Arial" panose="020B0604020202020204" pitchFamily="34" charset="0"/>
              <a:buNone/>
            </a:pPr>
            <a:r>
              <a:rPr lang="en-US" sz="1800" b="1" dirty="0">
                <a:solidFill>
                  <a:srgbClr val="33CCFF"/>
                </a:solidFill>
              </a:rPr>
              <a:t>C</a:t>
            </a:r>
            <a:r>
              <a:rPr lang="en-US" sz="1800" dirty="0"/>
              <a:t> = (1-</a:t>
            </a:r>
            <a:r>
              <a:rPr lang="en-US" sz="1800" b="1" dirty="0">
                <a:solidFill>
                  <a:srgbClr val="FF0000"/>
                </a:solidFill>
              </a:rPr>
              <a:t>R</a:t>
            </a:r>
            <a:r>
              <a:rPr lang="en-US" sz="1800" dirty="0"/>
              <a:t>'-</a:t>
            </a:r>
            <a:r>
              <a:rPr lang="en-US" sz="1800" b="1" dirty="0"/>
              <a:t>K</a:t>
            </a:r>
            <a:r>
              <a:rPr lang="en-US" sz="1800" dirty="0"/>
              <a:t>) / (1-</a:t>
            </a:r>
            <a:r>
              <a:rPr lang="en-US" sz="1800" b="1" dirty="0"/>
              <a:t>K</a:t>
            </a:r>
            <a:r>
              <a:rPr lang="en-US" sz="1800" dirty="0"/>
              <a:t>)</a:t>
            </a:r>
            <a:endParaRPr lang="en-US" sz="1800" dirty="0"/>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b="1" dirty="0">
                <a:solidFill>
                  <a:srgbClr val="FF66CC"/>
                </a:solidFill>
              </a:rPr>
              <a:t>Magenta</a:t>
            </a:r>
            <a:r>
              <a:rPr lang="en-US" sz="1800" dirty="0"/>
              <a:t> color (</a:t>
            </a:r>
            <a:r>
              <a:rPr lang="en-US" sz="1800" b="1" dirty="0">
                <a:solidFill>
                  <a:srgbClr val="FF66CC"/>
                </a:solidFill>
              </a:rPr>
              <a:t>M</a:t>
            </a:r>
            <a:r>
              <a:rPr lang="en-US" sz="1800" dirty="0"/>
              <a:t>) is calculated from </a:t>
            </a:r>
            <a:r>
              <a:rPr lang="en-US" sz="1800" b="1" dirty="0">
                <a:solidFill>
                  <a:srgbClr val="92D050"/>
                </a:solidFill>
              </a:rPr>
              <a:t>Green</a:t>
            </a:r>
            <a:r>
              <a:rPr lang="en-US" sz="1800" dirty="0"/>
              <a:t> (</a:t>
            </a:r>
            <a:r>
              <a:rPr lang="en-US" sz="1800" b="1" dirty="0">
                <a:solidFill>
                  <a:srgbClr val="92D050"/>
                </a:solidFill>
              </a:rPr>
              <a:t>G</a:t>
            </a:r>
            <a:r>
              <a:rPr lang="en-US" sz="1800" dirty="0"/>
              <a:t>') and </a:t>
            </a:r>
            <a:r>
              <a:rPr lang="en-US" sz="1800" b="1" dirty="0"/>
              <a:t>Black</a:t>
            </a:r>
            <a:r>
              <a:rPr lang="en-US" sz="1800" dirty="0"/>
              <a:t> (</a:t>
            </a:r>
            <a:r>
              <a:rPr lang="en-US" sz="1800" b="1" dirty="0"/>
              <a:t>K</a:t>
            </a:r>
            <a:r>
              <a:rPr lang="en-US" sz="1800" dirty="0"/>
              <a:t>) colors:</a:t>
            </a:r>
            <a:endParaRPr lang="en-US" sz="1800" dirty="0"/>
          </a:p>
          <a:p>
            <a:pPr marL="0" indent="0">
              <a:buFont typeface="Arial" panose="020B0604020202020204" pitchFamily="34" charset="0"/>
              <a:buNone/>
            </a:pPr>
            <a:r>
              <a:rPr lang="en-US" sz="1800" b="1" dirty="0">
                <a:solidFill>
                  <a:srgbClr val="FF66CC"/>
                </a:solidFill>
              </a:rPr>
              <a:t>M</a:t>
            </a:r>
            <a:r>
              <a:rPr lang="en-US" sz="1800" dirty="0"/>
              <a:t> = (1-</a:t>
            </a:r>
            <a:r>
              <a:rPr lang="en-US" sz="1800" b="1" dirty="0">
                <a:solidFill>
                  <a:srgbClr val="92D050"/>
                </a:solidFill>
              </a:rPr>
              <a:t>G</a:t>
            </a:r>
            <a:r>
              <a:rPr lang="en-US" sz="1800" dirty="0"/>
              <a:t>'-</a:t>
            </a:r>
            <a:r>
              <a:rPr lang="en-US" sz="1800" b="1" dirty="0"/>
              <a:t>K</a:t>
            </a:r>
            <a:r>
              <a:rPr lang="en-US" sz="1800" dirty="0"/>
              <a:t>) / (1-</a:t>
            </a:r>
            <a:r>
              <a:rPr lang="en-US" sz="1800" b="1" dirty="0"/>
              <a:t>K</a:t>
            </a:r>
            <a:r>
              <a:rPr lang="en-US" sz="1800" dirty="0"/>
              <a:t>)</a:t>
            </a:r>
            <a:endParaRPr lang="en-US" sz="1800" dirty="0"/>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b="1" dirty="0">
                <a:solidFill>
                  <a:srgbClr val="FFC000"/>
                </a:solidFill>
              </a:rPr>
              <a:t>Yellow</a:t>
            </a:r>
            <a:r>
              <a:rPr lang="en-US" sz="1800" dirty="0"/>
              <a:t> color (</a:t>
            </a:r>
            <a:r>
              <a:rPr lang="en-US" sz="1800" b="1" dirty="0">
                <a:solidFill>
                  <a:srgbClr val="FFC000"/>
                </a:solidFill>
              </a:rPr>
              <a:t>Y</a:t>
            </a:r>
            <a:r>
              <a:rPr lang="en-US" sz="1800" dirty="0"/>
              <a:t>) is calculated from </a:t>
            </a:r>
            <a:r>
              <a:rPr lang="en-US" sz="1800" b="1" dirty="0">
                <a:solidFill>
                  <a:srgbClr val="00B0F0"/>
                </a:solidFill>
              </a:rPr>
              <a:t>Blue</a:t>
            </a:r>
            <a:r>
              <a:rPr lang="en-US" sz="1800" dirty="0"/>
              <a:t> (</a:t>
            </a:r>
            <a:r>
              <a:rPr lang="en-US" sz="1800" b="1" dirty="0">
                <a:solidFill>
                  <a:schemeClr val="accent1"/>
                </a:solidFill>
              </a:rPr>
              <a:t>B</a:t>
            </a:r>
            <a:r>
              <a:rPr lang="en-US" sz="1800" dirty="0"/>
              <a:t>') and </a:t>
            </a:r>
            <a:r>
              <a:rPr lang="en-US" sz="1800" b="1" dirty="0"/>
              <a:t>Black</a:t>
            </a:r>
            <a:r>
              <a:rPr lang="en-US" sz="1800" dirty="0"/>
              <a:t> (</a:t>
            </a:r>
            <a:r>
              <a:rPr lang="en-US" sz="1800" b="1" dirty="0"/>
              <a:t>K</a:t>
            </a:r>
            <a:r>
              <a:rPr lang="en-US" sz="1800" dirty="0"/>
              <a:t>) colors:</a:t>
            </a:r>
            <a:endParaRPr lang="en-US" sz="1800" dirty="0"/>
          </a:p>
          <a:p>
            <a:pPr marL="0" indent="0">
              <a:buFont typeface="Arial" panose="020B0604020202020204" pitchFamily="34" charset="0"/>
              <a:buNone/>
            </a:pPr>
            <a:r>
              <a:rPr lang="en-US" sz="1800" b="1" dirty="0">
                <a:solidFill>
                  <a:srgbClr val="FFC000"/>
                </a:solidFill>
              </a:rPr>
              <a:t>Y</a:t>
            </a:r>
            <a:r>
              <a:rPr lang="en-US" sz="1800" dirty="0"/>
              <a:t> = (1-</a:t>
            </a:r>
            <a:r>
              <a:rPr lang="en-US" sz="1800" b="1" dirty="0">
                <a:solidFill>
                  <a:srgbClr val="5B9BD5"/>
                </a:solidFill>
              </a:rPr>
              <a:t>B</a:t>
            </a:r>
            <a:r>
              <a:rPr lang="en-US" sz="1800" dirty="0"/>
              <a:t>'-</a:t>
            </a:r>
            <a:r>
              <a:rPr lang="en-US" sz="1800" b="1" dirty="0"/>
              <a:t>K</a:t>
            </a:r>
            <a:r>
              <a:rPr lang="en-US" sz="1800" dirty="0"/>
              <a:t>) / (1-</a:t>
            </a:r>
            <a:r>
              <a:rPr lang="en-US" sz="1800" b="1" dirty="0"/>
              <a:t>K</a:t>
            </a:r>
            <a:r>
              <a:rPr lang="en-US" sz="1800" dirty="0"/>
              <a:t>)</a:t>
            </a:r>
            <a:endParaRPr lang="en-US" sz="1800" dirty="0"/>
          </a:p>
          <a:p>
            <a:pPr marL="0" indent="0">
              <a:buFont typeface="Arial" panose="020B0604020202020204" pitchFamily="34" charset="0"/>
              <a:buNone/>
            </a:pPr>
            <a:endParaRPr lang="en-US" sz="1800" dirty="0"/>
          </a:p>
          <a:p>
            <a:pPr marL="0" indent="0">
              <a:buFont typeface="Arial" panose="020B0604020202020204" pitchFamily="34" charset="0"/>
              <a:buNone/>
            </a:pPr>
            <a:endParaRPr lang="en-US" sz="1800" dirty="0"/>
          </a:p>
        </p:txBody>
      </p:sp>
    </p:spTree>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2" name="Title 1"/>
          <p:cNvSpPr>
            <a:spLocks noGrp="1"/>
          </p:cNvSpPr>
          <p:nvPr>
            <p:ph type="title"/>
          </p:nvPr>
        </p:nvSpPr>
        <p:spPr/>
        <p:txBody>
          <a:bodyPr/>
          <a:lstStyle/>
          <a:p>
            <a:r>
              <a:rPr lang="en-US" dirty="0"/>
              <a:t>Conversion </a:t>
            </a:r>
            <a:r>
              <a:rPr lang="en-US" b="1" dirty="0">
                <a:solidFill>
                  <a:srgbClr val="33CCFF"/>
                </a:solidFill>
              </a:rPr>
              <a:t>C</a:t>
            </a:r>
            <a:r>
              <a:rPr lang="en-US" b="1" dirty="0">
                <a:solidFill>
                  <a:srgbClr val="FF66CC"/>
                </a:solidFill>
              </a:rPr>
              <a:t>M</a:t>
            </a:r>
            <a:r>
              <a:rPr lang="en-US" b="1" dirty="0">
                <a:solidFill>
                  <a:schemeClr val="accent4">
                    <a:lumMod val="60000"/>
                    <a:lumOff val="40000"/>
                  </a:schemeClr>
                </a:solidFill>
              </a:rPr>
              <a:t>Y</a:t>
            </a:r>
            <a:r>
              <a:rPr lang="en-US" b="1" dirty="0"/>
              <a:t>K</a:t>
            </a:r>
            <a:r>
              <a:rPr lang="en-US" dirty="0"/>
              <a:t> to </a:t>
            </a:r>
            <a:r>
              <a:rPr lang="en-US" b="1" dirty="0">
                <a:solidFill>
                  <a:srgbClr val="FF0000"/>
                </a:solidFill>
              </a:rPr>
              <a:t>R</a:t>
            </a:r>
            <a:r>
              <a:rPr lang="en-US" b="1" dirty="0">
                <a:solidFill>
                  <a:srgbClr val="92D050"/>
                </a:solidFill>
              </a:rPr>
              <a:t>G</a:t>
            </a:r>
            <a:r>
              <a:rPr lang="en-US" b="1" dirty="0">
                <a:solidFill>
                  <a:schemeClr val="accent1"/>
                </a:solidFill>
              </a:rPr>
              <a:t>B</a:t>
            </a:r>
            <a:endParaRPr lang="en-US" dirty="0"/>
          </a:p>
        </p:txBody>
      </p:sp>
      <p:sp>
        <p:nvSpPr>
          <p:cNvPr id="3" name="Content Placeholder 2"/>
          <p:cNvSpPr>
            <a:spLocks noGrp="1"/>
          </p:cNvSpPr>
          <p:nvPr>
            <p:ph idx="1"/>
          </p:nvPr>
        </p:nvSpPr>
        <p:spPr/>
        <p:txBody>
          <a:bodyPr>
            <a:normAutofit/>
          </a:bodyPr>
          <a:lstStyle/>
          <a:p>
            <a:pPr marL="0" indent="0">
              <a:buNone/>
            </a:pPr>
            <a:r>
              <a:rPr lang="en-US" sz="2400" b="1" dirty="0">
                <a:solidFill>
                  <a:srgbClr val="FF0000"/>
                </a:solidFill>
              </a:rPr>
              <a:t>R</a:t>
            </a:r>
            <a:r>
              <a:rPr lang="en-US" sz="2400" dirty="0"/>
              <a:t>,</a:t>
            </a:r>
            <a:r>
              <a:rPr lang="en-US" sz="2400" b="1" dirty="0">
                <a:solidFill>
                  <a:srgbClr val="92D050"/>
                </a:solidFill>
              </a:rPr>
              <a:t>G</a:t>
            </a:r>
            <a:r>
              <a:rPr lang="en-US" sz="2400" dirty="0"/>
              <a:t>,</a:t>
            </a:r>
            <a:r>
              <a:rPr lang="en-US" sz="2400" b="1" dirty="0">
                <a:solidFill>
                  <a:srgbClr val="00B0F0"/>
                </a:solidFill>
              </a:rPr>
              <a:t>B</a:t>
            </a:r>
            <a:r>
              <a:rPr lang="en-US" sz="2400" dirty="0"/>
              <a:t> values are given in the range of 0 ... 255.</a:t>
            </a:r>
            <a:endParaRPr lang="en-US" sz="2400" dirty="0"/>
          </a:p>
          <a:p>
            <a:pPr marL="0" indent="0">
              <a:buNone/>
            </a:pPr>
            <a:r>
              <a:rPr lang="en-US" sz="2400" b="1" dirty="0">
                <a:solidFill>
                  <a:srgbClr val="FF0000"/>
                </a:solidFill>
              </a:rPr>
              <a:t>Red </a:t>
            </a:r>
            <a:r>
              <a:rPr lang="en-US" sz="2400" dirty="0"/>
              <a:t>(</a:t>
            </a:r>
            <a:r>
              <a:rPr lang="en-US" sz="2400" b="1" dirty="0">
                <a:solidFill>
                  <a:srgbClr val="FF0000"/>
                </a:solidFill>
              </a:rPr>
              <a:t>R</a:t>
            </a:r>
            <a:r>
              <a:rPr lang="en-US" sz="2400" dirty="0"/>
              <a:t>) color is calculated from </a:t>
            </a:r>
            <a:r>
              <a:rPr lang="en-US" sz="2400" b="1" dirty="0">
                <a:solidFill>
                  <a:srgbClr val="33CCFF"/>
                </a:solidFill>
              </a:rPr>
              <a:t>Cyan</a:t>
            </a:r>
            <a:r>
              <a:rPr lang="en-US" sz="2400" b="1" dirty="0">
                <a:solidFill>
                  <a:srgbClr val="66FFFF"/>
                </a:solidFill>
              </a:rPr>
              <a:t> </a:t>
            </a:r>
            <a:r>
              <a:rPr lang="en-US" sz="2400" dirty="0"/>
              <a:t>(</a:t>
            </a:r>
            <a:r>
              <a:rPr lang="en-US" sz="2400" b="1" dirty="0">
                <a:solidFill>
                  <a:srgbClr val="33CCFF"/>
                </a:solidFill>
              </a:rPr>
              <a:t>C</a:t>
            </a:r>
            <a:r>
              <a:rPr lang="en-US" sz="2400" dirty="0"/>
              <a:t>) and </a:t>
            </a:r>
            <a:r>
              <a:rPr lang="en-US" sz="2400" b="1" dirty="0"/>
              <a:t>Black (K)</a:t>
            </a:r>
            <a:r>
              <a:rPr lang="en-US" sz="2400" dirty="0"/>
              <a:t> colors:</a:t>
            </a:r>
            <a:endParaRPr lang="en-US" sz="2400" dirty="0"/>
          </a:p>
          <a:p>
            <a:pPr marL="0" indent="0">
              <a:buNone/>
            </a:pPr>
            <a:r>
              <a:rPr lang="en-US" sz="2400" b="1" dirty="0">
                <a:solidFill>
                  <a:srgbClr val="FF0000"/>
                </a:solidFill>
              </a:rPr>
              <a:t>R</a:t>
            </a:r>
            <a:r>
              <a:rPr lang="en-US" sz="2400" dirty="0"/>
              <a:t> = 255 × (1-</a:t>
            </a:r>
            <a:r>
              <a:rPr lang="en-US" sz="2400" b="1" dirty="0">
                <a:solidFill>
                  <a:srgbClr val="33CCFF"/>
                </a:solidFill>
              </a:rPr>
              <a:t>C</a:t>
            </a:r>
            <a:r>
              <a:rPr lang="en-US" sz="2400" dirty="0"/>
              <a:t>) × (1-</a:t>
            </a:r>
            <a:r>
              <a:rPr lang="en-US" sz="2400" b="1" dirty="0"/>
              <a:t>K</a:t>
            </a:r>
            <a:r>
              <a:rPr lang="en-US" sz="2400" dirty="0"/>
              <a:t>)</a:t>
            </a:r>
            <a:endParaRPr lang="en-US" sz="2400" dirty="0"/>
          </a:p>
          <a:p>
            <a:pPr marL="0" indent="0">
              <a:buNone/>
            </a:pPr>
            <a:endParaRPr lang="en-US" sz="2400" dirty="0"/>
          </a:p>
          <a:p>
            <a:pPr marL="0" indent="0">
              <a:buNone/>
            </a:pPr>
            <a:r>
              <a:rPr lang="en-US" sz="2400" b="1" dirty="0">
                <a:solidFill>
                  <a:srgbClr val="92D050"/>
                </a:solidFill>
              </a:rPr>
              <a:t>Green </a:t>
            </a:r>
            <a:r>
              <a:rPr lang="en-US" sz="2400" dirty="0"/>
              <a:t>(</a:t>
            </a:r>
            <a:r>
              <a:rPr lang="en-US" sz="2400" b="1" dirty="0">
                <a:solidFill>
                  <a:srgbClr val="92D050"/>
                </a:solidFill>
              </a:rPr>
              <a:t>G</a:t>
            </a:r>
            <a:r>
              <a:rPr lang="en-US" sz="2400" dirty="0"/>
              <a:t>) color is calculated from </a:t>
            </a:r>
            <a:r>
              <a:rPr lang="en-US" sz="2400" b="1" dirty="0">
                <a:solidFill>
                  <a:srgbClr val="FF66CC"/>
                </a:solidFill>
              </a:rPr>
              <a:t>Magenta </a:t>
            </a:r>
            <a:r>
              <a:rPr lang="en-US" sz="2400" dirty="0"/>
              <a:t>(</a:t>
            </a:r>
            <a:r>
              <a:rPr lang="en-US" sz="2400" b="1" dirty="0">
                <a:solidFill>
                  <a:srgbClr val="FF66CC"/>
                </a:solidFill>
              </a:rPr>
              <a:t>M</a:t>
            </a:r>
            <a:r>
              <a:rPr lang="en-US" sz="2400" dirty="0"/>
              <a:t>) and </a:t>
            </a:r>
            <a:r>
              <a:rPr lang="en-US" sz="2400" b="1" dirty="0"/>
              <a:t>Black (K)</a:t>
            </a:r>
            <a:r>
              <a:rPr lang="en-US" sz="2400" dirty="0"/>
              <a:t> colors:</a:t>
            </a:r>
            <a:endParaRPr lang="en-US" sz="2400" dirty="0"/>
          </a:p>
          <a:p>
            <a:pPr marL="0" indent="0">
              <a:buNone/>
            </a:pPr>
            <a:r>
              <a:rPr lang="en-US" sz="2400" b="1" dirty="0">
                <a:solidFill>
                  <a:srgbClr val="92D050"/>
                </a:solidFill>
              </a:rPr>
              <a:t>G</a:t>
            </a:r>
            <a:r>
              <a:rPr lang="en-US" sz="2400" dirty="0"/>
              <a:t> = 255 × (1-</a:t>
            </a:r>
            <a:r>
              <a:rPr lang="en-US" sz="2400" b="1" dirty="0">
                <a:solidFill>
                  <a:srgbClr val="FF66CC"/>
                </a:solidFill>
              </a:rPr>
              <a:t>M</a:t>
            </a:r>
            <a:r>
              <a:rPr lang="en-US" sz="2400" dirty="0"/>
              <a:t>) × (1-</a:t>
            </a:r>
            <a:r>
              <a:rPr lang="en-US" sz="2400" b="1" dirty="0"/>
              <a:t>K</a:t>
            </a:r>
            <a:r>
              <a:rPr lang="en-US" sz="2400" dirty="0"/>
              <a:t>)</a:t>
            </a:r>
            <a:endParaRPr lang="en-US" sz="2400" dirty="0"/>
          </a:p>
          <a:p>
            <a:pPr marL="0" indent="0">
              <a:buNone/>
            </a:pPr>
            <a:endParaRPr lang="en-US" sz="2400" dirty="0"/>
          </a:p>
          <a:p>
            <a:pPr marL="0" indent="0">
              <a:buNone/>
            </a:pPr>
            <a:r>
              <a:rPr lang="en-US" sz="2400" b="1" dirty="0">
                <a:solidFill>
                  <a:srgbClr val="5B9BD5"/>
                </a:solidFill>
              </a:rPr>
              <a:t>Blue </a:t>
            </a:r>
            <a:r>
              <a:rPr lang="en-US" sz="2400" dirty="0"/>
              <a:t>(</a:t>
            </a:r>
            <a:r>
              <a:rPr lang="en-US" sz="2400" b="1" dirty="0">
                <a:solidFill>
                  <a:srgbClr val="5B9BD5"/>
                </a:solidFill>
              </a:rPr>
              <a:t>B</a:t>
            </a:r>
            <a:r>
              <a:rPr lang="en-US" sz="2400" dirty="0"/>
              <a:t>) color is calculated from </a:t>
            </a:r>
            <a:r>
              <a:rPr lang="en-US" sz="2400" b="1" dirty="0">
                <a:solidFill>
                  <a:srgbClr val="FFC000"/>
                </a:solidFill>
              </a:rPr>
              <a:t>Yellow</a:t>
            </a:r>
            <a:r>
              <a:rPr lang="en-US" sz="2400" b="1" dirty="0">
                <a:solidFill>
                  <a:srgbClr val="FFFF00"/>
                </a:solidFill>
              </a:rPr>
              <a:t> </a:t>
            </a:r>
            <a:r>
              <a:rPr lang="en-US" sz="2400" dirty="0"/>
              <a:t>(</a:t>
            </a:r>
            <a:r>
              <a:rPr lang="en-US" sz="2400" b="1" dirty="0">
                <a:solidFill>
                  <a:srgbClr val="FFC000"/>
                </a:solidFill>
              </a:rPr>
              <a:t>Y</a:t>
            </a:r>
            <a:r>
              <a:rPr lang="en-US" sz="2400" dirty="0"/>
              <a:t>) and </a:t>
            </a:r>
            <a:r>
              <a:rPr lang="en-US" sz="2400" b="1" dirty="0"/>
              <a:t>Black (K)</a:t>
            </a:r>
            <a:r>
              <a:rPr lang="en-US" sz="2400" dirty="0"/>
              <a:t> colors:</a:t>
            </a:r>
            <a:endParaRPr lang="en-US" sz="2400" dirty="0"/>
          </a:p>
          <a:p>
            <a:pPr marL="0" indent="0">
              <a:buNone/>
            </a:pPr>
            <a:r>
              <a:rPr lang="en-US" sz="2400" b="1" dirty="0">
                <a:solidFill>
                  <a:srgbClr val="5B9BD5"/>
                </a:solidFill>
              </a:rPr>
              <a:t>B</a:t>
            </a:r>
            <a:r>
              <a:rPr lang="en-US" sz="2400" dirty="0"/>
              <a:t> = 255 × (1-</a:t>
            </a:r>
            <a:r>
              <a:rPr lang="en-US" sz="2400" b="1" dirty="0">
                <a:solidFill>
                  <a:srgbClr val="FFC000"/>
                </a:solidFill>
              </a:rPr>
              <a:t>Y</a:t>
            </a:r>
            <a:r>
              <a:rPr lang="en-US" sz="2400" dirty="0"/>
              <a:t>) × (1-</a:t>
            </a:r>
            <a:r>
              <a:rPr lang="en-US" sz="2400" b="1" dirty="0"/>
              <a:t>K</a:t>
            </a:r>
            <a:r>
              <a:rPr lang="en-US" sz="2400" dirty="0"/>
              <a:t>)</a:t>
            </a:r>
            <a:endParaRPr lang="en-US" sz="24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092388"/>
            <a:ext cx="12192000" cy="4673223"/>
          </a:xfrm>
          <a:prstGeom prst="rect">
            <a:avLst/>
          </a:prstGeom>
        </p:spPr>
      </p:pic>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2"/>
          <a:stretch>
            <a:fillRect/>
          </a:stretch>
        </p:blipFill>
        <p:spPr>
          <a:xfrm>
            <a:off x="2856230" y="1358900"/>
            <a:ext cx="6293485" cy="4730750"/>
          </a:xfrm>
          <a:prstGeom prst="rect">
            <a:avLst/>
          </a:prstGeom>
        </p:spPr>
      </p:pic>
      <p:sp>
        <p:nvSpPr>
          <p:cNvPr id="7" name="Rectangle 6"/>
          <p:cNvSpPr/>
          <p:nvPr/>
        </p:nvSpPr>
        <p:spPr>
          <a:xfrm>
            <a:off x="4331041" y="508903"/>
            <a:ext cx="3343275" cy="583565"/>
          </a:xfrm>
          <a:prstGeom prst="rect">
            <a:avLst/>
          </a:prstGeom>
        </p:spPr>
        <p:txBody>
          <a:bodyPr wrap="none">
            <a:spAutoFit/>
          </a:bodyPr>
          <a:lstStyle/>
          <a:p>
            <a:r>
              <a:rPr lang="en-US" sz="3200" dirty="0"/>
              <a:t>RGB to CMYK Table</a:t>
            </a:r>
            <a:endParaRPr lang="en-US" sz="3200"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endParaRPr lang="en-US" dirty="0"/>
          </a:p>
        </p:txBody>
      </p:sp>
      <p:sp>
        <p:nvSpPr>
          <p:cNvPr id="3" name="Content Placeholder 2"/>
          <p:cNvSpPr>
            <a:spLocks noGrp="1"/>
          </p:cNvSpPr>
          <p:nvPr>
            <p:ph idx="1"/>
          </p:nvPr>
        </p:nvSpPr>
        <p:spPr/>
        <p:txBody>
          <a:bodyPr>
            <a:normAutofit fontScale="80000" lnSpcReduction="20000"/>
          </a:bodyPr>
          <a:lstStyle/>
          <a:p>
            <a:pPr marL="0" indent="0">
              <a:buNone/>
            </a:pPr>
            <a:r>
              <a:rPr lang="en-US" sz="3500" dirty="0"/>
              <a:t>Convert </a:t>
            </a:r>
            <a:r>
              <a:rPr lang="en-US" sz="3500" b="1" dirty="0">
                <a:solidFill>
                  <a:srgbClr val="FF0000"/>
                </a:solidFill>
              </a:rPr>
              <a:t>R</a:t>
            </a:r>
            <a:r>
              <a:rPr lang="en-US" sz="3500" b="1" dirty="0">
                <a:solidFill>
                  <a:srgbClr val="92D050"/>
                </a:solidFill>
              </a:rPr>
              <a:t>G</a:t>
            </a:r>
            <a:r>
              <a:rPr lang="en-US" sz="3500" b="1" dirty="0">
                <a:solidFill>
                  <a:schemeClr val="accent1"/>
                </a:solidFill>
              </a:rPr>
              <a:t>B</a:t>
            </a:r>
            <a:r>
              <a:rPr lang="en-US" sz="3500" dirty="0"/>
              <a:t> (175, 230, 200) to </a:t>
            </a:r>
            <a:r>
              <a:rPr lang="en-US" sz="3500" b="1" dirty="0">
                <a:solidFill>
                  <a:srgbClr val="33CCFF"/>
                </a:solidFill>
              </a:rPr>
              <a:t>C</a:t>
            </a:r>
            <a:r>
              <a:rPr lang="en-US" sz="3500" b="1" dirty="0">
                <a:solidFill>
                  <a:srgbClr val="FF66CC"/>
                </a:solidFill>
              </a:rPr>
              <a:t>M</a:t>
            </a:r>
            <a:r>
              <a:rPr lang="en-US" sz="3500" b="1" dirty="0">
                <a:solidFill>
                  <a:schemeClr val="accent4">
                    <a:lumMod val="60000"/>
                    <a:lumOff val="40000"/>
                  </a:schemeClr>
                </a:solidFill>
              </a:rPr>
              <a:t>Y</a:t>
            </a:r>
            <a:r>
              <a:rPr lang="en-US" sz="3500" b="1" dirty="0"/>
              <a:t>K</a:t>
            </a:r>
            <a:r>
              <a:rPr lang="en-US" sz="3500" dirty="0"/>
              <a:t> !</a:t>
            </a:r>
            <a:endParaRPr lang="en-US" sz="3500" dirty="0"/>
          </a:p>
          <a:p>
            <a:pPr marL="0" indent="0">
              <a:buNone/>
            </a:pPr>
            <a:endParaRPr lang="en-US" dirty="0"/>
          </a:p>
          <a:p>
            <a:pPr marL="0" indent="0">
              <a:buNone/>
            </a:pPr>
            <a:r>
              <a:rPr lang="en-US" b="1" dirty="0"/>
              <a:t>Answer :</a:t>
            </a:r>
            <a:endParaRPr lang="en-US" b="1" dirty="0"/>
          </a:p>
          <a:p>
            <a:pPr marL="0" indent="0">
              <a:buNone/>
            </a:pPr>
            <a:r>
              <a:rPr lang="en-US" sz="2800" b="1" dirty="0">
                <a:solidFill>
                  <a:srgbClr val="FF0000"/>
                </a:solidFill>
              </a:rPr>
              <a:t>R</a:t>
            </a:r>
            <a:r>
              <a:rPr lang="pt-BR" sz="2800" dirty="0"/>
              <a:t>' = </a:t>
            </a:r>
            <a:r>
              <a:rPr lang="en-US" sz="2800" b="1" dirty="0">
                <a:solidFill>
                  <a:srgbClr val="FF0000"/>
                </a:solidFill>
              </a:rPr>
              <a:t>R</a:t>
            </a:r>
            <a:r>
              <a:rPr lang="pt-BR" sz="2800" dirty="0"/>
              <a:t>/255 		</a:t>
            </a:r>
            <a:r>
              <a:rPr lang="pt-BR" sz="2800" dirty="0">
                <a:sym typeface="Wingdings" panose="05000000000000000000" pitchFamily="2" charset="2"/>
              </a:rPr>
              <a:t> </a:t>
            </a:r>
            <a:r>
              <a:rPr lang="en-US" dirty="0"/>
              <a:t>175/255 = </a:t>
            </a:r>
            <a:r>
              <a:rPr lang="en-US" b="1" dirty="0"/>
              <a:t>0.686275 </a:t>
            </a:r>
            <a:endParaRPr lang="pt-BR" sz="2800" b="1" dirty="0"/>
          </a:p>
          <a:p>
            <a:pPr marL="0" indent="0">
              <a:buNone/>
            </a:pPr>
            <a:r>
              <a:rPr lang="en-US" sz="2800" b="1" dirty="0">
                <a:solidFill>
                  <a:srgbClr val="92D050"/>
                </a:solidFill>
              </a:rPr>
              <a:t>G</a:t>
            </a:r>
            <a:r>
              <a:rPr lang="pt-BR" sz="2800" dirty="0"/>
              <a:t>' = </a:t>
            </a:r>
            <a:r>
              <a:rPr lang="en-US" sz="2800" b="1" dirty="0">
                <a:solidFill>
                  <a:srgbClr val="92D050"/>
                </a:solidFill>
              </a:rPr>
              <a:t>G</a:t>
            </a:r>
            <a:r>
              <a:rPr lang="pt-BR" sz="2800" dirty="0"/>
              <a:t>/255 		</a:t>
            </a:r>
            <a:r>
              <a:rPr lang="pt-BR" sz="2800" dirty="0">
                <a:sym typeface="Wingdings" panose="05000000000000000000" pitchFamily="2" charset="2"/>
              </a:rPr>
              <a:t> </a:t>
            </a:r>
            <a:r>
              <a:rPr lang="en-US" dirty="0"/>
              <a:t>230/255 = </a:t>
            </a:r>
            <a:r>
              <a:rPr lang="en-US" b="1" dirty="0"/>
              <a:t>0.901961</a:t>
            </a:r>
            <a:endParaRPr lang="pt-BR" sz="2800" b="1" dirty="0"/>
          </a:p>
          <a:p>
            <a:pPr marL="0" indent="0">
              <a:buNone/>
            </a:pPr>
            <a:r>
              <a:rPr lang="en-US" sz="2800" b="1" dirty="0">
                <a:solidFill>
                  <a:srgbClr val="5B9BD5"/>
                </a:solidFill>
              </a:rPr>
              <a:t>B</a:t>
            </a:r>
            <a:r>
              <a:rPr lang="pt-BR" sz="2800" dirty="0"/>
              <a:t>' = </a:t>
            </a:r>
            <a:r>
              <a:rPr lang="en-US" sz="2800" b="1" dirty="0">
                <a:solidFill>
                  <a:srgbClr val="5B9BD5"/>
                </a:solidFill>
              </a:rPr>
              <a:t>B</a:t>
            </a:r>
            <a:r>
              <a:rPr lang="pt-BR" sz="2800" dirty="0"/>
              <a:t>/255 		</a:t>
            </a:r>
            <a:r>
              <a:rPr lang="pt-BR" sz="2800" dirty="0">
                <a:sym typeface="Wingdings" panose="05000000000000000000" pitchFamily="2" charset="2"/>
              </a:rPr>
              <a:t> </a:t>
            </a:r>
            <a:r>
              <a:rPr lang="en-US" dirty="0"/>
              <a:t>200/255 = </a:t>
            </a:r>
            <a:r>
              <a:rPr lang="en-US" b="1" dirty="0"/>
              <a:t>0.784314 </a:t>
            </a:r>
            <a:endParaRPr lang="en-US" dirty="0"/>
          </a:p>
          <a:p>
            <a:pPr marL="0" indent="0">
              <a:buNone/>
            </a:pPr>
            <a:r>
              <a:rPr lang="en-US" sz="2800" b="1" dirty="0"/>
              <a:t>K</a:t>
            </a:r>
            <a:r>
              <a:rPr lang="en-US" sz="2800" dirty="0"/>
              <a:t> = 1-max(</a:t>
            </a:r>
            <a:r>
              <a:rPr lang="en-US" sz="2800" b="1" dirty="0">
                <a:solidFill>
                  <a:srgbClr val="FF0000"/>
                </a:solidFill>
              </a:rPr>
              <a:t>R</a:t>
            </a:r>
            <a:r>
              <a:rPr lang="en-US" sz="2800" dirty="0"/>
              <a:t>', </a:t>
            </a:r>
            <a:r>
              <a:rPr lang="en-US" sz="2800" b="1" dirty="0">
                <a:solidFill>
                  <a:srgbClr val="92D050"/>
                </a:solidFill>
              </a:rPr>
              <a:t>G</a:t>
            </a:r>
            <a:r>
              <a:rPr lang="en-US" sz="2800" dirty="0"/>
              <a:t>', </a:t>
            </a:r>
            <a:r>
              <a:rPr lang="en-US" sz="2800" b="1" dirty="0">
                <a:solidFill>
                  <a:srgbClr val="00B0F0"/>
                </a:solidFill>
              </a:rPr>
              <a:t>B</a:t>
            </a:r>
            <a:r>
              <a:rPr lang="en-US" sz="2800" dirty="0"/>
              <a:t>’) 	</a:t>
            </a:r>
            <a:r>
              <a:rPr lang="en-US" sz="2800" dirty="0">
                <a:sym typeface="Wingdings" panose="05000000000000000000" pitchFamily="2" charset="2"/>
              </a:rPr>
              <a:t> 1 - </a:t>
            </a:r>
            <a:r>
              <a:rPr lang="en-US" dirty="0"/>
              <a:t>0.901961 = </a:t>
            </a:r>
            <a:r>
              <a:rPr lang="en-US" b="1" dirty="0"/>
              <a:t>0.098039</a:t>
            </a:r>
            <a:endParaRPr lang="en-US" b="1" dirty="0"/>
          </a:p>
          <a:p>
            <a:pPr marL="0" indent="0">
              <a:buNone/>
            </a:pPr>
            <a:endParaRPr lang="en-US" dirty="0"/>
          </a:p>
          <a:p>
            <a:pPr marL="0" indent="0">
              <a:buNone/>
            </a:pPr>
            <a:r>
              <a:rPr lang="en-US" sz="2800" b="1" dirty="0">
                <a:solidFill>
                  <a:srgbClr val="33CCFF"/>
                </a:solidFill>
              </a:rPr>
              <a:t>C</a:t>
            </a:r>
            <a:r>
              <a:rPr lang="en-US" sz="2800" dirty="0"/>
              <a:t> = (1-</a:t>
            </a:r>
            <a:r>
              <a:rPr lang="en-US" sz="2800" b="1" dirty="0">
                <a:solidFill>
                  <a:srgbClr val="FF0000"/>
                </a:solidFill>
              </a:rPr>
              <a:t>R</a:t>
            </a:r>
            <a:r>
              <a:rPr lang="en-US" sz="2800" dirty="0"/>
              <a:t>'-</a:t>
            </a:r>
            <a:r>
              <a:rPr lang="en-US" sz="2800" b="1" dirty="0"/>
              <a:t>K</a:t>
            </a:r>
            <a:r>
              <a:rPr lang="en-US" sz="2800" dirty="0"/>
              <a:t>) / (1-</a:t>
            </a:r>
            <a:r>
              <a:rPr lang="en-US" sz="2800" b="1" dirty="0"/>
              <a:t>K</a:t>
            </a:r>
            <a:r>
              <a:rPr lang="en-US" sz="2800" dirty="0"/>
              <a:t>) 	</a:t>
            </a:r>
            <a:r>
              <a:rPr lang="en-US" sz="2800" dirty="0">
                <a:sym typeface="Wingdings" panose="05000000000000000000" pitchFamily="2" charset="2"/>
              </a:rPr>
              <a:t> </a:t>
            </a:r>
            <a:r>
              <a:rPr lang="en-US" dirty="0"/>
              <a:t>(1 - 0.686275 - 0.098039) / (1 - 0.098039) = </a:t>
            </a:r>
            <a:r>
              <a:rPr lang="en-US" b="1" dirty="0"/>
              <a:t>0.23913</a:t>
            </a:r>
            <a:endParaRPr lang="en-US" b="1" dirty="0"/>
          </a:p>
          <a:p>
            <a:pPr marL="0" indent="0">
              <a:buNone/>
            </a:pPr>
            <a:r>
              <a:rPr lang="en-US" sz="2800" b="1" dirty="0">
                <a:solidFill>
                  <a:srgbClr val="FF66CC"/>
                </a:solidFill>
              </a:rPr>
              <a:t>M</a:t>
            </a:r>
            <a:r>
              <a:rPr lang="en-US" sz="2800" dirty="0"/>
              <a:t> = (1-</a:t>
            </a:r>
            <a:r>
              <a:rPr lang="en-US" sz="2800" b="1" dirty="0">
                <a:solidFill>
                  <a:srgbClr val="92D050"/>
                </a:solidFill>
              </a:rPr>
              <a:t>G</a:t>
            </a:r>
            <a:r>
              <a:rPr lang="en-US" sz="2800" dirty="0"/>
              <a:t>'-</a:t>
            </a:r>
            <a:r>
              <a:rPr lang="en-US" sz="2800" b="1" dirty="0"/>
              <a:t>K</a:t>
            </a:r>
            <a:r>
              <a:rPr lang="en-US" sz="2800" dirty="0"/>
              <a:t>) / (1-</a:t>
            </a:r>
            <a:r>
              <a:rPr lang="en-US" sz="2800" b="1" dirty="0"/>
              <a:t>K</a:t>
            </a:r>
            <a:r>
              <a:rPr lang="en-US" sz="2800" dirty="0"/>
              <a:t>) 	</a:t>
            </a:r>
            <a:r>
              <a:rPr lang="en-US" sz="2800" dirty="0">
                <a:sym typeface="Wingdings" panose="05000000000000000000" pitchFamily="2" charset="2"/>
              </a:rPr>
              <a:t></a:t>
            </a:r>
            <a:r>
              <a:rPr lang="en-US" dirty="0"/>
              <a:t> (1 - 0.901961 - 0.098039) / (1 - 0.098039) = </a:t>
            </a:r>
            <a:r>
              <a:rPr lang="en-US" b="1" dirty="0"/>
              <a:t>0</a:t>
            </a:r>
            <a:endParaRPr lang="en-US" b="1" dirty="0"/>
          </a:p>
          <a:p>
            <a:pPr marL="0" indent="0">
              <a:buNone/>
            </a:pPr>
            <a:r>
              <a:rPr lang="en-US" sz="2800" b="1" dirty="0">
                <a:solidFill>
                  <a:srgbClr val="FFC000"/>
                </a:solidFill>
              </a:rPr>
              <a:t>Y</a:t>
            </a:r>
            <a:r>
              <a:rPr lang="en-US" sz="2800" dirty="0"/>
              <a:t> = (1-</a:t>
            </a:r>
            <a:r>
              <a:rPr lang="en-US" sz="2800" b="1" dirty="0">
                <a:solidFill>
                  <a:srgbClr val="5B9BD5"/>
                </a:solidFill>
              </a:rPr>
              <a:t>B</a:t>
            </a:r>
            <a:r>
              <a:rPr lang="en-US" sz="2800" dirty="0"/>
              <a:t>'-</a:t>
            </a:r>
            <a:r>
              <a:rPr lang="en-US" sz="2800" b="1" dirty="0"/>
              <a:t>K</a:t>
            </a:r>
            <a:r>
              <a:rPr lang="en-US" sz="2800" dirty="0"/>
              <a:t>) / (1-</a:t>
            </a:r>
            <a:r>
              <a:rPr lang="en-US" sz="2800" b="1" dirty="0"/>
              <a:t>K</a:t>
            </a:r>
            <a:r>
              <a:rPr lang="en-US" sz="2800" dirty="0"/>
              <a:t>)	</a:t>
            </a:r>
            <a:r>
              <a:rPr lang="en-US" sz="2800" dirty="0">
                <a:sym typeface="Wingdings" panose="05000000000000000000" pitchFamily="2" charset="2"/>
              </a:rPr>
              <a:t></a:t>
            </a:r>
            <a:r>
              <a:rPr lang="en-US" dirty="0"/>
              <a:t> (1 - 0.784314 - 0.098039) / (1 - 0.098039) = </a:t>
            </a:r>
            <a:r>
              <a:rPr lang="en-US" b="1" dirty="0"/>
              <a:t>0.130435</a:t>
            </a:r>
            <a:endParaRPr lang="en-US" b="1" dirty="0"/>
          </a:p>
          <a:p>
            <a:pPr marL="0" indent="0">
              <a:buNone/>
            </a:pPr>
            <a:endParaRPr lang="en-US" dirty="0"/>
          </a:p>
          <a:p>
            <a:pPr marL="0" indent="0">
              <a:buNone/>
            </a:pPr>
            <a:endParaRPr lang="en-US" b="1"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result</a:t>
            </a:r>
            <a:endParaRPr lang="en-US"/>
          </a:p>
        </p:txBody>
      </p:sp>
      <p:sp>
        <p:nvSpPr>
          <p:cNvPr id="3" name="Content Placeholder 2"/>
          <p:cNvSpPr>
            <a:spLocks noGrp="1"/>
          </p:cNvSpPr>
          <p:nvPr>
            <p:ph idx="1"/>
          </p:nvPr>
        </p:nvSpPr>
        <p:spPr/>
        <p:txBody>
          <a:bodyPr/>
          <a:p>
            <a:pPr marL="0" indent="0">
              <a:buNone/>
            </a:pPr>
            <a:r>
              <a:rPr lang="en-US" dirty="0">
                <a:sym typeface="+mn-ea"/>
              </a:rPr>
              <a:t>But the result of the color calculation is still in the form of normalization, it must be returned to the original color form by multiplying by 255 (maximum color value), So the result of the conversion becomes:</a:t>
            </a:r>
            <a:endParaRPr lang="en-US" dirty="0">
              <a:sym typeface="+mn-ea"/>
            </a:endParaRPr>
          </a:p>
          <a:p>
            <a:pPr marL="0" indent="0">
              <a:buNone/>
            </a:pPr>
            <a:endParaRPr lang="en-US" dirty="0"/>
          </a:p>
          <a:p>
            <a:pPr marL="0" indent="0">
              <a:buNone/>
            </a:pPr>
            <a:r>
              <a:rPr lang="en-US" b="1" dirty="0">
                <a:sym typeface="+mn-ea"/>
              </a:rPr>
              <a:t>K</a:t>
            </a:r>
            <a:r>
              <a:rPr lang="en-US" dirty="0">
                <a:sym typeface="+mn-ea"/>
              </a:rPr>
              <a:t> = 0.098039 * 255 = </a:t>
            </a:r>
            <a:r>
              <a:rPr lang="en-US" b="1" dirty="0">
                <a:sym typeface="+mn-ea"/>
              </a:rPr>
              <a:t>25</a:t>
            </a:r>
            <a:endParaRPr lang="en-US" b="1" dirty="0"/>
          </a:p>
          <a:p>
            <a:pPr marL="0" indent="0">
              <a:buNone/>
            </a:pPr>
            <a:r>
              <a:rPr lang="en-US" b="1" dirty="0">
                <a:solidFill>
                  <a:srgbClr val="33CCFF"/>
                </a:solidFill>
                <a:sym typeface="+mn-ea"/>
              </a:rPr>
              <a:t>C</a:t>
            </a:r>
            <a:r>
              <a:rPr lang="en-US" dirty="0">
                <a:sym typeface="+mn-ea"/>
              </a:rPr>
              <a:t> = 0.23913 * 255 = </a:t>
            </a:r>
            <a:r>
              <a:rPr lang="en-US" b="1" dirty="0">
                <a:sym typeface="+mn-ea"/>
              </a:rPr>
              <a:t>60.97826</a:t>
            </a:r>
            <a:endParaRPr lang="en-US" b="1" dirty="0"/>
          </a:p>
          <a:p>
            <a:pPr marL="0" indent="0">
              <a:buNone/>
            </a:pPr>
            <a:r>
              <a:rPr lang="en-US" b="1" dirty="0">
                <a:solidFill>
                  <a:srgbClr val="FF66CC"/>
                </a:solidFill>
                <a:sym typeface="+mn-ea"/>
              </a:rPr>
              <a:t>M</a:t>
            </a:r>
            <a:r>
              <a:rPr lang="en-US" dirty="0">
                <a:sym typeface="+mn-ea"/>
              </a:rPr>
              <a:t> = 0 * 255 = </a:t>
            </a:r>
            <a:r>
              <a:rPr lang="en-US" b="1" dirty="0">
                <a:sym typeface="+mn-ea"/>
              </a:rPr>
              <a:t>0</a:t>
            </a:r>
            <a:endParaRPr lang="en-US" b="1" dirty="0"/>
          </a:p>
          <a:p>
            <a:pPr marL="0" indent="0">
              <a:buNone/>
            </a:pPr>
            <a:r>
              <a:rPr lang="en-US" b="1" dirty="0">
                <a:solidFill>
                  <a:srgbClr val="FFC000"/>
                </a:solidFill>
                <a:sym typeface="+mn-ea"/>
              </a:rPr>
              <a:t>Y</a:t>
            </a:r>
            <a:r>
              <a:rPr lang="en-US" dirty="0">
                <a:sym typeface="+mn-ea"/>
              </a:rPr>
              <a:t> = 0.130435 * 255 = </a:t>
            </a:r>
            <a:r>
              <a:rPr lang="en-US" b="1" dirty="0">
                <a:sym typeface="+mn-ea"/>
              </a:rPr>
              <a:t>33.26087 </a:t>
            </a:r>
            <a:endParaRPr lang="en-US" b="1" dirty="0"/>
          </a:p>
          <a:p>
            <a:endParaRPr lang="en-US"/>
          </a:p>
        </p:txBody>
      </p:sp>
      <p:sp>
        <p:nvSpPr>
          <p:cNvPr id="4" name="Footer Placeholder 3"/>
          <p:cNvSpPr>
            <a:spLocks noGrp="1"/>
          </p:cNvSpPr>
          <p:nvPr>
            <p:ph type="ftr" sz="quarter" idx="11"/>
          </p:nvPr>
        </p:nvSpPr>
        <p:spPr/>
        <p:txBody>
          <a:bodyPr/>
          <a:p>
            <a:r>
              <a:rPr lang="en-US"/>
              <a:t>feraputriayu@umm.ac.id</a:t>
            </a:r>
            <a:endParaRPr lang="en-US"/>
          </a:p>
        </p:txBody>
      </p:sp>
      <p:sp>
        <p:nvSpPr>
          <p:cNvPr id="5" name="Slide Number Placeholder 4"/>
          <p:cNvSpPr>
            <a:spLocks noGrp="1"/>
          </p:cNvSpPr>
          <p:nvPr>
            <p:ph type="sldNum" sz="quarter" idx="12"/>
          </p:nvPr>
        </p:nvSpPr>
        <p:spPr/>
        <p:txBody>
          <a:bodyPr/>
          <a:p>
            <a:fld id="{79596C48-2C34-4EDC-A0FF-CA1207F3E0C1}" type="slidenum">
              <a:rPr lang="en-US" smtClean="0"/>
            </a:fld>
            <a:endParaRPr lang="en-US"/>
          </a:p>
        </p:txBody>
      </p:sp>
    </p:spTree>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a:t>end of presentation</a:t>
            </a:r>
            <a:endParaRPr lang="en-US" sz="2800"/>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r>
              <a:rPr lang="en-US" sz="4400" b="1" dirty="0"/>
              <a:t>THANK</a:t>
            </a:r>
            <a:r>
              <a:rPr lang="en-US" sz="4400" dirty="0"/>
              <a:t>YOU</a:t>
            </a:r>
            <a:endParaRPr lang="en-US" sz="4400" dirty="0"/>
          </a:p>
        </p:txBody>
      </p:sp>
      <p:sp>
        <p:nvSpPr>
          <p:cNvPr id="4" name="Footer Placeholder 3"/>
          <p:cNvSpPr>
            <a:spLocks noGrp="1"/>
          </p:cNvSpPr>
          <p:nvPr>
            <p:ph type="ftr" sz="quarter" idx="11"/>
          </p:nvPr>
        </p:nvSpPr>
        <p:spPr/>
        <p:txBody>
          <a:bodyPr/>
          <a:lstStyle/>
          <a:p>
            <a:r>
              <a:rPr lang="en-US"/>
              <a:t>feraputriayu@umm.ac.id</a:t>
            </a:r>
            <a:endParaRPr lang="en-US"/>
          </a:p>
        </p:txBody>
      </p:sp>
      <p:sp>
        <p:nvSpPr>
          <p:cNvPr id="5" name="Slide Number Placeholder 4"/>
          <p:cNvSpPr>
            <a:spLocks noGrp="1"/>
          </p:cNvSpPr>
          <p:nvPr>
            <p:ph type="sldNum" sz="quarter" idx="12"/>
          </p:nvPr>
        </p:nvSpPr>
        <p:spPr/>
        <p:txBody>
          <a:bodyPr/>
          <a:lstStyle/>
          <a:p>
            <a:fld id="{79596C48-2C34-4EDC-A0FF-CA1207F3E0C1}" type="slidenum">
              <a:rPr lang="en-US" smtClean="0"/>
            </a:fld>
            <a:endParaRPr lang="en-US"/>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6150526"/>
            <a:ext cx="1845733" cy="707474"/>
          </a:xfrm>
          <a:prstGeom prst="rect">
            <a:avLst/>
          </a:prstGeom>
        </p:spPr>
      </p:pic>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14664</Words>
  <Application>WPS Presentation</Application>
  <PresentationFormat>Widescreen</PresentationFormat>
  <Paragraphs>1130</Paragraphs>
  <Slides>42</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42</vt:i4>
      </vt:variant>
    </vt:vector>
  </HeadingPairs>
  <TitlesOfParts>
    <vt:vector size="51" baseType="lpstr">
      <vt:lpstr>Arial</vt:lpstr>
      <vt:lpstr>SimSun</vt:lpstr>
      <vt:lpstr>Wingdings</vt:lpstr>
      <vt:lpstr>Cambria Math</vt:lpstr>
      <vt:lpstr>Calibri Light</vt:lpstr>
      <vt:lpstr>Calibri</vt:lpstr>
      <vt:lpstr>Microsoft YaHei</vt:lpstr>
      <vt:lpstr>Arial Unicode MS</vt:lpstr>
      <vt:lpstr>Office Theme</vt:lpstr>
      <vt:lpstr>Computer Graphics</vt:lpstr>
      <vt:lpstr>OUTLINES</vt:lpstr>
      <vt:lpstr>Color Space</vt:lpstr>
      <vt:lpstr>PowerPoint 演示文稿</vt:lpstr>
      <vt:lpstr>PowerPoint 演示文稿</vt:lpstr>
      <vt:lpstr>RGB</vt:lpstr>
      <vt:lpstr>PowerPoint 演示文稿</vt:lpstr>
      <vt:lpstr>PowerPoint 演示文稿</vt:lpstr>
      <vt:lpstr>RGB : Additive</vt:lpstr>
      <vt:lpstr>RGB ranges quantified</vt:lpstr>
      <vt:lpstr>PowerPoint 演示文稿</vt:lpstr>
      <vt:lpstr>PowerPoint 演示文稿</vt:lpstr>
      <vt:lpstr>Decimal Number</vt:lpstr>
      <vt:lpstr>Hexadecimal Number</vt:lpstr>
      <vt:lpstr>Hex representation</vt:lpstr>
      <vt:lpstr>Converting Decimal To Hexadecimal</vt:lpstr>
      <vt:lpstr>Converting Decimal To Hexadecimal (2)</vt:lpstr>
      <vt:lpstr>PowerPoint 演示文稿</vt:lpstr>
      <vt:lpstr>PowerPoint 演示文稿</vt:lpstr>
      <vt:lpstr>Converting Hexadecimal to Decimal</vt:lpstr>
      <vt:lpstr>Hexadecimals Color</vt:lpstr>
      <vt:lpstr>Hexadecimals Color (2)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CMYK</vt:lpstr>
      <vt:lpstr>How does CMYK Color Work?</vt:lpstr>
      <vt:lpstr>PowerPoint 演示文稿</vt:lpstr>
      <vt:lpstr>Conversion CMY to CMYK</vt:lpstr>
      <vt:lpstr>CMYK : Subtractive</vt:lpstr>
      <vt:lpstr>INK vs LIGHT</vt:lpstr>
      <vt:lpstr>PowerPoint 演示文稿</vt:lpstr>
      <vt:lpstr>Conversion RGB to CMYK</vt:lpstr>
      <vt:lpstr>Conversion CMYK to RGB</vt:lpstr>
      <vt:lpstr>PowerPoint 演示文稿</vt:lpstr>
      <vt:lpstr>exercise</vt:lpstr>
      <vt:lpstr>result</vt:lpstr>
      <vt:lpstr>end of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Pengantar Topologi</dc:title>
  <dc:creator>ozora</dc:creator>
  <cp:lastModifiedBy>Mee</cp:lastModifiedBy>
  <cp:revision>1514</cp:revision>
  <dcterms:created xsi:type="dcterms:W3CDTF">2018-07-26T02:12:00Z</dcterms:created>
  <dcterms:modified xsi:type="dcterms:W3CDTF">2026-03-09T04:23:14Z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BED7EDB75F6747C0B61EE44F78A53C15</vt:lpwstr>
  </property>
  <property fmtid="{D5CDD505-2E9C-101B-9397-08002B2CF9AE}" pid="3" name="KSOProductBuildVer">
    <vt:lpwstr>1033-11.2.0.11537</vt:lpwstr>
  </property>
</Properties>
</file>