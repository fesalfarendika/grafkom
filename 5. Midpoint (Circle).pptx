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381" r:id="rId5"/>
    <p:sldId id="382" r:id="rId6"/>
    <p:sldId id="329" r:id="rId7"/>
    <p:sldId id="344" r:id="rId8"/>
    <p:sldId id="328" r:id="rId9"/>
    <p:sldId id="345" r:id="rId10"/>
    <p:sldId id="346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16" r:id="rId19"/>
    <p:sldId id="303" r:id="rId20"/>
    <p:sldId id="304" r:id="rId21"/>
    <p:sldId id="306" r:id="rId22"/>
    <p:sldId id="308" r:id="rId23"/>
    <p:sldId id="317" r:id="rId24"/>
    <p:sldId id="309" r:id="rId25"/>
    <p:sldId id="311" r:id="rId26"/>
    <p:sldId id="313" r:id="rId27"/>
    <p:sldId id="315" r:id="rId28"/>
    <p:sldId id="339" r:id="rId29"/>
    <p:sldId id="324" r:id="rId30"/>
    <p:sldId id="341" r:id="rId31"/>
    <p:sldId id="325" r:id="rId32"/>
    <p:sldId id="327" r:id="rId33"/>
    <p:sldId id="319" r:id="rId34"/>
    <p:sldId id="318" r:id="rId35"/>
    <p:sldId id="322" r:id="rId36"/>
    <p:sldId id="298" r:id="rId37"/>
    <p:sldId id="38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FF66FF"/>
    <a:srgbClr val="BF9000"/>
    <a:srgbClr val="D2DEEF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73" autoAdjust="0"/>
    <p:restoredTop sz="93861" autoAdjust="0"/>
  </p:normalViewPr>
  <p:slideViewPr>
    <p:cSldViewPr snapToGrid="0">
      <p:cViewPr varScale="1">
        <p:scale>
          <a:sx n="77" d="100"/>
          <a:sy n="77" d="100"/>
        </p:scale>
        <p:origin x="51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02212-5716-44E5-A1D3-DEEEA75002B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D9D3C-2FF3-4260-83CA-6E5EE589618D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DF37FCA-1AC5-4417-9439-50102B5C964F}" type="datetime1">
              <a:rPr lang="en-US" smtClean="0"/>
            </a:fld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christian.s.k.aditya@gmail.com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pusat</a:t>
            </a:r>
            <a:r>
              <a:rPr lang="en-US" dirty="0"/>
              <a:t> A(a, b) dan </a:t>
            </a:r>
            <a:r>
              <a:rPr lang="en-US" dirty="0" err="1"/>
              <a:t>jari-jari</a:t>
            </a:r>
            <a:r>
              <a:rPr lang="en-US" dirty="0"/>
              <a:t> r </a:t>
            </a:r>
            <a:r>
              <a:rPr lang="en-US" dirty="0" err="1"/>
              <a:t>adalah</a:t>
            </a:r>
            <a:r>
              <a:rPr lang="en-US" dirty="0"/>
              <a:t> (x-a)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dirty="0"/>
              <a:t>Where 2x</a:t>
            </a:r>
            <a:r>
              <a:rPr lang="en-US" sz="2800" baseline="-25000" dirty="0"/>
              <a:t>k+1</a:t>
            </a:r>
            <a:r>
              <a:rPr lang="en-US" sz="2800" dirty="0"/>
              <a:t> = 2x</a:t>
            </a:r>
            <a:r>
              <a:rPr lang="en-US" sz="2800" baseline="-25000" dirty="0"/>
              <a:t>k</a:t>
            </a:r>
            <a:r>
              <a:rPr lang="en-US" sz="2800" dirty="0"/>
              <a:t> + 2 and 2y</a:t>
            </a:r>
            <a:r>
              <a:rPr lang="en-US" sz="2800" baseline="-25000" dirty="0"/>
              <a:t>k+1</a:t>
            </a:r>
            <a:r>
              <a:rPr lang="en-US" sz="2800" dirty="0"/>
              <a:t> = 2y</a:t>
            </a:r>
            <a:r>
              <a:rPr lang="en-US" sz="2800" baseline="-25000" dirty="0"/>
              <a:t>k</a:t>
            </a:r>
            <a:r>
              <a:rPr lang="en-US" sz="2800" dirty="0"/>
              <a:t> - 2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>
              <a:spcBef>
                <a:spcPts val="1000"/>
              </a:spcBef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1200" dirty="0"/>
              <a:t>2x</a:t>
            </a:r>
            <a:r>
              <a:rPr lang="en-US" sz="1200" baseline="-25000" dirty="0"/>
              <a:t>k+1</a:t>
            </a:r>
            <a:r>
              <a:rPr lang="en-US" sz="1200" dirty="0"/>
              <a:t> = 2x</a:t>
            </a:r>
            <a:r>
              <a:rPr lang="en-US" sz="1200" baseline="-25000" dirty="0"/>
              <a:t>k</a:t>
            </a:r>
            <a:r>
              <a:rPr lang="en-US" sz="1200" dirty="0"/>
              <a:t> + 2 and 2y</a:t>
            </a:r>
            <a:r>
              <a:rPr lang="en-US" sz="1200" baseline="-25000" dirty="0"/>
              <a:t>k+1</a:t>
            </a:r>
            <a:r>
              <a:rPr lang="en-US" sz="1200" dirty="0"/>
              <a:t> = 2y</a:t>
            </a:r>
            <a:r>
              <a:rPr lang="en-US" sz="1200" baseline="-25000" dirty="0"/>
              <a:t>k</a:t>
            </a:r>
            <a:r>
              <a:rPr lang="en-US" sz="1200" dirty="0"/>
              <a:t> - 2</a:t>
            </a:r>
            <a:endParaRPr lang="en-US" sz="12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2.3 = 2.2 + 2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22DC-CA48-491D-BED8-C127EAB8195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B19A-500B-47D8-A3BB-592E3FCE0E9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081C-A2B4-4732-88EC-17A3C6CC76B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62BAC-28C6-4076-BCC6-F86D0266FC9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B90F-74B0-4B92-BA68-947BE41DE279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32FC-160F-4707-96D6-AF1265BD60E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5E80D-13F2-4E80-9F2F-F4DF9456D2C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F6CF-D08D-4894-843E-9257FE1FCA9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BD8E-E412-45E9-B120-C82A6A6CA3A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DD81-7D00-48C2-8B1D-B248D134731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E75-CD42-4B89-A74C-92CCE7B42F1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DC963-DB2E-40EE-BEC9-350309FFA36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Graphics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Week 5 </a:t>
            </a:r>
            <a:r>
              <a:rPr lang="en-US" b="1" dirty="0"/>
              <a:t>: </a:t>
            </a:r>
            <a:r>
              <a:rPr lang="en-US" i="1" dirty="0"/>
              <a:t>Midpoint (Circle)</a:t>
            </a:r>
            <a:endParaRPr lang="en-US" i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00F24-E945-4E23-AE98-19FD98E2160D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8" name="Title 4"/>
          <p:cNvSpPr>
            <a:spLocks noGrp="1"/>
          </p:cNvSpPr>
          <p:nvPr/>
        </p:nvSpPr>
        <p:spPr>
          <a:xfrm>
            <a:off x="965200" y="492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circle</a:t>
            </a:r>
            <a:endParaRPr lang="en-ID" dirty="0"/>
          </a:p>
        </p:txBody>
      </p:sp>
      <p:sp>
        <p:nvSpPr>
          <p:cNvPr id="9" name="Content Placeholder 5"/>
          <p:cNvSpPr>
            <a:spLocks noGrp="1"/>
          </p:cNvSpPr>
          <p:nvPr/>
        </p:nvSpPr>
        <p:spPr>
          <a:xfrm>
            <a:off x="965200" y="1952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 circle is a collection of points that have a distance from the same center point for all points.</a:t>
            </a:r>
            <a:endParaRPr lang="en-US" sz="2800" dirty="0"/>
          </a:p>
          <a:p>
            <a:r>
              <a:rPr lang="en-US" sz="2800" dirty="0"/>
              <a:t>In general, circles are used as components of an image. </a:t>
            </a:r>
            <a:endParaRPr lang="en-US" sz="2800" dirty="0"/>
          </a:p>
          <a:p>
            <a:r>
              <a:rPr lang="en-US" sz="2800" dirty="0"/>
              <a:t>The procedure for displaying circles and ellipses is made with the </a:t>
            </a:r>
            <a:r>
              <a:rPr lang="en-US" sz="2800" b="1" dirty="0"/>
              <a:t>basic equation </a:t>
            </a:r>
            <a:r>
              <a:rPr lang="en-US" sz="2800" dirty="0"/>
              <a:t>of the circle </a:t>
            </a:r>
            <a:r>
              <a:rPr lang="en-US" sz="2800" b="1" dirty="0"/>
              <a:t>𝑥</a:t>
            </a:r>
            <a:r>
              <a:rPr lang="en-US" sz="2800" b="1" baseline="30000" dirty="0"/>
              <a:t>2 </a:t>
            </a:r>
            <a:r>
              <a:rPr lang="en-US" sz="2800" b="1" dirty="0"/>
              <a:t>+ 𝑦</a:t>
            </a:r>
            <a:r>
              <a:rPr lang="en-US" sz="2800" b="1" baseline="30000" dirty="0"/>
              <a:t> 2 </a:t>
            </a:r>
            <a:r>
              <a:rPr lang="en-US" sz="2800" b="1" dirty="0"/>
              <a:t>=𝑟</a:t>
            </a:r>
            <a:r>
              <a:rPr lang="en-US" sz="2800" b="1" baseline="30000" dirty="0"/>
              <a:t> 2 </a:t>
            </a:r>
            <a:r>
              <a:rPr lang="en-US" sz="2800" dirty="0"/>
              <a:t>.</a:t>
            </a:r>
            <a:endParaRPr lang="en-US" sz="2800" dirty="0"/>
          </a:p>
          <a:p>
            <a:r>
              <a:rPr lang="en-US" sz="2800" dirty="0"/>
              <a:t>Circles can be made by drawing a quarter circle, because other parts can be made as symmetrical parts.</a:t>
            </a:r>
            <a:endParaRPr lang="en-US" sz="280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/>
        </p:nvSpPr>
        <p:spPr>
          <a:xfrm>
            <a:off x="965200" y="492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Symmetrical Eight Points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/>
              <p:cNvSpPr>
                <a:spLocks noGrp="1"/>
              </p:cNvSpPr>
              <p:nvPr/>
            </p:nvSpPr>
            <p:spPr>
              <a:xfrm>
                <a:off x="685802" y="2142067"/>
                <a:ext cx="7557654" cy="36491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/>
                  <a:t>The process of making a circle can be done by </a:t>
                </a:r>
                <a:r>
                  <a:rPr lang="en-US" sz="2800" b="1" dirty="0"/>
                  <a:t>determining one starting point</a:t>
                </a:r>
                <a:r>
                  <a:rPr lang="en-US" sz="2800" dirty="0"/>
                  <a:t>. </a:t>
                </a:r>
                <a:endParaRPr lang="en-US" sz="2800" dirty="0"/>
              </a:p>
              <a:p>
                <a:r>
                  <a:rPr lang="en-US" sz="2800" dirty="0"/>
                  <a:t>If the starting point is a circle (x, y), then there are three other positions, so that eight points can be obtained.</a:t>
                </a:r>
                <a:endParaRPr lang="en-US" sz="2800" dirty="0"/>
              </a:p>
              <a:p>
                <a:r>
                  <a:rPr lang="en-US" sz="2800" dirty="0"/>
                  <a:t>Thus, it is only necessary to calculate the segment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800" dirty="0"/>
                  <a:t> in determining the complete circle.</a:t>
                </a:r>
                <a:endParaRPr lang="en-ID" sz="2800" dirty="0"/>
              </a:p>
            </p:txBody>
          </p:sp>
        </mc:Choice>
        <mc:Fallback>
          <p:sp>
            <p:nvSpPr>
              <p:cNvPr id="9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2" y="2142067"/>
                <a:ext cx="7557654" cy="3649133"/>
              </a:xfrm>
              <a:prstGeom prst="rect">
                <a:avLst/>
              </a:prstGeom>
              <a:blipFill rotWithShape="1">
                <a:blip r:embed="rId2"/>
                <a:stretch>
                  <a:fillRect t="-6" r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456" y="2252902"/>
            <a:ext cx="3808714" cy="342746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Midpoint Circle Algorithm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Midpoint Circle Algorithm uses an alternative approach, wherein the </a:t>
            </a:r>
            <a:r>
              <a:rPr lang="en-US" sz="3200" b="1" dirty="0"/>
              <a:t>pixel positions</a:t>
            </a:r>
            <a:r>
              <a:rPr lang="en-US" sz="3200" dirty="0"/>
              <a:t> along the circle are </a:t>
            </a:r>
            <a:r>
              <a:rPr lang="en-US" sz="3200" b="1" dirty="0"/>
              <a:t>determined </a:t>
            </a:r>
            <a:r>
              <a:rPr lang="en-US" sz="3200" dirty="0"/>
              <a:t>on the basis of incremental calculations of a </a:t>
            </a:r>
            <a:r>
              <a:rPr lang="en-US" sz="3200" b="1" dirty="0"/>
              <a:t>decision parameter</a:t>
            </a:r>
            <a:r>
              <a:rPr lang="en-US" sz="3200" dirty="0"/>
              <a:t>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18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Equation of a circle with center </a:t>
            </a:r>
            <a:r>
              <a:rPr lang="en-US" b="1" dirty="0">
                <a:sym typeface="+mn-ea"/>
              </a:rPr>
              <a:t>A(a, b)</a:t>
            </a:r>
            <a:r>
              <a:rPr lang="en-US" dirty="0">
                <a:sym typeface="+mn-ea"/>
              </a:rPr>
              <a:t> and radius </a:t>
            </a:r>
            <a:r>
              <a:rPr lang="en-US" b="1" dirty="0">
                <a:sym typeface="+mn-ea"/>
              </a:rPr>
              <a:t>r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58899" y="1690688"/>
                <a:ext cx="525780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400" dirty="0"/>
                  <a:t>	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400" dirty="0"/>
                  <a:t>	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	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u="sng" dirty="0"/>
              </a:p>
              <a:p>
                <a:pPr marL="0" indent="0">
                  <a:buNone/>
                </a:pPr>
                <a:endParaRPr lang="en-US" sz="2400" u="sng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8899" y="1690688"/>
                <a:ext cx="5257801" cy="4351338"/>
              </a:xfrm>
              <a:blipFill rotWithShape="1">
                <a:blip r:embed="rId1"/>
                <a:stretch>
                  <a:fillRect l="-12" t="-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600" y="1690370"/>
            <a:ext cx="5026025" cy="41484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656590"/>
                <a:ext cx="10515600" cy="552069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2400" dirty="0"/>
                  <a:t>A circle is defined as a set of points that are all at a given distance </a:t>
                </a:r>
                <a:r>
                  <a:rPr lang="en-US" sz="2400" b="1" dirty="0"/>
                  <a:t>r</a:t>
                </a:r>
                <a:r>
                  <a:rPr lang="en-US" sz="2400" dirty="0"/>
                  <a:t> from a </a:t>
                </a:r>
                <a:r>
                  <a:rPr lang="en-US" sz="2400" b="1" dirty="0"/>
                  <a:t>center </a:t>
                </a:r>
                <a:r>
                  <a:rPr lang="en-US" sz="2400" dirty="0"/>
                  <a:t>positioned at </a:t>
                </a:r>
                <a:r>
                  <a:rPr lang="en-US" sz="2400" b="1" dirty="0"/>
                  <a:t>(x</a:t>
                </a:r>
                <a:r>
                  <a:rPr lang="en-US" sz="2400" b="1" baseline="-25000" dirty="0"/>
                  <a:t>c</a:t>
                </a:r>
                <a:r>
                  <a:rPr lang="en-US" sz="2400" b="1" dirty="0"/>
                  <a:t>, </a:t>
                </a:r>
                <a:r>
                  <a:rPr lang="en-US" sz="2400" b="1" dirty="0" err="1"/>
                  <a:t>y</a:t>
                </a:r>
                <a:r>
                  <a:rPr lang="en-US" sz="2400" b="1" baseline="-25000" dirty="0" err="1"/>
                  <a:t>c</a:t>
                </a:r>
                <a:r>
                  <a:rPr lang="en-US" sz="2400" b="1" dirty="0"/>
                  <a:t>)</a:t>
                </a:r>
                <a:r>
                  <a:rPr lang="en-US" sz="2400" dirty="0"/>
                  <a:t>.</a:t>
                </a:r>
                <a:endParaRPr lang="en-US" sz="24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		</a:t>
                </a:r>
                <a:r>
                  <a:rPr lang="en-US" sz="2400" dirty="0">
                    <a:solidFill>
                      <a:srgbClr val="FF0000"/>
                    </a:solidFill>
                  </a:rPr>
                  <a:t>……… (1)</a:t>
                </a:r>
                <a:endParaRPr lang="en-US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/>
                  <a:t>Using equation (1) we can calculate the value of y for each given value of x as </a:t>
                </a:r>
                <a:endParaRPr lang="en-US" sz="2400" dirty="0"/>
              </a:p>
              <a:p>
                <a:pPr marL="0" indent="0" algn="ctr">
                  <a:lnSpc>
                    <a:spcPct val="16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		</a:t>
                </a:r>
                <a:r>
                  <a:rPr lang="en-US" sz="2400" dirty="0">
                    <a:solidFill>
                      <a:srgbClr val="FF0000"/>
                    </a:solidFill>
                  </a:rPr>
                  <a:t>……… (2)</a:t>
                </a:r>
                <a:r>
                  <a:rPr lang="en-US" sz="2400" dirty="0"/>
                  <a:t>	</a:t>
                </a:r>
                <a:endParaRPr lang="en-US" sz="2400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400" dirty="0"/>
                  <a:t>Thus f(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= 0 represents the equation of a circle. 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err="1"/>
                  <a:t>F</a:t>
                </a:r>
                <a:r>
                  <a:rPr lang="en-US" sz="1400" dirty="0" err="1"/>
                  <a:t>circle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; &lt; 0, if 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inside the circle line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err="1"/>
                  <a:t>F</a:t>
                </a:r>
                <a:r>
                  <a:rPr lang="en-US" sz="1400" dirty="0" err="1"/>
                  <a:t>circle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; = 0, if 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on the circle line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err="1"/>
                  <a:t>F</a:t>
                </a:r>
                <a:r>
                  <a:rPr lang="en-US" sz="1400" dirty="0" err="1"/>
                  <a:t>circle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; &gt; 0, if 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outside the circle line</a:t>
                </a: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56590"/>
                <a:ext cx="10515600" cy="552069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924900"/>
                <a:ext cx="10515600" cy="22520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Position of the point with respect to the Circle 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The point </a:t>
                </a:r>
                <a:r>
                  <a:rPr lang="en-US" sz="2400" b="1" dirty="0"/>
                  <a:t>P(a, b)</a:t>
                </a:r>
                <a:r>
                  <a:rPr lang="en-US" sz="2400" dirty="0"/>
                  <a:t> inside the circle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400" dirty="0"/>
                  <a:t>The point </a:t>
                </a:r>
                <a:r>
                  <a:rPr lang="en-US" sz="2400" b="1" dirty="0"/>
                  <a:t>P(a, b)</a:t>
                </a:r>
                <a:r>
                  <a:rPr lang="en-US" sz="2400" dirty="0"/>
                  <a:t> on the circle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400" dirty="0"/>
                  <a:t>The point </a:t>
                </a:r>
                <a:r>
                  <a:rPr lang="en-US" sz="2400" b="1" dirty="0"/>
                  <a:t>P(a, b)</a:t>
                </a:r>
                <a:r>
                  <a:rPr lang="en-US" sz="2400" dirty="0"/>
                  <a:t> outside the circle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924900"/>
                <a:ext cx="10515600" cy="2252062"/>
              </a:xfrm>
              <a:blipFill rotWithShape="1">
                <a:blip r:embed="rId1"/>
                <a:stretch>
                  <a:fillRect t="-27" b="-2832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516" y="318488"/>
            <a:ext cx="8229891" cy="26146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47900" y="2933101"/>
            <a:ext cx="1895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P(a, b) </a:t>
            </a:r>
            <a:r>
              <a:rPr lang="en-US" sz="1800" dirty="0"/>
              <a:t>inside the circle line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200650" y="2927823"/>
            <a:ext cx="1543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P(a, b) </a:t>
            </a:r>
            <a:r>
              <a:rPr lang="en-US" sz="1800" dirty="0"/>
              <a:t>on the circle line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743825" y="2927823"/>
            <a:ext cx="1752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P(a, b) </a:t>
            </a:r>
            <a:r>
              <a:rPr lang="en-US" sz="1800" dirty="0"/>
              <a:t>outside the circle line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845" y="203442"/>
            <a:ext cx="7748310" cy="255511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7001" y="2807553"/>
            <a:ext cx="1790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P(h, k) </a:t>
            </a:r>
            <a:r>
              <a:rPr lang="en-US" sz="1800" dirty="0"/>
              <a:t>inside the circle line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453061" y="2807552"/>
            <a:ext cx="1457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P(h, k) </a:t>
            </a:r>
            <a:r>
              <a:rPr lang="en-US" sz="1800" dirty="0"/>
              <a:t>on the circle line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943849" y="2802164"/>
            <a:ext cx="1581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P(h, k) </a:t>
            </a:r>
            <a:r>
              <a:rPr lang="en-US" sz="1800" dirty="0"/>
              <a:t>outside the circle line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2"/>
              <p:cNvSpPr txBox="1"/>
              <p:nvPr/>
            </p:nvSpPr>
            <p:spPr>
              <a:xfrm>
                <a:off x="838200" y="3924900"/>
                <a:ext cx="10515600" cy="22520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sz="2400" dirty="0"/>
                  <a:t>where the circle center are not in (0,0), then:</a:t>
                </a:r>
                <a:endParaRPr lang="en-US" sz="24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endParaRPr lang="en-US" sz="24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400" dirty="0"/>
                  <a:t>The point </a:t>
                </a:r>
                <a:r>
                  <a:rPr lang="en-US" sz="2400" b="1" dirty="0"/>
                  <a:t>P(h, k)</a:t>
                </a:r>
                <a:r>
                  <a:rPr lang="en-US" sz="2400" dirty="0"/>
                  <a:t> inside the circle </a:t>
                </a:r>
                <a:r>
                  <a:rPr lang="en-US" sz="2400" dirty="0">
                    <a:sym typeface="Wingdings" panose="05000000000000000000" pitchFamily="2" charset="2"/>
                  </a:rPr>
                  <a:t>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400" dirty="0"/>
                  <a:t>The point </a:t>
                </a:r>
                <a:r>
                  <a:rPr lang="en-US" sz="2400" b="1" dirty="0"/>
                  <a:t>P(h, k)</a:t>
                </a:r>
                <a:r>
                  <a:rPr lang="en-US" sz="2400" dirty="0"/>
                  <a:t> on the circle </a:t>
                </a:r>
                <a:r>
                  <a:rPr lang="en-US" sz="2400" dirty="0">
                    <a:sym typeface="Wingdings" panose="05000000000000000000" pitchFamily="2" charset="2"/>
                  </a:rPr>
                  <a:t>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400" dirty="0"/>
                  <a:t>The point </a:t>
                </a:r>
                <a:r>
                  <a:rPr lang="en-US" sz="2400" b="1" dirty="0"/>
                  <a:t>P(h, k)</a:t>
                </a:r>
                <a:r>
                  <a:rPr lang="en-US" sz="2400" dirty="0"/>
                  <a:t> outside the circle </a:t>
                </a:r>
                <a:r>
                  <a:rPr lang="en-US" sz="2400" dirty="0">
                    <a:sym typeface="Wingdings" panose="05000000000000000000" pitchFamily="2" charset="2"/>
                  </a:rPr>
                  <a:t>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US" sz="1600" dirty="0"/>
              </a:p>
              <a:p>
                <a:pPr marL="0" indent="0" algn="r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sz="1800" dirty="0"/>
                  <a:t>remember: (h,k)/(a,b) is equivalent with (x,y)</a:t>
                </a:r>
                <a:endParaRPr lang="en-US" sz="1800" dirty="0"/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1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24900"/>
                <a:ext cx="10515600" cy="2252062"/>
              </a:xfrm>
              <a:prstGeom prst="rect">
                <a:avLst/>
              </a:prstGeom>
              <a:blipFill rotWithShape="1">
                <a:blip r:embed="rId2"/>
                <a:stretch>
                  <a:fillRect t="-27" b="-1115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57"/>
          <a:stretch>
            <a:fillRect/>
          </a:stretch>
        </p:blipFill>
        <p:spPr>
          <a:xfrm>
            <a:off x="8774430" y="0"/>
            <a:ext cx="3417570" cy="16903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+mn-ea"/>
              </a:rPr>
              <a:t>Midpoint Circle Algorithm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Midpoint Circle Algorithm, the decision parameter at the k</a:t>
            </a:r>
            <a:r>
              <a:rPr lang="en-US" sz="2400" baseline="30000" dirty="0"/>
              <a:t>th</a:t>
            </a:r>
            <a:r>
              <a:rPr lang="en-US" sz="2400" dirty="0"/>
              <a:t> step is the circle function evaluated </a:t>
            </a:r>
            <a:r>
              <a:rPr lang="en-US" sz="2400" b="1" dirty="0"/>
              <a:t>using the coordinates of the midpoint of the two pixel</a:t>
            </a:r>
            <a:r>
              <a:rPr lang="en-US" sz="2400" dirty="0"/>
              <a:t> </a:t>
            </a:r>
            <a:r>
              <a:rPr lang="en-US" sz="2400" dirty="0" err="1"/>
              <a:t>centres</a:t>
            </a:r>
            <a:r>
              <a:rPr lang="en-US" sz="2400" dirty="0"/>
              <a:t> which are the next possible pixel position to be plotted.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Let us assume that we are giving unit increments to x in the plotting process and determining the y position using this algorithm.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Assuming we have just plotted the k</a:t>
            </a:r>
            <a:r>
              <a:rPr lang="en-US" sz="2400" baseline="30000" dirty="0"/>
              <a:t>th</a:t>
            </a:r>
            <a:r>
              <a:rPr lang="en-US" sz="2400" dirty="0"/>
              <a:t> pixel at 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,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), we next need to determine whether the pixel at the position 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,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) or the one at 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+ 1,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 - 1) is closer to the circle.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Our decision parameter </a:t>
            </a:r>
            <a:r>
              <a:rPr lang="en-US" sz="2400" dirty="0" err="1"/>
              <a:t>p</a:t>
            </a:r>
            <a:r>
              <a:rPr lang="en-US" sz="2400" baseline="-25000" dirty="0" err="1"/>
              <a:t>k</a:t>
            </a:r>
            <a:r>
              <a:rPr lang="en-US" sz="2400" dirty="0"/>
              <a:t> at the k</a:t>
            </a:r>
            <a:r>
              <a:rPr lang="en-US" sz="2400" baseline="30000" dirty="0"/>
              <a:t>th</a:t>
            </a:r>
            <a:r>
              <a:rPr lang="en-US" sz="2400" dirty="0"/>
              <a:t> step is the circle function evaluated at the midpoint of these two pixels.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coordinates of the midpoint of these two pixels are 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+ 1,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 - 1/2).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Thus </a:t>
            </a:r>
            <a:r>
              <a:rPr lang="en-US" sz="2400" dirty="0" err="1"/>
              <a:t>p</a:t>
            </a:r>
            <a:r>
              <a:rPr lang="en-US" sz="2400" baseline="-25000" dirty="0" err="1"/>
              <a:t>k</a:t>
            </a:r>
            <a:r>
              <a:rPr lang="en-US" sz="2400" dirty="0"/>
              <a:t>: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p</a:t>
            </a:r>
            <a:r>
              <a:rPr lang="en-US" sz="2400" baseline="-25000" dirty="0" err="1"/>
              <a:t>k</a:t>
            </a:r>
            <a:r>
              <a:rPr lang="en-US" sz="2400" dirty="0"/>
              <a:t>	= f(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+ 1,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 - 1/2)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= 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+ 1)</a:t>
            </a:r>
            <a:r>
              <a:rPr lang="en-US" sz="2400" baseline="30000" dirty="0"/>
              <a:t>2</a:t>
            </a:r>
            <a:r>
              <a:rPr lang="en-US" sz="2400" dirty="0"/>
              <a:t> + (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 - 1/2)</a:t>
            </a:r>
            <a:r>
              <a:rPr lang="en-US" sz="2400" baseline="30000" dirty="0"/>
              <a:t>2</a:t>
            </a:r>
            <a:r>
              <a:rPr lang="en-US" sz="2400" dirty="0"/>
              <a:t> - r</a:t>
            </a:r>
            <a:r>
              <a:rPr lang="en-US" sz="2400" baseline="30000" dirty="0"/>
              <a:t>2</a:t>
            </a:r>
            <a:r>
              <a:rPr lang="en-US" sz="2400" dirty="0"/>
              <a:t> 	</a:t>
            </a:r>
            <a:r>
              <a:rPr lang="en-US" sz="2400" dirty="0">
                <a:solidFill>
                  <a:srgbClr val="FF0000"/>
                </a:solidFill>
              </a:rPr>
              <a:t>……… (3)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768" y="2513076"/>
            <a:ext cx="3140746" cy="29172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We obtain a recursive expression for the next decision parameter i.e. at the k + 1</a:t>
            </a:r>
            <a:r>
              <a:rPr lang="en-US" sz="2400" baseline="30000" dirty="0"/>
              <a:t>th</a:t>
            </a:r>
            <a:r>
              <a:rPr lang="en-US" sz="2400" dirty="0"/>
              <a:t> step, in the following manner.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Using </a:t>
            </a:r>
            <a:r>
              <a:rPr lang="en-US" sz="2400" dirty="0" err="1"/>
              <a:t>Equ</a:t>
            </a:r>
            <a:r>
              <a:rPr lang="en-US" sz="2400" dirty="0"/>
              <a:t>. (4), at the k + 1</a:t>
            </a:r>
            <a:r>
              <a:rPr lang="en-US" sz="2400" baseline="30000" dirty="0"/>
              <a:t>th</a:t>
            </a:r>
            <a:r>
              <a:rPr lang="en-US" sz="2400" dirty="0"/>
              <a:t> step, we have: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p</a:t>
            </a:r>
            <a:r>
              <a:rPr lang="en-US" sz="2400" baseline="-25000" dirty="0"/>
              <a:t>k+1</a:t>
            </a:r>
            <a:r>
              <a:rPr lang="en-US" sz="2400" dirty="0"/>
              <a:t> 	= f(x</a:t>
            </a:r>
            <a:r>
              <a:rPr lang="en-US" sz="2400" baseline="-25000" dirty="0"/>
              <a:t>k+1</a:t>
            </a:r>
            <a:r>
              <a:rPr lang="en-US" sz="2400" dirty="0"/>
              <a:t> + 1, y</a:t>
            </a:r>
            <a:r>
              <a:rPr lang="en-US" sz="2400" baseline="-25000" dirty="0"/>
              <a:t>k+1</a:t>
            </a:r>
            <a:r>
              <a:rPr lang="en-US" sz="2400" dirty="0"/>
              <a:t> - 1/2)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= (x</a:t>
            </a:r>
            <a:r>
              <a:rPr lang="en-US" sz="2400" baseline="-25000" dirty="0"/>
              <a:t>k+1</a:t>
            </a:r>
            <a:r>
              <a:rPr lang="en-US" sz="2400" dirty="0"/>
              <a:t> + 1)</a:t>
            </a:r>
            <a:r>
              <a:rPr lang="en-US" sz="2400" baseline="30000" dirty="0"/>
              <a:t>2</a:t>
            </a:r>
            <a:r>
              <a:rPr lang="en-US" sz="2400" dirty="0"/>
              <a:t> + (y</a:t>
            </a:r>
            <a:r>
              <a:rPr lang="en-US" sz="2400" baseline="-25000" dirty="0"/>
              <a:t>k+1</a:t>
            </a:r>
            <a:r>
              <a:rPr lang="en-US" sz="2400" dirty="0"/>
              <a:t> - 1/2)</a:t>
            </a:r>
            <a:r>
              <a:rPr lang="en-US" sz="2400" baseline="30000" dirty="0"/>
              <a:t>2</a:t>
            </a:r>
            <a:r>
              <a:rPr lang="en-US" sz="2400" dirty="0"/>
              <a:t> - r</a:t>
            </a:r>
            <a:r>
              <a:rPr lang="en-US" sz="2400" baseline="30000" dirty="0"/>
              <a:t>2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= 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+ 1 + 1)</a:t>
            </a:r>
            <a:r>
              <a:rPr lang="en-US" sz="2400" baseline="30000" dirty="0"/>
              <a:t>2</a:t>
            </a:r>
            <a:r>
              <a:rPr lang="en-US" sz="2400" dirty="0"/>
              <a:t> + (y</a:t>
            </a:r>
            <a:r>
              <a:rPr lang="en-US" sz="2400" baseline="-25000" dirty="0"/>
              <a:t>k+1</a:t>
            </a:r>
            <a:r>
              <a:rPr lang="en-US" sz="2400" dirty="0"/>
              <a:t> - 1/2)</a:t>
            </a:r>
            <a:r>
              <a:rPr lang="en-US" sz="2400" baseline="30000" dirty="0"/>
              <a:t>2</a:t>
            </a:r>
            <a:r>
              <a:rPr lang="en-US" sz="2400" dirty="0"/>
              <a:t> - r</a:t>
            </a:r>
            <a:r>
              <a:rPr lang="en-US" sz="2400" baseline="30000" dirty="0"/>
              <a:t>2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= 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+ 2)</a:t>
            </a:r>
            <a:r>
              <a:rPr lang="en-US" sz="2400" baseline="30000" dirty="0"/>
              <a:t>2</a:t>
            </a:r>
            <a:r>
              <a:rPr lang="en-US" sz="2400" dirty="0"/>
              <a:t> + (y</a:t>
            </a:r>
            <a:r>
              <a:rPr lang="en-US" sz="2400" baseline="-25000" dirty="0"/>
              <a:t>k+1</a:t>
            </a:r>
            <a:r>
              <a:rPr lang="en-US" sz="2400" dirty="0"/>
              <a:t> - 1/2)</a:t>
            </a:r>
            <a:r>
              <a:rPr lang="en-US" sz="2400" baseline="30000" dirty="0"/>
              <a:t>2</a:t>
            </a:r>
            <a:r>
              <a:rPr lang="en-US" sz="2400" dirty="0"/>
              <a:t> - r</a:t>
            </a:r>
            <a:r>
              <a:rPr lang="en-US" sz="2400" baseline="30000" dirty="0"/>
              <a:t>2</a:t>
            </a:r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		……… (4)</a:t>
            </a:r>
            <a:endParaRPr lang="en-US" sz="2400" dirty="0"/>
          </a:p>
          <a:p>
            <a:pPr marL="0" indent="0">
              <a:buNone/>
            </a:pPr>
            <a:endParaRPr lang="en-US" sz="2400" baseline="300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FF0000"/>
                </a:solidFill>
              </a:rPr>
              <a:t>Equ</a:t>
            </a:r>
            <a:r>
              <a:rPr lang="en-US" sz="2400" dirty="0">
                <a:solidFill>
                  <a:srgbClr val="FF0000"/>
                </a:solidFill>
              </a:rPr>
              <a:t>. </a:t>
            </a:r>
            <a:r>
              <a:rPr lang="en-US" sz="2400" dirty="0">
                <a:solidFill>
                  <a:srgbClr val="FFC000"/>
                </a:solidFill>
              </a:rPr>
              <a:t>(4)</a:t>
            </a:r>
            <a:r>
              <a:rPr lang="en-US" sz="2400" dirty="0">
                <a:solidFill>
                  <a:srgbClr val="FF0000"/>
                </a:solidFill>
              </a:rPr>
              <a:t> – </a:t>
            </a:r>
            <a:r>
              <a:rPr lang="en-US" sz="2400" dirty="0">
                <a:solidFill>
                  <a:srgbClr val="C00000"/>
                </a:solidFill>
              </a:rPr>
              <a:t>(3)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p</a:t>
            </a:r>
            <a:r>
              <a:rPr lang="en-US" sz="2400" baseline="-25000" dirty="0"/>
              <a:t>k+1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F0"/>
                </a:solidFill>
              </a:rPr>
              <a:t>- </a:t>
            </a:r>
            <a:r>
              <a:rPr lang="en-US" sz="2400" dirty="0" err="1">
                <a:solidFill>
                  <a:srgbClr val="00B0F0"/>
                </a:solidFill>
              </a:rPr>
              <a:t>p</a:t>
            </a:r>
            <a:r>
              <a:rPr lang="en-US" sz="2400" baseline="-25000" dirty="0" err="1">
                <a:solidFill>
                  <a:srgbClr val="00B0F0"/>
                </a:solidFill>
              </a:rPr>
              <a:t>k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/>
              <a:t>	= </a:t>
            </a:r>
            <a:r>
              <a:rPr lang="en-US" sz="2400" dirty="0">
                <a:solidFill>
                  <a:srgbClr val="FFC000"/>
                </a:solidFill>
              </a:rPr>
              <a:t>(</a:t>
            </a:r>
            <a:r>
              <a:rPr lang="en-US" sz="2400" dirty="0" err="1">
                <a:solidFill>
                  <a:srgbClr val="FFC000"/>
                </a:solidFill>
              </a:rPr>
              <a:t>x</a:t>
            </a:r>
            <a:r>
              <a:rPr lang="en-US" sz="2400" baseline="-25000" dirty="0" err="1">
                <a:solidFill>
                  <a:srgbClr val="FFC000"/>
                </a:solidFill>
              </a:rPr>
              <a:t>k</a:t>
            </a:r>
            <a:r>
              <a:rPr lang="en-US" sz="2400" dirty="0">
                <a:solidFill>
                  <a:srgbClr val="FFC000"/>
                </a:solidFill>
              </a:rPr>
              <a:t> + 2)</a:t>
            </a:r>
            <a:r>
              <a:rPr lang="en-US" sz="2400" baseline="30000" dirty="0">
                <a:solidFill>
                  <a:srgbClr val="FFC000"/>
                </a:solidFill>
              </a:rPr>
              <a:t>2</a:t>
            </a:r>
            <a:r>
              <a:rPr lang="en-US" sz="2400" dirty="0">
                <a:solidFill>
                  <a:srgbClr val="FFC000"/>
                </a:solidFill>
              </a:rPr>
              <a:t> + (y</a:t>
            </a:r>
            <a:r>
              <a:rPr lang="en-US" sz="2400" baseline="-25000" dirty="0">
                <a:solidFill>
                  <a:srgbClr val="FFC000"/>
                </a:solidFill>
              </a:rPr>
              <a:t>k+1</a:t>
            </a:r>
            <a:r>
              <a:rPr lang="en-US" sz="2400" dirty="0">
                <a:solidFill>
                  <a:srgbClr val="FFC000"/>
                </a:solidFill>
              </a:rPr>
              <a:t> - 1/2)</a:t>
            </a:r>
            <a:r>
              <a:rPr lang="en-US" sz="2400" baseline="30000" dirty="0">
                <a:solidFill>
                  <a:srgbClr val="FFC000"/>
                </a:solidFill>
              </a:rPr>
              <a:t>2</a:t>
            </a:r>
            <a:r>
              <a:rPr lang="en-US" sz="2400" dirty="0">
                <a:solidFill>
                  <a:srgbClr val="FFC000"/>
                </a:solidFill>
              </a:rPr>
              <a:t> - r</a:t>
            </a:r>
            <a:r>
              <a:rPr lang="en-US" sz="2400" baseline="30000" dirty="0">
                <a:solidFill>
                  <a:srgbClr val="FFC000"/>
                </a:solidFill>
              </a:rPr>
              <a:t>2</a:t>
            </a:r>
            <a:r>
              <a:rPr lang="en-US" sz="2400" dirty="0"/>
              <a:t> - </a:t>
            </a:r>
            <a:r>
              <a:rPr lang="en-US" sz="2400" dirty="0">
                <a:solidFill>
                  <a:srgbClr val="C00000"/>
                </a:solidFill>
              </a:rPr>
              <a:t>((</a:t>
            </a:r>
            <a:r>
              <a:rPr lang="en-US" sz="2400" dirty="0" err="1">
                <a:solidFill>
                  <a:srgbClr val="C00000"/>
                </a:solidFill>
              </a:rPr>
              <a:t>x</a:t>
            </a:r>
            <a:r>
              <a:rPr lang="en-US" sz="2400" baseline="-25000" dirty="0" err="1">
                <a:solidFill>
                  <a:srgbClr val="C00000"/>
                </a:solidFill>
              </a:rPr>
              <a:t>k</a:t>
            </a:r>
            <a:r>
              <a:rPr lang="en-US" sz="2400" dirty="0">
                <a:solidFill>
                  <a:srgbClr val="C00000"/>
                </a:solidFill>
              </a:rPr>
              <a:t> + 1)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+ (</a:t>
            </a:r>
            <a:r>
              <a:rPr lang="en-US" sz="2400" dirty="0" err="1">
                <a:solidFill>
                  <a:srgbClr val="C00000"/>
                </a:solidFill>
              </a:rPr>
              <a:t>y</a:t>
            </a:r>
            <a:r>
              <a:rPr lang="en-US" sz="2400" baseline="-25000" dirty="0" err="1">
                <a:solidFill>
                  <a:srgbClr val="C00000"/>
                </a:solidFill>
              </a:rPr>
              <a:t>k</a:t>
            </a:r>
            <a:r>
              <a:rPr lang="en-US" sz="2400" dirty="0">
                <a:solidFill>
                  <a:srgbClr val="C00000"/>
                </a:solidFill>
              </a:rPr>
              <a:t> - 1/2)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- r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	= </a:t>
            </a:r>
            <a:r>
              <a:rPr lang="en-US" sz="2400" dirty="0">
                <a:solidFill>
                  <a:srgbClr val="FFC000"/>
                </a:solidFill>
              </a:rPr>
              <a:t>(</a:t>
            </a:r>
            <a:r>
              <a:rPr lang="en-US" sz="2400" dirty="0" err="1">
                <a:solidFill>
                  <a:srgbClr val="FFC000"/>
                </a:solidFill>
              </a:rPr>
              <a:t>x</a:t>
            </a:r>
            <a:r>
              <a:rPr lang="en-US" sz="2400" baseline="-25000" dirty="0" err="1">
                <a:solidFill>
                  <a:srgbClr val="FFC000"/>
                </a:solidFill>
              </a:rPr>
              <a:t>k</a:t>
            </a:r>
            <a:r>
              <a:rPr lang="en-US" sz="2400" dirty="0">
                <a:solidFill>
                  <a:srgbClr val="FFC000"/>
                </a:solidFill>
              </a:rPr>
              <a:t> + 2)</a:t>
            </a:r>
            <a:r>
              <a:rPr lang="en-US" sz="2400" baseline="30000" dirty="0">
                <a:solidFill>
                  <a:srgbClr val="FFC000"/>
                </a:solidFill>
              </a:rPr>
              <a:t>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- (</a:t>
            </a:r>
            <a:r>
              <a:rPr lang="en-US" sz="2400" dirty="0" err="1">
                <a:solidFill>
                  <a:srgbClr val="C00000"/>
                </a:solidFill>
              </a:rPr>
              <a:t>x</a:t>
            </a:r>
            <a:r>
              <a:rPr lang="en-US" sz="2400" baseline="-25000" dirty="0" err="1">
                <a:solidFill>
                  <a:srgbClr val="C00000"/>
                </a:solidFill>
              </a:rPr>
              <a:t>k</a:t>
            </a:r>
            <a:r>
              <a:rPr lang="en-US" sz="2400" dirty="0">
                <a:solidFill>
                  <a:srgbClr val="C00000"/>
                </a:solidFill>
              </a:rPr>
              <a:t> + 1)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C000"/>
                </a:solidFill>
              </a:rPr>
              <a:t>+ (y</a:t>
            </a:r>
            <a:r>
              <a:rPr lang="en-US" sz="2400" baseline="-25000" dirty="0">
                <a:solidFill>
                  <a:srgbClr val="FFC000"/>
                </a:solidFill>
              </a:rPr>
              <a:t>k+1</a:t>
            </a:r>
            <a:r>
              <a:rPr lang="en-US" sz="2400" dirty="0">
                <a:solidFill>
                  <a:srgbClr val="FFC000"/>
                </a:solidFill>
              </a:rPr>
              <a:t> - 1/2)</a:t>
            </a:r>
            <a:r>
              <a:rPr lang="en-US" sz="2400" baseline="30000" dirty="0">
                <a:solidFill>
                  <a:srgbClr val="FFC000"/>
                </a:solidFill>
              </a:rPr>
              <a:t>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- (</a:t>
            </a:r>
            <a:r>
              <a:rPr lang="en-US" sz="2400" dirty="0" err="1">
                <a:solidFill>
                  <a:srgbClr val="C00000"/>
                </a:solidFill>
              </a:rPr>
              <a:t>y</a:t>
            </a:r>
            <a:r>
              <a:rPr lang="en-US" sz="2400" baseline="-25000" dirty="0" err="1">
                <a:solidFill>
                  <a:srgbClr val="C00000"/>
                </a:solidFill>
              </a:rPr>
              <a:t>k</a:t>
            </a:r>
            <a:r>
              <a:rPr lang="en-US" sz="2400" dirty="0">
                <a:solidFill>
                  <a:srgbClr val="C00000"/>
                </a:solidFill>
              </a:rPr>
              <a:t> - 1/2)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C000"/>
                </a:solidFill>
              </a:rPr>
              <a:t>- r</a:t>
            </a:r>
            <a:r>
              <a:rPr lang="en-US" sz="2400" baseline="30000" dirty="0">
                <a:solidFill>
                  <a:srgbClr val="FFC000"/>
                </a:solidFill>
              </a:rPr>
              <a:t>2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+ r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	= </a:t>
            </a:r>
            <a:r>
              <a:rPr lang="en-US" sz="2400" dirty="0" err="1">
                <a:solidFill>
                  <a:srgbClr val="00B0F0"/>
                </a:solidFill>
              </a:rPr>
              <a:t>p</a:t>
            </a:r>
            <a:r>
              <a:rPr lang="en-US" sz="2400" baseline="-25000" dirty="0" err="1">
                <a:solidFill>
                  <a:srgbClr val="00B0F0"/>
                </a:solidFill>
              </a:rPr>
              <a:t>k</a:t>
            </a:r>
            <a:r>
              <a:rPr lang="en-US" sz="2400" baseline="-25000" dirty="0"/>
              <a:t> </a:t>
            </a:r>
            <a:r>
              <a:rPr lang="en-US" sz="2400" dirty="0"/>
              <a:t>+ 2(</a:t>
            </a:r>
            <a:r>
              <a:rPr lang="en-US" sz="2400" dirty="0" err="1"/>
              <a:t>x</a:t>
            </a:r>
            <a:r>
              <a:rPr lang="en-US" sz="2400" baseline="-25000" dirty="0" err="1"/>
              <a:t>k</a:t>
            </a:r>
            <a:r>
              <a:rPr lang="en-US" sz="2400" dirty="0"/>
              <a:t> + 1) + 1 + (y</a:t>
            </a:r>
            <a:r>
              <a:rPr lang="en-US" sz="2400" baseline="30000" dirty="0"/>
              <a:t>2</a:t>
            </a:r>
            <a:r>
              <a:rPr lang="en-US" sz="2400" baseline="-25000" dirty="0"/>
              <a:t>k+1</a:t>
            </a:r>
            <a:r>
              <a:rPr lang="en-US" sz="2400" dirty="0"/>
              <a:t> - y</a:t>
            </a:r>
            <a:r>
              <a:rPr lang="en-US" sz="2400" baseline="30000" dirty="0"/>
              <a:t>2</a:t>
            </a:r>
            <a:r>
              <a:rPr lang="en-US" sz="2400" baseline="-25000" dirty="0"/>
              <a:t>k</a:t>
            </a:r>
            <a:r>
              <a:rPr lang="en-US" sz="2400" dirty="0"/>
              <a:t>) - (y</a:t>
            </a:r>
            <a:r>
              <a:rPr lang="en-US" sz="2400" baseline="-25000" dirty="0"/>
              <a:t>k+1</a:t>
            </a:r>
            <a:r>
              <a:rPr lang="en-US" sz="2400" dirty="0"/>
              <a:t> -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)	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p</a:t>
            </a:r>
            <a:r>
              <a:rPr lang="en-US" sz="2400" baseline="-25000" dirty="0"/>
              <a:t>k+1 </a:t>
            </a:r>
            <a:r>
              <a:rPr lang="en-US" sz="2400" dirty="0"/>
              <a:t>		= p</a:t>
            </a:r>
            <a:r>
              <a:rPr lang="en-US" sz="2400" baseline="-25000" dirty="0"/>
              <a:t>k </a:t>
            </a:r>
            <a:r>
              <a:rPr lang="en-US" sz="2400" dirty="0"/>
              <a:t>+ (2x</a:t>
            </a:r>
            <a:r>
              <a:rPr lang="en-US" sz="2400" baseline="-25000" dirty="0"/>
              <a:t>k</a:t>
            </a:r>
            <a:r>
              <a:rPr lang="en-US" sz="2400" dirty="0"/>
              <a:t> + 3) + (y</a:t>
            </a:r>
            <a:r>
              <a:rPr lang="en-US" sz="2400" baseline="-25000" dirty="0"/>
              <a:t>k+1</a:t>
            </a:r>
            <a:r>
              <a:rPr lang="en-US" sz="2400" dirty="0"/>
              <a:t> +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 - 1) (y</a:t>
            </a:r>
            <a:r>
              <a:rPr lang="en-US" sz="2400" baseline="-25000" dirty="0"/>
              <a:t>k+1</a:t>
            </a:r>
            <a:r>
              <a:rPr lang="en-US" sz="2400" dirty="0"/>
              <a:t> - </a:t>
            </a:r>
            <a:r>
              <a:rPr lang="en-US" sz="2400" dirty="0" err="1"/>
              <a:t>y</a:t>
            </a:r>
            <a:r>
              <a:rPr lang="en-US" sz="2400" baseline="-25000" dirty="0" err="1"/>
              <a:t>k</a:t>
            </a:r>
            <a:r>
              <a:rPr lang="en-US" sz="2400" dirty="0"/>
              <a:t>)	</a:t>
            </a:r>
            <a:r>
              <a:rPr lang="en-US" sz="2400" dirty="0">
                <a:solidFill>
                  <a:srgbClr val="FF0000"/>
                </a:solidFill>
              </a:rPr>
              <a:t>……… (5)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Now if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dirty="0"/>
              <a:t> &lt; 0, then the midpoint of the two possible pixels lies within the circle, thus north pixel is nearer to the theoretical circle.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Hence, y</a:t>
            </a:r>
            <a:r>
              <a:rPr lang="en-US" baseline="-25000" dirty="0"/>
              <a:t>k+1</a:t>
            </a:r>
            <a:r>
              <a:rPr lang="en-US" dirty="0"/>
              <a:t> =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. Substituting this value of in </a:t>
            </a:r>
            <a:r>
              <a:rPr lang="en-US" dirty="0" err="1"/>
              <a:t>Equ</a:t>
            </a:r>
            <a:r>
              <a:rPr lang="en-US" dirty="0"/>
              <a:t>. (5), we have: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k+1 </a:t>
            </a:r>
            <a:r>
              <a:rPr lang="en-US" dirty="0"/>
              <a:t>		=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baseline="-25000" dirty="0"/>
              <a:t> </a:t>
            </a:r>
            <a:r>
              <a:rPr lang="en-US" dirty="0"/>
              <a:t>+ (2x</a:t>
            </a:r>
            <a:r>
              <a:rPr lang="en-US" baseline="-25000" dirty="0"/>
              <a:t>k</a:t>
            </a:r>
            <a:r>
              <a:rPr lang="en-US" dirty="0"/>
              <a:t> + 3) + (y</a:t>
            </a:r>
            <a:r>
              <a:rPr lang="en-US" baseline="-25000" dirty="0"/>
              <a:t>k+1</a:t>
            </a:r>
            <a:r>
              <a:rPr lang="en-US" dirty="0"/>
              <a:t> +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- 1) (y</a:t>
            </a:r>
            <a:r>
              <a:rPr lang="en-US" baseline="-25000" dirty="0"/>
              <a:t>k+1</a:t>
            </a:r>
            <a:r>
              <a:rPr lang="en-US" dirty="0"/>
              <a:t> -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)		</a:t>
            </a:r>
            <a:r>
              <a:rPr lang="en-US" dirty="0">
                <a:solidFill>
                  <a:srgbClr val="FF0000"/>
                </a:solidFill>
              </a:rPr>
              <a:t>……… (6.1)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=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baseline="-25000" dirty="0"/>
              <a:t> </a:t>
            </a:r>
            <a:r>
              <a:rPr lang="en-US" dirty="0"/>
              <a:t>+ (2x</a:t>
            </a:r>
            <a:r>
              <a:rPr lang="en-US" baseline="-25000" dirty="0"/>
              <a:t>k</a:t>
            </a:r>
            <a:r>
              <a:rPr lang="en-US" dirty="0"/>
              <a:t> + 3)					</a:t>
            </a:r>
            <a:r>
              <a:rPr lang="en-US" dirty="0">
                <a:solidFill>
                  <a:srgbClr val="FF0000"/>
                </a:solidFill>
              </a:rPr>
              <a:t>……… (7.1)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k+1</a:t>
            </a:r>
            <a:r>
              <a:rPr lang="en-US" dirty="0"/>
              <a:t> 		=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dirty="0"/>
              <a:t> + 2(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 + 1) + 1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dirty="0"/>
              <a:t> ≥ 0 then the midpoint of the two possible pixels lies outside the circle, thus south pixel is nearer to the theoretical circle.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Hence, y</a:t>
            </a:r>
            <a:r>
              <a:rPr lang="en-US" baseline="-25000" dirty="0"/>
              <a:t>k+1</a:t>
            </a:r>
            <a:r>
              <a:rPr lang="en-US" dirty="0"/>
              <a:t> =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-1, Substituting this value of in </a:t>
            </a:r>
            <a:r>
              <a:rPr lang="en-US" dirty="0" err="1"/>
              <a:t>Equ</a:t>
            </a:r>
            <a:r>
              <a:rPr lang="en-US" dirty="0"/>
              <a:t>. (5), we have: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k+1 </a:t>
            </a:r>
            <a:r>
              <a:rPr lang="en-US" dirty="0"/>
              <a:t>	=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baseline="-25000" dirty="0"/>
              <a:t> </a:t>
            </a:r>
            <a:r>
              <a:rPr lang="en-US" dirty="0"/>
              <a:t>+ (2x</a:t>
            </a:r>
            <a:r>
              <a:rPr lang="en-US" baseline="-25000" dirty="0"/>
              <a:t>k</a:t>
            </a:r>
            <a:r>
              <a:rPr lang="en-US" dirty="0"/>
              <a:t> + 3) + (y</a:t>
            </a:r>
            <a:r>
              <a:rPr lang="en-US" baseline="-25000" dirty="0"/>
              <a:t>k+1</a:t>
            </a:r>
            <a:r>
              <a:rPr lang="en-US" dirty="0"/>
              <a:t> +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- 1) (y</a:t>
            </a:r>
            <a:r>
              <a:rPr lang="en-US" baseline="-25000" dirty="0"/>
              <a:t>k+1</a:t>
            </a:r>
            <a:r>
              <a:rPr lang="en-US" dirty="0"/>
              <a:t> -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)	</a:t>
            </a:r>
            <a:r>
              <a:rPr lang="en-US" dirty="0">
                <a:solidFill>
                  <a:srgbClr val="FF0000"/>
                </a:solidFill>
              </a:rPr>
              <a:t>……… (6.2)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=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baseline="-25000" dirty="0"/>
              <a:t> </a:t>
            </a:r>
            <a:r>
              <a:rPr lang="en-US" dirty="0"/>
              <a:t>+ (2x</a:t>
            </a:r>
            <a:r>
              <a:rPr lang="en-US" baseline="-25000" dirty="0"/>
              <a:t>k</a:t>
            </a:r>
            <a:r>
              <a:rPr lang="en-US" dirty="0"/>
              <a:t> + 3) + (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-1 +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- 1) (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-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- 1)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= p</a:t>
            </a:r>
            <a:r>
              <a:rPr lang="en-US" baseline="-25000" dirty="0"/>
              <a:t>k </a:t>
            </a:r>
            <a:r>
              <a:rPr lang="en-US" dirty="0"/>
              <a:t>+ 2(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 -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) + 5				</a:t>
            </a:r>
            <a:r>
              <a:rPr lang="en-US" dirty="0">
                <a:solidFill>
                  <a:srgbClr val="FF0000"/>
                </a:solidFill>
              </a:rPr>
              <a:t>……… (7.2)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p</a:t>
            </a:r>
            <a:r>
              <a:rPr lang="en-US" sz="2800" baseline="-25000" dirty="0"/>
              <a:t>k+1</a:t>
            </a:r>
            <a:r>
              <a:rPr lang="en-US" sz="2800" dirty="0"/>
              <a:t> 	= </a:t>
            </a:r>
            <a:r>
              <a:rPr lang="en-US" sz="2800" dirty="0" err="1"/>
              <a:t>p</a:t>
            </a:r>
            <a:r>
              <a:rPr lang="en-US" sz="2800" baseline="-25000" dirty="0" err="1"/>
              <a:t>k</a:t>
            </a:r>
            <a:r>
              <a:rPr lang="en-US" sz="2800" dirty="0"/>
              <a:t> + 2(</a:t>
            </a:r>
            <a:r>
              <a:rPr lang="en-US" sz="2800" dirty="0" err="1"/>
              <a:t>x</a:t>
            </a:r>
            <a:r>
              <a:rPr lang="en-US" sz="2800" baseline="-25000" dirty="0" err="1"/>
              <a:t>k</a:t>
            </a:r>
            <a:r>
              <a:rPr lang="en-US" sz="2800" dirty="0"/>
              <a:t> + 1) + 1 – 2(</a:t>
            </a:r>
            <a:r>
              <a:rPr lang="en-US" sz="2800" dirty="0" err="1"/>
              <a:t>y</a:t>
            </a:r>
            <a:r>
              <a:rPr lang="en-US" sz="2800" baseline="-25000" dirty="0" err="1"/>
              <a:t>k</a:t>
            </a:r>
            <a:r>
              <a:rPr lang="en-US" sz="2800" dirty="0"/>
              <a:t> - 1)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For the boundary condition, we have x=0, y=r.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Substituting these values in </a:t>
            </a:r>
            <a:r>
              <a:rPr lang="en-US" dirty="0" err="1"/>
              <a:t>Equ</a:t>
            </a:r>
            <a:r>
              <a:rPr lang="en-US" dirty="0"/>
              <a:t>. (4), we have: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k</a:t>
            </a:r>
            <a:r>
              <a:rPr lang="en-US" dirty="0"/>
              <a:t>	= (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 + 1)</a:t>
            </a:r>
            <a:r>
              <a:rPr lang="en-US" baseline="30000" dirty="0"/>
              <a:t>2</a:t>
            </a:r>
            <a:r>
              <a:rPr lang="en-US" dirty="0"/>
              <a:t> + (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- 1/2)</a:t>
            </a:r>
            <a:r>
              <a:rPr lang="en-US" baseline="30000" dirty="0"/>
              <a:t>2</a:t>
            </a:r>
            <a:r>
              <a:rPr lang="en-US" dirty="0"/>
              <a:t> - r</a:t>
            </a:r>
            <a:r>
              <a:rPr lang="en-US" baseline="30000" dirty="0"/>
              <a:t>2</a:t>
            </a:r>
            <a:r>
              <a:rPr lang="en-US" dirty="0"/>
              <a:t> 	</a:t>
            </a:r>
            <a:r>
              <a:rPr lang="en-US" dirty="0">
                <a:solidFill>
                  <a:srgbClr val="FF0000"/>
                </a:solidFill>
              </a:rPr>
              <a:t>……… (3)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0</a:t>
            </a:r>
            <a:r>
              <a:rPr lang="en-US" dirty="0"/>
              <a:t>	= (0 + 1)</a:t>
            </a:r>
            <a:r>
              <a:rPr lang="en-US" baseline="30000" dirty="0"/>
              <a:t>2</a:t>
            </a:r>
            <a:r>
              <a:rPr lang="en-US" dirty="0"/>
              <a:t> + (r - 1/2)</a:t>
            </a:r>
            <a:r>
              <a:rPr lang="en-US" baseline="30000" dirty="0"/>
              <a:t>2</a:t>
            </a:r>
            <a:r>
              <a:rPr lang="en-US" dirty="0"/>
              <a:t> - r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= 1 + r</a:t>
            </a:r>
            <a:r>
              <a:rPr lang="en-US" baseline="30000" dirty="0"/>
              <a:t>2</a:t>
            </a:r>
            <a:r>
              <a:rPr lang="en-US" dirty="0"/>
              <a:t> + ¼ - r - r</a:t>
            </a:r>
            <a:r>
              <a:rPr lang="en-US" baseline="30000" dirty="0"/>
              <a:t>2 </a:t>
            </a:r>
            <a:endParaRPr lang="en-US" baseline="30000" dirty="0"/>
          </a:p>
          <a:p>
            <a:pPr marL="0" indent="0">
              <a:buNone/>
            </a:pPr>
            <a:r>
              <a:rPr lang="en-US" baseline="30000" dirty="0"/>
              <a:t>	</a:t>
            </a:r>
            <a:r>
              <a:rPr lang="en-US" dirty="0"/>
              <a:t>= 5/4 - r				</a:t>
            </a:r>
            <a:r>
              <a:rPr lang="en-US" dirty="0">
                <a:solidFill>
                  <a:srgbClr val="FF0000"/>
                </a:solidFill>
              </a:rPr>
              <a:t>……… (8)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integer values of pixel coordinates, we can approximate P</a:t>
            </a:r>
            <a:r>
              <a:rPr lang="en-US" baseline="-25000" dirty="0"/>
              <a:t>0</a:t>
            </a:r>
            <a:r>
              <a:rPr lang="en-US" dirty="0"/>
              <a:t> = 1 - 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Thus we have: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dirty="0"/>
              <a:t> ≤ 0: 	y</a:t>
            </a:r>
            <a:r>
              <a:rPr lang="en-US" baseline="-25000" dirty="0"/>
              <a:t>k+1</a:t>
            </a:r>
            <a:r>
              <a:rPr lang="en-US" dirty="0"/>
              <a:t> =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; 		p</a:t>
            </a:r>
            <a:r>
              <a:rPr lang="en-US" baseline="-25000" dirty="0"/>
              <a:t>k+1 </a:t>
            </a:r>
            <a:r>
              <a:rPr lang="en-US" dirty="0"/>
              <a:t>=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baseline="-25000" dirty="0"/>
              <a:t> </a:t>
            </a:r>
            <a:r>
              <a:rPr lang="en-US" dirty="0"/>
              <a:t>+ (2x</a:t>
            </a:r>
            <a:r>
              <a:rPr lang="en-US" baseline="-25000" dirty="0"/>
              <a:t>k</a:t>
            </a:r>
            <a:r>
              <a:rPr lang="en-US" dirty="0"/>
              <a:t> + 3) 		</a:t>
            </a:r>
            <a:r>
              <a:rPr lang="en-US" dirty="0">
                <a:solidFill>
                  <a:srgbClr val="FF0000"/>
                </a:solidFill>
              </a:rPr>
              <a:t>[equ (7.1)]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dirty="0"/>
              <a:t> &gt; 0: 	y</a:t>
            </a:r>
            <a:r>
              <a:rPr lang="en-US" baseline="-25000" dirty="0"/>
              <a:t>k+1</a:t>
            </a:r>
            <a:r>
              <a:rPr lang="en-US" dirty="0"/>
              <a:t> =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 -1 ; 		p</a:t>
            </a:r>
            <a:r>
              <a:rPr lang="en-US" baseline="-25000" dirty="0"/>
              <a:t>k+1 </a:t>
            </a:r>
            <a:r>
              <a:rPr lang="en-US" dirty="0"/>
              <a:t>= </a:t>
            </a:r>
            <a:r>
              <a:rPr lang="en-US" dirty="0" err="1"/>
              <a:t>p</a:t>
            </a:r>
            <a:r>
              <a:rPr lang="en-US" baseline="-25000" dirty="0" err="1"/>
              <a:t>k</a:t>
            </a:r>
            <a:r>
              <a:rPr lang="en-US" baseline="-25000" dirty="0"/>
              <a:t> </a:t>
            </a:r>
            <a:r>
              <a:rPr lang="en-US" dirty="0"/>
              <a:t>+ 2(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 -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) + 5	</a:t>
            </a:r>
            <a:r>
              <a:rPr lang="en-US" dirty="0">
                <a:solidFill>
                  <a:srgbClr val="FF0000"/>
                </a:solidFill>
              </a:rPr>
              <a:t>[equ (7.2)]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Also p</a:t>
            </a:r>
            <a:r>
              <a:rPr lang="en-US" baseline="-25000" dirty="0"/>
              <a:t>0 </a:t>
            </a:r>
            <a:r>
              <a:rPr lang="en-US" dirty="0"/>
              <a:t>= 1 - 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Circle Formation Midpoint Steps: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Determine the radius </a:t>
            </a:r>
            <a:r>
              <a:rPr lang="en-US" sz="2400" i="1" dirty="0"/>
              <a:t>r</a:t>
            </a:r>
            <a:r>
              <a:rPr lang="en-US" sz="2400" dirty="0"/>
              <a:t> with the center point of the circle (x</a:t>
            </a:r>
            <a:r>
              <a:rPr lang="en-US" sz="2400" baseline="-25000" dirty="0"/>
              <a:t>c</a:t>
            </a:r>
            <a:r>
              <a:rPr lang="en-US" sz="2400" dirty="0"/>
              <a:t>, </a:t>
            </a:r>
            <a:r>
              <a:rPr lang="en-US" sz="2400" dirty="0" err="1"/>
              <a:t>y</a:t>
            </a:r>
            <a:r>
              <a:rPr lang="en-US" sz="2400" baseline="-25000" dirty="0" err="1"/>
              <a:t>c</a:t>
            </a:r>
            <a:r>
              <a:rPr lang="en-US" sz="2400" dirty="0"/>
              <a:t>); </a:t>
            </a:r>
            <a:r>
              <a:rPr lang="en-US" sz="2400" dirty="0" err="1"/>
              <a:t>y</a:t>
            </a:r>
            <a:r>
              <a:rPr lang="en-US" sz="2400" baseline="-25000" dirty="0" err="1"/>
              <a:t>c</a:t>
            </a:r>
            <a:r>
              <a:rPr lang="en-US" sz="2400" dirty="0"/>
              <a:t> = r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(0,r)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Initial decision parameter, P</a:t>
            </a:r>
            <a:r>
              <a:rPr lang="en-US" sz="2400" baseline="-25000" dirty="0"/>
              <a:t>0</a:t>
            </a:r>
            <a:r>
              <a:rPr lang="en-US" sz="2400" dirty="0"/>
              <a:t> = 1 - r</a:t>
            </a:r>
            <a:endParaRPr lang="en-US" sz="2400" b="1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While (x &lt; y), Determine the initial value k = 0 for each </a:t>
            </a:r>
            <a:r>
              <a:rPr lang="en-US" sz="2400" i="1" dirty="0" err="1"/>
              <a:t>x</a:t>
            </a:r>
            <a:r>
              <a:rPr lang="en-US" sz="1200" i="1" dirty="0" err="1"/>
              <a:t>k</a:t>
            </a:r>
            <a:r>
              <a:rPr lang="en-US" sz="2400" dirty="0"/>
              <a:t> position: </a:t>
            </a:r>
            <a:endParaRPr lang="en-US" sz="2400" dirty="0"/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b="1" dirty="0" err="1"/>
              <a:t>p</a:t>
            </a:r>
            <a:r>
              <a:rPr lang="en-US" sz="2000" b="1" baseline="-25000" dirty="0" err="1"/>
              <a:t>k</a:t>
            </a:r>
            <a:r>
              <a:rPr lang="en-US" sz="2000" b="1" dirty="0"/>
              <a:t> &lt; 0</a:t>
            </a:r>
            <a:r>
              <a:rPr lang="en-US" sz="2000" dirty="0"/>
              <a:t>, the next point is (</a:t>
            </a:r>
            <a:r>
              <a:rPr lang="en-US" sz="2000" dirty="0" err="1"/>
              <a:t>x</a:t>
            </a:r>
            <a:r>
              <a:rPr lang="en-US" sz="2000" baseline="-25000" dirty="0" err="1"/>
              <a:t>k</a:t>
            </a:r>
            <a:r>
              <a:rPr lang="en-US" sz="2000" dirty="0"/>
              <a:t> + 1, </a:t>
            </a:r>
            <a:r>
              <a:rPr lang="en-US" sz="2000" dirty="0" err="1"/>
              <a:t>y</a:t>
            </a:r>
            <a:r>
              <a:rPr lang="en-US" sz="2000" baseline="-25000" dirty="0" err="1"/>
              <a:t>i</a:t>
            </a:r>
            <a:r>
              <a:rPr lang="en-US" sz="2000" dirty="0"/>
              <a:t>) and p</a:t>
            </a:r>
            <a:r>
              <a:rPr lang="en-US" sz="2000" baseline="-25000" dirty="0"/>
              <a:t>k+1</a:t>
            </a:r>
            <a:r>
              <a:rPr lang="en-US" sz="2000" dirty="0"/>
              <a:t> = </a:t>
            </a:r>
            <a:r>
              <a:rPr lang="en-US" sz="2000" dirty="0" err="1"/>
              <a:t>p</a:t>
            </a:r>
            <a:r>
              <a:rPr lang="en-US" sz="2000" baseline="-25000" dirty="0" err="1"/>
              <a:t>k</a:t>
            </a:r>
            <a:r>
              <a:rPr lang="en-US" sz="2000" dirty="0"/>
              <a:t> + 2(</a:t>
            </a:r>
            <a:r>
              <a:rPr lang="en-US" sz="2000" dirty="0" err="1"/>
              <a:t>x</a:t>
            </a:r>
            <a:r>
              <a:rPr lang="en-US" sz="2000" baseline="-25000" dirty="0" err="1"/>
              <a:t>k</a:t>
            </a:r>
            <a:r>
              <a:rPr lang="en-US" sz="2000" dirty="0"/>
              <a:t> + 1) + 1</a:t>
            </a:r>
            <a:endParaRPr lang="en-US" sz="2000" dirty="0"/>
          </a:p>
          <a:p>
            <a:pPr marL="971550" lvl="1" indent="-514350">
              <a:buFont typeface="+mj-lt"/>
              <a:buAutoNum type="arabicPeriod"/>
            </a:pPr>
            <a:r>
              <a:rPr lang="en-US" sz="2000" dirty="0"/>
              <a:t>if </a:t>
            </a:r>
            <a:r>
              <a:rPr lang="en-US" sz="2000" b="1" dirty="0" err="1"/>
              <a:t>p</a:t>
            </a:r>
            <a:r>
              <a:rPr lang="en-US" sz="2000" b="1" baseline="-25000" dirty="0" err="1"/>
              <a:t>k</a:t>
            </a:r>
            <a:r>
              <a:rPr lang="en-US" sz="2000" b="1" dirty="0"/>
              <a:t> ≥ 0</a:t>
            </a:r>
            <a:r>
              <a:rPr lang="en-US" sz="2000" dirty="0"/>
              <a:t>, the next point is (</a:t>
            </a:r>
            <a:r>
              <a:rPr lang="en-US" sz="2000" dirty="0" err="1"/>
              <a:t>x</a:t>
            </a:r>
            <a:r>
              <a:rPr lang="en-US" sz="2000" baseline="-25000" dirty="0" err="1"/>
              <a:t>k</a:t>
            </a:r>
            <a:r>
              <a:rPr lang="en-US" sz="2000" dirty="0"/>
              <a:t> + 1, </a:t>
            </a:r>
            <a:r>
              <a:rPr lang="en-US" sz="2000" dirty="0" err="1"/>
              <a:t>y</a:t>
            </a:r>
            <a:r>
              <a:rPr lang="en-US" sz="2000" baseline="-25000" dirty="0" err="1"/>
              <a:t>i</a:t>
            </a:r>
            <a:r>
              <a:rPr lang="en-US" sz="2000" dirty="0"/>
              <a:t> - 1) and p</a:t>
            </a:r>
            <a:r>
              <a:rPr lang="en-US" sz="2000" baseline="-25000" dirty="0"/>
              <a:t>k+1</a:t>
            </a:r>
            <a:r>
              <a:rPr lang="en-US" sz="2000" dirty="0"/>
              <a:t> = </a:t>
            </a:r>
            <a:r>
              <a:rPr lang="en-US" sz="2000" dirty="0" err="1"/>
              <a:t>p</a:t>
            </a:r>
            <a:r>
              <a:rPr lang="en-US" sz="2000" baseline="-25000" dirty="0" err="1"/>
              <a:t>k</a:t>
            </a:r>
            <a:r>
              <a:rPr lang="en-US" sz="2000" dirty="0"/>
              <a:t> + 2(</a:t>
            </a:r>
            <a:r>
              <a:rPr lang="en-US" sz="2000" dirty="0" err="1"/>
              <a:t>x</a:t>
            </a:r>
            <a:r>
              <a:rPr lang="en-US" sz="2000" baseline="-25000" dirty="0" err="1"/>
              <a:t>k</a:t>
            </a:r>
            <a:r>
              <a:rPr lang="en-US" sz="2000" dirty="0"/>
              <a:t> + 1) + 1 – 2(</a:t>
            </a:r>
            <a:r>
              <a:rPr lang="en-US" sz="2000" dirty="0" err="1"/>
              <a:t>y</a:t>
            </a:r>
            <a:r>
              <a:rPr lang="en-US" sz="2000" baseline="-25000" dirty="0" err="1"/>
              <a:t>k</a:t>
            </a:r>
            <a:r>
              <a:rPr lang="en-US" sz="2000" dirty="0"/>
              <a:t> - 1)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Where 2x</a:t>
            </a:r>
            <a:r>
              <a:rPr lang="en-US" sz="2000" baseline="-25000" dirty="0">
                <a:solidFill>
                  <a:srgbClr val="FF0000"/>
                </a:solidFill>
              </a:rPr>
              <a:t>k+1</a:t>
            </a:r>
            <a:r>
              <a:rPr lang="en-US" sz="2000" dirty="0">
                <a:solidFill>
                  <a:srgbClr val="FF0000"/>
                </a:solidFill>
              </a:rPr>
              <a:t> = 2x</a:t>
            </a:r>
            <a:r>
              <a:rPr lang="en-US" sz="2000" baseline="-25000" dirty="0">
                <a:solidFill>
                  <a:srgbClr val="FF0000"/>
                </a:solidFill>
              </a:rPr>
              <a:t>k</a:t>
            </a:r>
            <a:r>
              <a:rPr lang="en-US" sz="2000" dirty="0">
                <a:solidFill>
                  <a:srgbClr val="FF0000"/>
                </a:solidFill>
              </a:rPr>
              <a:t> + 2 and 2y</a:t>
            </a:r>
            <a:r>
              <a:rPr lang="en-US" sz="2000" baseline="-25000" dirty="0">
                <a:solidFill>
                  <a:srgbClr val="FF0000"/>
                </a:solidFill>
              </a:rPr>
              <a:t>k+1</a:t>
            </a:r>
            <a:r>
              <a:rPr lang="en-US" sz="2000" dirty="0">
                <a:solidFill>
                  <a:srgbClr val="FF0000"/>
                </a:solidFill>
              </a:rPr>
              <a:t> = 2y</a:t>
            </a:r>
            <a:r>
              <a:rPr lang="en-US" sz="2000" baseline="-25000" dirty="0">
                <a:solidFill>
                  <a:srgbClr val="FF0000"/>
                </a:solidFill>
              </a:rPr>
              <a:t>k</a:t>
            </a:r>
            <a:r>
              <a:rPr lang="en-US" sz="2000" dirty="0">
                <a:solidFill>
                  <a:srgbClr val="FF0000"/>
                </a:solidFill>
              </a:rPr>
              <a:t> - 2</a:t>
            </a:r>
            <a:endParaRPr lang="en-US" sz="20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 startAt="4"/>
            </a:pPr>
            <a:r>
              <a:rPr lang="en-US" sz="2400" dirty="0"/>
              <a:t>Determine symmetry points in the other octants</a:t>
            </a:r>
            <a:endParaRPr lang="en-US" sz="2400" dirty="0"/>
          </a:p>
          <a:p>
            <a:pPr marL="514350" indent="-514350">
              <a:buFont typeface="+mj-lt"/>
              <a:buAutoNum type="arabicPeriod" startAt="4"/>
            </a:pPr>
            <a:r>
              <a:rPr lang="en-US" sz="2400" dirty="0"/>
              <a:t>Move each pixel position (x, y) on the circular line of the circle with the center point (x</a:t>
            </a:r>
            <a:r>
              <a:rPr lang="en-US" sz="2400" baseline="-25000" dirty="0"/>
              <a:t>c</a:t>
            </a:r>
            <a:r>
              <a:rPr lang="en-US" sz="2400" dirty="0"/>
              <a:t>, </a:t>
            </a:r>
            <a:r>
              <a:rPr lang="en-US" sz="2400" dirty="0" err="1"/>
              <a:t>y</a:t>
            </a:r>
            <a:r>
              <a:rPr lang="en-US" sz="2400" baseline="-25000" dirty="0" err="1"/>
              <a:t>c</a:t>
            </a:r>
            <a:r>
              <a:rPr lang="en-US" sz="2400" dirty="0"/>
              <a:t>) and specify the coordinate value: x = x + x</a:t>
            </a:r>
            <a:r>
              <a:rPr lang="en-US" sz="2400" baseline="-25000" dirty="0"/>
              <a:t>c</a:t>
            </a:r>
            <a:r>
              <a:rPr lang="en-US" sz="2400" dirty="0"/>
              <a:t> and y = y + </a:t>
            </a:r>
            <a:r>
              <a:rPr lang="en-US" sz="2400" dirty="0" err="1"/>
              <a:t>y</a:t>
            </a:r>
            <a:r>
              <a:rPr lang="en-US" sz="2400" baseline="-25000" dirty="0" err="1"/>
              <a:t>c</a:t>
            </a:r>
            <a:endParaRPr lang="en-US" sz="2400" dirty="0"/>
          </a:p>
          <a:p>
            <a:pPr marL="514350" indent="-514350">
              <a:buFont typeface="+mj-lt"/>
              <a:buAutoNum type="arabicPeriod" startAt="4"/>
            </a:pPr>
            <a:r>
              <a:rPr lang="en-US" sz="2400" dirty="0"/>
              <a:t>Repeat steps 3 -5, up to x ≥ y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illustrate the midpoint algorithm in the formation of a circle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with a </a:t>
            </a:r>
            <a:r>
              <a:rPr lang="en-US" b="1" dirty="0"/>
              <a:t>center point (0,0)</a:t>
            </a:r>
            <a:r>
              <a:rPr lang="en-US" dirty="0"/>
              <a:t> and a </a:t>
            </a:r>
            <a:r>
              <a:rPr lang="en-US" b="1" dirty="0"/>
              <a:t>radius of 10</a:t>
            </a:r>
            <a:r>
              <a:rPr lang="en-US" dirty="0"/>
              <a:t>,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calculation is based on the </a:t>
            </a:r>
            <a:r>
              <a:rPr lang="en-US" b="1" dirty="0"/>
              <a:t>first quadrant</a:t>
            </a:r>
            <a:r>
              <a:rPr lang="en-US" dirty="0"/>
              <a:t> where </a:t>
            </a:r>
            <a:r>
              <a:rPr lang="en-US" b="1" dirty="0"/>
              <a:t>x = 0 to x = 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ym typeface="Wingdings" panose="05000000000000000000" pitchFamily="2" charset="2"/>
              </a:rPr>
              <a:t> x = 0 and y = r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feraputriayu@umm.ac.id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8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 = 0; 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x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0</a:t>
            </a:r>
            <a:r>
              <a:rPr lang="en-US" dirty="0">
                <a:sym typeface="+mn-ea"/>
              </a:rPr>
              <a:t>, y</a:t>
            </a:r>
            <a:r>
              <a:rPr lang="en-US" baseline="-25000" dirty="0">
                <a:sym typeface="+mn-ea"/>
              </a:rPr>
              <a:t>0</a:t>
            </a:r>
            <a:r>
              <a:rPr lang="en-US" dirty="0">
                <a:sym typeface="Wingdings" panose="05000000000000000000" pitchFamily="2" charset="2"/>
              </a:rPr>
              <a:t>)  (0,r) </a:t>
            </a:r>
            <a:r>
              <a:rPr lang="en-US" dirty="0">
                <a:sym typeface="Wingdings" panose="05000000000000000000" pitchFamily="2" charset="2"/>
              </a:rPr>
              <a:t> (0,10)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i="1" baseline="-25000" dirty="0"/>
              <a:t>0</a:t>
            </a:r>
            <a:r>
              <a:rPr lang="en-US" dirty="0"/>
              <a:t> = 1 – r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/>
              <a:t>p</a:t>
            </a:r>
            <a:r>
              <a:rPr lang="en-US" i="1" baseline="-25000" dirty="0"/>
              <a:t>0</a:t>
            </a:r>
            <a:r>
              <a:rPr lang="en-US" dirty="0">
                <a:sym typeface="Wingdings" panose="05000000000000000000" pitchFamily="2" charset="2"/>
              </a:rPr>
              <a:t> = -9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i="1" baseline="-25000" dirty="0"/>
              <a:t>0</a:t>
            </a:r>
            <a:r>
              <a:rPr lang="en-US" dirty="0"/>
              <a:t> &lt;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>
                <a:solidFill>
                  <a:srgbClr val="FF0000"/>
                </a:solidFill>
              </a:rPr>
              <a:t>x</a:t>
            </a:r>
            <a:r>
              <a:rPr lang="en-US" baseline="-25000" dirty="0" err="1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rgbClr val="FF0000"/>
                </a:solidFill>
              </a:rPr>
              <a:t> + 1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x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+ 1</a:t>
            </a:r>
            <a:r>
              <a:rPr lang="en-US" dirty="0"/>
              <a:t>, y</a:t>
            </a:r>
            <a:r>
              <a:rPr lang="en-US" baseline="-25000" dirty="0"/>
              <a:t>0</a:t>
            </a:r>
            <a:r>
              <a:rPr lang="en-US" dirty="0">
                <a:sym typeface="Wingdings" panose="05000000000000000000" pitchFamily="2" charset="2"/>
              </a:rPr>
              <a:t>)  (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1</a:t>
            </a:r>
            <a:r>
              <a:rPr lang="en-US" dirty="0">
                <a:sym typeface="Wingdings" panose="05000000000000000000" pitchFamily="2" charset="2"/>
              </a:rPr>
              <a:t>, 10)</a:t>
            </a:r>
            <a:endParaRPr lang="en-US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sz="2800" dirty="0"/>
              <a:t>p</a:t>
            </a:r>
            <a:r>
              <a:rPr lang="en-US" sz="2800" baseline="-25000" dirty="0"/>
              <a:t>k+1</a:t>
            </a:r>
            <a:r>
              <a:rPr lang="en-US" sz="2800" dirty="0"/>
              <a:t> 	= </a:t>
            </a:r>
            <a:r>
              <a:rPr lang="en-US" sz="2800" dirty="0" err="1"/>
              <a:t>p</a:t>
            </a:r>
            <a:r>
              <a:rPr lang="en-US" sz="2800" baseline="-25000" dirty="0" err="1"/>
              <a:t>k</a:t>
            </a:r>
            <a:r>
              <a:rPr lang="en-US" sz="2800" dirty="0"/>
              <a:t> + 2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 err="1">
                <a:solidFill>
                  <a:srgbClr val="FF0000"/>
                </a:solidFill>
              </a:rPr>
              <a:t>x</a:t>
            </a:r>
            <a:r>
              <a:rPr lang="en-US" sz="2800" baseline="-25000" dirty="0" err="1">
                <a:solidFill>
                  <a:srgbClr val="FF0000"/>
                </a:solidFill>
              </a:rPr>
              <a:t>k</a:t>
            </a:r>
            <a:r>
              <a:rPr lang="en-US" sz="2800" dirty="0">
                <a:solidFill>
                  <a:srgbClr val="FF0000"/>
                </a:solidFill>
              </a:rPr>
              <a:t> + 1)</a:t>
            </a:r>
            <a:r>
              <a:rPr lang="en-US" sz="2800" dirty="0"/>
              <a:t> + 1</a:t>
            </a:r>
            <a:endParaRPr lang="en-US" sz="28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	p</a:t>
            </a:r>
            <a:r>
              <a:rPr lang="en-US" sz="2800" baseline="-25000" dirty="0"/>
              <a:t>1</a:t>
            </a:r>
            <a:r>
              <a:rPr lang="en-US" sz="2800" dirty="0">
                <a:sym typeface="Wingdings" panose="05000000000000000000" pitchFamily="2" charset="2"/>
              </a:rPr>
              <a:t> 	= -9 + 2(</a:t>
            </a:r>
            <a:r>
              <a:rPr 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1</a:t>
            </a:r>
            <a:r>
              <a:rPr lang="en-US" sz="2800" dirty="0">
                <a:sym typeface="Wingdings" panose="05000000000000000000" pitchFamily="2" charset="2"/>
              </a:rPr>
              <a:t>) + 1</a:t>
            </a:r>
            <a:endParaRPr lang="en-US" sz="2800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>
                <a:sym typeface="Wingdings" panose="05000000000000000000" pitchFamily="2" charset="2"/>
              </a:rPr>
              <a:t>		= -6</a:t>
            </a:r>
            <a:endParaRPr lang="en-US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200" y="5052695"/>
            <a:ext cx="3736340" cy="993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Where:</a:t>
            </a:r>
            <a:endParaRPr lang="en-US" sz="2000" dirty="0"/>
          </a:p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2x</a:t>
            </a:r>
            <a:r>
              <a:rPr lang="en-US" sz="2000" baseline="-25000" dirty="0"/>
              <a:t>k+1</a:t>
            </a:r>
            <a:r>
              <a:rPr lang="en-US" sz="2000" dirty="0"/>
              <a:t> = 2x</a:t>
            </a:r>
            <a:r>
              <a:rPr lang="en-US" sz="2000" baseline="-25000" dirty="0"/>
              <a:t>k</a:t>
            </a:r>
            <a:r>
              <a:rPr lang="en-US" sz="2000" dirty="0"/>
              <a:t> + 2 and 2y</a:t>
            </a:r>
            <a:r>
              <a:rPr lang="en-US" sz="2000" baseline="-25000" dirty="0"/>
              <a:t>k+1</a:t>
            </a:r>
            <a:r>
              <a:rPr lang="en-US" sz="2000" dirty="0"/>
              <a:t> = 2y</a:t>
            </a:r>
            <a:r>
              <a:rPr lang="en-US" sz="2000" baseline="-25000" dirty="0"/>
              <a:t>k</a:t>
            </a:r>
            <a:r>
              <a:rPr lang="en-US" sz="2000" dirty="0"/>
              <a:t> - 2</a:t>
            </a:r>
            <a:endParaRPr lang="en-US" sz="2000" dirty="0"/>
          </a:p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2.1 = 2.0 + 2</a:t>
            </a:r>
            <a:endParaRPr lang="en-US" sz="2000" dirty="0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6339205" y="365125"/>
            <a:ext cx="553466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Iteration 2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6339205" y="1412875"/>
            <a:ext cx="553466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 = 1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i="1" baseline="-25000" dirty="0"/>
              <a:t>1</a:t>
            </a:r>
            <a:r>
              <a:rPr lang="en-US" dirty="0"/>
              <a:t> = -6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i="1" baseline="-25000" dirty="0"/>
              <a:t>1</a:t>
            </a:r>
            <a:r>
              <a:rPr lang="en-US" dirty="0"/>
              <a:t> &lt;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>
                <a:solidFill>
                  <a:srgbClr val="FF0000"/>
                </a:solidFill>
              </a:rPr>
              <a:t>x</a:t>
            </a:r>
            <a:r>
              <a:rPr lang="en-US" baseline="-25000" dirty="0" err="1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rgbClr val="FF0000"/>
                </a:solidFill>
              </a:rPr>
              <a:t> + 1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x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+ 1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b="1" dirty="0">
                <a:sym typeface="Wingdings" panose="05000000000000000000" pitchFamily="2" charset="2"/>
              </a:rPr>
              <a:t>(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2</a:t>
            </a:r>
            <a:r>
              <a:rPr lang="en-US" b="1" dirty="0">
                <a:sym typeface="Wingdings" panose="05000000000000000000" pitchFamily="2" charset="2"/>
              </a:rPr>
              <a:t>, 10)</a:t>
            </a:r>
            <a:endParaRPr lang="en-US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sz="2800" dirty="0"/>
              <a:t>p</a:t>
            </a:r>
            <a:r>
              <a:rPr lang="en-US" sz="2800" baseline="-25000" dirty="0"/>
              <a:t>k+1</a:t>
            </a:r>
            <a:r>
              <a:rPr lang="en-US" sz="2800" dirty="0"/>
              <a:t> 	= </a:t>
            </a:r>
            <a:r>
              <a:rPr lang="en-US" sz="2800" dirty="0" err="1"/>
              <a:t>p</a:t>
            </a:r>
            <a:r>
              <a:rPr lang="en-US" sz="2800" baseline="-25000" dirty="0" err="1"/>
              <a:t>k</a:t>
            </a:r>
            <a:r>
              <a:rPr lang="en-US" sz="2800" dirty="0"/>
              <a:t> + 2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 err="1">
                <a:solidFill>
                  <a:srgbClr val="FF0000"/>
                </a:solidFill>
              </a:rPr>
              <a:t>x</a:t>
            </a:r>
            <a:r>
              <a:rPr lang="en-US" sz="2800" baseline="-25000" dirty="0" err="1">
                <a:solidFill>
                  <a:srgbClr val="FF0000"/>
                </a:solidFill>
              </a:rPr>
              <a:t>k</a:t>
            </a:r>
            <a:r>
              <a:rPr lang="en-US" sz="2800" dirty="0">
                <a:solidFill>
                  <a:srgbClr val="FF0000"/>
                </a:solidFill>
              </a:rPr>
              <a:t> + 1)</a:t>
            </a:r>
            <a:r>
              <a:rPr lang="en-US" sz="2800" dirty="0"/>
              <a:t> + 1</a:t>
            </a:r>
            <a:endParaRPr lang="en-US" sz="28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	p</a:t>
            </a:r>
            <a:r>
              <a:rPr lang="en-US" sz="2800" baseline="-25000" dirty="0"/>
              <a:t>2</a:t>
            </a:r>
            <a:r>
              <a:rPr lang="en-US" sz="2800" dirty="0">
                <a:sym typeface="Wingdings" panose="05000000000000000000" pitchFamily="2" charset="2"/>
              </a:rPr>
              <a:t> 	= -6 + 2(</a:t>
            </a:r>
            <a:r>
              <a:rPr 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2</a:t>
            </a:r>
            <a:r>
              <a:rPr lang="en-US" sz="2800" dirty="0">
                <a:sym typeface="Wingdings" panose="05000000000000000000" pitchFamily="2" charset="2"/>
              </a:rPr>
              <a:t>) + 1</a:t>
            </a:r>
            <a:endParaRPr lang="en-US" sz="2800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>
                <a:sym typeface="Wingdings" panose="05000000000000000000" pitchFamily="2" charset="2"/>
              </a:rPr>
              <a:t>		= -1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7680325" y="5052695"/>
            <a:ext cx="3673475" cy="993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Where:</a:t>
            </a:r>
            <a:endParaRPr lang="en-US" sz="2000" dirty="0"/>
          </a:p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2x</a:t>
            </a:r>
            <a:r>
              <a:rPr lang="en-US" sz="2000" baseline="-25000" dirty="0"/>
              <a:t>k+1</a:t>
            </a:r>
            <a:r>
              <a:rPr lang="en-US" sz="2000" dirty="0"/>
              <a:t> = 2x</a:t>
            </a:r>
            <a:r>
              <a:rPr lang="en-US" sz="2000" baseline="-25000" dirty="0"/>
              <a:t>k</a:t>
            </a:r>
            <a:r>
              <a:rPr lang="en-US" sz="2000" dirty="0"/>
              <a:t> + 2 and 2y</a:t>
            </a:r>
            <a:r>
              <a:rPr lang="en-US" sz="2000" baseline="-25000" dirty="0"/>
              <a:t>k+1</a:t>
            </a:r>
            <a:r>
              <a:rPr lang="en-US" sz="2000" dirty="0"/>
              <a:t> = 2y</a:t>
            </a:r>
            <a:r>
              <a:rPr lang="en-US" sz="2000" baseline="-25000" dirty="0"/>
              <a:t>k</a:t>
            </a:r>
            <a:r>
              <a:rPr lang="en-US" sz="2000" dirty="0"/>
              <a:t> - 2</a:t>
            </a:r>
            <a:endParaRPr lang="en-US" sz="2000" dirty="0"/>
          </a:p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2.2 = 2.1 + 2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5740"/>
            <a:ext cx="5255895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 = 2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i="1" baseline="-25000" dirty="0"/>
              <a:t>2</a:t>
            </a:r>
            <a:r>
              <a:rPr lang="en-US" dirty="0"/>
              <a:t> = -1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i="1" baseline="-25000" dirty="0"/>
              <a:t>2</a:t>
            </a:r>
            <a:r>
              <a:rPr lang="en-US" dirty="0"/>
              <a:t> &lt;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>
                <a:solidFill>
                  <a:srgbClr val="FF0000"/>
                </a:solidFill>
              </a:rPr>
              <a:t>x</a:t>
            </a:r>
            <a:r>
              <a:rPr lang="en-US" baseline="-25000" dirty="0" err="1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rgbClr val="FF0000"/>
                </a:solidFill>
              </a:rPr>
              <a:t> + 1</a:t>
            </a:r>
            <a:r>
              <a:rPr lang="en-US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k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x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+ 1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>
                <a:sym typeface="Wingdings" panose="05000000000000000000" pitchFamily="2" charset="2"/>
              </a:rPr>
              <a:t>)  (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3</a:t>
            </a:r>
            <a:r>
              <a:rPr lang="en-US" dirty="0">
                <a:sym typeface="Wingdings" panose="05000000000000000000" pitchFamily="2" charset="2"/>
              </a:rPr>
              <a:t>, 10)</a:t>
            </a:r>
            <a:endParaRPr lang="en-US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	p</a:t>
            </a:r>
            <a:r>
              <a:rPr lang="en-US" sz="2800" baseline="-25000" dirty="0"/>
              <a:t>k+1</a:t>
            </a:r>
            <a:r>
              <a:rPr lang="en-US" sz="2800" dirty="0"/>
              <a:t> 	= </a:t>
            </a:r>
            <a:r>
              <a:rPr lang="en-US" sz="2800" dirty="0" err="1"/>
              <a:t>p</a:t>
            </a:r>
            <a:r>
              <a:rPr lang="en-US" sz="2800" baseline="-25000" dirty="0" err="1"/>
              <a:t>k</a:t>
            </a:r>
            <a:r>
              <a:rPr lang="en-US" sz="2800" dirty="0"/>
              <a:t> + 2(</a:t>
            </a:r>
            <a:r>
              <a:rPr lang="en-US" sz="2800" dirty="0" err="1">
                <a:solidFill>
                  <a:srgbClr val="FF0000"/>
                </a:solidFill>
              </a:rPr>
              <a:t>x</a:t>
            </a:r>
            <a:r>
              <a:rPr lang="en-US" sz="2800" baseline="-25000" dirty="0" err="1">
                <a:solidFill>
                  <a:srgbClr val="FF0000"/>
                </a:solidFill>
              </a:rPr>
              <a:t>k</a:t>
            </a:r>
            <a:r>
              <a:rPr lang="en-US" sz="2800" dirty="0">
                <a:solidFill>
                  <a:srgbClr val="FF0000"/>
                </a:solidFill>
              </a:rPr>
              <a:t> + 1</a:t>
            </a:r>
            <a:r>
              <a:rPr lang="en-US" sz="2800" dirty="0"/>
              <a:t>) + 1</a:t>
            </a:r>
            <a:endParaRPr lang="en-US" sz="28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	p</a:t>
            </a:r>
            <a:r>
              <a:rPr lang="en-US" sz="2800" baseline="-25000" dirty="0"/>
              <a:t>3</a:t>
            </a:r>
            <a:r>
              <a:rPr lang="en-US" sz="2800" dirty="0">
                <a:sym typeface="Wingdings" panose="05000000000000000000" pitchFamily="2" charset="2"/>
              </a:rPr>
              <a:t> 	= -1 + 2(</a:t>
            </a:r>
            <a:r>
              <a:rPr 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3</a:t>
            </a:r>
            <a:r>
              <a:rPr lang="en-US" sz="2800" dirty="0">
                <a:sym typeface="Wingdings" panose="05000000000000000000" pitchFamily="2" charset="2"/>
              </a:rPr>
              <a:t>) + 1</a:t>
            </a:r>
            <a:endParaRPr lang="en-US" sz="2800" dirty="0">
              <a:sym typeface="Wingdings" panose="05000000000000000000" pitchFamily="2" charset="2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>
                <a:sym typeface="Wingdings" panose="05000000000000000000" pitchFamily="2" charset="2"/>
              </a:rPr>
              <a:t>		= 6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7928" y="5156632"/>
            <a:ext cx="4337957" cy="993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Where:</a:t>
            </a:r>
            <a:endParaRPr lang="en-US" sz="2000" dirty="0"/>
          </a:p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2x</a:t>
            </a:r>
            <a:r>
              <a:rPr lang="en-US" sz="2000" baseline="-25000" dirty="0"/>
              <a:t>k+1</a:t>
            </a:r>
            <a:r>
              <a:rPr lang="en-US" sz="2000" dirty="0"/>
              <a:t> = 2x</a:t>
            </a:r>
            <a:r>
              <a:rPr lang="en-US" sz="2000" baseline="-25000" dirty="0"/>
              <a:t>k</a:t>
            </a:r>
            <a:r>
              <a:rPr lang="en-US" sz="2000" dirty="0"/>
              <a:t> + 2 and 2y</a:t>
            </a:r>
            <a:r>
              <a:rPr lang="en-US" sz="2000" baseline="-25000" dirty="0"/>
              <a:t>k+1</a:t>
            </a:r>
            <a:r>
              <a:rPr lang="en-US" sz="2000" dirty="0"/>
              <a:t> = 2y</a:t>
            </a:r>
            <a:r>
              <a:rPr lang="en-US" sz="2000" baseline="-25000" dirty="0"/>
              <a:t>k</a:t>
            </a:r>
            <a:r>
              <a:rPr lang="en-US" sz="2000" dirty="0"/>
              <a:t> - 2</a:t>
            </a:r>
            <a:endParaRPr lang="en-US" sz="2000" dirty="0"/>
          </a:p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2.3 = 2.2 + 2</a:t>
            </a:r>
            <a:endParaRPr lang="en-US" sz="2000" dirty="0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6035675" y="365125"/>
            <a:ext cx="603758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Iteration 4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6035675" y="1430655"/>
            <a:ext cx="6036945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 = 3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i="1" baseline="-25000" dirty="0"/>
              <a:t>3</a:t>
            </a:r>
            <a:r>
              <a:rPr lang="en-US" dirty="0"/>
              <a:t> = 6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i="1" baseline="-25000" dirty="0"/>
              <a:t>3</a:t>
            </a:r>
            <a:r>
              <a:rPr lang="en-US" dirty="0"/>
              <a:t> &gt;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>
                <a:solidFill>
                  <a:srgbClr val="FF0000"/>
                </a:solidFill>
              </a:rPr>
              <a:t>x</a:t>
            </a:r>
            <a:r>
              <a:rPr lang="en-US" baseline="-25000" dirty="0" err="1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rgbClr val="FF0000"/>
                </a:solidFill>
              </a:rPr>
              <a:t> + 1</a:t>
            </a:r>
            <a:r>
              <a:rPr lang="en-US" dirty="0"/>
              <a:t>, </a:t>
            </a:r>
            <a:r>
              <a:rPr lang="en-US" dirty="0" err="1">
                <a:solidFill>
                  <a:srgbClr val="00B0F0"/>
                </a:solidFill>
              </a:rPr>
              <a:t>y</a:t>
            </a:r>
            <a:r>
              <a:rPr lang="en-US" baseline="-25000" dirty="0" err="1">
                <a:solidFill>
                  <a:srgbClr val="00B0F0"/>
                </a:solidFill>
              </a:rPr>
              <a:t>k</a:t>
            </a:r>
            <a:r>
              <a:rPr lang="en-US" dirty="0">
                <a:solidFill>
                  <a:srgbClr val="00B0F0"/>
                </a:solidFill>
              </a:rPr>
              <a:t> - 1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+ 1</a:t>
            </a:r>
            <a:r>
              <a:rPr lang="en-US" dirty="0"/>
              <a:t>, </a:t>
            </a:r>
            <a:r>
              <a:rPr lang="en-US" dirty="0">
                <a:solidFill>
                  <a:srgbClr val="00B0F0"/>
                </a:solidFill>
              </a:rPr>
              <a:t>y</a:t>
            </a:r>
            <a:r>
              <a:rPr lang="en-US" baseline="-25000" dirty="0">
                <a:solidFill>
                  <a:srgbClr val="00B0F0"/>
                </a:solidFill>
              </a:rPr>
              <a:t>3</a:t>
            </a:r>
            <a:r>
              <a:rPr lang="en-US" dirty="0">
                <a:solidFill>
                  <a:srgbClr val="00B0F0"/>
                </a:solidFill>
              </a:rPr>
              <a:t> - 1</a:t>
            </a:r>
            <a:r>
              <a:rPr lang="en-US" dirty="0">
                <a:sym typeface="Wingdings" panose="05000000000000000000" pitchFamily="2" charset="2"/>
              </a:rPr>
              <a:t>)  (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4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9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	p</a:t>
            </a:r>
            <a:r>
              <a:rPr lang="en-US" sz="2800" baseline="-25000" dirty="0"/>
              <a:t>k+1</a:t>
            </a:r>
            <a:r>
              <a:rPr lang="en-US" sz="2800" dirty="0"/>
              <a:t> 	= </a:t>
            </a:r>
            <a:r>
              <a:rPr lang="en-US" sz="2800" dirty="0" err="1"/>
              <a:t>p</a:t>
            </a:r>
            <a:r>
              <a:rPr lang="en-US" sz="2800" baseline="-25000" dirty="0" err="1"/>
              <a:t>k</a:t>
            </a:r>
            <a:r>
              <a:rPr lang="en-US" sz="2800" dirty="0"/>
              <a:t> + 2(</a:t>
            </a:r>
            <a:r>
              <a:rPr lang="en-US" sz="2800" dirty="0" err="1">
                <a:solidFill>
                  <a:srgbClr val="FF0000"/>
                </a:solidFill>
              </a:rPr>
              <a:t>x</a:t>
            </a:r>
            <a:r>
              <a:rPr lang="en-US" sz="2800" baseline="-25000" dirty="0" err="1">
                <a:solidFill>
                  <a:srgbClr val="FF0000"/>
                </a:solidFill>
              </a:rPr>
              <a:t>k</a:t>
            </a:r>
            <a:r>
              <a:rPr lang="en-US" sz="2800" dirty="0">
                <a:solidFill>
                  <a:srgbClr val="FF0000"/>
                </a:solidFill>
              </a:rPr>
              <a:t> + 1</a:t>
            </a:r>
            <a:r>
              <a:rPr lang="en-US" sz="2800" dirty="0"/>
              <a:t>) + 1 - 2(</a:t>
            </a:r>
            <a:r>
              <a:rPr lang="en-US" sz="2800" dirty="0" err="1">
                <a:solidFill>
                  <a:srgbClr val="00B0F0"/>
                </a:solidFill>
              </a:rPr>
              <a:t>y</a:t>
            </a:r>
            <a:r>
              <a:rPr lang="en-US" sz="2800" baseline="-25000" dirty="0" err="1">
                <a:solidFill>
                  <a:srgbClr val="00B0F0"/>
                </a:solidFill>
              </a:rPr>
              <a:t>k</a:t>
            </a:r>
            <a:r>
              <a:rPr lang="en-US" sz="2800" dirty="0">
                <a:solidFill>
                  <a:srgbClr val="00B0F0"/>
                </a:solidFill>
              </a:rPr>
              <a:t> - 1</a:t>
            </a:r>
            <a:r>
              <a:rPr lang="en-US" sz="2800" dirty="0"/>
              <a:t>)</a:t>
            </a:r>
            <a:endParaRPr lang="en-US" sz="28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	p</a:t>
            </a:r>
            <a:r>
              <a:rPr lang="en-US" sz="2800" baseline="-25000" dirty="0"/>
              <a:t>4</a:t>
            </a:r>
            <a:r>
              <a:rPr lang="en-US" sz="2800" dirty="0"/>
              <a:t> 	= 6 + 2(</a:t>
            </a:r>
            <a:r>
              <a:rPr lang="en-US" sz="2800" dirty="0">
                <a:solidFill>
                  <a:srgbClr val="C00000"/>
                </a:solidFill>
              </a:rPr>
              <a:t>4</a:t>
            </a:r>
            <a:r>
              <a:rPr lang="en-US" sz="2800" dirty="0"/>
              <a:t>) + 1 - 2(</a:t>
            </a:r>
            <a:r>
              <a:rPr lang="en-US" sz="2800" dirty="0">
                <a:solidFill>
                  <a:srgbClr val="0070C0"/>
                </a:solidFill>
              </a:rPr>
              <a:t>9</a:t>
            </a:r>
            <a:r>
              <a:rPr lang="en-US" sz="2800" dirty="0"/>
              <a:t>)</a:t>
            </a:r>
            <a:endParaRPr lang="en-US" sz="28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		= -3	</a:t>
            </a:r>
            <a:endParaRPr lang="en-US" sz="2800" dirty="0"/>
          </a:p>
          <a:p>
            <a:pPr marL="0" lvl="1" indent="0">
              <a:spcBef>
                <a:spcPts val="1000"/>
              </a:spcBef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Rectangle 7"/>
          <p:cNvSpPr/>
          <p:nvPr/>
        </p:nvSpPr>
        <p:spPr>
          <a:xfrm>
            <a:off x="7735298" y="5156632"/>
            <a:ext cx="4337957" cy="993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Where:</a:t>
            </a:r>
            <a:endParaRPr lang="en-US" sz="2000" dirty="0"/>
          </a:p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2x</a:t>
            </a:r>
            <a:r>
              <a:rPr lang="en-US" sz="2000" baseline="-25000" dirty="0"/>
              <a:t>k+1</a:t>
            </a:r>
            <a:r>
              <a:rPr lang="en-US" sz="2000" dirty="0"/>
              <a:t> = 2x</a:t>
            </a:r>
            <a:r>
              <a:rPr lang="en-US" sz="2000" baseline="-25000" dirty="0"/>
              <a:t>k</a:t>
            </a:r>
            <a:r>
              <a:rPr lang="en-US" sz="2000" dirty="0"/>
              <a:t> + 2 and 2y</a:t>
            </a:r>
            <a:r>
              <a:rPr lang="en-US" sz="2000" baseline="-25000" dirty="0"/>
              <a:t>k+1</a:t>
            </a:r>
            <a:r>
              <a:rPr lang="en-US" sz="2000" dirty="0"/>
              <a:t> = 2y</a:t>
            </a:r>
            <a:r>
              <a:rPr lang="en-US" sz="2000" baseline="-25000" dirty="0"/>
              <a:t>k</a:t>
            </a:r>
            <a:r>
              <a:rPr lang="en-US" sz="2000" dirty="0"/>
              <a:t> - 2</a:t>
            </a:r>
            <a:endParaRPr lang="en-US" sz="2000" dirty="0"/>
          </a:p>
          <a:p>
            <a:pPr marL="0" lvl="1" indent="0">
              <a:lnSpc>
                <a:spcPct val="70000"/>
              </a:lnSpc>
              <a:spcBef>
                <a:spcPts val="1000"/>
              </a:spcBef>
              <a:buNone/>
            </a:pPr>
            <a:r>
              <a:rPr lang="en-US" sz="2000" dirty="0"/>
              <a:t>2.4 = 2.3 + 2 and 2.9 = 2.10 -2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cont. </a:t>
            </a:r>
            <a:r>
              <a:rPr lang="en-US" dirty="0">
                <a:sym typeface="+mn-ea"/>
              </a:rPr>
              <a:t>up to x ≥ y</a:t>
            </a:r>
            <a:r>
              <a:rPr lang="en-US"/>
              <a:t>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199" y="2040466"/>
          <a:ext cx="409956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520"/>
                <a:gridCol w="1366520"/>
                <a:gridCol w="1366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(x</a:t>
                      </a:r>
                      <a:r>
                        <a:rPr lang="en-US" sz="1400" dirty="0"/>
                        <a:t>k+1</a:t>
                      </a:r>
                      <a:r>
                        <a:rPr lang="en-US" dirty="0"/>
                        <a:t>, y</a:t>
                      </a:r>
                      <a:r>
                        <a:rPr lang="en-US" sz="1400" dirty="0"/>
                        <a:t>k+1</a:t>
                      </a:r>
                      <a:r>
                        <a:rPr lang="en-US" dirty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(3,10)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(4,9)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(5,9)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(6,8)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(7,7)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33024" y="850296"/>
          <a:ext cx="5558976" cy="496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</a:tblGrid>
              <a:tr h="413745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9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flipV="1">
            <a:off x="6625883" y="1364566"/>
            <a:ext cx="5683348" cy="44594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EXERCISE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circle with r = 5 towards the center point (2,2)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**To use symmetry property of the circle consider the </a:t>
            </a:r>
            <a:r>
              <a:rPr lang="en-US" i="1" dirty="0" err="1"/>
              <a:t>centre</a:t>
            </a:r>
            <a:r>
              <a:rPr lang="en-US" i="1" dirty="0"/>
              <a:t> as (0,0).</a:t>
            </a:r>
            <a:endParaRPr lang="en-US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255895" cy="1325880"/>
          </a:xfrm>
        </p:spPr>
        <p:txBody>
          <a:bodyPr/>
          <a:lstStyle/>
          <a:p>
            <a:r>
              <a:rPr lang="en-US" dirty="0"/>
              <a:t>Iteration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55895" cy="4351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 = 0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500" i="1" dirty="0"/>
              <a:t>0</a:t>
            </a:r>
            <a:r>
              <a:rPr lang="en-US" dirty="0"/>
              <a:t> = 1 – 5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/>
              <a:t>p</a:t>
            </a:r>
            <a:r>
              <a:rPr lang="en-US" sz="1500" i="1" dirty="0"/>
              <a:t>0</a:t>
            </a:r>
            <a:r>
              <a:rPr lang="en-US" dirty="0">
                <a:sym typeface="Wingdings" panose="05000000000000000000" pitchFamily="2" charset="2"/>
              </a:rPr>
              <a:t> = -4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400" i="1" dirty="0"/>
              <a:t>0</a:t>
            </a:r>
            <a:r>
              <a:rPr lang="en-US" dirty="0"/>
              <a:t> &lt;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sz="1500" dirty="0" err="1"/>
              <a:t>k</a:t>
            </a:r>
            <a:r>
              <a:rPr lang="en-US" dirty="0"/>
              <a:t> + 1, </a:t>
            </a:r>
            <a:r>
              <a:rPr lang="en-US" dirty="0" err="1"/>
              <a:t>y</a:t>
            </a:r>
            <a:r>
              <a:rPr lang="en-US" sz="1500" dirty="0" err="1"/>
              <a:t>k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/>
              <a:t>x</a:t>
            </a:r>
            <a:r>
              <a:rPr lang="en-US" sz="1500" dirty="0"/>
              <a:t>0</a:t>
            </a:r>
            <a:r>
              <a:rPr lang="en-US" dirty="0"/>
              <a:t> + 1, y</a:t>
            </a:r>
            <a:r>
              <a:rPr lang="en-US" sz="1500" dirty="0"/>
              <a:t>0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b="1" dirty="0">
                <a:sym typeface="Wingdings" panose="05000000000000000000" pitchFamily="2" charset="2"/>
              </a:rPr>
              <a:t>(1,5)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/>
              <a:t> p</a:t>
            </a:r>
            <a:r>
              <a:rPr lang="en-US" sz="1500" dirty="0"/>
              <a:t>k+1</a:t>
            </a:r>
            <a:r>
              <a:rPr lang="en-US" dirty="0"/>
              <a:t> = </a:t>
            </a:r>
            <a:r>
              <a:rPr lang="en-US" dirty="0" err="1"/>
              <a:t>p</a:t>
            </a:r>
            <a:r>
              <a:rPr lang="en-US" sz="1500" dirty="0" err="1"/>
              <a:t>k</a:t>
            </a:r>
            <a:r>
              <a:rPr lang="en-US" dirty="0"/>
              <a:t> + 2x</a:t>
            </a:r>
            <a:r>
              <a:rPr lang="en-US" sz="1400" dirty="0"/>
              <a:t>k+1</a:t>
            </a:r>
            <a:r>
              <a:rPr lang="en-US" dirty="0"/>
              <a:t> + 1 </a:t>
            </a:r>
            <a:r>
              <a:rPr lang="en-US" dirty="0">
                <a:sym typeface="Wingdings" panose="05000000000000000000" pitchFamily="2" charset="2"/>
              </a:rPr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</a:t>
            </a:r>
            <a:r>
              <a:rPr lang="en-US" i="1" dirty="0"/>
              <a:t>p</a:t>
            </a:r>
            <a:r>
              <a:rPr lang="en-US" sz="1400" i="1" dirty="0"/>
              <a:t>1</a:t>
            </a:r>
            <a:r>
              <a:rPr lang="en-US" dirty="0"/>
              <a:t> = -4 + 2.1 + 1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/>
              <a:t>p</a:t>
            </a:r>
            <a:r>
              <a:rPr lang="en-US" sz="1400" i="1" dirty="0"/>
              <a:t>1</a:t>
            </a:r>
            <a:r>
              <a:rPr lang="en-US" dirty="0"/>
              <a:t> = -1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2x</a:t>
            </a:r>
            <a:r>
              <a:rPr lang="en-US" sz="1200" dirty="0"/>
              <a:t>k+1</a:t>
            </a:r>
            <a:r>
              <a:rPr lang="en-US" dirty="0"/>
              <a:t> = 2x</a:t>
            </a:r>
            <a:r>
              <a:rPr lang="en-US" sz="1100" dirty="0"/>
              <a:t>k </a:t>
            </a:r>
            <a:r>
              <a:rPr lang="en-US" dirty="0"/>
              <a:t>+ 2 and 2y</a:t>
            </a:r>
            <a:r>
              <a:rPr lang="en-US" sz="1050" dirty="0"/>
              <a:t>k+1</a:t>
            </a:r>
            <a:r>
              <a:rPr lang="en-US" dirty="0"/>
              <a:t> = 2y</a:t>
            </a:r>
            <a:r>
              <a:rPr lang="en-US" sz="1050" dirty="0"/>
              <a:t>k</a:t>
            </a:r>
            <a:r>
              <a:rPr lang="en-US" dirty="0"/>
              <a:t> - 2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2.1 = 2.0 + 2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/>
        </p:nvSpPr>
        <p:spPr>
          <a:xfrm>
            <a:off x="6394450" y="365125"/>
            <a:ext cx="527367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Iteration 2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6394450" y="1825625"/>
            <a:ext cx="5273675" cy="4351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 = 1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500" i="1" dirty="0"/>
              <a:t>1</a:t>
            </a:r>
            <a:r>
              <a:rPr lang="en-US" dirty="0"/>
              <a:t> = -1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400" i="1" dirty="0"/>
              <a:t>1</a:t>
            </a:r>
            <a:r>
              <a:rPr lang="en-US" dirty="0"/>
              <a:t> &lt;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sz="1500" dirty="0" err="1"/>
              <a:t>k</a:t>
            </a:r>
            <a:r>
              <a:rPr lang="en-US" dirty="0"/>
              <a:t> + 1, </a:t>
            </a:r>
            <a:r>
              <a:rPr lang="en-US" dirty="0" err="1"/>
              <a:t>y</a:t>
            </a:r>
            <a:r>
              <a:rPr lang="en-US" sz="1500" dirty="0" err="1"/>
              <a:t>k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/>
              <a:t>x</a:t>
            </a:r>
            <a:r>
              <a:rPr lang="en-US" sz="1500" dirty="0"/>
              <a:t>1</a:t>
            </a:r>
            <a:r>
              <a:rPr lang="en-US" dirty="0"/>
              <a:t> + 1, y</a:t>
            </a:r>
            <a:r>
              <a:rPr lang="en-US" sz="1500" dirty="0"/>
              <a:t>0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b="1" dirty="0">
                <a:sym typeface="Wingdings" panose="05000000000000000000" pitchFamily="2" charset="2"/>
              </a:rPr>
              <a:t>(2,5)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/>
              <a:t> p</a:t>
            </a:r>
            <a:r>
              <a:rPr lang="en-US" sz="1500" dirty="0"/>
              <a:t>k+1</a:t>
            </a:r>
            <a:r>
              <a:rPr lang="en-US" dirty="0"/>
              <a:t> = </a:t>
            </a:r>
            <a:r>
              <a:rPr lang="en-US" dirty="0" err="1"/>
              <a:t>p</a:t>
            </a:r>
            <a:r>
              <a:rPr lang="en-US" sz="1500" dirty="0" err="1"/>
              <a:t>k</a:t>
            </a:r>
            <a:r>
              <a:rPr lang="en-US" dirty="0"/>
              <a:t> + 2x</a:t>
            </a:r>
            <a:r>
              <a:rPr lang="en-US" sz="1400" dirty="0"/>
              <a:t>k+1</a:t>
            </a:r>
            <a:r>
              <a:rPr lang="en-US" dirty="0"/>
              <a:t> + 1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</a:t>
            </a:r>
            <a:r>
              <a:rPr lang="en-US" i="1" dirty="0"/>
              <a:t>p</a:t>
            </a:r>
            <a:r>
              <a:rPr lang="en-US" sz="1400" i="1" dirty="0"/>
              <a:t>2</a:t>
            </a:r>
            <a:r>
              <a:rPr lang="en-US" dirty="0"/>
              <a:t> = -1 + 2.2 + 1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/>
              <a:t>p</a:t>
            </a:r>
            <a:r>
              <a:rPr lang="en-US" sz="1400" i="1" dirty="0"/>
              <a:t>2</a:t>
            </a:r>
            <a:r>
              <a:rPr lang="en-US" dirty="0"/>
              <a:t> = 4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2x</a:t>
            </a:r>
            <a:r>
              <a:rPr lang="en-US" sz="1200" dirty="0"/>
              <a:t>k+1</a:t>
            </a:r>
            <a:r>
              <a:rPr lang="en-US" dirty="0"/>
              <a:t> = 2x</a:t>
            </a:r>
            <a:r>
              <a:rPr lang="en-US" sz="1100" dirty="0"/>
              <a:t>k </a:t>
            </a:r>
            <a:r>
              <a:rPr lang="en-US" dirty="0"/>
              <a:t>+ 2 and 2y</a:t>
            </a:r>
            <a:r>
              <a:rPr lang="en-US" sz="1050" dirty="0"/>
              <a:t>k+1</a:t>
            </a:r>
            <a:r>
              <a:rPr lang="en-US" dirty="0"/>
              <a:t> = 2y</a:t>
            </a:r>
            <a:r>
              <a:rPr lang="en-US" sz="1050" dirty="0"/>
              <a:t>k</a:t>
            </a:r>
            <a:r>
              <a:rPr lang="en-US" dirty="0"/>
              <a:t> - 2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2.2 = 2.1 + 2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315" y="365125"/>
            <a:ext cx="5633085" cy="1325880"/>
          </a:xfrm>
        </p:spPr>
        <p:txBody>
          <a:bodyPr/>
          <a:lstStyle/>
          <a:p>
            <a:r>
              <a:rPr lang="en-US" dirty="0"/>
              <a:t>Iteration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315" y="1825625"/>
            <a:ext cx="5632450" cy="435165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dirty="0"/>
              <a:t>k = 2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500" i="1" dirty="0"/>
              <a:t>2</a:t>
            </a:r>
            <a:r>
              <a:rPr lang="en-US" dirty="0"/>
              <a:t> = 4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400" i="1" dirty="0"/>
              <a:t>2</a:t>
            </a:r>
            <a:r>
              <a:rPr lang="en-US" dirty="0"/>
              <a:t> &gt;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sz="1500" dirty="0" err="1"/>
              <a:t>k</a:t>
            </a:r>
            <a:r>
              <a:rPr lang="en-US" dirty="0"/>
              <a:t> + 1, </a:t>
            </a:r>
            <a:r>
              <a:rPr lang="en-US" dirty="0" err="1"/>
              <a:t>y</a:t>
            </a:r>
            <a:r>
              <a:rPr lang="en-US" sz="1500" dirty="0" err="1"/>
              <a:t>k</a:t>
            </a:r>
            <a:r>
              <a:rPr lang="en-US" dirty="0"/>
              <a:t> - 1)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/>
              <a:t>x</a:t>
            </a:r>
            <a:r>
              <a:rPr lang="en-US" sz="1500" dirty="0"/>
              <a:t>3</a:t>
            </a:r>
            <a:r>
              <a:rPr lang="en-US" dirty="0"/>
              <a:t> + 1, y</a:t>
            </a:r>
            <a:r>
              <a:rPr lang="en-US" sz="1500" dirty="0"/>
              <a:t>0</a:t>
            </a:r>
            <a:r>
              <a:rPr lang="en-US" dirty="0"/>
              <a:t> - 1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b="1" dirty="0">
                <a:sym typeface="Wingdings" panose="05000000000000000000" pitchFamily="2" charset="2"/>
              </a:rPr>
              <a:t>(3,4)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/>
              <a:t> p</a:t>
            </a:r>
            <a:r>
              <a:rPr lang="en-US" sz="1500" dirty="0"/>
              <a:t>k+1</a:t>
            </a:r>
            <a:r>
              <a:rPr lang="en-US" dirty="0"/>
              <a:t> = </a:t>
            </a:r>
            <a:r>
              <a:rPr lang="en-US" dirty="0" err="1"/>
              <a:t>p</a:t>
            </a:r>
            <a:r>
              <a:rPr lang="en-US" sz="1500" dirty="0" err="1"/>
              <a:t>k</a:t>
            </a:r>
            <a:r>
              <a:rPr lang="en-US" dirty="0"/>
              <a:t> + 2x</a:t>
            </a:r>
            <a:r>
              <a:rPr lang="en-US" sz="1200" dirty="0"/>
              <a:t>k+1</a:t>
            </a:r>
            <a:r>
              <a:rPr lang="en-US" dirty="0"/>
              <a:t> + 1 – 2y</a:t>
            </a:r>
            <a:r>
              <a:rPr lang="en-US" sz="1100" dirty="0"/>
              <a:t>k+1</a:t>
            </a:r>
            <a:r>
              <a:rPr lang="en-US" dirty="0"/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</a:t>
            </a:r>
            <a:r>
              <a:rPr lang="en-US" i="1" dirty="0"/>
              <a:t>p</a:t>
            </a:r>
            <a:r>
              <a:rPr lang="en-US" sz="1400" i="1" dirty="0"/>
              <a:t>4</a:t>
            </a:r>
            <a:r>
              <a:rPr lang="en-US" dirty="0"/>
              <a:t> = 4 + 2.3 + 1 – 2.4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/>
              <a:t>p</a:t>
            </a:r>
            <a:r>
              <a:rPr lang="en-US" sz="1400" i="1" dirty="0"/>
              <a:t>4</a:t>
            </a:r>
            <a:r>
              <a:rPr lang="en-US" dirty="0"/>
              <a:t> = 3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2x</a:t>
            </a:r>
            <a:r>
              <a:rPr lang="en-US" sz="1200" dirty="0"/>
              <a:t>k+1</a:t>
            </a:r>
            <a:r>
              <a:rPr lang="en-US" dirty="0"/>
              <a:t> = 2x</a:t>
            </a:r>
            <a:r>
              <a:rPr lang="en-US" sz="1100" dirty="0"/>
              <a:t>k </a:t>
            </a:r>
            <a:r>
              <a:rPr lang="en-US" dirty="0"/>
              <a:t>+ 2 and 2y</a:t>
            </a:r>
            <a:r>
              <a:rPr lang="en-US" sz="1050" dirty="0"/>
              <a:t>k+1</a:t>
            </a:r>
            <a:r>
              <a:rPr lang="en-US" dirty="0"/>
              <a:t> = 2y</a:t>
            </a:r>
            <a:r>
              <a:rPr lang="en-US" sz="1050" dirty="0"/>
              <a:t>k</a:t>
            </a:r>
            <a:r>
              <a:rPr lang="en-US" dirty="0"/>
              <a:t> - 2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		     2.4 = 2.5 - 2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/>
        </p:nvSpPr>
        <p:spPr>
          <a:xfrm>
            <a:off x="6407150" y="365125"/>
            <a:ext cx="578485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Iteration 4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6407150" y="1825625"/>
            <a:ext cx="578485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 = 3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500" i="1" dirty="0"/>
              <a:t>3</a:t>
            </a:r>
            <a:r>
              <a:rPr lang="en-US" dirty="0"/>
              <a:t> = 3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400" i="1" dirty="0"/>
              <a:t>3</a:t>
            </a:r>
            <a:r>
              <a:rPr lang="en-US" dirty="0"/>
              <a:t> &gt;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sz="1500" dirty="0" err="1"/>
              <a:t>k</a:t>
            </a:r>
            <a:r>
              <a:rPr lang="en-US" dirty="0"/>
              <a:t> + 1, </a:t>
            </a:r>
            <a:r>
              <a:rPr lang="en-US" dirty="0" err="1"/>
              <a:t>y</a:t>
            </a:r>
            <a:r>
              <a:rPr lang="en-US" sz="1500" dirty="0" err="1"/>
              <a:t>k</a:t>
            </a:r>
            <a:r>
              <a:rPr lang="en-US" dirty="0"/>
              <a:t> - 1)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/>
              <a:t>x</a:t>
            </a:r>
            <a:r>
              <a:rPr lang="en-US" sz="1500" dirty="0"/>
              <a:t>3</a:t>
            </a:r>
            <a:r>
              <a:rPr lang="en-US" dirty="0"/>
              <a:t> + 1, y</a:t>
            </a:r>
            <a:r>
              <a:rPr lang="en-US" sz="1500" dirty="0"/>
              <a:t>0</a:t>
            </a:r>
            <a:r>
              <a:rPr lang="en-US" dirty="0"/>
              <a:t> - 1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b="1" dirty="0">
                <a:sym typeface="Wingdings" panose="05000000000000000000" pitchFamily="2" charset="2"/>
              </a:rPr>
              <a:t>(4,3)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	</a:t>
            </a:r>
            <a:r>
              <a:rPr lang="en-US" b="1" dirty="0">
                <a:sym typeface="Wingdings" panose="05000000000000000000" pitchFamily="2" charset="2"/>
              </a:rPr>
              <a:t>STOP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199" y="2040466"/>
          <a:ext cx="409956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520"/>
                <a:gridCol w="1366520"/>
                <a:gridCol w="1366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(x</a:t>
                      </a:r>
                      <a:r>
                        <a:rPr lang="en-US" sz="1400" dirty="0"/>
                        <a:t>k+1</a:t>
                      </a:r>
                      <a:r>
                        <a:rPr lang="en-US" dirty="0"/>
                        <a:t>, y</a:t>
                      </a:r>
                      <a:r>
                        <a:rPr lang="en-US" sz="1400" dirty="0"/>
                        <a:t>k+1</a:t>
                      </a:r>
                      <a:r>
                        <a:rPr lang="en-US" dirty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(1,5)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(2,5)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(3,4)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(4,3)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33024" y="850296"/>
          <a:ext cx="5558976" cy="496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  <a:gridCol w="463248"/>
              </a:tblGrid>
              <a:tr h="413745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9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3745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</a:t>
                      </a:r>
                      <a:endParaRPr lang="en-US" sz="2000" dirty="0"/>
                    </a:p>
                  </a:txBody>
                  <a:tcPr marL="102019" marR="102019" marT="51010" marB="5101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flipV="1">
            <a:off x="6625590" y="852170"/>
            <a:ext cx="5593080" cy="49720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draw the circle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1158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can reduce our calculation drastically (8th fraction) by making use of the fact that a circle has 8 way symmetry.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Thus after calculating a pixel position (</a:t>
            </a:r>
            <a:r>
              <a:rPr lang="en-US" dirty="0" err="1"/>
              <a:t>x,y</a:t>
            </a:r>
            <a:r>
              <a:rPr lang="en-US" dirty="0"/>
              <a:t>) to be plotted, we get 7 other points on the circle corresponding to it.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581" y="1825625"/>
            <a:ext cx="4309219" cy="38778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39727" y="1037832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Octant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graphicFrame>
        <p:nvGraphicFramePr>
          <p:cNvPr id="7" name="Content Placeholder 5"/>
          <p:cNvGraphicFramePr/>
          <p:nvPr/>
        </p:nvGraphicFramePr>
        <p:xfrm>
          <a:off x="695179" y="3609875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Octant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Content Placeholder 5"/>
          <p:cNvGraphicFramePr/>
          <p:nvPr/>
        </p:nvGraphicFramePr>
        <p:xfrm>
          <a:off x="3661117" y="1061280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Octant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Content Placeholder 5"/>
          <p:cNvGraphicFramePr/>
          <p:nvPr/>
        </p:nvGraphicFramePr>
        <p:xfrm>
          <a:off x="3658773" y="3633323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4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Octant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Content Placeholder 5"/>
          <p:cNvGraphicFramePr/>
          <p:nvPr/>
        </p:nvGraphicFramePr>
        <p:xfrm>
          <a:off x="6584852" y="1058935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Octant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Content Placeholder 5"/>
          <p:cNvGraphicFramePr/>
          <p:nvPr/>
        </p:nvGraphicFramePr>
        <p:xfrm>
          <a:off x="6582508" y="3630978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6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Octant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Content Placeholder 5"/>
          <p:cNvGraphicFramePr/>
          <p:nvPr/>
        </p:nvGraphicFramePr>
        <p:xfrm>
          <a:off x="9396046" y="1056591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7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Octant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Content Placeholder 5"/>
          <p:cNvGraphicFramePr/>
          <p:nvPr/>
        </p:nvGraphicFramePr>
        <p:xfrm>
          <a:off x="9393702" y="3628634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8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Octant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75250" y="351692"/>
            <a:ext cx="1686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Center (0,0)</a:t>
            </a:r>
            <a:endParaRPr lang="en-US" sz="2400" b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95225" y="3203773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(x, y)</a:t>
            </a:r>
            <a:endParaRPr lang="en-US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399032" y="5775816"/>
            <a:ext cx="693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(y, x)</a:t>
            </a:r>
            <a:endParaRPr lang="en-US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373490" y="3209765"/>
            <a:ext cx="771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(y, -x)</a:t>
            </a:r>
            <a:endParaRPr lang="en-US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395633" y="5775816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(x, -y)</a:t>
            </a:r>
            <a:endParaRPr lang="en-US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7245297" y="3209765"/>
            <a:ext cx="865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(-x, -y)</a:t>
            </a:r>
            <a:endParaRPr lang="en-US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254434" y="5775816"/>
            <a:ext cx="8504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(-y, -x)</a:t>
            </a:r>
            <a:endParaRPr 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095764" y="5775816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(-x, y)</a:t>
            </a:r>
            <a:endParaRPr lang="en-US" sz="2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104902" y="3214443"/>
            <a:ext cx="771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(-y, x)</a:t>
            </a:r>
            <a:endParaRPr lang="en-US" sz="2000" b="1" dirty="0"/>
          </a:p>
        </p:txBody>
      </p:sp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13031" y="554874"/>
          <a:ext cx="4966470" cy="4774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</a:tblGrid>
              <a:tr h="298419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r>
                        <a:rPr lang="en-US" sz="1200" dirty="0"/>
                        <a:t>-7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-6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-5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-4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-3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-2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-1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07259" y="1230492"/>
            <a:ext cx="1096519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  <a:r>
              <a:rPr lang="en-US" baseline="30000" dirty="0">
                <a:solidFill>
                  <a:schemeClr val="bg1"/>
                </a:solidFill>
              </a:rPr>
              <a:t>st</a:t>
            </a:r>
            <a:r>
              <a:rPr lang="en-US" dirty="0">
                <a:solidFill>
                  <a:schemeClr val="bg1"/>
                </a:solidFill>
              </a:rPr>
              <a:t> Octant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4341" y="2333673"/>
            <a:ext cx="114634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  <a:r>
              <a:rPr lang="en-US" baseline="30000" dirty="0">
                <a:solidFill>
                  <a:schemeClr val="bg1"/>
                </a:solidFill>
              </a:rPr>
              <a:t>nd</a:t>
            </a:r>
            <a:r>
              <a:rPr lang="en-US" dirty="0">
                <a:solidFill>
                  <a:schemeClr val="bg1"/>
                </a:solidFill>
              </a:rPr>
              <a:t> Octant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78540" y="3663046"/>
            <a:ext cx="1377941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  <a:r>
              <a:rPr lang="en-US" baseline="30000" dirty="0">
                <a:solidFill>
                  <a:schemeClr val="bg1"/>
                </a:solidFill>
              </a:rPr>
              <a:t>rd</a:t>
            </a:r>
            <a:r>
              <a:rPr lang="en-US" dirty="0">
                <a:solidFill>
                  <a:schemeClr val="bg1"/>
                </a:solidFill>
              </a:rPr>
              <a:t> Quadrant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66291" y="4919860"/>
            <a:ext cx="137845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Quadrant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76203" y="4919860"/>
            <a:ext cx="137845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Quadrant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09271" y="3666093"/>
            <a:ext cx="114634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Octant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09271" y="2333673"/>
            <a:ext cx="114634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Octant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2260" y="1230492"/>
            <a:ext cx="114634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8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Octant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39727" y="1037832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Octant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graphicFrame>
        <p:nvGraphicFramePr>
          <p:cNvPr id="7" name="Content Placeholder 5"/>
          <p:cNvGraphicFramePr/>
          <p:nvPr/>
        </p:nvGraphicFramePr>
        <p:xfrm>
          <a:off x="695179" y="3609875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Octant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Content Placeholder 5"/>
          <p:cNvGraphicFramePr/>
          <p:nvPr/>
        </p:nvGraphicFramePr>
        <p:xfrm>
          <a:off x="3661117" y="1061280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Quadrant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Content Placeholder 5"/>
          <p:cNvGraphicFramePr/>
          <p:nvPr/>
        </p:nvGraphicFramePr>
        <p:xfrm>
          <a:off x="3658773" y="3633323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4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Quadrant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Content Placeholder 5"/>
          <p:cNvGraphicFramePr/>
          <p:nvPr/>
        </p:nvGraphicFramePr>
        <p:xfrm>
          <a:off x="6584852" y="1058935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Quadrant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Content Placeholder 5"/>
          <p:cNvGraphicFramePr/>
          <p:nvPr/>
        </p:nvGraphicFramePr>
        <p:xfrm>
          <a:off x="6582508" y="3630978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6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Quadrant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Content Placeholder 5"/>
          <p:cNvGraphicFramePr/>
          <p:nvPr/>
        </p:nvGraphicFramePr>
        <p:xfrm>
          <a:off x="9396046" y="1056591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7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Quadrant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Content Placeholder 5"/>
          <p:cNvGraphicFramePr/>
          <p:nvPr/>
        </p:nvGraphicFramePr>
        <p:xfrm>
          <a:off x="9393702" y="3628634"/>
          <a:ext cx="2172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143"/>
                <a:gridCol w="1086143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8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Quadrant</a:t>
                      </a:r>
                      <a:endParaRPr lang="en-US" dirty="0"/>
                    </a:p>
                  </a:txBody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75250" y="351692"/>
            <a:ext cx="52679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Center (2,2) </a:t>
            </a:r>
            <a:r>
              <a:rPr lang="en-US" sz="2400" dirty="0">
                <a:sym typeface="Wingdings" panose="05000000000000000000" pitchFamily="2" charset="2"/>
              </a:rPr>
              <a:t> a</a:t>
            </a:r>
            <a:r>
              <a:rPr lang="en-US" sz="2400" dirty="0"/>
              <a:t>dd the value (x</a:t>
            </a:r>
            <a:r>
              <a:rPr lang="en-US" sz="2400" baseline="-25000" dirty="0"/>
              <a:t>0</a:t>
            </a:r>
            <a:r>
              <a:rPr lang="en-US" sz="2400" dirty="0"/>
              <a:t>+2, y</a:t>
            </a:r>
            <a:r>
              <a:rPr lang="en-US" sz="2400" baseline="-25000" dirty="0"/>
              <a:t>0</a:t>
            </a:r>
            <a:r>
              <a:rPr lang="en-US" sz="2400" dirty="0"/>
              <a:t>+2)</a:t>
            </a:r>
            <a:endParaRPr lang="en-US" sz="24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13031" y="554874"/>
          <a:ext cx="5297568" cy="4774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  <a:gridCol w="331098"/>
              </a:tblGrid>
              <a:tr h="298419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r>
                        <a:rPr lang="en-US" sz="1200" dirty="0"/>
                        <a:t>-4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-3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-2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-1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-1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-2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-3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9841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-4</a:t>
                      </a:r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3583" marR="73583" marT="36792" marB="367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58542" y="1524000"/>
            <a:ext cx="1096519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  <a:r>
              <a:rPr lang="en-US" baseline="30000" dirty="0">
                <a:solidFill>
                  <a:schemeClr val="bg1"/>
                </a:solidFill>
              </a:rPr>
              <a:t>st</a:t>
            </a:r>
            <a:r>
              <a:rPr lang="en-US" dirty="0">
                <a:solidFill>
                  <a:schemeClr val="bg1"/>
                </a:solidFill>
              </a:rPr>
              <a:t> Octant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10990" y="2489498"/>
            <a:ext cx="114634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  <a:r>
              <a:rPr lang="en-US" baseline="30000" dirty="0">
                <a:solidFill>
                  <a:schemeClr val="bg1"/>
                </a:solidFill>
              </a:rPr>
              <a:t>nd</a:t>
            </a:r>
            <a:r>
              <a:rPr lang="en-US" dirty="0">
                <a:solidFill>
                  <a:schemeClr val="bg1"/>
                </a:solidFill>
              </a:rPr>
              <a:t> Octant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95190" y="4193659"/>
            <a:ext cx="1377941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  <a:r>
              <a:rPr lang="en-US" baseline="30000" dirty="0">
                <a:solidFill>
                  <a:schemeClr val="bg1"/>
                </a:solidFill>
              </a:rPr>
              <a:t>rd</a:t>
            </a:r>
            <a:r>
              <a:rPr lang="en-US" dirty="0">
                <a:solidFill>
                  <a:schemeClr val="bg1"/>
                </a:solidFill>
              </a:rPr>
              <a:t> Quadrant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17574" y="5548299"/>
            <a:ext cx="137845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Quadrant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87484" y="5548299"/>
            <a:ext cx="137845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Quadrant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43195" y="4193659"/>
            <a:ext cx="114634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Octant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43195" y="2489498"/>
            <a:ext cx="114634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Octant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05681" y="1524000"/>
            <a:ext cx="114634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8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Octant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What if we continue the iteration ?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Iteration 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" y="1825625"/>
            <a:ext cx="5633085" cy="4351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 = 3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500" i="1" dirty="0"/>
              <a:t>3</a:t>
            </a:r>
            <a:r>
              <a:rPr lang="en-US" dirty="0"/>
              <a:t> = 3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400" i="1" dirty="0"/>
              <a:t>3</a:t>
            </a:r>
            <a:r>
              <a:rPr lang="en-US" dirty="0"/>
              <a:t> &gt;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sz="1500" dirty="0" err="1"/>
              <a:t>k</a:t>
            </a:r>
            <a:r>
              <a:rPr lang="en-US" dirty="0"/>
              <a:t> + 1, </a:t>
            </a:r>
            <a:r>
              <a:rPr lang="en-US" dirty="0" err="1"/>
              <a:t>y</a:t>
            </a:r>
            <a:r>
              <a:rPr lang="en-US" sz="1500" dirty="0" err="1"/>
              <a:t>k</a:t>
            </a:r>
            <a:r>
              <a:rPr lang="en-US" dirty="0"/>
              <a:t> - 1)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/>
              <a:t>x</a:t>
            </a:r>
            <a:r>
              <a:rPr lang="en-US" sz="1500" dirty="0"/>
              <a:t>3</a:t>
            </a:r>
            <a:r>
              <a:rPr lang="en-US" dirty="0"/>
              <a:t> + 1, y</a:t>
            </a:r>
            <a:r>
              <a:rPr lang="en-US" sz="1500" dirty="0"/>
              <a:t>0</a:t>
            </a:r>
            <a:r>
              <a:rPr lang="en-US" dirty="0"/>
              <a:t> - 1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b="1" dirty="0">
                <a:sym typeface="Wingdings" panose="05000000000000000000" pitchFamily="2" charset="2"/>
              </a:rPr>
              <a:t>(4,3)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/>
              <a:t> p</a:t>
            </a:r>
            <a:r>
              <a:rPr lang="en-US" sz="1500" dirty="0"/>
              <a:t>k+1</a:t>
            </a:r>
            <a:r>
              <a:rPr lang="en-US" dirty="0"/>
              <a:t> = </a:t>
            </a:r>
            <a:r>
              <a:rPr lang="en-US" dirty="0" err="1"/>
              <a:t>p</a:t>
            </a:r>
            <a:r>
              <a:rPr lang="en-US" sz="1500" dirty="0" err="1"/>
              <a:t>k</a:t>
            </a:r>
            <a:r>
              <a:rPr lang="en-US" dirty="0"/>
              <a:t> + 2x</a:t>
            </a:r>
            <a:r>
              <a:rPr lang="en-US" sz="1200" dirty="0"/>
              <a:t>k+1</a:t>
            </a:r>
            <a:r>
              <a:rPr lang="en-US" dirty="0"/>
              <a:t> + 1 – 2y</a:t>
            </a:r>
            <a:r>
              <a:rPr lang="en-US" sz="1100" dirty="0"/>
              <a:t>k+1</a:t>
            </a:r>
            <a:r>
              <a:rPr lang="en-US" dirty="0"/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</a:t>
            </a:r>
            <a:r>
              <a:rPr lang="en-US" i="1" dirty="0"/>
              <a:t>p</a:t>
            </a:r>
            <a:r>
              <a:rPr lang="en-US" sz="1400" i="1" dirty="0"/>
              <a:t>4</a:t>
            </a:r>
            <a:r>
              <a:rPr lang="en-US" dirty="0"/>
              <a:t> = 3 + 2.4 + 1 – 2.3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/>
              <a:t>p</a:t>
            </a:r>
            <a:r>
              <a:rPr lang="en-US" sz="1400" i="1" dirty="0"/>
              <a:t>4</a:t>
            </a:r>
            <a:r>
              <a:rPr lang="en-US" dirty="0"/>
              <a:t> = 6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2x</a:t>
            </a:r>
            <a:r>
              <a:rPr lang="en-US" sz="1200" dirty="0"/>
              <a:t>k+1</a:t>
            </a:r>
            <a:r>
              <a:rPr lang="en-US" dirty="0"/>
              <a:t> = 2x</a:t>
            </a:r>
            <a:r>
              <a:rPr lang="en-US" sz="1100" dirty="0"/>
              <a:t>k </a:t>
            </a:r>
            <a:r>
              <a:rPr lang="en-US" dirty="0"/>
              <a:t>+ 2 and 2y</a:t>
            </a:r>
            <a:r>
              <a:rPr lang="en-US" sz="1050" dirty="0"/>
              <a:t>k+1</a:t>
            </a:r>
            <a:r>
              <a:rPr lang="en-US" dirty="0"/>
              <a:t> = 2y</a:t>
            </a:r>
            <a:r>
              <a:rPr lang="en-US" sz="1050" dirty="0"/>
              <a:t>k</a:t>
            </a:r>
            <a:r>
              <a:rPr lang="en-US" dirty="0"/>
              <a:t> - 2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		     2.3 = 2.4 - 2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/>
        </p:nvSpPr>
        <p:spPr>
          <a:xfrm>
            <a:off x="6471285" y="365125"/>
            <a:ext cx="529145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Iteration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6471285" y="1825625"/>
            <a:ext cx="5641340" cy="4351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 = 4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500" i="1" dirty="0"/>
              <a:t>4</a:t>
            </a:r>
            <a:r>
              <a:rPr lang="en-US" dirty="0"/>
              <a:t> = 6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400" i="1" dirty="0"/>
              <a:t>4</a:t>
            </a:r>
            <a:r>
              <a:rPr lang="en-US" dirty="0"/>
              <a:t> &gt;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sz="1500" dirty="0" err="1"/>
              <a:t>k</a:t>
            </a:r>
            <a:r>
              <a:rPr lang="en-US" dirty="0"/>
              <a:t> + 1, </a:t>
            </a:r>
            <a:r>
              <a:rPr lang="en-US" dirty="0" err="1"/>
              <a:t>y</a:t>
            </a:r>
            <a:r>
              <a:rPr lang="en-US" sz="1500" dirty="0" err="1"/>
              <a:t>k</a:t>
            </a:r>
            <a:r>
              <a:rPr lang="en-US" dirty="0"/>
              <a:t> - 1)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/>
              <a:t>x</a:t>
            </a:r>
            <a:r>
              <a:rPr lang="en-US" sz="1500" dirty="0"/>
              <a:t>3</a:t>
            </a:r>
            <a:r>
              <a:rPr lang="en-US" dirty="0"/>
              <a:t> + 1, y</a:t>
            </a:r>
            <a:r>
              <a:rPr lang="en-US" sz="1500" dirty="0"/>
              <a:t>0</a:t>
            </a:r>
            <a:r>
              <a:rPr lang="en-US" dirty="0"/>
              <a:t> - 1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b="1" dirty="0">
                <a:sym typeface="Wingdings" panose="05000000000000000000" pitchFamily="2" charset="2"/>
              </a:rPr>
              <a:t>(5,2)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/>
              <a:t> p</a:t>
            </a:r>
            <a:r>
              <a:rPr lang="en-US" sz="1500" dirty="0"/>
              <a:t>k+1</a:t>
            </a:r>
            <a:r>
              <a:rPr lang="en-US" dirty="0"/>
              <a:t> = </a:t>
            </a:r>
            <a:r>
              <a:rPr lang="en-US" dirty="0" err="1"/>
              <a:t>p</a:t>
            </a:r>
            <a:r>
              <a:rPr lang="en-US" sz="1500" dirty="0" err="1"/>
              <a:t>k</a:t>
            </a:r>
            <a:r>
              <a:rPr lang="en-US" dirty="0"/>
              <a:t> + 2x</a:t>
            </a:r>
            <a:r>
              <a:rPr lang="en-US" sz="1200" dirty="0"/>
              <a:t>k+1</a:t>
            </a:r>
            <a:r>
              <a:rPr lang="en-US" dirty="0"/>
              <a:t> + 1 – 2y</a:t>
            </a:r>
            <a:r>
              <a:rPr lang="en-US" sz="1100" dirty="0"/>
              <a:t>k+1</a:t>
            </a:r>
            <a:r>
              <a:rPr lang="en-US" dirty="0"/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</a:t>
            </a:r>
            <a:r>
              <a:rPr lang="en-US" i="1" dirty="0"/>
              <a:t>p</a:t>
            </a:r>
            <a:r>
              <a:rPr lang="en-US" sz="1400" i="1" dirty="0"/>
              <a:t>5</a:t>
            </a:r>
            <a:r>
              <a:rPr lang="en-US" dirty="0"/>
              <a:t> = 6 + 2.5 + 1 – 2.2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/>
              <a:t>p</a:t>
            </a:r>
            <a:r>
              <a:rPr lang="en-US" sz="1400" i="1" dirty="0"/>
              <a:t>5</a:t>
            </a:r>
            <a:r>
              <a:rPr lang="en-US" dirty="0"/>
              <a:t> = 13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2x</a:t>
            </a:r>
            <a:r>
              <a:rPr lang="en-US" sz="1200" dirty="0"/>
              <a:t>k+1</a:t>
            </a:r>
            <a:r>
              <a:rPr lang="en-US" dirty="0"/>
              <a:t> = 2x</a:t>
            </a:r>
            <a:r>
              <a:rPr lang="en-US" sz="1100" dirty="0"/>
              <a:t>k </a:t>
            </a:r>
            <a:r>
              <a:rPr lang="en-US" dirty="0"/>
              <a:t>+ 2 and 2y</a:t>
            </a:r>
            <a:r>
              <a:rPr lang="en-US" sz="1050" dirty="0"/>
              <a:t>k+1</a:t>
            </a:r>
            <a:r>
              <a:rPr lang="en-US" dirty="0"/>
              <a:t> = 2y</a:t>
            </a:r>
            <a:r>
              <a:rPr lang="en-US" sz="1050" dirty="0"/>
              <a:t>k</a:t>
            </a:r>
            <a:r>
              <a:rPr lang="en-US" dirty="0"/>
              <a:t> - 2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		     2.2 = 2.3 - 2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305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Iteration 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305" y="1825625"/>
            <a:ext cx="5739765" cy="4351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 = 5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500" i="1" dirty="0"/>
              <a:t>5</a:t>
            </a:r>
            <a:r>
              <a:rPr lang="en-US" dirty="0"/>
              <a:t> = 13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400" i="1" dirty="0"/>
              <a:t>5</a:t>
            </a:r>
            <a:r>
              <a:rPr lang="en-US" dirty="0"/>
              <a:t> &gt;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sz="1500" dirty="0" err="1"/>
              <a:t>k</a:t>
            </a:r>
            <a:r>
              <a:rPr lang="en-US" dirty="0"/>
              <a:t> + 1, </a:t>
            </a:r>
            <a:r>
              <a:rPr lang="en-US" dirty="0" err="1"/>
              <a:t>y</a:t>
            </a:r>
            <a:r>
              <a:rPr lang="en-US" sz="1500" dirty="0" err="1"/>
              <a:t>k</a:t>
            </a:r>
            <a:r>
              <a:rPr lang="en-US" dirty="0"/>
              <a:t> - 1)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/>
              <a:t>x</a:t>
            </a:r>
            <a:r>
              <a:rPr lang="en-US" sz="1500" dirty="0"/>
              <a:t>3</a:t>
            </a:r>
            <a:r>
              <a:rPr lang="en-US" dirty="0"/>
              <a:t> + 1, y</a:t>
            </a:r>
            <a:r>
              <a:rPr lang="en-US" sz="1500" dirty="0"/>
              <a:t>0</a:t>
            </a:r>
            <a:r>
              <a:rPr lang="en-US" dirty="0"/>
              <a:t> - 1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b="1" dirty="0">
                <a:sym typeface="Wingdings" panose="05000000000000000000" pitchFamily="2" charset="2"/>
              </a:rPr>
              <a:t>(6,1)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/>
              <a:t> p</a:t>
            </a:r>
            <a:r>
              <a:rPr lang="en-US" sz="1500" dirty="0"/>
              <a:t>k+1</a:t>
            </a:r>
            <a:r>
              <a:rPr lang="en-US" dirty="0"/>
              <a:t> = </a:t>
            </a:r>
            <a:r>
              <a:rPr lang="en-US" dirty="0" err="1"/>
              <a:t>p</a:t>
            </a:r>
            <a:r>
              <a:rPr lang="en-US" sz="1500" dirty="0" err="1"/>
              <a:t>k</a:t>
            </a:r>
            <a:r>
              <a:rPr lang="en-US" dirty="0"/>
              <a:t> + 2x</a:t>
            </a:r>
            <a:r>
              <a:rPr lang="en-US" sz="1200" dirty="0"/>
              <a:t>k+1</a:t>
            </a:r>
            <a:r>
              <a:rPr lang="en-US" dirty="0"/>
              <a:t> + 1 – 2y</a:t>
            </a:r>
            <a:r>
              <a:rPr lang="en-US" sz="1100" dirty="0"/>
              <a:t>k+1</a:t>
            </a:r>
            <a:r>
              <a:rPr lang="en-US" dirty="0"/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</a:t>
            </a:r>
            <a:r>
              <a:rPr lang="en-US" i="1" dirty="0"/>
              <a:t>p</a:t>
            </a:r>
            <a:r>
              <a:rPr lang="en-US" sz="1400" i="1" dirty="0"/>
              <a:t>6</a:t>
            </a:r>
            <a:r>
              <a:rPr lang="en-US" dirty="0"/>
              <a:t> = 13 + 2.6 + 1 – 2.1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/>
              <a:t>p</a:t>
            </a:r>
            <a:r>
              <a:rPr lang="en-US" sz="1400" i="1" dirty="0"/>
              <a:t>6</a:t>
            </a:r>
            <a:r>
              <a:rPr lang="en-US" dirty="0"/>
              <a:t> = 24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2x</a:t>
            </a:r>
            <a:r>
              <a:rPr lang="en-US" sz="1200" dirty="0"/>
              <a:t>k+1</a:t>
            </a:r>
            <a:r>
              <a:rPr lang="en-US" dirty="0"/>
              <a:t> = 2x</a:t>
            </a:r>
            <a:r>
              <a:rPr lang="en-US" sz="1100" dirty="0"/>
              <a:t>k </a:t>
            </a:r>
            <a:r>
              <a:rPr lang="en-US" dirty="0"/>
              <a:t>+ 2 and 2y</a:t>
            </a:r>
            <a:r>
              <a:rPr lang="en-US" sz="1050" dirty="0"/>
              <a:t>k+1</a:t>
            </a:r>
            <a:r>
              <a:rPr lang="en-US" dirty="0"/>
              <a:t> = 2y</a:t>
            </a:r>
            <a:r>
              <a:rPr lang="en-US" sz="1050" dirty="0"/>
              <a:t>k</a:t>
            </a:r>
            <a:r>
              <a:rPr lang="en-US" dirty="0"/>
              <a:t> - 2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		     2.1 = 2.2 - 2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/>
        </p:nvSpPr>
        <p:spPr>
          <a:xfrm>
            <a:off x="6403340" y="365125"/>
            <a:ext cx="529971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Iteration 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6403340" y="1825625"/>
            <a:ext cx="5776595" cy="4351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 = 6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500" i="1" dirty="0"/>
              <a:t>6</a:t>
            </a:r>
            <a:r>
              <a:rPr lang="en-US" dirty="0"/>
              <a:t> = 24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sz="1400" i="1" dirty="0"/>
              <a:t>6</a:t>
            </a:r>
            <a:r>
              <a:rPr lang="en-US" dirty="0"/>
              <a:t> &gt; 0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x</a:t>
            </a:r>
            <a:r>
              <a:rPr lang="en-US" sz="1500" dirty="0" err="1"/>
              <a:t>k</a:t>
            </a:r>
            <a:r>
              <a:rPr lang="en-US" dirty="0"/>
              <a:t> + 1, </a:t>
            </a:r>
            <a:r>
              <a:rPr lang="en-US" dirty="0" err="1"/>
              <a:t>y</a:t>
            </a:r>
            <a:r>
              <a:rPr lang="en-US" sz="1500" dirty="0" err="1"/>
              <a:t>k</a:t>
            </a:r>
            <a:r>
              <a:rPr lang="en-US" dirty="0"/>
              <a:t> - 1) </a:t>
            </a:r>
            <a:r>
              <a:rPr lang="en-US" dirty="0">
                <a:sym typeface="Wingdings" panose="05000000000000000000" pitchFamily="2" charset="2"/>
              </a:rPr>
              <a:t> (</a:t>
            </a:r>
            <a:r>
              <a:rPr lang="en-US" dirty="0"/>
              <a:t>x</a:t>
            </a:r>
            <a:r>
              <a:rPr lang="en-US" sz="1500" dirty="0"/>
              <a:t>3</a:t>
            </a:r>
            <a:r>
              <a:rPr lang="en-US" dirty="0"/>
              <a:t> + 1, y</a:t>
            </a:r>
            <a:r>
              <a:rPr lang="en-US" sz="1500" dirty="0"/>
              <a:t>0</a:t>
            </a:r>
            <a:r>
              <a:rPr lang="en-US" dirty="0"/>
              <a:t> - 1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b="1" dirty="0">
                <a:sym typeface="Wingdings" panose="05000000000000000000" pitchFamily="2" charset="2"/>
              </a:rPr>
              <a:t>(7,0)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/>
              <a:t> p</a:t>
            </a:r>
            <a:r>
              <a:rPr lang="en-US" sz="1500" dirty="0"/>
              <a:t>k+1</a:t>
            </a:r>
            <a:r>
              <a:rPr lang="en-US" dirty="0"/>
              <a:t> = </a:t>
            </a:r>
            <a:r>
              <a:rPr lang="en-US" dirty="0" err="1"/>
              <a:t>p</a:t>
            </a:r>
            <a:r>
              <a:rPr lang="en-US" sz="1500" dirty="0" err="1"/>
              <a:t>k</a:t>
            </a:r>
            <a:r>
              <a:rPr lang="en-US" dirty="0"/>
              <a:t> + 2x</a:t>
            </a:r>
            <a:r>
              <a:rPr lang="en-US" sz="1200" dirty="0"/>
              <a:t>k+1</a:t>
            </a:r>
            <a:r>
              <a:rPr lang="en-US" dirty="0"/>
              <a:t> + 1 – 2y</a:t>
            </a:r>
            <a:r>
              <a:rPr lang="en-US" sz="1100" dirty="0"/>
              <a:t>k+1</a:t>
            </a:r>
            <a:r>
              <a:rPr lang="en-US" dirty="0"/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</a:t>
            </a:r>
            <a:r>
              <a:rPr lang="en-US" i="1" dirty="0"/>
              <a:t>p</a:t>
            </a:r>
            <a:r>
              <a:rPr lang="en-US" sz="1400" i="1" dirty="0"/>
              <a:t>7</a:t>
            </a:r>
            <a:r>
              <a:rPr lang="en-US" dirty="0"/>
              <a:t> = 24 + 2.7 + 1 – 2.0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i="1" dirty="0"/>
              <a:t>p</a:t>
            </a:r>
            <a:r>
              <a:rPr lang="en-US" sz="1400" i="1" dirty="0"/>
              <a:t>7</a:t>
            </a:r>
            <a:r>
              <a:rPr lang="en-US" dirty="0"/>
              <a:t> = 39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2x</a:t>
            </a:r>
            <a:r>
              <a:rPr lang="en-US" sz="1200" dirty="0"/>
              <a:t>k+1</a:t>
            </a:r>
            <a:r>
              <a:rPr lang="en-US" dirty="0"/>
              <a:t> = 2x</a:t>
            </a:r>
            <a:r>
              <a:rPr lang="en-US" sz="1100" dirty="0"/>
              <a:t>k </a:t>
            </a:r>
            <a:r>
              <a:rPr lang="en-US" dirty="0"/>
              <a:t>+ 2 and 2y</a:t>
            </a:r>
            <a:r>
              <a:rPr lang="en-US" sz="1050" dirty="0"/>
              <a:t>k+1</a:t>
            </a:r>
            <a:r>
              <a:rPr lang="en-US" dirty="0"/>
              <a:t> = 2y</a:t>
            </a:r>
            <a:r>
              <a:rPr lang="en-US" sz="1050" dirty="0"/>
              <a:t>k</a:t>
            </a:r>
            <a:r>
              <a:rPr lang="en-US" dirty="0"/>
              <a:t> - 2</a:t>
            </a:r>
            <a:endParaRPr lang="en-US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/>
              <a:t>		     2.0 = 2.1 - 2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400" b="1" dirty="0"/>
              <a:t>THANK</a:t>
            </a:r>
            <a:r>
              <a:rPr lang="en-US" sz="4400" dirty="0"/>
              <a:t>YOU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0605" y="231"/>
            <a:ext cx="10131427" cy="1468800"/>
          </a:xfrm>
        </p:spPr>
        <p:txBody>
          <a:bodyPr/>
          <a:lstStyle/>
          <a:p>
            <a:r>
              <a:rPr lang="en-US" b="1" dirty="0"/>
              <a:t>Task</a:t>
            </a:r>
            <a:endParaRPr lang="en-ID" b="1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030605" y="1468755"/>
            <a:ext cx="10245725" cy="2023745"/>
          </a:xfrm>
        </p:spPr>
        <p:txBody>
          <a:bodyPr/>
          <a:lstStyle/>
          <a:p>
            <a:pPr marL="911860" indent="-911860">
              <a:buFont typeface="+mj-lt"/>
            </a:pPr>
            <a:r>
              <a:rPr lang="en-US" sz="3200" dirty="0">
                <a:solidFill>
                  <a:schemeClr val="tx1"/>
                </a:solidFill>
              </a:rPr>
              <a:t>4.2	Create a circle in</a:t>
            </a:r>
            <a:r>
              <a:rPr lang="en-US" sz="3200" dirty="0">
                <a:solidFill>
                  <a:schemeClr val="tx1"/>
                </a:solidFill>
                <a:sym typeface="+mn-ea"/>
              </a:rPr>
              <a:t> the </a:t>
            </a:r>
            <a:r>
              <a:rPr lang="en-US" sz="3200" b="1" dirty="0">
                <a:solidFill>
                  <a:schemeClr val="tx1"/>
                </a:solidFill>
                <a:sym typeface="+mn-ea"/>
              </a:rPr>
              <a:t>center point (x,y) </a:t>
            </a:r>
            <a:r>
              <a:rPr lang="en-US" sz="3200" dirty="0">
                <a:solidFill>
                  <a:schemeClr val="tx1"/>
                </a:solidFill>
              </a:rPr>
              <a:t>with </a:t>
            </a:r>
            <a:r>
              <a:rPr lang="en-US" sz="3200" b="1" dirty="0">
                <a:solidFill>
                  <a:schemeClr val="tx1"/>
                </a:solidFill>
              </a:rPr>
              <a:t>r = z. </a:t>
            </a:r>
            <a:r>
              <a:rPr lang="en-US" sz="3200" dirty="0">
                <a:solidFill>
                  <a:schemeClr val="tx1"/>
                </a:solidFill>
              </a:rPr>
              <a:t>where x,y,z value depend on your nim (3 last digits). Draw the full octant tables and the circle as shown</a:t>
            </a:r>
            <a:endParaRPr lang="en-US" sz="3200" dirty="0">
              <a:solidFill>
                <a:schemeClr val="tx1"/>
              </a:solidFill>
            </a:endParaRPr>
          </a:p>
          <a:p>
            <a:pPr marL="971550" lvl="1" indent="-514350">
              <a:buFont typeface="Wingdings" panose="05000000000000000000" charset="0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If </a:t>
            </a:r>
            <a:r>
              <a:rPr lang="en-US" sz="2800" b="1" dirty="0">
                <a:solidFill>
                  <a:schemeClr val="tx1"/>
                </a:solidFill>
              </a:rPr>
              <a:t>z</a:t>
            </a:r>
            <a:r>
              <a:rPr lang="en-US" sz="2800" dirty="0">
                <a:solidFill>
                  <a:schemeClr val="tx1"/>
                </a:solidFill>
              </a:rPr>
              <a:t> is less than 5, add 4 to your </a:t>
            </a:r>
            <a:r>
              <a:rPr lang="en-US" sz="2800" b="1" dirty="0">
                <a:solidFill>
                  <a:schemeClr val="tx1"/>
                </a:solidFill>
              </a:rPr>
              <a:t>z</a:t>
            </a:r>
            <a:r>
              <a:rPr lang="en-US" sz="2800" dirty="0">
                <a:solidFill>
                  <a:schemeClr val="tx1"/>
                </a:solidFill>
              </a:rPr>
              <a:t> value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653" y="255863"/>
            <a:ext cx="1845733" cy="7074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34410"/>
            <a:ext cx="6379210" cy="28778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295" y="3258820"/>
            <a:ext cx="4768215" cy="34829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10377</Words>
  <Application>WPS Presentation</Application>
  <PresentationFormat>Widescreen</PresentationFormat>
  <Paragraphs>1209</Paragraphs>
  <Slides>35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Arial</vt:lpstr>
      <vt:lpstr>SimSun</vt:lpstr>
      <vt:lpstr>Wingdings</vt:lpstr>
      <vt:lpstr>Cambria Math</vt:lpstr>
      <vt:lpstr>Calibri Light</vt:lpstr>
      <vt:lpstr>Calibri</vt:lpstr>
      <vt:lpstr>Microsoft YaHei</vt:lpstr>
      <vt:lpstr>Arial Unicode MS</vt:lpstr>
      <vt:lpstr>BatangChe</vt:lpstr>
      <vt:lpstr>Segoe Print</vt:lpstr>
      <vt:lpstr>Wingdings</vt:lpstr>
      <vt:lpstr>Office Theme</vt:lpstr>
      <vt:lpstr>Computer Graphics</vt:lpstr>
      <vt:lpstr>circle</vt:lpstr>
      <vt:lpstr>Symmetrical Eight Points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</vt:lpstr>
      <vt:lpstr>Iteration 2</vt:lpstr>
      <vt:lpstr>Iteration 4</vt:lpstr>
      <vt:lpstr>PowerPoint 演示文稿</vt:lpstr>
      <vt:lpstr>PowerPoint 演示文稿</vt:lpstr>
      <vt:lpstr>PowerPoint 演示文稿</vt:lpstr>
      <vt:lpstr>Iteration 2</vt:lpstr>
      <vt:lpstr>Iteration 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Iteration 5</vt:lpstr>
      <vt:lpstr>Iteration 7</vt:lpstr>
      <vt:lpstr>PowerPoint 演示文稿</vt:lpstr>
      <vt:lpstr>3rd task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Topologi</dc:title>
  <dc:creator>ozora</dc:creator>
  <cp:lastModifiedBy>Mee</cp:lastModifiedBy>
  <cp:revision>1794</cp:revision>
  <dcterms:created xsi:type="dcterms:W3CDTF">2018-07-26T02:12:00Z</dcterms:created>
  <dcterms:modified xsi:type="dcterms:W3CDTF">2026-04-11T12:27:25Z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EA59A5D7BF194FDCB02CFD63C01C1DC1</vt:lpwstr>
  </property>
  <property fmtid="{D5CDD505-2E9C-101B-9397-08002B2CF9AE}" pid="3" name="KSOProductBuildVer">
    <vt:lpwstr>1033-11.2.0.11537</vt:lpwstr>
  </property>
</Properties>
</file>