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372" r:id="rId4"/>
    <p:sldId id="257" r:id="rId5"/>
    <p:sldId id="307" r:id="rId6"/>
    <p:sldId id="322" r:id="rId7"/>
    <p:sldId id="370" r:id="rId8"/>
    <p:sldId id="258" r:id="rId9"/>
    <p:sldId id="354" r:id="rId10"/>
    <p:sldId id="355" r:id="rId12"/>
    <p:sldId id="323" r:id="rId13"/>
    <p:sldId id="357" r:id="rId14"/>
    <p:sldId id="358" r:id="rId15"/>
    <p:sldId id="356" r:id="rId16"/>
    <p:sldId id="365" r:id="rId17"/>
    <p:sldId id="359" r:id="rId18"/>
    <p:sldId id="360" r:id="rId19"/>
    <p:sldId id="362" r:id="rId20"/>
    <p:sldId id="361" r:id="rId21"/>
    <p:sldId id="363" r:id="rId22"/>
    <p:sldId id="366" r:id="rId23"/>
    <p:sldId id="367" r:id="rId24"/>
    <p:sldId id="368" r:id="rId25"/>
    <p:sldId id="369" r:id="rId26"/>
    <p:sldId id="41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919A2-457D-49BA-A688-025542C22550}" type="datetimeFigureOut">
              <a:rPr lang="en-ID" smtClean="0"/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D2F77-0D9D-45C1-B5EC-7BC45813E8EB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640BFF-91B3-4808-8BD6-03D73187648E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6C737E3-A165-4BA9-9692-B0FB944304C7}" type="slidenum">
              <a:rPr lang="en-ID" smtClean="0"/>
            </a:fld>
            <a:endParaRPr lang="en-ID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dirty="0" err="1"/>
              <a:t>Bressenhem</a:t>
            </a:r>
            <a:br>
              <a:rPr lang="en-ID" dirty="0"/>
            </a:br>
            <a:r>
              <a:rPr lang="en-ID" dirty="0"/>
              <a:t>(Line and Circle)</a:t>
            </a:r>
            <a:endParaRPr lang="en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dirty="0" err="1"/>
              <a:t>Fera</a:t>
            </a:r>
            <a:r>
              <a:rPr lang="en-ID" dirty="0"/>
              <a:t> Putri Ayu Lestari, </a:t>
            </a:r>
            <a:r>
              <a:rPr lang="en-ID" dirty="0" err="1"/>
              <a:t>S.Kom</a:t>
            </a:r>
            <a:r>
              <a:rPr lang="en-ID" dirty="0"/>
              <a:t>., M.T.</a:t>
            </a:r>
            <a:endParaRPr lang="en-ID" dirty="0"/>
          </a:p>
          <a:p>
            <a:r>
              <a:rPr lang="en-ID" dirty="0" err="1"/>
              <a:t>Grafika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– </a:t>
            </a:r>
            <a:r>
              <a:rPr lang="en-ID" dirty="0" err="1"/>
              <a:t>Informatika</a:t>
            </a:r>
            <a:r>
              <a:rPr lang="en-ID" dirty="0"/>
              <a:t> – UMM </a:t>
            </a:r>
            <a:endParaRPr lang="en-ID" dirty="0"/>
          </a:p>
          <a:p>
            <a:endParaRPr lang="en-US" altLang="en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Review DDA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ID" sz="3200" dirty="0" err="1"/>
              <a:t>Bressenhem</a:t>
            </a:r>
            <a:r>
              <a:rPr lang="en-US" sz="3200" dirty="0"/>
              <a:t> line</a:t>
            </a:r>
            <a:endParaRPr lang="en-US" sz="3200" dirty="0"/>
          </a:p>
          <a:p>
            <a:pPr marL="900430" lvl="1" indent="-443230">
              <a:buFont typeface="Wingdings" panose="05000000000000000000" pitchFamily="2" charset="2"/>
              <a:buChar char="ü"/>
            </a:pPr>
            <a:r>
              <a:rPr lang="en-US" sz="3000" dirty="0"/>
              <a:t>Exercise </a:t>
            </a:r>
            <a:endParaRPr lang="en-US" sz="3000" dirty="0"/>
          </a:p>
          <a:p>
            <a:pPr marL="514350" indent="-514350">
              <a:buFont typeface="+mj-lt"/>
              <a:buAutoNum type="arabicPeriod"/>
            </a:pPr>
            <a:r>
              <a:rPr lang="en-ID" sz="3200" dirty="0" err="1"/>
              <a:t>Bressenhem</a:t>
            </a:r>
            <a:r>
              <a:rPr lang="en-US" sz="3200" dirty="0"/>
              <a:t> circle</a:t>
            </a:r>
            <a:endParaRPr lang="en-US" sz="3200" dirty="0"/>
          </a:p>
          <a:p>
            <a:pPr marL="900430" lvl="1" indent="-443230">
              <a:buFont typeface="Wingdings" panose="05000000000000000000" pitchFamily="2" charset="2"/>
              <a:buChar char="ü"/>
            </a:pPr>
            <a:r>
              <a:rPr lang="en-US" sz="3000" dirty="0"/>
              <a:t>Exercise </a:t>
            </a:r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</a:t>
            </a:r>
            <a:endParaRPr lang="en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Digital Differential Analyzer (DDA)</a:t>
            </a:r>
            <a:r>
              <a:rPr lang="en-US" sz="2800" dirty="0"/>
              <a:t> is 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a </a:t>
            </a:r>
            <a:r>
              <a:rPr lang="en-US" sz="2800" b="1" dirty="0"/>
              <a:t>line formation algorithm </a:t>
            </a:r>
            <a:r>
              <a:rPr lang="en-US" sz="2800" dirty="0"/>
              <a:t>based on the calculation of </a:t>
            </a:r>
            <a:r>
              <a:rPr lang="en-US" sz="2800" i="1" dirty="0"/>
              <a:t>∆x</a:t>
            </a:r>
            <a:r>
              <a:rPr lang="en-US" sz="2800" dirty="0"/>
              <a:t> and </a:t>
            </a:r>
            <a:r>
              <a:rPr lang="en-US" sz="2800" i="1" dirty="0"/>
              <a:t>∆y</a:t>
            </a:r>
            <a:r>
              <a:rPr lang="en-US" sz="2800" dirty="0"/>
              <a:t>, using the formula 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/>
              <a:t>∆y = m ∆x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The line is created by specifying two endpoints, namely </a:t>
            </a:r>
            <a:r>
              <a:rPr lang="en-US" sz="2800" b="1" dirty="0"/>
              <a:t>starting point </a:t>
            </a:r>
            <a:r>
              <a:rPr lang="en-US" sz="2800" dirty="0"/>
              <a:t>and </a:t>
            </a:r>
            <a:r>
              <a:rPr lang="en-US" sz="2800" b="1" dirty="0"/>
              <a:t>end point</a:t>
            </a:r>
            <a:endParaRPr lang="en-ID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DDA Implementation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69507" y="2057398"/>
            <a:ext cx="5894969" cy="4564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1-2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To describe the DDA algorithm in the formation of a line connect the dots </a:t>
            </a:r>
            <a:r>
              <a:rPr lang="en-US" sz="2400" b="1" dirty="0">
                <a:solidFill>
                  <a:srgbClr val="00B0F0"/>
                </a:solidFill>
              </a:rPr>
              <a:t>A(10, 10)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B(17, 16)</a:t>
            </a:r>
            <a:r>
              <a:rPr lang="en-US" sz="2400" dirty="0"/>
              <a:t>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Where A as </a:t>
            </a:r>
            <a:r>
              <a:rPr lang="en-US" sz="2400" dirty="0">
                <a:solidFill>
                  <a:srgbClr val="00B0F0"/>
                </a:solidFill>
              </a:rPr>
              <a:t>starting point </a:t>
            </a:r>
            <a:r>
              <a:rPr lang="en-US" sz="2400" dirty="0"/>
              <a:t>and B as </a:t>
            </a:r>
            <a:r>
              <a:rPr lang="en-US" sz="2400" dirty="0">
                <a:solidFill>
                  <a:srgbClr val="FF0000"/>
                </a:solidFill>
              </a:rPr>
              <a:t>end point</a:t>
            </a:r>
            <a:r>
              <a:rPr lang="en-US" sz="2400" dirty="0"/>
              <a:t>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 3 (</a:t>
            </a:r>
            <a:r>
              <a:rPr lang="en-US" sz="2400" dirty="0"/>
              <a:t>determine </a:t>
            </a:r>
            <a:r>
              <a:rPr lang="en-US" sz="2400" i="1" dirty="0"/>
              <a:t>dx</a:t>
            </a:r>
            <a:r>
              <a:rPr lang="en-US" sz="2400" dirty="0"/>
              <a:t> and </a:t>
            </a:r>
            <a:r>
              <a:rPr lang="en-US" sz="2400" i="1" dirty="0" err="1"/>
              <a:t>dy</a:t>
            </a:r>
            <a:r>
              <a:rPr lang="en-US" sz="2400" b="1" dirty="0"/>
              <a:t>)</a:t>
            </a:r>
            <a:endParaRPr lang="en-US" sz="2400" dirty="0"/>
          </a:p>
          <a:p>
            <a:pPr marL="342900" indent="-342900"/>
            <a:r>
              <a:rPr lang="en-US" sz="2400" dirty="0"/>
              <a:t>∆x = x1 – x0 = 17 – 10 = 7	</a:t>
            </a:r>
            <a:r>
              <a:rPr lang="en-US" sz="2400" dirty="0">
                <a:sym typeface="Wingdings" panose="05000000000000000000" pitchFamily="2" charset="2"/>
              </a:rPr>
              <a:t> |</a:t>
            </a:r>
            <a:r>
              <a:rPr lang="en-US" sz="2400" dirty="0"/>
              <a:t>∆x</a:t>
            </a:r>
            <a:r>
              <a:rPr lang="en-US" sz="2400" dirty="0">
                <a:sym typeface="Wingdings" panose="05000000000000000000" pitchFamily="2" charset="2"/>
              </a:rPr>
              <a:t>| = 7</a:t>
            </a:r>
            <a:endParaRPr lang="en-US" sz="2400" dirty="0">
              <a:sym typeface="Wingdings" panose="05000000000000000000" pitchFamily="2" charset="2"/>
            </a:endParaRPr>
          </a:p>
          <a:p>
            <a:pPr marL="342900" indent="-342900"/>
            <a:r>
              <a:rPr lang="en-US" sz="2400" dirty="0"/>
              <a:t>∆y = y1 – y0 = 16 – 10 = 6	</a:t>
            </a:r>
            <a:r>
              <a:rPr lang="en-US" sz="2400" dirty="0">
                <a:sym typeface="Wingdings" panose="05000000000000000000" pitchFamily="2" charset="2"/>
              </a:rPr>
              <a:t> |</a:t>
            </a:r>
            <a:r>
              <a:rPr lang="en-US" sz="2400" dirty="0"/>
              <a:t>∆y</a:t>
            </a:r>
            <a:r>
              <a:rPr lang="en-US" sz="2400" dirty="0">
                <a:sym typeface="Wingdings" panose="05000000000000000000" pitchFamily="2" charset="2"/>
              </a:rPr>
              <a:t>| = 6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344696" y="2057398"/>
            <a:ext cx="407600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Step 4 (</a:t>
            </a:r>
            <a:r>
              <a:rPr lang="en-US" sz="2400" dirty="0"/>
              <a:t>look for steps </a:t>
            </a:r>
            <a:r>
              <a:rPr lang="en-US" sz="2400" b="1" dirty="0">
                <a:sym typeface="Wingdings" panose="05000000000000000000" pitchFamily="2" charset="2"/>
              </a:rPr>
              <a:t>)</a:t>
            </a:r>
            <a:endParaRPr lang="en-US" sz="2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Because |</a:t>
            </a:r>
            <a:r>
              <a:rPr lang="en-US" sz="2400" dirty="0"/>
              <a:t>∆x| &gt; |∆y| is fulfilled, then “step” is |∆x| = 7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 5 (</a:t>
            </a:r>
            <a:r>
              <a:rPr lang="en-US" sz="2400" dirty="0"/>
              <a:t>get </a:t>
            </a:r>
            <a:r>
              <a:rPr lang="en-US" sz="2400" i="1" dirty="0" err="1"/>
              <a:t>x_increment</a:t>
            </a:r>
            <a:r>
              <a:rPr lang="en-US" sz="2400" dirty="0"/>
              <a:t> and </a:t>
            </a:r>
            <a:r>
              <a:rPr lang="en-US" sz="2400" i="1" dirty="0" err="1"/>
              <a:t>y_increment</a:t>
            </a:r>
            <a:r>
              <a:rPr lang="en-US" sz="2400" b="1" dirty="0"/>
              <a:t>)</a:t>
            </a:r>
            <a:endParaRPr lang="en-US" sz="2400" b="1" dirty="0"/>
          </a:p>
          <a:p>
            <a:pPr marL="342900" indent="-342900"/>
            <a:r>
              <a:rPr lang="en-US" sz="2400" dirty="0" err="1"/>
              <a:t>x_increment</a:t>
            </a:r>
            <a:r>
              <a:rPr lang="en-US" sz="2400" dirty="0"/>
              <a:t> = 7/7 = 1</a:t>
            </a:r>
            <a:endParaRPr lang="en-US" sz="2400" dirty="0"/>
          </a:p>
          <a:p>
            <a:pPr marL="342900" indent="-342900"/>
            <a:r>
              <a:rPr lang="en-US" sz="2400" dirty="0" err="1"/>
              <a:t>y_increment</a:t>
            </a:r>
            <a:r>
              <a:rPr lang="en-US" sz="2400" dirty="0"/>
              <a:t> = 6/7 = 0,86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245435" cy="1456267"/>
          </a:xfrm>
        </p:spPr>
        <p:txBody>
          <a:bodyPr/>
          <a:lstStyle/>
          <a:p>
            <a:r>
              <a:rPr lang="en-US" dirty="0"/>
              <a:t>Next DDA implementation</a:t>
            </a:r>
            <a:r>
              <a:rPr lang="en-US" sz="3600" dirty="0"/>
              <a:t> [</a:t>
            </a:r>
            <a:r>
              <a:rPr lang="en-US" sz="3600" b="1" dirty="0">
                <a:solidFill>
                  <a:srgbClr val="00B0F0"/>
                </a:solidFill>
              </a:rPr>
              <a:t>A(10, 10)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FF0000"/>
                </a:solidFill>
              </a:rPr>
              <a:t>B(17, 16)</a:t>
            </a:r>
            <a:r>
              <a:rPr lang="en-US" sz="3600" dirty="0"/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1" y="2142066"/>
            <a:ext cx="6144490" cy="4715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6-7</a:t>
            </a:r>
            <a:endParaRPr lang="en-US" sz="2400" b="1" dirty="0"/>
          </a:p>
          <a:p>
            <a:pPr marL="342900" indent="-342900"/>
            <a:r>
              <a:rPr lang="en-US" sz="2400" dirty="0"/>
              <a:t>x + </a:t>
            </a:r>
            <a:r>
              <a:rPr lang="en-US" sz="2400" dirty="0" err="1"/>
              <a:t>x_increment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10 + 1 = 11</a:t>
            </a:r>
            <a:endParaRPr lang="en-US" sz="2400" dirty="0"/>
          </a:p>
          <a:p>
            <a:pPr marL="342900" indent="-342900"/>
            <a:r>
              <a:rPr lang="en-US" sz="2400" dirty="0"/>
              <a:t>y + </a:t>
            </a:r>
            <a:r>
              <a:rPr lang="en-US" sz="2400" dirty="0" err="1"/>
              <a:t>y_increment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10 + 0,86 = </a:t>
            </a:r>
            <a:r>
              <a:rPr lang="en-US" sz="2400" b="1" dirty="0">
                <a:sym typeface="Wingdings" panose="05000000000000000000" pitchFamily="2" charset="2"/>
              </a:rPr>
              <a:t>10,86 = 11</a:t>
            </a:r>
            <a:endParaRPr lang="en-US" sz="2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b="1" dirty="0"/>
              <a:t>Step 8 </a:t>
            </a:r>
            <a:r>
              <a:rPr lang="en-US" sz="2400" i="1" dirty="0"/>
              <a:t>(repeat from step 6-7)</a:t>
            </a:r>
            <a:endParaRPr lang="en-US" sz="2400" i="1" dirty="0"/>
          </a:p>
          <a:p>
            <a:pPr marL="342900" indent="-342900"/>
            <a:r>
              <a:rPr lang="en-US" sz="2400" dirty="0"/>
              <a:t>x + </a:t>
            </a:r>
            <a:r>
              <a:rPr lang="en-US" sz="2400" dirty="0" err="1"/>
              <a:t>x_increment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11 + 1 = 12</a:t>
            </a:r>
            <a:endParaRPr lang="en-US" sz="2400" dirty="0"/>
          </a:p>
          <a:p>
            <a:pPr marL="342900" indent="-342900"/>
            <a:r>
              <a:rPr lang="en-US" sz="2400" dirty="0"/>
              <a:t>y + </a:t>
            </a:r>
            <a:r>
              <a:rPr lang="en-US" sz="2400" dirty="0" err="1"/>
              <a:t>y_increment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10,86 + 0,86 = </a:t>
            </a:r>
            <a:r>
              <a:rPr lang="en-US" sz="2400" b="1" dirty="0">
                <a:sym typeface="Wingdings" panose="05000000000000000000" pitchFamily="2" charset="2"/>
              </a:rPr>
              <a:t>11,72 = 12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until x = x1</a:t>
            </a:r>
            <a:r>
              <a:rPr lang="en-US" sz="2400" b="1" dirty="0">
                <a:solidFill>
                  <a:srgbClr val="00B0F0"/>
                </a:solidFill>
              </a:rPr>
              <a:t>(17)</a:t>
            </a:r>
            <a:r>
              <a:rPr lang="en-US" sz="2400" dirty="0"/>
              <a:t> and y = y1</a:t>
            </a:r>
            <a:r>
              <a:rPr lang="en-US" sz="2400" b="1" dirty="0">
                <a:solidFill>
                  <a:srgbClr val="FF0000"/>
                </a:solidFill>
              </a:rPr>
              <a:t>(16)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3200" dirty="0"/>
              <a:t>As the result :</a:t>
            </a:r>
            <a:endParaRPr lang="en-ID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  <p:graphicFrame>
        <p:nvGraphicFramePr>
          <p:cNvPr id="9" name="Content Placeholder 5"/>
          <p:cNvGraphicFramePr/>
          <p:nvPr/>
        </p:nvGraphicFramePr>
        <p:xfrm>
          <a:off x="6555820" y="2065867"/>
          <a:ext cx="5286828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744"/>
                <a:gridCol w="783771"/>
                <a:gridCol w="769257"/>
                <a:gridCol w="31060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Round(x), Round</a:t>
                      </a:r>
                      <a:r>
                        <a:rPr lang="en-US" baseline="0" dirty="0"/>
                        <a:t>(y)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(10,10)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10.86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(11,11)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11.72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(12,12)</a:t>
                      </a:r>
                      <a:endParaRPr lang="en-US" b="1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(13,13)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13.44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(14,13)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(15,14)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15.16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(16,15)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16.02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(17,16)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Bressenhem</a:t>
            </a:r>
            <a:endParaRPr lang="en-ID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Line</a:t>
            </a:r>
            <a:endParaRPr lang="en-ID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Introduction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Procedure for </a:t>
            </a:r>
            <a:r>
              <a:rPr lang="en-US" sz="2800" b="1" dirty="0"/>
              <a:t>redrawing the line by rounding</a:t>
            </a:r>
            <a:r>
              <a:rPr lang="en-US" sz="2800" dirty="0"/>
              <a:t> the x or y value integer </a:t>
            </a:r>
            <a:r>
              <a:rPr lang="en-US" sz="2800" b="1" dirty="0"/>
              <a:t>takes loss time</a:t>
            </a:r>
            <a:r>
              <a:rPr lang="en-US" sz="2800" dirty="0"/>
              <a:t>, and the variables x, y and gradient m are numbers real because slope is a fractional value. 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dirty="0" err="1"/>
              <a:t>Bressenham</a:t>
            </a:r>
            <a:r>
              <a:rPr lang="en-US" sz="2800" dirty="0"/>
              <a:t> develops </a:t>
            </a:r>
            <a:r>
              <a:rPr lang="en-US" sz="2800" i="1" dirty="0"/>
              <a:t>classic algorithm </a:t>
            </a:r>
            <a:r>
              <a:rPr lang="en-US" sz="2800" dirty="0"/>
              <a:t>that is more interesting, because it </a:t>
            </a:r>
            <a:r>
              <a:rPr lang="en-US" sz="2800" b="1" dirty="0"/>
              <a:t>only uses calculations </a:t>
            </a:r>
            <a:r>
              <a:rPr lang="en-US" sz="2800" dirty="0"/>
              <a:t>math </a:t>
            </a:r>
            <a:r>
              <a:rPr lang="en-US" sz="2800" b="1" dirty="0"/>
              <a:t>with integer numbers</a:t>
            </a:r>
            <a:r>
              <a:rPr lang="en-US" sz="2800" dirty="0"/>
              <a:t>. Thus there is </a:t>
            </a:r>
            <a:r>
              <a:rPr lang="en-US" sz="2800" b="1" dirty="0"/>
              <a:t>no need to round up </a:t>
            </a:r>
            <a:r>
              <a:rPr lang="en-US" sz="2800" dirty="0"/>
              <a:t>the value position of each pixel every time.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85800" y="914400"/>
            <a:ext cx="6164653" cy="1371600"/>
          </a:xfrm>
        </p:spPr>
        <p:txBody>
          <a:bodyPr>
            <a:normAutofit/>
          </a:bodyPr>
          <a:lstStyle/>
          <a:p>
            <a:r>
              <a:rPr lang="en-US" sz="3600" dirty="0"/>
              <a:t>Dr. Jack Elton </a:t>
            </a:r>
            <a:r>
              <a:rPr lang="en-US" sz="3600" dirty="0" err="1"/>
              <a:t>Bresenham</a:t>
            </a:r>
            <a:br>
              <a:rPr lang="en-US" sz="3600" dirty="0"/>
            </a:br>
            <a:endParaRPr lang="en-ID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685800" y="2092037"/>
            <a:ext cx="6421582" cy="428105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Bresenham's</a:t>
            </a:r>
            <a:r>
              <a:rPr lang="en-US" sz="2400" dirty="0"/>
              <a:t> Line Algorithm is </a:t>
            </a:r>
            <a:r>
              <a:rPr lang="en-US" sz="2400" b="1" dirty="0"/>
              <a:t>used for scan converting a line</a:t>
            </a:r>
            <a:r>
              <a:rPr lang="en-US" sz="2400" dirty="0"/>
              <a:t>.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was developed by Dr. Jack Elton </a:t>
            </a:r>
            <a:r>
              <a:rPr lang="en-US" sz="2400" dirty="0" err="1"/>
              <a:t>Bresenham</a:t>
            </a:r>
            <a:r>
              <a:rPr lang="en-US" sz="2400" dirty="0"/>
              <a:t>.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an efficient method because it involves only integer addition, subtractions, and multiplication operations.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operations can be performed very rapidly so lines can be generated quickly.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7779975" y="5543490"/>
            <a:ext cx="27931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Dr. Jack Elton </a:t>
            </a:r>
            <a:r>
              <a:rPr lang="en-US" sz="2000" dirty="0" err="1"/>
              <a:t>Bresenham</a:t>
            </a:r>
            <a:endParaRPr lang="en-US" sz="2000" dirty="0"/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" b="1282"/>
          <a:stretch>
            <a:fillRect/>
          </a:stretch>
        </p:blipFill>
        <p:spPr>
          <a:xfrm>
            <a:off x="7535863" y="914400"/>
            <a:ext cx="3281362" cy="457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95" y="1825625"/>
            <a:ext cx="6630035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this method, </a:t>
            </a:r>
            <a:r>
              <a:rPr lang="en-US" sz="2400" b="1" dirty="0"/>
              <a:t>next pixel </a:t>
            </a:r>
            <a:r>
              <a:rPr lang="en-US" sz="2400" dirty="0"/>
              <a:t>selected is that one who has </a:t>
            </a:r>
            <a:r>
              <a:rPr lang="en-US" sz="2400" b="1" dirty="0"/>
              <a:t>the least distance </a:t>
            </a:r>
            <a:r>
              <a:rPr lang="en-US" sz="2400" dirty="0"/>
              <a:t>from true line.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We always increase x by 1, and we choose about next y, whether we need to go to y+1 or remain on y.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 other words, from any position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) we need to choose between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+ 1,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) or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+ 1,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 + 1)</a:t>
            </a:r>
            <a:endParaRPr lang="en-US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993" y="2016794"/>
            <a:ext cx="3665621" cy="36437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86654" y="2016794"/>
            <a:ext cx="141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</a:rPr>
              <a:t>y = mx + c</a:t>
            </a:r>
            <a:endParaRPr lang="en-US" sz="2400" i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next selected pixel is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142067"/>
            <a:ext cx="6366163" cy="3649133"/>
          </a:xfrm>
        </p:spPr>
        <p:txBody>
          <a:bodyPr>
            <a:normAutofit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Either the one to its right (</a:t>
            </a:r>
            <a:r>
              <a:rPr lang="en-US" sz="2800" b="1" dirty="0"/>
              <a:t>lower-bound</a:t>
            </a:r>
            <a:r>
              <a:rPr lang="en-US" sz="2800" dirty="0"/>
              <a:t> for the line), </a:t>
            </a:r>
            <a:r>
              <a:rPr lang="en-US" sz="2800" b="1" dirty="0" err="1"/>
              <a:t>d</a:t>
            </a:r>
            <a:r>
              <a:rPr lang="en-US" sz="2800" b="1" baseline="-25000" dirty="0" err="1"/>
              <a:t>lower</a:t>
            </a:r>
            <a:endParaRPr lang="en-US" sz="2800" b="1" baseline="-25000" dirty="0"/>
          </a:p>
          <a:p>
            <a:pPr marL="0" indent="0" algn="ctr">
              <a:buFont typeface="+mj-lt"/>
              <a:buNone/>
            </a:pPr>
            <a:r>
              <a:rPr lang="en-US" sz="2800" i="1" dirty="0"/>
              <a:t>OR</a:t>
            </a:r>
            <a:endParaRPr lang="en-US" sz="2800" dirty="0"/>
          </a:p>
          <a:p>
            <a:pPr marL="356870" indent="-356870">
              <a:buFont typeface="+mj-lt"/>
              <a:buAutoNum type="arabicPeriod" startAt="2"/>
            </a:pPr>
            <a:r>
              <a:rPr lang="en-US" sz="2800" dirty="0"/>
              <a:t>One top its left and up (</a:t>
            </a:r>
            <a:r>
              <a:rPr lang="en-US" sz="2800" b="1" dirty="0"/>
              <a:t>upper-bound</a:t>
            </a:r>
            <a:r>
              <a:rPr lang="en-US" sz="2800" dirty="0"/>
              <a:t> for the line), </a:t>
            </a:r>
            <a:r>
              <a:rPr lang="en-US" sz="2800" b="1" dirty="0" err="1"/>
              <a:t>d</a:t>
            </a:r>
            <a:r>
              <a:rPr lang="en-US" sz="2800" b="1" baseline="-25000" dirty="0" err="1"/>
              <a:t>upper</a:t>
            </a:r>
            <a:endParaRPr lang="en-US" sz="2800" b="1" baseline="-25000" dirty="0"/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Bresenham's</a:t>
            </a:r>
            <a:r>
              <a:rPr lang="en-US" sz="2800" dirty="0"/>
              <a:t> algorithm </a:t>
            </a:r>
            <a:r>
              <a:rPr lang="en-US" sz="2800" b="1" dirty="0"/>
              <a:t>selects</a:t>
            </a:r>
            <a:r>
              <a:rPr lang="en-US" sz="2800" dirty="0"/>
              <a:t> </a:t>
            </a:r>
            <a:r>
              <a:rPr lang="en-US" sz="2800" b="1" dirty="0"/>
              <a:t>the nearest point</a:t>
            </a:r>
            <a:r>
              <a:rPr lang="en-US" sz="2800" dirty="0"/>
              <a:t> from the actual path</a:t>
            </a:r>
            <a:endParaRPr lang="en-ID" sz="2800" dirty="0"/>
          </a:p>
        </p:txBody>
      </p:sp>
      <p:pic>
        <p:nvPicPr>
          <p:cNvPr id="4" name="Content Placeholder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271" y="2065867"/>
            <a:ext cx="4459446" cy="34107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/>
              <a:t>Gradient Angle</a:t>
            </a:r>
            <a:br>
              <a:rPr lang="en-US" sz="3600" b="1" dirty="0"/>
            </a:br>
            <a:endParaRPr lang="en-US" sz="3600" b="1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4294967295"/>
          </p:nvPr>
        </p:nvPicPr>
        <p:blipFill rotWithShape="1">
          <a:blip r:embed="rId1"/>
          <a:srcRect t="2252" b="11158"/>
          <a:stretch>
            <a:fillRect/>
          </a:stretch>
        </p:blipFill>
        <p:spPr>
          <a:xfrm>
            <a:off x="2128837" y="1607127"/>
            <a:ext cx="7934325" cy="4918363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cap="none" dirty="0"/>
              <a:t>y = mx + c</a:t>
            </a:r>
            <a:br>
              <a:rPr lang="en-US" sz="4800" b="1" cap="none" dirty="0"/>
            </a:br>
            <a:r>
              <a:rPr lang="en-US" b="1" cap="none" dirty="0"/>
              <a:t>for various m</a:t>
            </a:r>
            <a:endParaRPr lang="en-ID" sz="4800" b="1" cap="non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6509" y="3382433"/>
            <a:ext cx="6359236" cy="33562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9" y="2905768"/>
            <a:ext cx="4419600" cy="38329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57" y="119302"/>
            <a:ext cx="4941988" cy="32631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133" y="143717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704110"/>
            <a:ext cx="4995334" cy="4793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steps to form a line according to the </a:t>
            </a:r>
            <a:r>
              <a:rPr lang="en-US" sz="2000" b="1" dirty="0" err="1"/>
              <a:t>Bressenhem</a:t>
            </a:r>
            <a:r>
              <a:rPr lang="en-US" sz="2000" b="1" dirty="0"/>
              <a:t> algorithm are:</a:t>
            </a: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Determine the two points </a:t>
            </a:r>
            <a:r>
              <a:rPr lang="en-US" sz="2000" dirty="0"/>
              <a:t>will be connected.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Specify one point on the left as the </a:t>
            </a:r>
            <a:r>
              <a:rPr lang="en-US" sz="2000" b="1" dirty="0"/>
              <a:t>starting point </a:t>
            </a:r>
            <a:r>
              <a:rPr lang="en-US" sz="2000" dirty="0"/>
              <a:t>(x0, y0) while the other point is </a:t>
            </a:r>
            <a:r>
              <a:rPr lang="en-US" sz="2000" b="1" dirty="0"/>
              <a:t>end point </a:t>
            </a:r>
            <a:r>
              <a:rPr lang="en-US" sz="2000" dirty="0"/>
              <a:t>(x1, y1).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specify the value of </a:t>
            </a:r>
            <a:r>
              <a:rPr lang="en-US" sz="2000" b="1" i="1" dirty="0"/>
              <a:t>m</a:t>
            </a:r>
            <a:r>
              <a:rPr lang="en-US" sz="2000" dirty="0"/>
              <a:t>.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Calculate parameters </a:t>
            </a:r>
            <a:r>
              <a:rPr lang="en-US" sz="2000" b="1" i="1" dirty="0"/>
              <a:t>p</a:t>
            </a:r>
            <a:r>
              <a:rPr lang="en-US" sz="1200" b="1" i="1" dirty="0"/>
              <a:t>0</a:t>
            </a:r>
            <a:r>
              <a:rPr lang="en-US" sz="1200" i="1" dirty="0"/>
              <a:t>,</a:t>
            </a:r>
            <a:r>
              <a:rPr lang="en-US" sz="2000" i="1" dirty="0"/>
              <a:t> </a:t>
            </a:r>
            <a:endParaRPr lang="en-US" sz="2000" i="1" dirty="0"/>
          </a:p>
          <a:p>
            <a:pPr lvl="1"/>
            <a:r>
              <a:rPr lang="en-US" sz="1800" dirty="0"/>
              <a:t>if m &lt; 1,</a:t>
            </a:r>
            <a:r>
              <a:rPr lang="en-US" sz="1800" i="1" dirty="0"/>
              <a:t> p</a:t>
            </a:r>
            <a:r>
              <a:rPr lang="en-US" sz="1000" i="1" dirty="0"/>
              <a:t>0</a:t>
            </a:r>
            <a:r>
              <a:rPr lang="en-US" sz="1800" dirty="0"/>
              <a:t> = 2∆y - ∆x		 or </a:t>
            </a:r>
            <a:endParaRPr lang="en-US" sz="1800" dirty="0"/>
          </a:p>
          <a:p>
            <a:pPr lvl="1"/>
            <a:r>
              <a:rPr lang="en-US" sz="1800" dirty="0"/>
              <a:t>if m &gt; 1,</a:t>
            </a:r>
            <a:r>
              <a:rPr lang="en-US" sz="1800" i="1" dirty="0"/>
              <a:t> p</a:t>
            </a:r>
            <a:r>
              <a:rPr lang="en-US" sz="1000" i="1" dirty="0"/>
              <a:t>0</a:t>
            </a:r>
            <a:r>
              <a:rPr lang="en-US" sz="1800" dirty="0"/>
              <a:t> = 2∆x - ∆y</a:t>
            </a:r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4" y="1704111"/>
            <a:ext cx="5220179" cy="47936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400" dirty="0"/>
              <a:t>For </a:t>
            </a:r>
            <a:r>
              <a:rPr lang="en-US" sz="2400" b="1" i="1" dirty="0"/>
              <a:t>m</a:t>
            </a:r>
            <a:r>
              <a:rPr lang="en-US" sz="2400" dirty="0"/>
              <a:t> &lt; 1, it starts with </a:t>
            </a:r>
            <a:r>
              <a:rPr lang="en-US" sz="2400" i="1" dirty="0"/>
              <a:t>k</a:t>
            </a:r>
            <a:r>
              <a:rPr lang="en-US" sz="2400" dirty="0"/>
              <a:t> = 0</a:t>
            </a:r>
            <a:endParaRPr lang="en-US" sz="2400" dirty="0"/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/>
              <a:t>If </a:t>
            </a:r>
            <a:r>
              <a:rPr lang="en-US" sz="1800" i="1" dirty="0"/>
              <a:t>p</a:t>
            </a:r>
            <a:r>
              <a:rPr lang="en-US" sz="1200" i="1" dirty="0"/>
              <a:t>k</a:t>
            </a:r>
            <a:r>
              <a:rPr lang="en-US" sz="1800" dirty="0"/>
              <a:t> &lt; 0 then the next point is (</a:t>
            </a:r>
            <a:r>
              <a:rPr lang="en-US" sz="1800" dirty="0" err="1"/>
              <a:t>x</a:t>
            </a:r>
            <a:r>
              <a:rPr lang="en-US" sz="1200" dirty="0" err="1"/>
              <a:t>k</a:t>
            </a:r>
            <a:r>
              <a:rPr lang="en-US" sz="1800" dirty="0"/>
              <a:t> + 1, </a:t>
            </a:r>
            <a:r>
              <a:rPr lang="en-US" sz="1800" dirty="0" err="1"/>
              <a:t>y</a:t>
            </a:r>
            <a:r>
              <a:rPr lang="en-US" sz="1200" dirty="0" err="1"/>
              <a:t>k</a:t>
            </a:r>
            <a:r>
              <a:rPr lang="en-US" sz="1800" dirty="0"/>
              <a:t>) and p</a:t>
            </a:r>
            <a:r>
              <a:rPr lang="en-US" sz="1200" dirty="0"/>
              <a:t>k+1</a:t>
            </a:r>
            <a:r>
              <a:rPr lang="en-US" sz="1800" dirty="0"/>
              <a:t> = p</a:t>
            </a:r>
            <a:r>
              <a:rPr lang="en-US" sz="1200" dirty="0"/>
              <a:t>k</a:t>
            </a:r>
            <a:r>
              <a:rPr lang="en-US" sz="1800" dirty="0"/>
              <a:t> + 2∆y</a:t>
            </a:r>
            <a:endParaRPr lang="en-US" sz="1800" dirty="0"/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/>
              <a:t>If not then the next point is  (</a:t>
            </a:r>
            <a:r>
              <a:rPr lang="en-US" sz="1800" dirty="0" err="1"/>
              <a:t>x</a:t>
            </a:r>
            <a:r>
              <a:rPr lang="en-US" sz="1200" dirty="0" err="1"/>
              <a:t>k</a:t>
            </a:r>
            <a:r>
              <a:rPr lang="en-US" sz="1800" dirty="0"/>
              <a:t> + 1, </a:t>
            </a:r>
            <a:r>
              <a:rPr lang="en-US" sz="1800" dirty="0" err="1"/>
              <a:t>y</a:t>
            </a:r>
            <a:r>
              <a:rPr lang="en-US" sz="1200" dirty="0" err="1"/>
              <a:t>k</a:t>
            </a:r>
            <a:r>
              <a:rPr lang="en-US" sz="1800" dirty="0"/>
              <a:t> + 1) and p</a:t>
            </a:r>
            <a:r>
              <a:rPr lang="en-US" sz="1200" dirty="0"/>
              <a:t>k+1</a:t>
            </a:r>
            <a:r>
              <a:rPr lang="en-US" sz="1800" dirty="0"/>
              <a:t> = p</a:t>
            </a:r>
            <a:r>
              <a:rPr lang="en-US" sz="1200" dirty="0"/>
              <a:t>k</a:t>
            </a:r>
            <a:r>
              <a:rPr lang="en-US" sz="1800" dirty="0"/>
              <a:t> + 2∆y - 2∆x</a:t>
            </a: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 </a:t>
            </a:r>
            <a:r>
              <a:rPr lang="en-US" sz="2400" dirty="0"/>
              <a:t>For </a:t>
            </a:r>
            <a:r>
              <a:rPr lang="en-US" sz="2400" b="1" i="1" dirty="0"/>
              <a:t>m</a:t>
            </a:r>
            <a:r>
              <a:rPr lang="en-US" sz="2400" dirty="0"/>
              <a:t> &gt; 1, it starts with </a:t>
            </a:r>
            <a:r>
              <a:rPr lang="en-US" sz="2400" i="1" dirty="0"/>
              <a:t>k</a:t>
            </a:r>
            <a:r>
              <a:rPr lang="en-US" sz="2400" dirty="0"/>
              <a:t> = 0</a:t>
            </a:r>
            <a:endParaRPr lang="en-US" sz="2400" dirty="0"/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/>
              <a:t>If </a:t>
            </a:r>
            <a:r>
              <a:rPr lang="en-US" sz="1800" i="1" dirty="0"/>
              <a:t>p</a:t>
            </a:r>
            <a:r>
              <a:rPr lang="en-US" sz="1200" i="1" dirty="0"/>
              <a:t>k</a:t>
            </a:r>
            <a:r>
              <a:rPr lang="en-US" sz="1800" dirty="0"/>
              <a:t> &lt; 0 then the next point is (</a:t>
            </a:r>
            <a:r>
              <a:rPr lang="en-US" sz="1800" dirty="0" err="1"/>
              <a:t>x</a:t>
            </a:r>
            <a:r>
              <a:rPr lang="en-US" sz="1100" dirty="0" err="1"/>
              <a:t>k</a:t>
            </a:r>
            <a:r>
              <a:rPr lang="en-US" sz="1800" dirty="0"/>
              <a:t>, </a:t>
            </a:r>
            <a:r>
              <a:rPr lang="en-US" sz="1800" dirty="0" err="1"/>
              <a:t>y</a:t>
            </a:r>
            <a:r>
              <a:rPr lang="en-US" sz="1100" dirty="0" err="1"/>
              <a:t>k</a:t>
            </a:r>
            <a:r>
              <a:rPr lang="en-US" sz="1100" dirty="0"/>
              <a:t> </a:t>
            </a:r>
            <a:r>
              <a:rPr lang="en-US" sz="1800" dirty="0"/>
              <a:t>+ 1) and p</a:t>
            </a:r>
            <a:r>
              <a:rPr lang="en-US" sz="1200" dirty="0"/>
              <a:t>k+1</a:t>
            </a:r>
            <a:r>
              <a:rPr lang="en-US" sz="1800" dirty="0"/>
              <a:t> = p</a:t>
            </a:r>
            <a:r>
              <a:rPr lang="en-US" sz="1200" dirty="0"/>
              <a:t>k</a:t>
            </a:r>
            <a:r>
              <a:rPr lang="en-US" sz="1800" dirty="0"/>
              <a:t> + 2∆x</a:t>
            </a:r>
            <a:endParaRPr lang="en-US" sz="1800" dirty="0"/>
          </a:p>
          <a:p>
            <a:pPr marL="971550" lvl="1" indent="-514350">
              <a:buFont typeface="+mj-lt"/>
              <a:buAutoNum type="alphaLcParenR"/>
            </a:pPr>
            <a:r>
              <a:rPr lang="en-US" sz="1800" dirty="0"/>
              <a:t>If not then the next point is  (</a:t>
            </a:r>
            <a:r>
              <a:rPr lang="en-US" sz="1800" dirty="0" err="1"/>
              <a:t>x</a:t>
            </a:r>
            <a:r>
              <a:rPr lang="en-US" sz="1200" dirty="0" err="1"/>
              <a:t>k</a:t>
            </a:r>
            <a:r>
              <a:rPr lang="en-US" sz="1800" dirty="0"/>
              <a:t> + 1, </a:t>
            </a:r>
            <a:r>
              <a:rPr lang="en-US" sz="1800" dirty="0" err="1"/>
              <a:t>y</a:t>
            </a:r>
            <a:r>
              <a:rPr lang="en-US" sz="1200" dirty="0" err="1"/>
              <a:t>k</a:t>
            </a:r>
            <a:r>
              <a:rPr lang="en-US" sz="1800" dirty="0"/>
              <a:t> + 1) and p</a:t>
            </a:r>
            <a:r>
              <a:rPr lang="en-US" sz="1200" dirty="0"/>
              <a:t>k+1</a:t>
            </a:r>
            <a:r>
              <a:rPr lang="en-US" sz="1800" dirty="0"/>
              <a:t> = p</a:t>
            </a:r>
            <a:r>
              <a:rPr lang="en-US" sz="1200" dirty="0"/>
              <a:t>k</a:t>
            </a:r>
            <a:r>
              <a:rPr lang="en-US" sz="1800" dirty="0"/>
              <a:t> + 2∆x - 2∆y</a:t>
            </a:r>
            <a:endParaRPr lang="en-US" sz="1800" dirty="0"/>
          </a:p>
          <a:p>
            <a:pPr marL="514350" indent="-514350">
              <a:buFont typeface="+mj-lt"/>
              <a:buAutoNum type="arabicPeriod" startAt="5"/>
            </a:pPr>
            <a:r>
              <a:rPr lang="en-US" sz="2000" dirty="0"/>
              <a:t>Repeat step number 5 to determine the next pixel position, until x = x1 and y = y1. 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22218" y="3217151"/>
          <a:ext cx="9841696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527"/>
                <a:gridCol w="4100946"/>
                <a:gridCol w="39812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Parameter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 &lt; 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 &gt; 1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/>
                        <a:t>p</a:t>
                      </a:r>
                      <a:r>
                        <a:rPr lang="en-US" sz="2800" baseline="-25000" dirty="0"/>
                        <a:t>k</a:t>
                      </a:r>
                      <a:endParaRPr lang="en-US" sz="28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/>
                        <a:t>2∆y - ∆x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2∆x - ∆y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If </a:t>
                      </a:r>
                      <a:r>
                        <a:rPr lang="en-US" sz="2800" i="1" dirty="0"/>
                        <a:t>p</a:t>
                      </a:r>
                      <a:r>
                        <a:rPr lang="en-US" sz="1600" i="1" dirty="0"/>
                        <a:t>k</a:t>
                      </a:r>
                      <a:r>
                        <a:rPr lang="en-US" sz="2800" dirty="0"/>
                        <a:t> &lt; 0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then (</a:t>
                      </a:r>
                      <a:r>
                        <a:rPr lang="en-US" sz="2800" dirty="0" err="1"/>
                        <a:t>x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+ 1, </a:t>
                      </a:r>
                      <a:r>
                        <a:rPr lang="en-US" sz="2800" dirty="0" err="1"/>
                        <a:t>y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) </a:t>
                      </a:r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and p</a:t>
                      </a:r>
                      <a:r>
                        <a:rPr lang="en-US" sz="1600" dirty="0"/>
                        <a:t>k+1</a:t>
                      </a:r>
                      <a:r>
                        <a:rPr lang="en-US" sz="2800" dirty="0"/>
                        <a:t> = p</a:t>
                      </a:r>
                      <a:r>
                        <a:rPr lang="en-US" sz="1600" dirty="0"/>
                        <a:t>k</a:t>
                      </a:r>
                      <a:r>
                        <a:rPr lang="en-US" sz="2800" dirty="0"/>
                        <a:t> + 2∆y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then (</a:t>
                      </a:r>
                      <a:r>
                        <a:rPr lang="en-US" sz="2800" dirty="0" err="1"/>
                        <a:t>x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y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1600" dirty="0"/>
                        <a:t> </a:t>
                      </a:r>
                      <a:r>
                        <a:rPr lang="en-US" sz="2800" dirty="0"/>
                        <a:t>+ 1) </a:t>
                      </a:r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and p</a:t>
                      </a:r>
                      <a:r>
                        <a:rPr lang="en-US" sz="1600" dirty="0"/>
                        <a:t>k+1</a:t>
                      </a:r>
                      <a:r>
                        <a:rPr lang="en-US" sz="2800" dirty="0"/>
                        <a:t> = p</a:t>
                      </a:r>
                      <a:r>
                        <a:rPr lang="en-US" sz="1600" dirty="0"/>
                        <a:t>k</a:t>
                      </a:r>
                      <a:r>
                        <a:rPr lang="en-US" sz="2800" dirty="0"/>
                        <a:t> + 2∆x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If </a:t>
                      </a:r>
                      <a:r>
                        <a:rPr lang="en-US" sz="2800" i="1" dirty="0"/>
                        <a:t>p</a:t>
                      </a:r>
                      <a:r>
                        <a:rPr lang="en-US" sz="1600" i="1" dirty="0"/>
                        <a:t>k</a:t>
                      </a:r>
                      <a:r>
                        <a:rPr lang="en-US" sz="2800" dirty="0"/>
                        <a:t> ≥ 0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then (</a:t>
                      </a:r>
                      <a:r>
                        <a:rPr lang="en-US" sz="2800" dirty="0" err="1"/>
                        <a:t>x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+ 1, </a:t>
                      </a:r>
                      <a:r>
                        <a:rPr lang="en-US" sz="2800" dirty="0" err="1"/>
                        <a:t>y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+ 1) </a:t>
                      </a:r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and p</a:t>
                      </a:r>
                      <a:r>
                        <a:rPr lang="en-US" sz="1600" dirty="0"/>
                        <a:t>k+1</a:t>
                      </a:r>
                      <a:r>
                        <a:rPr lang="en-US" sz="2800" dirty="0"/>
                        <a:t> = p</a:t>
                      </a:r>
                      <a:r>
                        <a:rPr lang="en-US" sz="1600" dirty="0"/>
                        <a:t>k</a:t>
                      </a:r>
                      <a:r>
                        <a:rPr lang="en-US" sz="2800" dirty="0"/>
                        <a:t> + 2∆y - 2∆x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/>
                        <a:t>then (</a:t>
                      </a:r>
                      <a:r>
                        <a:rPr lang="en-US" sz="2800" dirty="0" err="1"/>
                        <a:t>x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+ 1, </a:t>
                      </a:r>
                      <a:r>
                        <a:rPr lang="en-US" sz="2800" dirty="0" err="1"/>
                        <a:t>y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+ 1) </a:t>
                      </a:r>
                      <a:endParaRPr lang="en-US" sz="28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/>
                        <a:t>and p</a:t>
                      </a:r>
                      <a:r>
                        <a:rPr lang="en-US" sz="1600" dirty="0"/>
                        <a:t>k+1</a:t>
                      </a:r>
                      <a:r>
                        <a:rPr lang="en-US" sz="2800" dirty="0"/>
                        <a:t> = p</a:t>
                      </a:r>
                      <a:r>
                        <a:rPr lang="en-US" sz="1600" dirty="0"/>
                        <a:t>k</a:t>
                      </a:r>
                      <a:r>
                        <a:rPr lang="en-US" sz="2800" dirty="0"/>
                        <a:t> + 2∆x - 2∆y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644390" y="963295"/>
                <a:ext cx="6450330" cy="1621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/>
                  <a:t>y - b = </a:t>
                </a:r>
                <a:r>
                  <a:rPr lang="en-US" sz="2800" b="1" i="1" dirty="0"/>
                  <a:t>m</a:t>
                </a:r>
                <a:r>
                  <a:rPr lang="en-US" sz="2800" i="1" dirty="0"/>
                  <a:t> (x - a)</a:t>
                </a:r>
                <a:endParaRPr lang="en-US" sz="2800" i="1" dirty="0"/>
              </a:p>
              <a:p>
                <a:endParaRPr lang="en-US" sz="2800" b="1" i="1" dirty="0"/>
              </a:p>
              <a:p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   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   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   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   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sz="28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390" y="963295"/>
                <a:ext cx="6450330" cy="16211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122218" y="991816"/>
            <a:ext cx="22557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Slope Line (</a:t>
            </a:r>
            <a:r>
              <a:rPr lang="en-US" sz="2800" b="1" i="1" dirty="0"/>
              <a:t>m</a:t>
            </a:r>
            <a:r>
              <a:rPr lang="en-US" sz="2800" dirty="0"/>
              <a:t>)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Bressenham</a:t>
            </a:r>
            <a:r>
              <a:rPr lang="en-US" dirty="0"/>
              <a:t> </a:t>
            </a:r>
            <a:r>
              <a:rPr lang="en-US" b="1" dirty="0"/>
              <a:t>implementation</a:t>
            </a:r>
            <a:endParaRPr lang="en-ID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 1-2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 illustrate the </a:t>
            </a:r>
            <a:r>
              <a:rPr lang="en-US" sz="2400" dirty="0" err="1"/>
              <a:t>Bressenham</a:t>
            </a:r>
            <a:r>
              <a:rPr lang="en-US" sz="2400" dirty="0"/>
              <a:t> algorithm in the formation of a </a:t>
            </a:r>
            <a:r>
              <a:rPr lang="en-US" sz="2400" b="1" dirty="0"/>
              <a:t>line connecting points (10,10) and (17,16), </a:t>
            </a:r>
            <a:r>
              <a:rPr lang="en-US" sz="2400" dirty="0"/>
              <a:t>it is first determined that the point </a:t>
            </a:r>
            <a:r>
              <a:rPr lang="en-US" sz="2400" b="1" dirty="0">
                <a:solidFill>
                  <a:srgbClr val="FFC000"/>
                </a:solidFill>
              </a:rPr>
              <a:t>(10,10)</a:t>
            </a:r>
            <a:r>
              <a:rPr lang="en-US" sz="2400" dirty="0"/>
              <a:t> on the left is the </a:t>
            </a:r>
            <a:r>
              <a:rPr lang="en-US" sz="2400" b="1" dirty="0">
                <a:solidFill>
                  <a:srgbClr val="FFC000"/>
                </a:solidFill>
              </a:rPr>
              <a:t>starting point</a:t>
            </a:r>
            <a:r>
              <a:rPr lang="en-US" sz="2400" dirty="0"/>
              <a:t>, while </a:t>
            </a:r>
            <a:r>
              <a:rPr lang="en-US" sz="2400" b="1" dirty="0">
                <a:solidFill>
                  <a:srgbClr val="00B0F0"/>
                </a:solidFill>
              </a:rPr>
              <a:t>(17,16)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00B0F0"/>
                </a:solidFill>
              </a:rPr>
              <a:t>end point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3-4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823483" y="2870200"/>
            <a:ext cx="5274008" cy="3766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∆x = x1 – x0 = 17 – 10 = 7		</a:t>
            </a:r>
            <a:r>
              <a:rPr lang="en-US" sz="2400" dirty="0">
                <a:sym typeface="Wingdings" panose="05000000000000000000" pitchFamily="2" charset="2"/>
              </a:rPr>
              <a:t> |</a:t>
            </a:r>
            <a:r>
              <a:rPr lang="en-US" sz="2400" dirty="0"/>
              <a:t>∆x</a:t>
            </a:r>
            <a:r>
              <a:rPr lang="en-US" sz="2400" dirty="0">
                <a:sym typeface="Wingdings" panose="05000000000000000000" pitchFamily="2" charset="2"/>
              </a:rPr>
              <a:t>| = 7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∆y = y1 – y0 = 16 – 10 = 6		</a:t>
            </a:r>
            <a:r>
              <a:rPr lang="en-US" sz="2400" dirty="0">
                <a:sym typeface="Wingdings" panose="05000000000000000000" pitchFamily="2" charset="2"/>
              </a:rPr>
              <a:t> |</a:t>
            </a:r>
            <a:r>
              <a:rPr lang="en-US" sz="2400" dirty="0"/>
              <a:t>∆y</a:t>
            </a:r>
            <a:r>
              <a:rPr lang="en-US" sz="2400" dirty="0">
                <a:sym typeface="Wingdings" panose="05000000000000000000" pitchFamily="2" charset="2"/>
              </a:rPr>
              <a:t>| = 6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b="1" i="1" dirty="0">
                <a:sym typeface="Wingdings" panose="05000000000000000000" pitchFamily="2" charset="2"/>
              </a:rPr>
              <a:t>m</a:t>
            </a:r>
            <a:r>
              <a:rPr lang="en-US" sz="2400" b="1" dirty="0">
                <a:sym typeface="Wingdings" panose="05000000000000000000" pitchFamily="2" charset="2"/>
              </a:rPr>
              <a:t> </a:t>
            </a:r>
            <a:r>
              <a:rPr lang="en-US" sz="2400" dirty="0">
                <a:sym typeface="Wingdings" panose="05000000000000000000" pitchFamily="2" charset="2"/>
              </a:rPr>
              <a:t>= </a:t>
            </a:r>
            <a:r>
              <a:rPr lang="en-US" sz="2400" dirty="0"/>
              <a:t>∆</a:t>
            </a:r>
            <a:r>
              <a:rPr lang="en-US" sz="2400" dirty="0">
                <a:sym typeface="Wingdings" panose="05000000000000000000" pitchFamily="2" charset="2"/>
              </a:rPr>
              <a:t>y/</a:t>
            </a:r>
            <a:r>
              <a:rPr lang="en-US" sz="2400" dirty="0"/>
              <a:t>∆</a:t>
            </a:r>
            <a:r>
              <a:rPr lang="en-US" sz="2400" dirty="0">
                <a:sym typeface="Wingdings" panose="05000000000000000000" pitchFamily="2" charset="2"/>
              </a:rPr>
              <a:t>x </a:t>
            </a:r>
            <a:r>
              <a:rPr lang="en-US" sz="2400" b="1" dirty="0">
                <a:sym typeface="Wingdings" panose="05000000000000000000" pitchFamily="2" charset="2"/>
              </a:rPr>
              <a:t>= 6/7</a:t>
            </a:r>
            <a:endParaRPr lang="en-US" sz="2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Parameters </a:t>
            </a:r>
            <a:r>
              <a:rPr lang="en-US" sz="2400" b="1" i="1" dirty="0"/>
              <a:t>p</a:t>
            </a:r>
            <a:r>
              <a:rPr lang="en-US" sz="1400" b="1" i="1" dirty="0"/>
              <a:t>0</a:t>
            </a:r>
            <a:r>
              <a:rPr lang="en-US" sz="2400" b="1" dirty="0"/>
              <a:t> = 2∆y - ∆x		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i="1" dirty="0"/>
              <a:t>p</a:t>
            </a:r>
            <a:r>
              <a:rPr lang="en-US" sz="1400" b="1" i="1" dirty="0"/>
              <a:t>0</a:t>
            </a:r>
            <a:r>
              <a:rPr lang="en-US" sz="2400" b="1" dirty="0"/>
              <a:t> = 5</a:t>
            </a:r>
            <a:endParaRPr lang="en-US" sz="2400" b="1" dirty="0"/>
          </a:p>
          <a:p>
            <a:pPr marL="1787525" indent="0">
              <a:buNone/>
            </a:pPr>
            <a:r>
              <a:rPr lang="en-US" sz="2400" dirty="0"/>
              <a:t>= 2*6 – 7 </a:t>
            </a:r>
            <a:endParaRPr lang="en-US" sz="2400" dirty="0"/>
          </a:p>
          <a:p>
            <a:pPr marL="1787525" indent="0">
              <a:buNone/>
            </a:pPr>
            <a:r>
              <a:rPr lang="en-US" sz="2400" dirty="0"/>
              <a:t>= 12 – 7</a:t>
            </a:r>
            <a:endParaRPr lang="en-US" sz="2400" dirty="0"/>
          </a:p>
          <a:p>
            <a:endParaRPr lang="en-ID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6 (repeated)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= 0 ; </a:t>
            </a:r>
            <a:r>
              <a:rPr lang="en-US" i="1" dirty="0"/>
              <a:t>p</a:t>
            </a:r>
            <a:r>
              <a:rPr lang="en-US" sz="1500" i="1" dirty="0"/>
              <a:t>0</a:t>
            </a:r>
            <a:r>
              <a:rPr lang="en-US" dirty="0"/>
              <a:t> = 5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0"/>
            <a:ext cx="3179617" cy="3586017"/>
          </a:xfrm>
        </p:spPr>
        <p:txBody>
          <a:bodyPr>
            <a:normAutofit fontScale="92500" lnSpcReduction="10000"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400" dirty="0">
                <a:sym typeface="Wingdings" panose="05000000000000000000" pitchFamily="2" charset="2"/>
              </a:rPr>
              <a:t>Because </a:t>
            </a:r>
            <a:r>
              <a:rPr lang="en-US" sz="2400" b="1" i="1" dirty="0"/>
              <a:t>p</a:t>
            </a:r>
            <a:r>
              <a:rPr lang="en-US" sz="1800" b="1" i="1" dirty="0"/>
              <a:t>0</a:t>
            </a:r>
            <a:r>
              <a:rPr lang="en-US" sz="2400" b="1" dirty="0"/>
              <a:t> &gt; 0</a:t>
            </a:r>
            <a:r>
              <a:rPr lang="en-US" sz="2400" dirty="0"/>
              <a:t>, then 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b="1" dirty="0"/>
              <a:t>p</a:t>
            </a:r>
            <a:r>
              <a:rPr lang="en-US" sz="1800" b="1" dirty="0"/>
              <a:t>k+1</a:t>
            </a:r>
            <a:r>
              <a:rPr lang="en-US" sz="2400" b="1" dirty="0"/>
              <a:t> = p</a:t>
            </a:r>
            <a:r>
              <a:rPr lang="en-US" sz="1800" b="1" dirty="0"/>
              <a:t>k</a:t>
            </a:r>
            <a:r>
              <a:rPr lang="en-US" sz="2400" b="1" dirty="0"/>
              <a:t> + 2∆y - 2∆x</a:t>
            </a:r>
            <a:endParaRPr lang="en-US" sz="2400" b="1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</a:t>
            </a:r>
            <a:r>
              <a:rPr lang="en-US" dirty="0"/>
              <a:t>1</a:t>
            </a:r>
            <a:r>
              <a:rPr lang="en-US" sz="2400" dirty="0"/>
              <a:t> = 5 + 2*6 – 2*7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</a:t>
            </a:r>
            <a:r>
              <a:rPr lang="en-US" dirty="0"/>
              <a:t>1</a:t>
            </a:r>
            <a:r>
              <a:rPr lang="en-US" sz="2400" dirty="0"/>
              <a:t> = 3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200" b="1" dirty="0"/>
              <a:t>Next point </a:t>
            </a:r>
            <a:r>
              <a:rPr lang="en-US" sz="2200" b="1" dirty="0">
                <a:sym typeface="Wingdings" panose="05000000000000000000" pitchFamily="2" charset="2"/>
              </a:rPr>
              <a:t>: </a:t>
            </a:r>
            <a:r>
              <a:rPr lang="en-US" sz="2200" dirty="0"/>
              <a:t>(</a:t>
            </a:r>
            <a:r>
              <a:rPr lang="en-US" sz="2200" dirty="0" err="1"/>
              <a:t>x</a:t>
            </a:r>
            <a:r>
              <a:rPr lang="en-US" sz="1500" dirty="0" err="1"/>
              <a:t>k</a:t>
            </a:r>
            <a:r>
              <a:rPr lang="en-US" sz="2200" dirty="0"/>
              <a:t> + 1, </a:t>
            </a:r>
            <a:r>
              <a:rPr lang="en-US" sz="2200" dirty="0" err="1"/>
              <a:t>y</a:t>
            </a:r>
            <a:r>
              <a:rPr lang="en-US" sz="1500" dirty="0" err="1"/>
              <a:t>k</a:t>
            </a:r>
            <a:r>
              <a:rPr lang="en-US" sz="2200" dirty="0"/>
              <a:t> + 1)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(10 + 1, 10 + 1)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b="1" dirty="0"/>
              <a:t>(11, 11)</a:t>
            </a:r>
            <a:endParaRPr lang="en-ID" sz="22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6585" y="2256752"/>
            <a:ext cx="3047998" cy="576262"/>
          </a:xfrm>
        </p:spPr>
        <p:txBody>
          <a:bodyPr/>
          <a:lstStyle/>
          <a:p>
            <a:r>
              <a:rPr lang="en-US" dirty="0"/>
              <a:t>k = 1 ; </a:t>
            </a:r>
            <a:r>
              <a:rPr lang="en-US" i="1" dirty="0"/>
              <a:t>p</a:t>
            </a:r>
            <a:r>
              <a:rPr lang="en-US" sz="1500" i="1" dirty="0"/>
              <a:t>1</a:t>
            </a:r>
            <a:r>
              <a:rPr lang="en-US" dirty="0"/>
              <a:t> = 3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4064" y="2900219"/>
            <a:ext cx="3179617" cy="3586016"/>
          </a:xfrm>
        </p:spPr>
        <p:txBody>
          <a:bodyPr>
            <a:normAutofit fontScale="92500" lnSpcReduction="10000"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400" dirty="0">
                <a:sym typeface="Wingdings" panose="05000000000000000000" pitchFamily="2" charset="2"/>
              </a:rPr>
              <a:t>Because </a:t>
            </a:r>
            <a:r>
              <a:rPr lang="en-US" sz="2400" i="1" dirty="0"/>
              <a:t>p1</a:t>
            </a:r>
            <a:r>
              <a:rPr lang="en-US" sz="2400" dirty="0"/>
              <a:t> &gt; 0, then 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pk+1 = pk + 2∆y - 2∆x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b="1" dirty="0"/>
              <a:t>p2 = 3 + 2*6 – 2*7</a:t>
            </a:r>
            <a:endParaRPr lang="en-US" sz="2400" b="1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b="1" dirty="0"/>
              <a:t>p2 = 1</a:t>
            </a:r>
            <a:endParaRPr lang="en-US" sz="2400" b="1" dirty="0"/>
          </a:p>
          <a:p>
            <a:pPr marL="0" lvl="1" indent="0">
              <a:spcBef>
                <a:spcPts val="1000"/>
              </a:spcBef>
              <a:buNone/>
            </a:pPr>
            <a:endParaRPr lang="en-US" sz="20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200" b="1" dirty="0"/>
              <a:t>Next point </a:t>
            </a:r>
            <a:r>
              <a:rPr lang="en-US" sz="2200" b="1" dirty="0">
                <a:sym typeface="Wingdings" panose="05000000000000000000" pitchFamily="2" charset="2"/>
              </a:rPr>
              <a:t>: </a:t>
            </a:r>
            <a:r>
              <a:rPr lang="en-US" sz="2200" dirty="0"/>
              <a:t>(</a:t>
            </a:r>
            <a:r>
              <a:rPr lang="en-US" sz="2200" dirty="0" err="1"/>
              <a:t>x</a:t>
            </a:r>
            <a:r>
              <a:rPr lang="en-US" sz="1500" dirty="0" err="1"/>
              <a:t>k</a:t>
            </a:r>
            <a:r>
              <a:rPr lang="en-US" sz="2200" dirty="0"/>
              <a:t> + 1, </a:t>
            </a:r>
            <a:r>
              <a:rPr lang="en-US" sz="2200" dirty="0" err="1"/>
              <a:t>y</a:t>
            </a:r>
            <a:r>
              <a:rPr lang="en-US" sz="1500" dirty="0" err="1"/>
              <a:t>k</a:t>
            </a:r>
            <a:r>
              <a:rPr lang="en-US" sz="2200" dirty="0"/>
              <a:t> + 1)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(11 + 1, 11 + 1)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b="1" dirty="0"/>
              <a:t>(12, 12)</a:t>
            </a:r>
            <a:endParaRPr lang="en-US" sz="2200" b="1" dirty="0"/>
          </a:p>
          <a:p>
            <a:endParaRPr lang="en-ID" sz="2400" dirty="0"/>
          </a:p>
        </p:txBody>
      </p:sp>
      <p:sp>
        <p:nvSpPr>
          <p:cNvPr id="7" name="Text Placeholder 4"/>
          <p:cNvSpPr txBox="1"/>
          <p:nvPr/>
        </p:nvSpPr>
        <p:spPr>
          <a:xfrm>
            <a:off x="8326585" y="2218267"/>
            <a:ext cx="3179618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2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 = 2 ; </a:t>
            </a:r>
            <a:r>
              <a:rPr lang="en-US" i="1" dirty="0"/>
              <a:t>p</a:t>
            </a:r>
            <a:r>
              <a:rPr lang="en-US" sz="1500" i="1" dirty="0"/>
              <a:t>2</a:t>
            </a:r>
            <a:r>
              <a:rPr lang="en-US" dirty="0"/>
              <a:t> = 1</a:t>
            </a:r>
            <a:endParaRPr lang="en-US" dirty="0"/>
          </a:p>
        </p:txBody>
      </p:sp>
      <p:sp>
        <p:nvSpPr>
          <p:cNvPr id="8" name="Content Placeholder 5"/>
          <p:cNvSpPr txBox="1"/>
          <p:nvPr/>
        </p:nvSpPr>
        <p:spPr>
          <a:xfrm>
            <a:off x="8054340" y="2832735"/>
            <a:ext cx="3223895" cy="3858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Font typeface="Arial" panose="020B0604020202020204"/>
              <a:buNone/>
            </a:pPr>
            <a:r>
              <a:rPr lang="en-US" sz="2400" dirty="0">
                <a:sym typeface="Wingdings" panose="05000000000000000000" pitchFamily="2" charset="2"/>
              </a:rPr>
              <a:t>Because </a:t>
            </a:r>
            <a:r>
              <a:rPr lang="en-US" sz="2400" i="1" dirty="0"/>
              <a:t>p</a:t>
            </a:r>
            <a:r>
              <a:rPr lang="en-US" sz="1800" i="1" dirty="0"/>
              <a:t>1</a:t>
            </a:r>
            <a:r>
              <a:rPr lang="en-US" sz="2400" dirty="0"/>
              <a:t> &gt; 0, then </a:t>
            </a:r>
            <a:endParaRPr lang="en-US" sz="2400" dirty="0"/>
          </a:p>
          <a:p>
            <a:pPr marL="0" lvl="1" indent="0">
              <a:spcBef>
                <a:spcPts val="1000"/>
              </a:spcBef>
              <a:buFont typeface="Arial" panose="020B0604020202020204"/>
              <a:buNone/>
            </a:pPr>
            <a:r>
              <a:rPr lang="en-US" sz="2400" dirty="0"/>
              <a:t>p</a:t>
            </a:r>
            <a:r>
              <a:rPr lang="en-US" sz="1800" dirty="0"/>
              <a:t>k+1</a:t>
            </a:r>
            <a:r>
              <a:rPr lang="en-US" sz="2400" dirty="0"/>
              <a:t> = p</a:t>
            </a:r>
            <a:r>
              <a:rPr lang="en-US" sz="1800" dirty="0"/>
              <a:t>k</a:t>
            </a:r>
            <a:r>
              <a:rPr lang="en-US" sz="2400" dirty="0"/>
              <a:t> + 2∆y - 2∆x</a:t>
            </a:r>
            <a:endParaRPr lang="en-US" sz="2400" dirty="0"/>
          </a:p>
          <a:p>
            <a:pPr marL="0" lvl="1" indent="0">
              <a:spcBef>
                <a:spcPts val="1000"/>
              </a:spcBef>
              <a:buFont typeface="Arial" panose="020B0604020202020204"/>
              <a:buNone/>
            </a:pPr>
            <a:r>
              <a:rPr lang="en-US" sz="2400" b="1" dirty="0"/>
              <a:t>p3 = 1 + 2*6 – 2*7</a:t>
            </a:r>
            <a:endParaRPr lang="en-US" sz="2400" b="1" dirty="0"/>
          </a:p>
          <a:p>
            <a:pPr marL="0" lvl="1" indent="0">
              <a:spcBef>
                <a:spcPts val="1000"/>
              </a:spcBef>
              <a:buFont typeface="Arial" panose="020B0604020202020204"/>
              <a:buNone/>
            </a:pPr>
            <a:r>
              <a:rPr lang="en-US" sz="2400" b="1" dirty="0"/>
              <a:t>p3 = -1</a:t>
            </a:r>
            <a:endParaRPr lang="en-US" sz="2400" b="1" dirty="0"/>
          </a:p>
          <a:p>
            <a:pPr marL="0" lvl="1" indent="0">
              <a:spcBef>
                <a:spcPts val="1000"/>
              </a:spcBef>
              <a:buFont typeface="Arial" panose="020B0604020202020204"/>
              <a:buNone/>
            </a:pPr>
            <a:endParaRPr lang="en-US" sz="2000" b="1" dirty="0"/>
          </a:p>
          <a:p>
            <a:pPr marL="0" lvl="1" indent="0">
              <a:spcBef>
                <a:spcPts val="1000"/>
              </a:spcBef>
              <a:buFont typeface="Arial" panose="020B0604020202020204"/>
              <a:buNone/>
            </a:pPr>
            <a:r>
              <a:rPr lang="en-US" sz="2200" b="1" dirty="0"/>
              <a:t>Next point : </a:t>
            </a:r>
            <a:r>
              <a:rPr lang="en-US" sz="2200" dirty="0"/>
              <a:t>(</a:t>
            </a:r>
            <a:r>
              <a:rPr lang="en-US" sz="2200" dirty="0" err="1"/>
              <a:t>xk</a:t>
            </a:r>
            <a:r>
              <a:rPr lang="en-US" sz="2200" dirty="0"/>
              <a:t> + 1, </a:t>
            </a:r>
            <a:r>
              <a:rPr lang="en-US" sz="2200" dirty="0" err="1"/>
              <a:t>yk</a:t>
            </a:r>
            <a:r>
              <a:rPr lang="en-US" sz="2200" dirty="0"/>
              <a:t> + 1)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(12 + 1, 12 + 1)</a:t>
            </a:r>
            <a:r>
              <a:rPr lang="en-US" sz="2200" b="1" dirty="0"/>
              <a:t> </a:t>
            </a:r>
            <a:r>
              <a:rPr lang="en-US" sz="2200" b="1" dirty="0">
                <a:sym typeface="Wingdings" panose="05000000000000000000" pitchFamily="2" charset="2"/>
              </a:rPr>
              <a:t></a:t>
            </a:r>
            <a:r>
              <a:rPr lang="en-US" sz="2200" b="1" dirty="0"/>
              <a:t> (13, 13)</a:t>
            </a:r>
            <a:endParaRPr lang="en-US" sz="2200" b="1" dirty="0"/>
          </a:p>
          <a:p>
            <a:pPr marL="0" lvl="1" indent="0">
              <a:spcBef>
                <a:spcPts val="1000"/>
              </a:spcBef>
              <a:buFont typeface="Arial" panose="020B0604020202020204"/>
              <a:buNone/>
            </a:pPr>
            <a:endParaRPr lang="en-US" sz="2000" b="1" dirty="0"/>
          </a:p>
          <a:p>
            <a:endParaRPr lang="en-ID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6 (repeated)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 = 3 ; </a:t>
            </a:r>
            <a:r>
              <a:rPr lang="en-US" i="1" dirty="0"/>
              <a:t>p</a:t>
            </a:r>
            <a:r>
              <a:rPr lang="en-US" sz="1500" i="1" dirty="0"/>
              <a:t>3</a:t>
            </a:r>
            <a:r>
              <a:rPr lang="en-US" dirty="0"/>
              <a:t> = -1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0"/>
            <a:ext cx="3082635" cy="3586017"/>
          </a:xfrm>
        </p:spPr>
        <p:txBody>
          <a:bodyPr>
            <a:normAutofit fontScale="92500" lnSpcReduction="10000"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400" dirty="0">
                <a:sym typeface="Wingdings" panose="05000000000000000000" pitchFamily="2" charset="2"/>
              </a:rPr>
              <a:t>Because </a:t>
            </a:r>
            <a:r>
              <a:rPr lang="en-US" sz="2400" b="1" dirty="0">
                <a:sym typeface="Wingdings" panose="05000000000000000000" pitchFamily="2" charset="2"/>
              </a:rPr>
              <a:t>p3 &lt; 0</a:t>
            </a:r>
            <a:r>
              <a:rPr lang="en-US" sz="2400" dirty="0">
                <a:sym typeface="Wingdings" panose="05000000000000000000" pitchFamily="2" charset="2"/>
              </a:rPr>
              <a:t>, then </a:t>
            </a:r>
            <a:endParaRPr lang="en-US" sz="2400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b="1" dirty="0">
                <a:sym typeface="Wingdings" panose="05000000000000000000" pitchFamily="2" charset="2"/>
              </a:rPr>
              <a:t>pk+1 = pk + 2∆y</a:t>
            </a:r>
            <a:endParaRPr lang="en-US" sz="2400" b="1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p4 = -1 + 2.6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p4 = 11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endParaRPr lang="en-US" sz="2400" b="1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b="1" dirty="0"/>
              <a:t>Next point </a:t>
            </a:r>
            <a:r>
              <a:rPr lang="en-US" sz="2400" dirty="0"/>
              <a:t>: (</a:t>
            </a:r>
            <a:r>
              <a:rPr lang="en-US" sz="2400" dirty="0" err="1"/>
              <a:t>xk</a:t>
            </a:r>
            <a:r>
              <a:rPr lang="en-US" sz="2400" dirty="0"/>
              <a:t> + 1, </a:t>
            </a:r>
            <a:r>
              <a:rPr lang="en-US" sz="2400" dirty="0" err="1"/>
              <a:t>yk</a:t>
            </a:r>
            <a:r>
              <a:rPr lang="en-US" sz="2400" dirty="0"/>
              <a:t>)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(13 + 1, 13) </a:t>
            </a:r>
            <a:r>
              <a:rPr lang="en-US" sz="2400" b="1" dirty="0">
                <a:sym typeface="Wingdings" panose="05000000000000000000" pitchFamily="2" charset="2"/>
              </a:rPr>
              <a:t></a:t>
            </a:r>
            <a:r>
              <a:rPr lang="en-US" sz="2400" b="1" dirty="0"/>
              <a:t> (14, 13)</a:t>
            </a:r>
            <a:endParaRPr lang="en-ID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6584" y="2256752"/>
            <a:ext cx="4722813" cy="5762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 = 4 ; </a:t>
            </a:r>
            <a:r>
              <a:rPr lang="en-US" i="1" dirty="0"/>
              <a:t>p</a:t>
            </a:r>
            <a:r>
              <a:rPr lang="en-US" sz="1500" i="1" dirty="0"/>
              <a:t>4</a:t>
            </a:r>
            <a:r>
              <a:rPr lang="en-US" dirty="0"/>
              <a:t> = 11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4064" y="2900219"/>
            <a:ext cx="3179617" cy="35860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/>
              <a:t>and so on. . .</a:t>
            </a:r>
            <a:endParaRPr lang="en-US" sz="3600" dirty="0"/>
          </a:p>
          <a:p>
            <a:endParaRPr lang="en-ID" sz="2400" dirty="0"/>
          </a:p>
        </p:txBody>
      </p:sp>
      <p:graphicFrame>
        <p:nvGraphicFramePr>
          <p:cNvPr id="13" name="Content Placeholder 5"/>
          <p:cNvGraphicFramePr/>
          <p:nvPr/>
        </p:nvGraphicFramePr>
        <p:xfrm>
          <a:off x="3879067" y="3429000"/>
          <a:ext cx="308263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44"/>
                <a:gridCol w="955964"/>
                <a:gridCol w="13307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(x</a:t>
                      </a:r>
                      <a:r>
                        <a:rPr lang="en-US" sz="1200" dirty="0"/>
                        <a:t>k+1</a:t>
                      </a:r>
                      <a:r>
                        <a:rPr lang="en-US" dirty="0"/>
                        <a:t>,y</a:t>
                      </a:r>
                      <a:r>
                        <a:rPr lang="en-US" sz="1200" dirty="0"/>
                        <a:t>k+1</a:t>
                      </a:r>
                      <a:r>
                        <a:rPr lang="en-US" dirty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(10,10)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(11,11)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(12,12)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(13,13)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(14,13)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(15,14)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(16,15)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(17,16)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043721" y="2506398"/>
          <a:ext cx="5003800" cy="413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</a:tblGrid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Bressenham</a:t>
            </a:r>
            <a:r>
              <a:rPr lang="en-US" dirty="0"/>
              <a:t> </a:t>
            </a:r>
            <a:r>
              <a:rPr lang="en-US" b="1" dirty="0"/>
              <a:t>Advantages</a:t>
            </a:r>
            <a:endParaRPr lang="en-ID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It </a:t>
            </a:r>
            <a:r>
              <a:rPr lang="en-US" sz="2800" b="1" dirty="0"/>
              <a:t>involves only integer </a:t>
            </a:r>
            <a:r>
              <a:rPr lang="en-US" sz="2800" dirty="0"/>
              <a:t>arithmetic, so it is </a:t>
            </a:r>
            <a:r>
              <a:rPr lang="en-US" sz="2800" b="1" dirty="0"/>
              <a:t>simple</a:t>
            </a:r>
            <a:r>
              <a:rPr lang="en-US" sz="2800" dirty="0"/>
              <a:t>.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It </a:t>
            </a:r>
            <a:r>
              <a:rPr lang="en-US" sz="2800" b="1" dirty="0"/>
              <a:t>avoids</a:t>
            </a:r>
            <a:r>
              <a:rPr lang="en-US" sz="2800" dirty="0"/>
              <a:t> the generation of </a:t>
            </a:r>
            <a:r>
              <a:rPr lang="en-US" sz="2800" b="1" dirty="0"/>
              <a:t>duplicate points</a:t>
            </a:r>
            <a:r>
              <a:rPr lang="en-US" sz="2800" dirty="0"/>
              <a:t>.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It is </a:t>
            </a:r>
            <a:r>
              <a:rPr lang="en-US" sz="2800" b="1" dirty="0"/>
              <a:t>faster</a:t>
            </a:r>
            <a:r>
              <a:rPr lang="en-US" sz="2800" dirty="0"/>
              <a:t> as compared to DDA (Digital Differential Analyzer) </a:t>
            </a:r>
            <a:r>
              <a:rPr lang="en-US" sz="2800" i="1" dirty="0"/>
              <a:t>because it does not involve floating point </a:t>
            </a:r>
            <a:r>
              <a:rPr lang="en-US" sz="2800" dirty="0"/>
              <a:t>calculations like DDA Algorithm.</a:t>
            </a: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EXERCISE</a:t>
            </a:r>
            <a:endParaRPr lang="en-ID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Create a line </a:t>
            </a:r>
            <a:r>
              <a:rPr lang="en-US" sz="2800" dirty="0"/>
              <a:t>that connects from </a:t>
            </a:r>
            <a:r>
              <a:rPr lang="en-US" sz="2800" b="1" dirty="0"/>
              <a:t>point (3, 2) </a:t>
            </a:r>
            <a:r>
              <a:rPr lang="en-US" sz="2800" dirty="0"/>
              <a:t>to</a:t>
            </a:r>
            <a:r>
              <a:rPr lang="en-US" sz="2800" b="1" dirty="0"/>
              <a:t> point (4, 7) using</a:t>
            </a:r>
            <a:r>
              <a:rPr lang="en-US" sz="2800" dirty="0"/>
              <a:t> the </a:t>
            </a:r>
            <a:r>
              <a:rPr lang="en-US" sz="2800" b="1" dirty="0" err="1"/>
              <a:t>Bressenham</a:t>
            </a:r>
            <a:r>
              <a:rPr lang="en-US" sz="2800" dirty="0"/>
              <a:t> algorithm.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59353" y="3225406"/>
          <a:ext cx="9841696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527"/>
                <a:gridCol w="4100946"/>
                <a:gridCol w="39812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Parameter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 &lt; 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 &gt; 1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/>
                        <a:t>p</a:t>
                      </a:r>
                      <a:r>
                        <a:rPr lang="en-US" sz="2800" baseline="-25000" dirty="0"/>
                        <a:t>k</a:t>
                      </a:r>
                      <a:endParaRPr lang="en-US" sz="28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/>
                        <a:t>2∆y - ∆x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2∆x - ∆y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If </a:t>
                      </a:r>
                      <a:r>
                        <a:rPr lang="en-US" sz="2800" i="1" dirty="0"/>
                        <a:t>p</a:t>
                      </a:r>
                      <a:r>
                        <a:rPr lang="en-US" sz="1600" i="1" dirty="0"/>
                        <a:t>k</a:t>
                      </a:r>
                      <a:r>
                        <a:rPr lang="en-US" sz="2800" dirty="0"/>
                        <a:t> &lt; 0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then (</a:t>
                      </a:r>
                      <a:r>
                        <a:rPr lang="en-US" sz="2800" dirty="0" err="1"/>
                        <a:t>x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+ 1, </a:t>
                      </a:r>
                      <a:r>
                        <a:rPr lang="en-US" sz="2800" dirty="0" err="1"/>
                        <a:t>y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) </a:t>
                      </a:r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and p</a:t>
                      </a:r>
                      <a:r>
                        <a:rPr lang="en-US" sz="1600" dirty="0"/>
                        <a:t>k+1</a:t>
                      </a:r>
                      <a:r>
                        <a:rPr lang="en-US" sz="2800" dirty="0"/>
                        <a:t> = p</a:t>
                      </a:r>
                      <a:r>
                        <a:rPr lang="en-US" sz="1600" dirty="0"/>
                        <a:t>k</a:t>
                      </a:r>
                      <a:r>
                        <a:rPr lang="en-US" sz="2800" dirty="0"/>
                        <a:t> + 2∆y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then (</a:t>
                      </a:r>
                      <a:r>
                        <a:rPr lang="en-US" sz="2800" dirty="0" err="1"/>
                        <a:t>x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y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1600" dirty="0"/>
                        <a:t> </a:t>
                      </a:r>
                      <a:r>
                        <a:rPr lang="en-US" sz="2800" dirty="0"/>
                        <a:t>+ 1) </a:t>
                      </a:r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and p</a:t>
                      </a:r>
                      <a:r>
                        <a:rPr lang="en-US" sz="1600" dirty="0"/>
                        <a:t>k+1</a:t>
                      </a:r>
                      <a:r>
                        <a:rPr lang="en-US" sz="2800" dirty="0"/>
                        <a:t> = p</a:t>
                      </a:r>
                      <a:r>
                        <a:rPr lang="en-US" sz="1600" dirty="0"/>
                        <a:t>k</a:t>
                      </a:r>
                      <a:r>
                        <a:rPr lang="en-US" sz="2800" dirty="0"/>
                        <a:t> + 2∆x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If </a:t>
                      </a:r>
                      <a:r>
                        <a:rPr lang="en-US" sz="2800" i="1" dirty="0"/>
                        <a:t>p</a:t>
                      </a:r>
                      <a:r>
                        <a:rPr lang="en-US" sz="1600" i="1" dirty="0"/>
                        <a:t>k</a:t>
                      </a:r>
                      <a:r>
                        <a:rPr lang="en-US" sz="2800" dirty="0"/>
                        <a:t> ≥ 0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then (</a:t>
                      </a:r>
                      <a:r>
                        <a:rPr lang="en-US" sz="2800" dirty="0" err="1"/>
                        <a:t>x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+ 1, </a:t>
                      </a:r>
                      <a:r>
                        <a:rPr lang="en-US" sz="2800" dirty="0" err="1"/>
                        <a:t>y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+ 1) </a:t>
                      </a:r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and p</a:t>
                      </a:r>
                      <a:r>
                        <a:rPr lang="en-US" sz="1600" dirty="0"/>
                        <a:t>k+1</a:t>
                      </a:r>
                      <a:r>
                        <a:rPr lang="en-US" sz="2800" dirty="0"/>
                        <a:t> = p</a:t>
                      </a:r>
                      <a:r>
                        <a:rPr lang="en-US" sz="1600" dirty="0"/>
                        <a:t>k</a:t>
                      </a:r>
                      <a:r>
                        <a:rPr lang="en-US" sz="2800" dirty="0"/>
                        <a:t> + 2∆y - 2∆x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/>
                        <a:t>then (</a:t>
                      </a:r>
                      <a:r>
                        <a:rPr lang="en-US" sz="2800" dirty="0" err="1"/>
                        <a:t>x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+ 1, </a:t>
                      </a:r>
                      <a:r>
                        <a:rPr lang="en-US" sz="2800" dirty="0" err="1"/>
                        <a:t>y</a:t>
                      </a:r>
                      <a:r>
                        <a:rPr lang="en-US" sz="1600" dirty="0" err="1"/>
                        <a:t>k</a:t>
                      </a:r>
                      <a:r>
                        <a:rPr lang="en-US" sz="2800" dirty="0"/>
                        <a:t> + 1) </a:t>
                      </a:r>
                      <a:endParaRPr lang="en-US" sz="28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/>
                        <a:t>and p</a:t>
                      </a:r>
                      <a:r>
                        <a:rPr lang="en-US" sz="1600" dirty="0"/>
                        <a:t>k+1</a:t>
                      </a:r>
                      <a:r>
                        <a:rPr lang="en-US" sz="2800" dirty="0"/>
                        <a:t> = p</a:t>
                      </a:r>
                      <a:r>
                        <a:rPr lang="en-US" sz="1600" dirty="0"/>
                        <a:t>k</a:t>
                      </a:r>
                      <a:r>
                        <a:rPr lang="en-US" sz="2800" dirty="0"/>
                        <a:t> + 2∆x - 2∆y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122218" y="991816"/>
            <a:ext cx="22557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Slope Line (</a:t>
            </a:r>
            <a:r>
              <a:rPr lang="en-US" sz="2800" b="1" i="1" dirty="0"/>
              <a:t>m</a:t>
            </a:r>
            <a:r>
              <a:rPr lang="en-US" sz="2800" dirty="0"/>
              <a:t>)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6"/>
              <p:cNvSpPr txBox="1"/>
              <p:nvPr/>
            </p:nvSpPr>
            <p:spPr>
              <a:xfrm>
                <a:off x="4653280" y="991870"/>
                <a:ext cx="6450330" cy="1621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sz="2800" i="1" dirty="0"/>
                  <a:t>y - b = </a:t>
                </a:r>
                <a:r>
                  <a:rPr lang="en-US" sz="2800" b="1" i="1" dirty="0"/>
                  <a:t>m</a:t>
                </a:r>
                <a:r>
                  <a:rPr lang="en-US" sz="2800" i="1" dirty="0"/>
                  <a:t> (x - a)</a:t>
                </a:r>
                <a:endParaRPr lang="en-US" sz="2800" i="1" dirty="0"/>
              </a:p>
              <a:p>
                <a:endParaRPr lang="en-US" sz="2800" b="1" i="1" dirty="0"/>
              </a:p>
              <a:p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   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   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   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   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sz="28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280" y="991870"/>
                <a:ext cx="6450330" cy="162115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  <a:endParaRPr lang="en-ID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 1-2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 illustrate the </a:t>
            </a:r>
            <a:r>
              <a:rPr lang="en-US" sz="2400" dirty="0" err="1"/>
              <a:t>Bressenham</a:t>
            </a:r>
            <a:r>
              <a:rPr lang="en-US" sz="2400" dirty="0"/>
              <a:t> algorithm in the formation of a </a:t>
            </a:r>
            <a:r>
              <a:rPr lang="en-US" sz="2400" b="1" dirty="0"/>
              <a:t>line connecting points (3,2) and (4,7), </a:t>
            </a:r>
            <a:r>
              <a:rPr lang="en-US" sz="2400" dirty="0"/>
              <a:t>it is first determined that the point </a:t>
            </a:r>
            <a:r>
              <a:rPr lang="en-US" sz="2400" b="1" dirty="0">
                <a:solidFill>
                  <a:srgbClr val="FFC000"/>
                </a:solidFill>
              </a:rPr>
              <a:t>(3,2)</a:t>
            </a:r>
            <a:r>
              <a:rPr lang="en-US" sz="2400" dirty="0"/>
              <a:t> on the left is the </a:t>
            </a:r>
            <a:r>
              <a:rPr lang="en-US" sz="2400" b="1" dirty="0">
                <a:solidFill>
                  <a:srgbClr val="FFC000"/>
                </a:solidFill>
              </a:rPr>
              <a:t>starting point</a:t>
            </a:r>
            <a:r>
              <a:rPr lang="en-US" sz="2400" dirty="0"/>
              <a:t>, while </a:t>
            </a:r>
            <a:r>
              <a:rPr lang="en-US" sz="2400" b="1" dirty="0">
                <a:solidFill>
                  <a:srgbClr val="00B0F0"/>
                </a:solidFill>
              </a:rPr>
              <a:t>(4,7)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00B0F0"/>
                </a:solidFill>
              </a:rPr>
              <a:t>end point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3-4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823483" y="2870200"/>
            <a:ext cx="5274008" cy="3766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∆x = x1 – x0 = 4 – 3 = 1		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|∆x| = 1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∆y = y1 – y0 = 7 – 2 = 5		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|∆y| = 5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m </a:t>
            </a:r>
            <a:r>
              <a:rPr lang="en-US" sz="2400" dirty="0">
                <a:sym typeface="Wingdings" panose="05000000000000000000" pitchFamily="2" charset="2"/>
              </a:rPr>
              <a:t>= </a:t>
            </a:r>
            <a:r>
              <a:rPr lang="en-US" sz="2400" dirty="0"/>
              <a:t>∆</a:t>
            </a:r>
            <a:r>
              <a:rPr lang="en-US" sz="2400" dirty="0">
                <a:sym typeface="Wingdings" panose="05000000000000000000" pitchFamily="2" charset="2"/>
              </a:rPr>
              <a:t>y/</a:t>
            </a:r>
            <a:r>
              <a:rPr lang="en-US" sz="2400" dirty="0"/>
              <a:t>∆</a:t>
            </a:r>
            <a:r>
              <a:rPr lang="en-US" sz="2400" dirty="0">
                <a:sym typeface="Wingdings" panose="05000000000000000000" pitchFamily="2" charset="2"/>
              </a:rPr>
              <a:t>x </a:t>
            </a:r>
            <a:r>
              <a:rPr lang="en-US" sz="2400" dirty="0"/>
              <a:t>= 5/1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Parameters p0 = 2∆x - ∆y		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p0 = -3</a:t>
            </a:r>
            <a:endParaRPr lang="en-US" sz="2400" dirty="0"/>
          </a:p>
          <a:p>
            <a:pPr marL="1787525" indent="0">
              <a:buNone/>
            </a:pPr>
            <a:r>
              <a:rPr lang="en-US" sz="2400" dirty="0"/>
              <a:t>= 2*1 – 5 </a:t>
            </a:r>
            <a:endParaRPr lang="en-US" sz="2400" dirty="0"/>
          </a:p>
          <a:p>
            <a:pPr marL="1787525" indent="0">
              <a:buNone/>
            </a:pPr>
            <a:r>
              <a:rPr lang="en-US" sz="2400" dirty="0"/>
              <a:t>= 2 – 5</a:t>
            </a:r>
            <a:endParaRPr lang="en-US" sz="2400" dirty="0"/>
          </a:p>
          <a:p>
            <a:endParaRPr lang="en-ID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6 (repeated)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= 0 ; </a:t>
            </a:r>
            <a:r>
              <a:rPr lang="en-US" i="1" dirty="0"/>
              <a:t>p</a:t>
            </a:r>
            <a:r>
              <a:rPr lang="en-US" sz="1500" i="1" dirty="0"/>
              <a:t>0</a:t>
            </a:r>
            <a:r>
              <a:rPr lang="en-US" dirty="0"/>
              <a:t> = -3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0"/>
            <a:ext cx="3179617" cy="3586017"/>
          </a:xfrm>
        </p:spPr>
        <p:txBody>
          <a:bodyPr>
            <a:normAutofit fontScale="92500" lnSpcReduction="20000"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400" dirty="0">
                <a:sym typeface="Wingdings" panose="05000000000000000000" pitchFamily="2" charset="2"/>
              </a:rPr>
              <a:t>Because </a:t>
            </a:r>
            <a:r>
              <a:rPr lang="en-US" sz="2400" i="1" dirty="0"/>
              <a:t>p</a:t>
            </a:r>
            <a:r>
              <a:rPr lang="en-US" sz="2200" i="1" baseline="-25000" dirty="0"/>
              <a:t>0</a:t>
            </a:r>
            <a:r>
              <a:rPr lang="en-US" sz="2400" dirty="0"/>
              <a:t> &lt; 0 is fulfilled, then 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k+1</a:t>
            </a:r>
            <a:r>
              <a:rPr lang="en-US" sz="2400" dirty="0"/>
              <a:t> = p</a:t>
            </a:r>
            <a:r>
              <a:rPr lang="en-US" sz="2400" baseline="-25000" dirty="0"/>
              <a:t>k</a:t>
            </a:r>
            <a:r>
              <a:rPr lang="en-US" sz="2400" dirty="0"/>
              <a:t> + 2∆x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1</a:t>
            </a:r>
            <a:r>
              <a:rPr lang="en-US" sz="2400" dirty="0"/>
              <a:t> = -3 + 2*1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1</a:t>
            </a:r>
            <a:r>
              <a:rPr lang="en-US" sz="2400" dirty="0"/>
              <a:t> = -1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b="1" dirty="0"/>
              <a:t>Next point </a:t>
            </a:r>
            <a:r>
              <a:rPr lang="en-US" sz="2400" b="1" dirty="0">
                <a:sym typeface="Wingdings" panose="05000000000000000000" pitchFamily="2" charset="2"/>
              </a:rPr>
              <a:t>: </a:t>
            </a:r>
            <a:r>
              <a:rPr lang="en-US" sz="2400" dirty="0"/>
              <a:t>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baseline="-25000" dirty="0"/>
              <a:t> </a:t>
            </a:r>
            <a:r>
              <a:rPr lang="en-US" sz="2400" dirty="0"/>
              <a:t>+ 1)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(3, 2 + 1)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(3, 3)</a:t>
            </a:r>
            <a:endParaRPr lang="en-US" sz="24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6585" y="2256752"/>
            <a:ext cx="3047998" cy="576262"/>
          </a:xfrm>
        </p:spPr>
        <p:txBody>
          <a:bodyPr/>
          <a:lstStyle/>
          <a:p>
            <a:r>
              <a:rPr lang="en-US" dirty="0"/>
              <a:t>k = 1 ; </a:t>
            </a:r>
            <a:r>
              <a:rPr lang="en-US" i="1" dirty="0"/>
              <a:t>p</a:t>
            </a:r>
            <a:r>
              <a:rPr lang="en-US" sz="1500" i="1" dirty="0"/>
              <a:t>1</a:t>
            </a:r>
            <a:r>
              <a:rPr lang="en-US" dirty="0"/>
              <a:t> = -1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4064" y="2900219"/>
            <a:ext cx="3179617" cy="3586016"/>
          </a:xfrm>
        </p:spPr>
        <p:txBody>
          <a:bodyPr>
            <a:no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200" dirty="0">
                <a:sym typeface="Wingdings" panose="05000000000000000000" pitchFamily="2" charset="2"/>
              </a:rPr>
              <a:t>Because </a:t>
            </a:r>
            <a:r>
              <a:rPr lang="en-US" sz="2200" i="1" dirty="0"/>
              <a:t>p</a:t>
            </a:r>
            <a:r>
              <a:rPr lang="en-US" sz="2200" i="1" baseline="-25000" dirty="0"/>
              <a:t>0</a:t>
            </a:r>
            <a:r>
              <a:rPr lang="en-US" sz="2200" dirty="0"/>
              <a:t> &lt; 0 is fulfilled, then </a:t>
            </a:r>
            <a:endParaRPr lang="en-US" sz="22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000" dirty="0"/>
              <a:t>p</a:t>
            </a:r>
            <a:r>
              <a:rPr lang="en-US" sz="2000" baseline="-25000" dirty="0"/>
              <a:t>k+1</a:t>
            </a:r>
            <a:r>
              <a:rPr lang="en-US" sz="2000" dirty="0"/>
              <a:t> = p</a:t>
            </a:r>
            <a:r>
              <a:rPr lang="en-US" sz="2000" baseline="-25000" dirty="0"/>
              <a:t>k</a:t>
            </a:r>
            <a:r>
              <a:rPr lang="en-US" sz="2000" dirty="0"/>
              <a:t> + 2∆x</a:t>
            </a:r>
            <a:endParaRPr lang="en-US" sz="20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200" dirty="0"/>
              <a:t>p</a:t>
            </a:r>
            <a:r>
              <a:rPr lang="en-US" sz="2200" baseline="-25000" dirty="0"/>
              <a:t>2</a:t>
            </a:r>
            <a:r>
              <a:rPr lang="en-US" sz="2200" dirty="0"/>
              <a:t> = -1 + 2*1</a:t>
            </a:r>
            <a:endParaRPr lang="en-US" sz="22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200" dirty="0"/>
              <a:t>p</a:t>
            </a:r>
            <a:r>
              <a:rPr lang="en-US" sz="2200" baseline="-25000" dirty="0"/>
              <a:t>2</a:t>
            </a:r>
            <a:r>
              <a:rPr lang="en-US" sz="2200" dirty="0"/>
              <a:t> = 1</a:t>
            </a:r>
            <a:endParaRPr lang="en-US" sz="2200" dirty="0"/>
          </a:p>
          <a:p>
            <a:pPr marL="0" lvl="1" indent="0">
              <a:spcBef>
                <a:spcPts val="1000"/>
              </a:spcBef>
              <a:buNone/>
            </a:pPr>
            <a:endParaRPr lang="en-US" sz="1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200" b="1" dirty="0"/>
              <a:t>Next point </a:t>
            </a:r>
            <a:r>
              <a:rPr lang="en-US" sz="2200" b="1" dirty="0">
                <a:sym typeface="Wingdings" panose="05000000000000000000" pitchFamily="2" charset="2"/>
              </a:rPr>
              <a:t>: </a:t>
            </a:r>
            <a:r>
              <a:rPr lang="en-US" sz="2200" dirty="0"/>
              <a:t>(</a:t>
            </a:r>
            <a:r>
              <a:rPr lang="en-US" sz="2200" dirty="0" err="1"/>
              <a:t>x</a:t>
            </a:r>
            <a:r>
              <a:rPr lang="en-US" sz="2200" baseline="-25000" dirty="0" err="1"/>
              <a:t>k</a:t>
            </a:r>
            <a:r>
              <a:rPr lang="en-US" sz="2200" dirty="0"/>
              <a:t>, </a:t>
            </a:r>
            <a:r>
              <a:rPr lang="en-US" sz="2200" dirty="0" err="1"/>
              <a:t>y</a:t>
            </a:r>
            <a:r>
              <a:rPr lang="en-US" sz="2200" baseline="-25000" dirty="0" err="1"/>
              <a:t>k</a:t>
            </a:r>
            <a:r>
              <a:rPr lang="en-US" sz="2200" baseline="-25000" dirty="0"/>
              <a:t> </a:t>
            </a:r>
            <a:r>
              <a:rPr lang="en-US" sz="2000" dirty="0"/>
              <a:t>+ 1</a:t>
            </a:r>
            <a:r>
              <a:rPr lang="en-US" sz="2200" dirty="0"/>
              <a:t>)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(3, 2 + 1) 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b="1" dirty="0"/>
              <a:t>(3, 4)</a:t>
            </a:r>
            <a:endParaRPr lang="en-US" sz="2200" b="1" dirty="0"/>
          </a:p>
        </p:txBody>
      </p:sp>
      <p:sp>
        <p:nvSpPr>
          <p:cNvPr id="7" name="Text Placeholder 4"/>
          <p:cNvSpPr txBox="1"/>
          <p:nvPr/>
        </p:nvSpPr>
        <p:spPr>
          <a:xfrm>
            <a:off x="8326585" y="2218267"/>
            <a:ext cx="3179618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2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 = 2 ; </a:t>
            </a:r>
            <a:r>
              <a:rPr lang="en-US" i="1" dirty="0"/>
              <a:t>p</a:t>
            </a:r>
            <a:r>
              <a:rPr lang="en-US" sz="1500" i="1" dirty="0"/>
              <a:t>2</a:t>
            </a:r>
            <a:r>
              <a:rPr lang="en-US" dirty="0"/>
              <a:t> = 1</a:t>
            </a:r>
            <a:endParaRPr lang="en-US" dirty="0"/>
          </a:p>
        </p:txBody>
      </p:sp>
      <p:sp>
        <p:nvSpPr>
          <p:cNvPr id="8" name="Content Placeholder 5"/>
          <p:cNvSpPr txBox="1"/>
          <p:nvPr/>
        </p:nvSpPr>
        <p:spPr>
          <a:xfrm>
            <a:off x="8054064" y="2861734"/>
            <a:ext cx="3179617" cy="35860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en-US" sz="2400" dirty="0">
                <a:sym typeface="Wingdings" panose="05000000000000000000" pitchFamily="2" charset="2"/>
              </a:rPr>
              <a:t>Because </a:t>
            </a:r>
            <a:r>
              <a:rPr lang="en-US" sz="2400" i="1" dirty="0"/>
              <a:t>p</a:t>
            </a:r>
            <a:r>
              <a:rPr lang="en-US" sz="1500" i="1" dirty="0"/>
              <a:t>0</a:t>
            </a:r>
            <a:r>
              <a:rPr lang="en-US" sz="2400" dirty="0"/>
              <a:t> &lt; 0 is not fulfilled, then 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</a:t>
            </a:r>
            <a:r>
              <a:rPr lang="en-US" sz="1500" dirty="0"/>
              <a:t>k+1</a:t>
            </a:r>
            <a:r>
              <a:rPr lang="en-US" sz="2400" dirty="0"/>
              <a:t> = p</a:t>
            </a:r>
            <a:r>
              <a:rPr lang="en-US" sz="1500" dirty="0"/>
              <a:t>k</a:t>
            </a:r>
            <a:r>
              <a:rPr lang="en-US" sz="2400" dirty="0"/>
              <a:t> + 2∆x - 2∆y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</a:t>
            </a:r>
            <a:r>
              <a:rPr lang="en-US" sz="1400" dirty="0"/>
              <a:t>3</a:t>
            </a:r>
            <a:r>
              <a:rPr lang="en-US" sz="2400" dirty="0"/>
              <a:t> = 1 + 2*1 – 2*5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dirty="0"/>
              <a:t>p</a:t>
            </a:r>
            <a:r>
              <a:rPr lang="en-US" sz="1400" dirty="0"/>
              <a:t>3</a:t>
            </a:r>
            <a:r>
              <a:rPr lang="en-US" sz="2400" dirty="0"/>
              <a:t> = -7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400" b="1" dirty="0"/>
              <a:t>Next point </a:t>
            </a:r>
            <a:r>
              <a:rPr lang="en-US" sz="2400" b="1" dirty="0">
                <a:sym typeface="Wingdings" panose="05000000000000000000" pitchFamily="2" charset="2"/>
              </a:rPr>
              <a:t>: </a:t>
            </a:r>
            <a:r>
              <a:rPr lang="en-US" sz="2400" dirty="0"/>
              <a:t>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baseline="-25000" dirty="0"/>
              <a:t> </a:t>
            </a:r>
            <a:r>
              <a:rPr lang="en-US" sz="2400" dirty="0"/>
              <a:t>+ 1,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baseline="-25000" dirty="0"/>
              <a:t> </a:t>
            </a:r>
            <a:r>
              <a:rPr lang="en-US" sz="2400" dirty="0"/>
              <a:t>+ 1)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(3 + 1, 4 + 1)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(4, 5)</a:t>
            </a:r>
            <a:endParaRPr lang="en-US" sz="24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6 (repeated)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 = 3 ; </a:t>
            </a:r>
            <a:r>
              <a:rPr lang="en-US" i="1" dirty="0"/>
              <a:t>p</a:t>
            </a:r>
            <a:r>
              <a:rPr lang="en-US" sz="1500" i="1" dirty="0"/>
              <a:t>3</a:t>
            </a:r>
            <a:r>
              <a:rPr lang="en-US" dirty="0"/>
              <a:t> = -7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0"/>
            <a:ext cx="3082635" cy="3586017"/>
          </a:xfrm>
        </p:spPr>
        <p:txBody>
          <a:bodyPr>
            <a:no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000" dirty="0">
                <a:sym typeface="Wingdings" panose="05000000000000000000" pitchFamily="2" charset="2"/>
              </a:rPr>
              <a:t>Because </a:t>
            </a:r>
            <a:r>
              <a:rPr lang="en-US" sz="2000" i="1" dirty="0"/>
              <a:t>p</a:t>
            </a:r>
            <a:r>
              <a:rPr lang="en-US" sz="2000" i="1" baseline="-25000" dirty="0"/>
              <a:t>0</a:t>
            </a:r>
            <a:r>
              <a:rPr lang="en-US" sz="2000" dirty="0"/>
              <a:t> &lt; 0 is fulfilled, then </a:t>
            </a:r>
            <a:endParaRPr lang="en-US" sz="20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000" dirty="0"/>
              <a:t>p</a:t>
            </a:r>
            <a:r>
              <a:rPr lang="en-US" sz="2000" baseline="-25000" dirty="0"/>
              <a:t>k+1</a:t>
            </a:r>
            <a:r>
              <a:rPr lang="en-US" sz="2000" dirty="0"/>
              <a:t> = p</a:t>
            </a:r>
            <a:r>
              <a:rPr lang="en-US" sz="2000" baseline="-25000" dirty="0"/>
              <a:t>k</a:t>
            </a:r>
            <a:r>
              <a:rPr lang="en-US" sz="2000" dirty="0"/>
              <a:t> + 2∆x</a:t>
            </a:r>
            <a:endParaRPr lang="en-US" sz="20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000" dirty="0"/>
              <a:t>p</a:t>
            </a:r>
            <a:r>
              <a:rPr lang="en-US" sz="2000" baseline="-25000" dirty="0"/>
              <a:t>4</a:t>
            </a:r>
            <a:r>
              <a:rPr lang="en-US" sz="2000" dirty="0"/>
              <a:t> = -7 + 2*1</a:t>
            </a:r>
            <a:endParaRPr lang="en-US" sz="20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000" dirty="0"/>
              <a:t>p</a:t>
            </a:r>
            <a:r>
              <a:rPr lang="en-US" sz="2000" baseline="-25000" dirty="0"/>
              <a:t>4</a:t>
            </a:r>
            <a:r>
              <a:rPr lang="en-US" sz="2000" dirty="0"/>
              <a:t> = -5</a:t>
            </a:r>
            <a:endParaRPr lang="en-US" sz="2000" dirty="0"/>
          </a:p>
          <a:p>
            <a:pPr marL="0" lvl="1" indent="0">
              <a:spcBef>
                <a:spcPts val="1000"/>
              </a:spcBef>
              <a:buNone/>
            </a:pPr>
            <a:endParaRPr lang="en-US" sz="5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000" b="1" dirty="0"/>
              <a:t>Next point </a:t>
            </a:r>
            <a:r>
              <a:rPr lang="en-US" sz="2000" b="1" dirty="0">
                <a:sym typeface="Wingdings" panose="05000000000000000000" pitchFamily="2" charset="2"/>
              </a:rPr>
              <a:t>: </a:t>
            </a:r>
            <a:r>
              <a:rPr lang="en-US" sz="2000" dirty="0"/>
              <a:t>(</a:t>
            </a:r>
            <a:r>
              <a:rPr lang="en-US" sz="2000" dirty="0" err="1"/>
              <a:t>x</a:t>
            </a:r>
            <a:r>
              <a:rPr lang="en-US" sz="2000" baseline="-25000" dirty="0" err="1"/>
              <a:t>k</a:t>
            </a:r>
            <a:r>
              <a:rPr lang="en-US" sz="2000" dirty="0"/>
              <a:t>, </a:t>
            </a:r>
            <a:r>
              <a:rPr lang="en-US" sz="2000" dirty="0" err="1"/>
              <a:t>y</a:t>
            </a:r>
            <a:r>
              <a:rPr lang="en-US" sz="2000" baseline="-25000" dirty="0" err="1"/>
              <a:t>k</a:t>
            </a:r>
            <a:r>
              <a:rPr lang="en-US" sz="2000" baseline="-25000" dirty="0"/>
              <a:t> + 1</a:t>
            </a:r>
            <a:r>
              <a:rPr lang="en-US" sz="2000" dirty="0"/>
              <a:t>)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(4, 5 + 1)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(4, 6)</a:t>
            </a:r>
            <a:endParaRPr lang="en-US" sz="20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6584" y="2256752"/>
            <a:ext cx="4722813" cy="5762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 = 4 ; </a:t>
            </a:r>
            <a:r>
              <a:rPr lang="en-US" i="1" dirty="0"/>
              <a:t>p</a:t>
            </a:r>
            <a:r>
              <a:rPr lang="en-US" sz="1500" i="1" dirty="0"/>
              <a:t>4</a:t>
            </a:r>
            <a:r>
              <a:rPr lang="en-US" dirty="0"/>
              <a:t> = -5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4065" y="2900219"/>
            <a:ext cx="3082636" cy="3586016"/>
          </a:xfrm>
        </p:spPr>
        <p:txBody>
          <a:bodyPr>
            <a:normAutofit fontScale="55000" lnSpcReduction="20000"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3600" dirty="0">
                <a:sym typeface="Wingdings" panose="05000000000000000000" pitchFamily="2" charset="2"/>
              </a:rPr>
              <a:t>Because </a:t>
            </a:r>
            <a:r>
              <a:rPr lang="en-US" sz="3600" i="1" dirty="0"/>
              <a:t>p</a:t>
            </a:r>
            <a:r>
              <a:rPr lang="en-US" sz="3600" i="1" baseline="-25000" dirty="0"/>
              <a:t>0</a:t>
            </a:r>
            <a:r>
              <a:rPr lang="en-US" sz="3600" dirty="0"/>
              <a:t> &lt; 0 is fulfilled, then </a:t>
            </a:r>
            <a:endParaRPr lang="en-US" sz="36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3600" dirty="0"/>
              <a:t>p</a:t>
            </a:r>
            <a:r>
              <a:rPr lang="en-US" sz="3600" baseline="-25000" dirty="0"/>
              <a:t>k+1</a:t>
            </a:r>
            <a:r>
              <a:rPr lang="en-US" sz="3600" dirty="0"/>
              <a:t> = p</a:t>
            </a:r>
            <a:r>
              <a:rPr lang="en-US" sz="3600" baseline="-25000" dirty="0"/>
              <a:t>k</a:t>
            </a:r>
            <a:r>
              <a:rPr lang="en-US" sz="3600" dirty="0"/>
              <a:t> + 2∆x</a:t>
            </a:r>
            <a:endParaRPr lang="en-US" sz="36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3600" dirty="0"/>
              <a:t>p</a:t>
            </a:r>
            <a:r>
              <a:rPr lang="en-US" sz="3600" baseline="-25000" dirty="0"/>
              <a:t>5</a:t>
            </a:r>
            <a:r>
              <a:rPr lang="en-US" sz="3600" dirty="0"/>
              <a:t> = -5 + 2*1</a:t>
            </a:r>
            <a:endParaRPr lang="en-US" sz="36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3600" dirty="0"/>
              <a:t>p</a:t>
            </a:r>
            <a:r>
              <a:rPr lang="en-US" sz="3600" baseline="-25000" dirty="0"/>
              <a:t>5</a:t>
            </a:r>
            <a:r>
              <a:rPr lang="en-US" sz="3600" dirty="0"/>
              <a:t> = -3</a:t>
            </a:r>
            <a:endParaRPr lang="en-US" sz="3600" dirty="0"/>
          </a:p>
          <a:p>
            <a:pPr marL="0" lvl="1" indent="0">
              <a:spcBef>
                <a:spcPts val="1000"/>
              </a:spcBef>
              <a:buNone/>
            </a:pPr>
            <a:endParaRPr lang="en-US" sz="36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3600" b="1" dirty="0"/>
              <a:t>Next point </a:t>
            </a:r>
            <a:r>
              <a:rPr lang="en-US" sz="3600" b="1" dirty="0">
                <a:sym typeface="Wingdings" panose="05000000000000000000" pitchFamily="2" charset="2"/>
              </a:rPr>
              <a:t>: </a:t>
            </a:r>
            <a:r>
              <a:rPr lang="en-US" sz="3600" dirty="0"/>
              <a:t>(</a:t>
            </a:r>
            <a:r>
              <a:rPr lang="en-US" sz="3600" dirty="0" err="1"/>
              <a:t>x</a:t>
            </a:r>
            <a:r>
              <a:rPr lang="en-US" sz="3600" baseline="-25000" dirty="0" err="1"/>
              <a:t>k</a:t>
            </a:r>
            <a:r>
              <a:rPr lang="en-US" sz="3600" dirty="0"/>
              <a:t>, </a:t>
            </a:r>
            <a:r>
              <a:rPr lang="en-US" sz="3600" dirty="0" err="1"/>
              <a:t>y</a:t>
            </a:r>
            <a:r>
              <a:rPr lang="en-US" sz="3600" baseline="-25000" dirty="0" err="1"/>
              <a:t>k</a:t>
            </a:r>
            <a:r>
              <a:rPr lang="en-US" sz="3600" dirty="0"/>
              <a:t> </a:t>
            </a:r>
            <a:r>
              <a:rPr lang="en-US" sz="3600" baseline="-25000" dirty="0"/>
              <a:t>+ 1</a:t>
            </a:r>
            <a:r>
              <a:rPr lang="en-US" sz="3600" dirty="0"/>
              <a:t>) </a:t>
            </a:r>
            <a:r>
              <a:rPr lang="en-US" sz="3600" dirty="0">
                <a:sym typeface="Wingdings" panose="05000000000000000000" pitchFamily="2" charset="2"/>
              </a:rPr>
              <a:t> </a:t>
            </a:r>
            <a:r>
              <a:rPr lang="en-US" sz="3600" dirty="0"/>
              <a:t>(4, 6 + 1) </a:t>
            </a:r>
            <a:r>
              <a:rPr lang="en-US" sz="3600" dirty="0">
                <a:sym typeface="Wingdings" panose="05000000000000000000" pitchFamily="2" charset="2"/>
              </a:rPr>
              <a:t></a:t>
            </a:r>
            <a:r>
              <a:rPr lang="en-US" sz="3600" b="1" dirty="0"/>
              <a:t> (4, 7)</a:t>
            </a:r>
            <a:endParaRPr lang="en-US" sz="36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02703" y="2474093"/>
          <a:ext cx="3502660" cy="413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</a:tblGrid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Content Placeholder 5"/>
          <p:cNvGraphicFramePr/>
          <p:nvPr/>
        </p:nvGraphicFramePr>
        <p:xfrm>
          <a:off x="6966047" y="90143"/>
          <a:ext cx="503645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818"/>
                <a:gridCol w="1678818"/>
                <a:gridCol w="16788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(x</a:t>
                      </a:r>
                      <a:r>
                        <a:rPr lang="en-US" sz="1200" dirty="0"/>
                        <a:t>k+1</a:t>
                      </a:r>
                      <a:r>
                        <a:rPr lang="en-US" dirty="0"/>
                        <a:t>,y</a:t>
                      </a:r>
                      <a:r>
                        <a:rPr lang="en-US" sz="1200" dirty="0"/>
                        <a:t>k+1</a:t>
                      </a:r>
                      <a:r>
                        <a:rPr lang="en-US" dirty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(4,6)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99" y="217378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</a:t>
            </a:r>
            <a:br>
              <a:rPr lang="en-US" b="1" dirty="0"/>
            </a:br>
            <a:endParaRPr lang="en-ID" b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lstStyle/>
          <a:p>
            <a:pPr marL="915670" indent="-915670">
              <a:buFont typeface="+mj-lt"/>
            </a:pPr>
            <a:r>
              <a:rPr lang="en-US" sz="2800" b="1" dirty="0"/>
              <a:t>4.1	Create a line </a:t>
            </a:r>
            <a:r>
              <a:rPr lang="en-US" sz="2800" dirty="0"/>
              <a:t>that connects from </a:t>
            </a:r>
            <a:r>
              <a:rPr lang="en-US" sz="2800" b="1" dirty="0"/>
              <a:t>point (5,12) </a:t>
            </a:r>
            <a:r>
              <a:rPr lang="en-US" sz="2800" dirty="0"/>
              <a:t>to</a:t>
            </a:r>
            <a:r>
              <a:rPr lang="en-US" sz="2800" b="1" dirty="0"/>
              <a:t> point (15,20) using</a:t>
            </a:r>
            <a:r>
              <a:rPr lang="en-US" sz="2800" dirty="0"/>
              <a:t> the </a:t>
            </a:r>
            <a:r>
              <a:rPr lang="en-US" sz="2800" b="1" dirty="0" err="1"/>
              <a:t>Bressenham</a:t>
            </a:r>
            <a:r>
              <a:rPr lang="en-US" sz="2800" dirty="0"/>
              <a:t> algorithm</a:t>
            </a:r>
            <a:endParaRPr lang="en-US" sz="28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0</TotalTime>
  <Words>6729</Words>
  <Application>WPS Presentation</Application>
  <PresentationFormat>Widescreen</PresentationFormat>
  <Paragraphs>538</Paragraphs>
  <Slides>24</Slides>
  <Notes>2</Notes>
  <HiddenSlides>3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 Light</vt:lpstr>
      <vt:lpstr>Calibri</vt:lpstr>
      <vt:lpstr>Microsoft YaHei</vt:lpstr>
      <vt:lpstr>Arial Unicode MS</vt:lpstr>
      <vt:lpstr>Cambria Math</vt:lpstr>
      <vt:lpstr>Times New Roman</vt:lpstr>
      <vt:lpstr>BatangChe</vt:lpstr>
      <vt:lpstr>Segoe Print</vt:lpstr>
      <vt:lpstr>Celestial</vt:lpstr>
      <vt:lpstr>Bressenhem (Line and Circle)</vt:lpstr>
      <vt:lpstr>overview</vt:lpstr>
      <vt:lpstr>review</vt:lpstr>
      <vt:lpstr>DDA Implementation  </vt:lpstr>
      <vt:lpstr>Next DDA implementation [A(10, 10) and B(17, 16)]</vt:lpstr>
      <vt:lpstr>Bressenhem</vt:lpstr>
      <vt:lpstr>Introduction</vt:lpstr>
      <vt:lpstr>Dr. Jack Elton Bresenham </vt:lpstr>
      <vt:lpstr>PowerPoint 演示文稿</vt:lpstr>
      <vt:lpstr>The next selected pixel is</vt:lpstr>
      <vt:lpstr>Gradient Angle </vt:lpstr>
      <vt:lpstr>y = mx + c for various m</vt:lpstr>
      <vt:lpstr>How to</vt:lpstr>
      <vt:lpstr>PowerPoint 演示文稿</vt:lpstr>
      <vt:lpstr>Bressenham implementation</vt:lpstr>
      <vt:lpstr>Step 5 – 6 (repeated)</vt:lpstr>
      <vt:lpstr>Step 5 – 6 (repeated)</vt:lpstr>
      <vt:lpstr>Bressenham Advantages</vt:lpstr>
      <vt:lpstr>EXERCISE</vt:lpstr>
      <vt:lpstr>PowerPoint 演示文稿</vt:lpstr>
      <vt:lpstr>answer</vt:lpstr>
      <vt:lpstr>Step 5 – 6 (repeated)</vt:lpstr>
      <vt:lpstr>Step 5 – 6 (repeated)</vt:lpstr>
      <vt:lpstr>3rd task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Bressenhem (Line and Circle)</dc:title>
  <dc:creator>Mee</dc:creator>
  <cp:lastModifiedBy>Mee</cp:lastModifiedBy>
  <cp:revision>40</cp:revision>
  <dcterms:created xsi:type="dcterms:W3CDTF">2023-04-03T04:49:00Z</dcterms:created>
  <dcterms:modified xsi:type="dcterms:W3CDTF">2026-04-11T12:23:37Z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37EED3BA44FC4E3A823726F796E55031</vt:lpwstr>
  </property>
  <property fmtid="{D5CDD505-2E9C-101B-9397-08002B2CF9AE}" pid="3" name="KSOProductBuildVer">
    <vt:lpwstr>1033-11.2.0.11537</vt:lpwstr>
  </property>
</Properties>
</file>