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346" r:id="rId13"/>
    <p:sldId id="294" r:id="rId14"/>
    <p:sldId id="319" r:id="rId15"/>
    <p:sldId id="318" r:id="rId16"/>
    <p:sldId id="347" r:id="rId17"/>
    <p:sldId id="321" r:id="rId18"/>
    <p:sldId id="299" r:id="rId19"/>
    <p:sldId id="297" r:id="rId20"/>
    <p:sldId id="292" r:id="rId21"/>
    <p:sldId id="303" r:id="rId22"/>
    <p:sldId id="301" r:id="rId24"/>
    <p:sldId id="343" r:id="rId25"/>
    <p:sldId id="348" r:id="rId26"/>
    <p:sldId id="350" r:id="rId27"/>
    <p:sldId id="305" r:id="rId28"/>
    <p:sldId id="306" r:id="rId29"/>
    <p:sldId id="307" r:id="rId30"/>
    <p:sldId id="322" r:id="rId31"/>
    <p:sldId id="308" r:id="rId32"/>
    <p:sldId id="345" r:id="rId33"/>
    <p:sldId id="332" r:id="rId34"/>
    <p:sldId id="317" r:id="rId35"/>
    <p:sldId id="370" r:id="rId36"/>
    <p:sldId id="353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DB5A1-0426-4127-91CF-0A976B1CFA48}" type="datetimeFigureOut">
              <a:rPr lang="en-ID" smtClean="0"/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687B3-F57B-47A0-835C-0F8A462346BA}" type="slidenum">
              <a:rPr lang="en-ID" smtClean="0"/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8C3F9A9-3B04-405B-A27F-9DF8B6EB5498}" type="datetime1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ID"/>
              <a:t>feraputriayu@umm.ac.id</a:t>
            </a:r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186A978-67CA-49E7-97AB-709B65A532A2}" type="slidenum">
              <a:rPr lang="en-ID" smtClean="0"/>
            </a:fld>
            <a:endParaRPr lang="en-ID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273-25C5-41DD-8A4A-477792D99B62}" type="datetime1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feraputriayu@umm.ac.id</a:t>
            </a:r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6A978-67CA-49E7-97AB-709B65A532A2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D3490-106B-483D-96DD-110A1C952E4A}" type="datetime1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feraputriayu@umm.ac.id</a:t>
            </a:r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6A978-67CA-49E7-97AB-709B65A532A2}" type="slidenum">
              <a:rPr lang="en-ID" smtClean="0"/>
            </a:fld>
            <a:endParaRPr lang="en-ID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B7D36-A181-4FEE-A373-BE5F720D7155}" type="datetime1">
              <a:rPr lang="en-ID" smtClean="0"/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feraputriayu@umm.ac.id</a:t>
            </a:r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6A978-67CA-49E7-97AB-709B65A532A2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8212-A724-4664-ADB1-3CEFF1AFBA8A}" type="datetime1">
              <a:rPr lang="en-ID" smtClean="0"/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feraputriayu@umm.ac.id</a:t>
            </a:r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6A978-67CA-49E7-97AB-709B65A532A2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D47D0-4268-47C2-A266-1CCC0E555710}" type="datetime1">
              <a:rPr lang="en-ID" smtClean="0"/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feraputriayu@umm.ac.id</a:t>
            </a:r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6A978-67CA-49E7-97AB-709B65A532A2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1A80-1A93-41C3-B28F-A5D6B4A26AE3}" type="datetime1">
              <a:rPr lang="en-ID" smtClean="0"/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feraputriayu@umm.ac.id</a:t>
            </a:r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6A978-67CA-49E7-97AB-709B65A532A2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B9D21-3E62-4D33-B305-6B117B7B3139}" type="datetime1">
              <a:rPr lang="en-ID" smtClean="0"/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feraputriayu@umm.ac.id</a:t>
            </a:r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6A978-67CA-49E7-97AB-709B65A532A2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DE800-1BE5-41A2-AE9A-B664AAAB9ADB}" type="datetime1">
              <a:rPr lang="en-ID" smtClean="0"/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feraputriayu@umm.ac.id</a:t>
            </a:r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6A978-67CA-49E7-97AB-709B65A532A2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FDC3-B951-460E-A40E-6752EDCCF85C}" type="datetime1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feraputriayu@umm.ac.id</a:t>
            </a:r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6A978-67CA-49E7-97AB-709B65A532A2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4E3FE-9563-411C-92AE-A41D0342FEF6}" type="datetime1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feraputriayu@umm.ac.id</a:t>
            </a:r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6A978-67CA-49E7-97AB-709B65A532A2}" type="slidenum">
              <a:rPr lang="en-ID" smtClean="0"/>
            </a:fld>
            <a:endParaRPr lang="en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D2925114-722A-4D97-9E81-1481D45F0974}" type="datetime1">
              <a:rPr lang="en-ID" smtClean="0"/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ID"/>
              <a:t>feraputriayu@umm.ac.id</a:t>
            </a:r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7186A978-67CA-49E7-97AB-709B65A532A2}" type="slidenum">
              <a:rPr lang="en-ID" smtClean="0"/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anose="020B0503020204020204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1" Type="http://schemas.openxmlformats.org/officeDocument/2006/relationships/image" Target="../media/image15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D" dirty="0"/>
              <a:t>Digital Differential Analyzer</a:t>
            </a:r>
            <a:endParaRPr lang="en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Fera</a:t>
            </a:r>
            <a:r>
              <a:rPr lang="en-US" dirty="0"/>
              <a:t> Putri Ayu Lestari, </a:t>
            </a:r>
            <a:r>
              <a:rPr lang="en-US" dirty="0" err="1"/>
              <a:t>S.Kom</a:t>
            </a:r>
            <a:r>
              <a:rPr lang="en-US" dirty="0"/>
              <a:t>., M.T.</a:t>
            </a:r>
            <a:endParaRPr lang="en-US" dirty="0"/>
          </a:p>
          <a:p>
            <a:r>
              <a:rPr lang="en-ID" dirty="0" err="1"/>
              <a:t>Grafika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 – </a:t>
            </a:r>
            <a:r>
              <a:rPr lang="en-ID" dirty="0" err="1"/>
              <a:t>Informatika</a:t>
            </a:r>
            <a:r>
              <a:rPr lang="en-ID" dirty="0"/>
              <a:t> – UMM </a:t>
            </a:r>
            <a:endParaRPr lang="en-US" altLang="en-ID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635" y="1440377"/>
            <a:ext cx="5994694" cy="3977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Outline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>
          <a:xfrm>
            <a:off x="1142999" y="2834640"/>
            <a:ext cx="4953001" cy="288036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4000" dirty="0"/>
              <a:t>Line Equation</a:t>
            </a:r>
            <a:endParaRPr lang="en-US" sz="40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500" dirty="0"/>
              <a:t>Cartesian Coordinates</a:t>
            </a:r>
            <a:endParaRPr lang="en-US" sz="3500" dirty="0"/>
          </a:p>
          <a:p>
            <a:pPr marL="342900" indent="-342900">
              <a:buFont typeface="+mj-lt"/>
              <a:buAutoNum type="arabicPeriod"/>
            </a:pPr>
            <a:r>
              <a:rPr lang="en-US" sz="4000" dirty="0"/>
              <a:t>Digital Differential Analyzer (DDA)</a:t>
            </a:r>
            <a:endParaRPr lang="en-US" sz="40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500" dirty="0"/>
              <a:t>Digital Coordinates</a:t>
            </a:r>
            <a:endParaRPr lang="en-ID" sz="35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Line equation</a:t>
            </a:r>
            <a:endParaRPr lang="en-ID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Cartesian Coordinates</a:t>
            </a:r>
            <a:endParaRPr lang="en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270" y="2056766"/>
            <a:ext cx="6065152" cy="4023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357852" cy="1356360"/>
          </a:xfrm>
        </p:spPr>
        <p:txBody>
          <a:bodyPr/>
          <a:lstStyle/>
          <a:p>
            <a:pPr algn="ctr"/>
            <a:r>
              <a:rPr lang="en-US" dirty="0" err="1"/>
              <a:t>Persamaan</a:t>
            </a:r>
            <a:r>
              <a:rPr lang="en-US" dirty="0"/>
              <a:t> Garis </a:t>
            </a:r>
            <a:r>
              <a:rPr lang="en-US" sz="3200" dirty="0" err="1"/>
              <a:t>berdasarkan</a:t>
            </a:r>
            <a:r>
              <a:rPr lang="en-US" dirty="0"/>
              <a:t> Koordinat </a:t>
            </a:r>
            <a:r>
              <a:rPr lang="en-US" dirty="0" err="1"/>
              <a:t>Kartesian</a:t>
            </a:r>
            <a:endParaRPr lang="en-ID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267611" y="2057400"/>
            <a:ext cx="5436684" cy="402336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fr-FR" sz="3200" b="1" dirty="0">
                <a:solidFill>
                  <a:srgbClr val="FF0000"/>
                </a:solidFill>
              </a:rPr>
              <a:t>y = mx + B </a:t>
            </a:r>
            <a:r>
              <a:rPr lang="fr-FR" sz="3200" dirty="0"/>
              <a:t>(</a:t>
            </a:r>
            <a:r>
              <a:rPr lang="fr-FR" sz="3200" dirty="0">
                <a:solidFill>
                  <a:srgbClr val="00B0F0"/>
                </a:solidFill>
              </a:rPr>
              <a:t>explicit</a:t>
            </a:r>
            <a:r>
              <a:rPr lang="fr-FR" sz="3200" dirty="0"/>
              <a:t> </a:t>
            </a:r>
            <a:r>
              <a:rPr lang="fr-FR" sz="3200" dirty="0" err="1"/>
              <a:t>equation</a:t>
            </a:r>
            <a:r>
              <a:rPr lang="fr-FR" sz="3200" dirty="0"/>
              <a:t>)</a:t>
            </a:r>
            <a:endParaRPr lang="fr-FR" sz="3200" dirty="0"/>
          </a:p>
          <a:p>
            <a:r>
              <a:rPr lang="sv-SE" sz="3200" dirty="0"/>
              <a:t>m adalah </a:t>
            </a:r>
            <a:r>
              <a:rPr lang="sv-SE" sz="3200" b="1" dirty="0"/>
              <a:t>kemiringan garis</a:t>
            </a:r>
            <a:r>
              <a:rPr lang="sv-SE" sz="3200" dirty="0"/>
              <a:t> yang dibentuk oleh dua titik (x1,y1) dan (x2,y2). </a:t>
            </a:r>
            <a:endParaRPr lang="sv-SE" sz="3200" dirty="0"/>
          </a:p>
          <a:p>
            <a:r>
              <a:rPr lang="sv-SE" sz="3200" dirty="0"/>
              <a:t>Dikatakan persamaan eksplisit karena terdapat simbol m pada rumus tersebut.</a:t>
            </a:r>
            <a:endParaRPr lang="en-ID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Math is all about Substitution</a:t>
            </a: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Substitute </a:t>
            </a:r>
            <a:r>
              <a:rPr lang="en-US" sz="3200" b="1" i="1" dirty="0"/>
              <a:t>x</a:t>
            </a:r>
            <a:r>
              <a:rPr lang="en-US" sz="3200" i="1" dirty="0"/>
              <a:t> = </a:t>
            </a:r>
            <a:r>
              <a:rPr lang="en-US" sz="3200" i="1" dirty="0">
                <a:solidFill>
                  <a:srgbClr val="FF0000"/>
                </a:solidFill>
              </a:rPr>
              <a:t>a</a:t>
            </a:r>
            <a:r>
              <a:rPr lang="en-US" sz="3200" dirty="0"/>
              <a:t> and </a:t>
            </a:r>
            <a:r>
              <a:rPr lang="en-US" sz="3200" b="1" i="1" dirty="0"/>
              <a:t>y</a:t>
            </a:r>
            <a:r>
              <a:rPr lang="en-US" sz="3200" i="1" dirty="0"/>
              <a:t> = </a:t>
            </a:r>
            <a:r>
              <a:rPr lang="en-US" sz="3200" i="1" dirty="0">
                <a:solidFill>
                  <a:srgbClr val="00B050"/>
                </a:solidFill>
              </a:rPr>
              <a:t>b</a:t>
            </a:r>
            <a:r>
              <a:rPr lang="en-US" sz="3200" dirty="0"/>
              <a:t> in the equation line </a:t>
            </a:r>
            <a:r>
              <a:rPr lang="en-US" sz="3200" i="1" dirty="0">
                <a:solidFill>
                  <a:srgbClr val="FF0000"/>
                </a:solidFill>
              </a:rPr>
              <a:t>y = mx + B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so that it is obtained: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	</a:t>
            </a:r>
            <a:r>
              <a:rPr lang="en-US" sz="3200" i="1" dirty="0">
                <a:solidFill>
                  <a:srgbClr val="00B050"/>
                </a:solidFill>
              </a:rPr>
              <a:t>b</a:t>
            </a:r>
            <a:r>
              <a:rPr lang="en-US" sz="3200" i="1" dirty="0"/>
              <a:t> = m</a:t>
            </a:r>
            <a:r>
              <a:rPr lang="en-US" sz="3200" i="1" dirty="0">
                <a:solidFill>
                  <a:srgbClr val="FF0000"/>
                </a:solidFill>
              </a:rPr>
              <a:t>a</a:t>
            </a:r>
            <a:r>
              <a:rPr lang="en-US" sz="3200" i="1" dirty="0"/>
              <a:t> + B</a:t>
            </a:r>
            <a:endParaRPr lang="en-US" sz="3200" i="1" dirty="0"/>
          </a:p>
          <a:p>
            <a:pPr marL="0" indent="0">
              <a:buNone/>
            </a:pPr>
            <a:r>
              <a:rPr lang="en-US" sz="3200" i="1" dirty="0"/>
              <a:t>	then</a:t>
            </a:r>
            <a:endParaRPr lang="en-US" sz="3200" dirty="0"/>
          </a:p>
          <a:p>
            <a:pPr marL="0" indent="0">
              <a:buNone/>
            </a:pPr>
            <a:r>
              <a:rPr lang="en-US" sz="3200" i="1" dirty="0"/>
              <a:t>	</a:t>
            </a:r>
            <a:r>
              <a:rPr lang="en-US" sz="3200" b="1" i="1" dirty="0"/>
              <a:t>B = </a:t>
            </a:r>
            <a:r>
              <a:rPr lang="en-US" sz="3200" b="1" i="1" dirty="0">
                <a:solidFill>
                  <a:srgbClr val="00B050"/>
                </a:solidFill>
              </a:rPr>
              <a:t>b</a:t>
            </a:r>
            <a:r>
              <a:rPr lang="en-US" sz="3200" b="1" i="1" dirty="0"/>
              <a:t> – m</a:t>
            </a:r>
            <a:r>
              <a:rPr lang="en-US" sz="3200" b="1" i="1" dirty="0">
                <a:solidFill>
                  <a:srgbClr val="FF0000"/>
                </a:solidFill>
              </a:rPr>
              <a:t>a</a:t>
            </a:r>
            <a:endParaRPr lang="en-US" sz="3200" b="1" i="1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52610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Substitute the value of </a:t>
            </a:r>
            <a:r>
              <a:rPr lang="en-US" sz="3200" b="1" i="1" dirty="0"/>
              <a:t>B</a:t>
            </a:r>
            <a:r>
              <a:rPr lang="en-US" sz="3200" dirty="0"/>
              <a:t> in the initial equation, </a:t>
            </a:r>
            <a:r>
              <a:rPr lang="en-US" sz="3200" i="1" dirty="0">
                <a:solidFill>
                  <a:srgbClr val="FF0000"/>
                </a:solidFill>
              </a:rPr>
              <a:t>y = mx + </a:t>
            </a:r>
            <a:r>
              <a:rPr lang="en-US" sz="3200" b="1" i="1" dirty="0">
                <a:solidFill>
                  <a:srgbClr val="FF0000"/>
                </a:solidFill>
              </a:rPr>
              <a:t>B</a:t>
            </a:r>
            <a:r>
              <a:rPr lang="en-US" sz="3200" dirty="0"/>
              <a:t> so that it is obtained:</a:t>
            </a:r>
            <a:endParaRPr lang="en-US" sz="3200" dirty="0"/>
          </a:p>
          <a:p>
            <a:pPr marL="0" indent="0">
              <a:buNone/>
            </a:pPr>
            <a:r>
              <a:rPr lang="es-ES" sz="3200" dirty="0"/>
              <a:t>	</a:t>
            </a:r>
            <a:r>
              <a:rPr lang="es-ES" sz="3200" i="1" dirty="0"/>
              <a:t>y = </a:t>
            </a:r>
            <a:r>
              <a:rPr lang="es-ES" sz="3200" i="1" dirty="0" err="1"/>
              <a:t>mx</a:t>
            </a:r>
            <a:r>
              <a:rPr lang="es-ES" sz="3200" i="1" dirty="0"/>
              <a:t> + (</a:t>
            </a:r>
            <a:r>
              <a:rPr lang="es-ES" sz="3200" b="1" i="1" dirty="0">
                <a:solidFill>
                  <a:srgbClr val="00B050"/>
                </a:solidFill>
              </a:rPr>
              <a:t>b</a:t>
            </a:r>
            <a:r>
              <a:rPr lang="es-ES" sz="3200" b="1" i="1" dirty="0"/>
              <a:t> – </a:t>
            </a:r>
            <a:r>
              <a:rPr lang="es-ES" sz="3200" b="1" i="1" dirty="0" err="1"/>
              <a:t>m</a:t>
            </a:r>
            <a:r>
              <a:rPr lang="es-ES" sz="3200" b="1" i="1" dirty="0" err="1">
                <a:solidFill>
                  <a:srgbClr val="FF0000"/>
                </a:solidFill>
              </a:rPr>
              <a:t>a</a:t>
            </a:r>
            <a:r>
              <a:rPr lang="es-ES" sz="3200" i="1" dirty="0"/>
              <a:t>)</a:t>
            </a:r>
            <a:endParaRPr lang="es-ES" sz="3200" i="1" dirty="0"/>
          </a:p>
          <a:p>
            <a:pPr marL="0" indent="0">
              <a:buNone/>
            </a:pPr>
            <a:r>
              <a:rPr lang="es-ES" sz="3200" dirty="0"/>
              <a:t>	</a:t>
            </a:r>
            <a:r>
              <a:rPr lang="es-ES" sz="3200" i="1" dirty="0"/>
              <a:t>y – </a:t>
            </a:r>
            <a:r>
              <a:rPr lang="es-ES" sz="3200" i="1" dirty="0">
                <a:solidFill>
                  <a:srgbClr val="00B050"/>
                </a:solidFill>
              </a:rPr>
              <a:t>b</a:t>
            </a:r>
            <a:r>
              <a:rPr lang="es-ES" sz="3200" i="1" dirty="0"/>
              <a:t> = </a:t>
            </a:r>
            <a:r>
              <a:rPr lang="es-ES" sz="3200" i="1" dirty="0" err="1"/>
              <a:t>mx</a:t>
            </a:r>
            <a:r>
              <a:rPr lang="es-ES" sz="3200" i="1" dirty="0"/>
              <a:t> – </a:t>
            </a:r>
            <a:r>
              <a:rPr lang="es-ES" sz="3200" i="1" dirty="0" err="1"/>
              <a:t>m</a:t>
            </a:r>
            <a:r>
              <a:rPr lang="es-ES" sz="3200" i="1" dirty="0" err="1">
                <a:solidFill>
                  <a:srgbClr val="FF0000"/>
                </a:solidFill>
              </a:rPr>
              <a:t>a</a:t>
            </a:r>
            <a:endParaRPr lang="es-ES" sz="3200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S" sz="3200" dirty="0"/>
              <a:t>	</a:t>
            </a:r>
            <a:r>
              <a:rPr lang="es-ES" sz="3200" i="1" dirty="0"/>
              <a:t>y – </a:t>
            </a:r>
            <a:r>
              <a:rPr lang="es-ES" sz="3200" i="1" dirty="0">
                <a:solidFill>
                  <a:srgbClr val="00B050"/>
                </a:solidFill>
              </a:rPr>
              <a:t>b</a:t>
            </a:r>
            <a:r>
              <a:rPr lang="es-ES" sz="3200" i="1" dirty="0"/>
              <a:t> = m(x – </a:t>
            </a:r>
            <a:r>
              <a:rPr lang="es-ES" sz="3200" i="1" dirty="0">
                <a:solidFill>
                  <a:srgbClr val="FF0000"/>
                </a:solidFill>
              </a:rPr>
              <a:t>a</a:t>
            </a:r>
            <a:r>
              <a:rPr lang="es-ES" sz="3200" i="1" dirty="0"/>
              <a:t>)</a:t>
            </a:r>
            <a:endParaRPr lang="es-ES" sz="3200" i="1" dirty="0"/>
          </a:p>
        </p:txBody>
      </p:sp>
      <p:sp>
        <p:nvSpPr>
          <p:cNvPr id="6" name="TextBox 5"/>
          <p:cNvSpPr txBox="1"/>
          <p:nvPr/>
        </p:nvSpPr>
        <p:spPr>
          <a:xfrm>
            <a:off x="1488141" y="5542150"/>
            <a:ext cx="921571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200" dirty="0"/>
              <a:t>So, the equation of the line that passes the point (a, b) with the gradient </a:t>
            </a:r>
            <a:r>
              <a:rPr lang="en-US" sz="3200" i="1" dirty="0"/>
              <a:t>m</a:t>
            </a:r>
            <a:r>
              <a:rPr lang="en-US" sz="3200" dirty="0"/>
              <a:t> is </a:t>
            </a:r>
            <a:r>
              <a:rPr lang="es-ES" sz="3200" b="1" i="1" dirty="0"/>
              <a:t>y – </a:t>
            </a:r>
            <a:r>
              <a:rPr lang="es-ES" sz="3200" b="1" i="1" dirty="0">
                <a:solidFill>
                  <a:srgbClr val="00B050"/>
                </a:solidFill>
              </a:rPr>
              <a:t>b</a:t>
            </a:r>
            <a:r>
              <a:rPr lang="es-ES" sz="3200" b="1" i="1" dirty="0"/>
              <a:t> = m(x – </a:t>
            </a:r>
            <a:r>
              <a:rPr lang="es-ES" sz="3200" b="1" i="1" dirty="0">
                <a:solidFill>
                  <a:srgbClr val="FF0000"/>
                </a:solidFill>
              </a:rPr>
              <a:t>a</a:t>
            </a:r>
            <a:r>
              <a:rPr lang="es-ES" sz="3200" b="1" i="1" dirty="0"/>
              <a:t>)</a:t>
            </a:r>
            <a:endParaRPr lang="en-US" sz="32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Nilai </a:t>
            </a:r>
            <a:r>
              <a:rPr lang="en-US" dirty="0" err="1"/>
              <a:t>Gradien</a:t>
            </a:r>
            <a:r>
              <a:rPr lang="en-US" dirty="0"/>
              <a:t> </a:t>
            </a:r>
            <a:r>
              <a:rPr lang="en-US" b="1" dirty="0"/>
              <a:t>m</a:t>
            </a: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8"/>
            <a:ext cx="4754880" cy="4572001"/>
          </a:xfrm>
        </p:spPr>
        <p:txBody>
          <a:bodyPr>
            <a:normAutofit/>
          </a:bodyPr>
          <a:lstStyle/>
          <a:p>
            <a:r>
              <a:rPr lang="sv-SE" sz="2400" dirty="0"/>
              <a:t>m adalah </a:t>
            </a:r>
            <a:r>
              <a:rPr lang="sv-SE" sz="2400" b="1" dirty="0"/>
              <a:t>kemiringan garis</a:t>
            </a:r>
            <a:r>
              <a:rPr lang="sv-SE" sz="2400" dirty="0"/>
              <a:t> yang dibentuk oleh dua titik (x1,y1) dan (x2,y2)</a:t>
            </a:r>
            <a:endParaRPr lang="sv-SE" sz="2400" dirty="0"/>
          </a:p>
          <a:p>
            <a:r>
              <a:rPr lang="sv-SE" sz="2400" dirty="0"/>
              <a:t>Dari persamaan sebelumnya </a:t>
            </a:r>
            <a:endParaRPr lang="sv-SE" sz="2400" dirty="0"/>
          </a:p>
          <a:p>
            <a:pPr marL="45720" indent="0">
              <a:buNone/>
            </a:pPr>
            <a:r>
              <a:rPr lang="sv-SE" sz="2400" b="1" i="1" dirty="0"/>
              <a:t>	</a:t>
            </a:r>
            <a:r>
              <a:rPr lang="es-ES" sz="2800" b="1" i="1" dirty="0"/>
              <a:t>y – </a:t>
            </a:r>
            <a:r>
              <a:rPr lang="es-ES" sz="2800" b="1" i="1" dirty="0">
                <a:solidFill>
                  <a:srgbClr val="00B050"/>
                </a:solidFill>
              </a:rPr>
              <a:t>b</a:t>
            </a:r>
            <a:r>
              <a:rPr lang="es-ES" sz="2800" b="1" i="1" dirty="0"/>
              <a:t> = m(x – </a:t>
            </a:r>
            <a:r>
              <a:rPr lang="es-ES" sz="2800" b="1" i="1" dirty="0">
                <a:solidFill>
                  <a:srgbClr val="FF0000"/>
                </a:solidFill>
              </a:rPr>
              <a:t>a</a:t>
            </a:r>
            <a:r>
              <a:rPr lang="es-ES" sz="2800" b="1" i="1" dirty="0"/>
              <a:t>)</a:t>
            </a:r>
            <a:endParaRPr lang="es-ES" sz="2800" b="1" i="1" dirty="0"/>
          </a:p>
          <a:p>
            <a:r>
              <a:rPr lang="es-ES" sz="2400" dirty="0" err="1"/>
              <a:t>Jika</a:t>
            </a:r>
            <a:r>
              <a:rPr lang="es-ES" sz="2400" dirty="0"/>
              <a:t> kita </a:t>
            </a:r>
            <a:r>
              <a:rPr lang="es-ES" sz="2400" dirty="0" err="1"/>
              <a:t>subtitusikan</a:t>
            </a:r>
            <a:r>
              <a:rPr lang="es-ES" sz="2400" dirty="0"/>
              <a:t> </a:t>
            </a:r>
            <a:r>
              <a:rPr lang="sv-SE" sz="2400" dirty="0"/>
              <a:t>(x1,y1) dan (x2,y2) ke dalam rumus menjadi:</a:t>
            </a:r>
            <a:endParaRPr lang="sv-SE" sz="2400" dirty="0"/>
          </a:p>
          <a:p>
            <a:pPr marL="45720" indent="0">
              <a:buNone/>
            </a:pPr>
            <a:r>
              <a:rPr lang="en-ID" dirty="0"/>
              <a:t>	</a:t>
            </a:r>
            <a:r>
              <a:rPr lang="es-ES" sz="2800" b="1" i="1" dirty="0"/>
              <a:t>y2 – </a:t>
            </a:r>
            <a:r>
              <a:rPr lang="es-ES" sz="2800" b="1" i="1" dirty="0">
                <a:solidFill>
                  <a:srgbClr val="00B050"/>
                </a:solidFill>
              </a:rPr>
              <a:t>y1</a:t>
            </a:r>
            <a:r>
              <a:rPr lang="es-ES" sz="2800" b="1" i="1" dirty="0"/>
              <a:t> = m(x2 – </a:t>
            </a:r>
            <a:r>
              <a:rPr lang="es-ES" sz="2800" b="1" i="1" dirty="0">
                <a:solidFill>
                  <a:srgbClr val="FF0000"/>
                </a:solidFill>
              </a:rPr>
              <a:t>x1</a:t>
            </a:r>
            <a:r>
              <a:rPr lang="es-ES" sz="2800" b="1" i="1" dirty="0"/>
              <a:t>)</a:t>
            </a:r>
            <a:endParaRPr lang="es-ES" sz="2800" b="1" i="1" dirty="0"/>
          </a:p>
          <a:p>
            <a:pPr marL="45720" indent="0">
              <a:buNone/>
            </a:pPr>
            <a:endParaRPr lang="en-ID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267612" y="2057399"/>
                <a:ext cx="5211374" cy="457199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Sehingga </a:t>
                </a:r>
                <a:r>
                  <a:rPr lang="en-US" dirty="0" err="1"/>
                  <a:t>kita</a:t>
                </a:r>
                <a:r>
                  <a:rPr lang="en-US" dirty="0"/>
                  <a:t> </a:t>
                </a:r>
                <a:r>
                  <a:rPr lang="en-US" dirty="0" err="1"/>
                  <a:t>bisa</a:t>
                </a:r>
                <a:r>
                  <a:rPr lang="en-US" dirty="0"/>
                  <a:t> </a:t>
                </a:r>
                <a:r>
                  <a:rPr lang="en-US" dirty="0" err="1"/>
                  <a:t>dapatkan</a:t>
                </a:r>
                <a:r>
                  <a:rPr lang="en-US" dirty="0"/>
                  <a:t>:</a:t>
                </a:r>
                <a:endParaRPr lang="en-US" dirty="0"/>
              </a:p>
              <a:p>
                <a:endParaRPr lang="en-US" dirty="0"/>
              </a:p>
              <a:p>
                <a:pPr marL="4572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ID" dirty="0"/>
              </a:p>
              <a:p>
                <a:r>
                  <a:rPr lang="en-ID" dirty="0" err="1"/>
                  <a:t>Dengan</a:t>
                </a:r>
                <a:r>
                  <a:rPr lang="en-ID" dirty="0"/>
                  <a:t> kata lain:</a:t>
                </a:r>
                <a:endParaRPr lang="en-ID" dirty="0"/>
              </a:p>
              <a:p>
                <a:endParaRPr lang="en-ID" dirty="0"/>
              </a:p>
              <a:p>
                <a:pPr marL="4572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4" name="Conten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267612" y="2057399"/>
                <a:ext cx="5211374" cy="4571999"/>
              </a:xfrm>
              <a:blipFill rotWithShape="1">
                <a:blip r:embed="rId1"/>
                <a:stretch>
                  <a:fillRect l="-3" t="-14" r="2" b="1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Persamaan</a:t>
            </a:r>
            <a:r>
              <a:rPr lang="en-US" dirty="0"/>
              <a:t> Garis lain (implicit equation)</a:t>
            </a:r>
            <a:endParaRPr lang="en-ID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45720" indent="0">
                  <a:buNone/>
                </a:pPr>
                <a:r>
                  <a:rPr lang="en-US" sz="2800" b="1" dirty="0"/>
                  <a:t>ax + by = c </a:t>
                </a:r>
                <a:r>
                  <a:rPr lang="en-US" sz="2800" dirty="0"/>
                  <a:t>(</a:t>
                </a:r>
                <a:r>
                  <a:rPr lang="en-US" sz="2800" dirty="0">
                    <a:solidFill>
                      <a:srgbClr val="00B0F0"/>
                    </a:solidFill>
                  </a:rPr>
                  <a:t>implicit</a:t>
                </a:r>
                <a:r>
                  <a:rPr lang="en-US" sz="2800" dirty="0"/>
                  <a:t> equation)</a:t>
                </a:r>
                <a:endParaRPr lang="en-US" sz="2800" dirty="0"/>
              </a:p>
              <a:p>
                <a:r>
                  <a:rPr lang="en-US" sz="2400" dirty="0" err="1"/>
                  <a:t>Rumus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ini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adalah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lanjutan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dari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rumus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sebelumnya</a:t>
                </a:r>
                <a:r>
                  <a:rPr lang="en-US" sz="2800" dirty="0"/>
                  <a:t> </a:t>
                </a:r>
                <a:endParaRPr lang="en-US" sz="2800" dirty="0"/>
              </a:p>
              <a:p>
                <a:pPr marL="45720" indent="0">
                  <a:buNone/>
                </a:pPr>
                <a:r>
                  <a:rPr lang="fr-FR" sz="2800" b="1" dirty="0">
                    <a:solidFill>
                      <a:srgbClr val="FF0000"/>
                    </a:solidFill>
                  </a:rPr>
                  <a:t>y = mx + B </a:t>
                </a:r>
                <a:r>
                  <a:rPr lang="fr-FR" sz="2800" dirty="0"/>
                  <a:t>(</a:t>
                </a:r>
                <a:r>
                  <a:rPr lang="fr-FR" sz="2800" dirty="0">
                    <a:solidFill>
                      <a:srgbClr val="00B0F0"/>
                    </a:solidFill>
                  </a:rPr>
                  <a:t>explicit</a:t>
                </a:r>
                <a:r>
                  <a:rPr lang="fr-FR" sz="2800" dirty="0"/>
                  <a:t> </a:t>
                </a:r>
                <a:r>
                  <a:rPr lang="fr-FR" sz="2800" dirty="0" err="1"/>
                  <a:t>equation</a:t>
                </a:r>
                <a:r>
                  <a:rPr lang="fr-FR" sz="2800" dirty="0"/>
                  <a:t>)</a:t>
                </a:r>
                <a:endParaRPr lang="en-US" sz="2800" dirty="0"/>
              </a:p>
              <a:p>
                <a:r>
                  <a:rPr lang="en-US" sz="2400" dirty="0" err="1"/>
                  <a:t>Dengan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diketahui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rumus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gradien</a:t>
                </a:r>
                <a:endParaRPr lang="en-US" sz="2400" dirty="0"/>
              </a:p>
              <a:p>
                <a:endParaRPr lang="en-US" sz="2400" dirty="0"/>
              </a:p>
              <a:p>
                <a:pPr marL="4572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ID" sz="28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1"/>
                <a:stretch>
                  <a:fillRect t="-16" b="-12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267612" y="2057400"/>
                <a:ext cx="5325674" cy="4686300"/>
              </a:xfrm>
            </p:spPr>
            <p:txBody>
              <a:bodyPr/>
              <a:lstStyle/>
              <a:p>
                <a:r>
                  <a:rPr lang="en-US" dirty="0"/>
                  <a:t>Maka </a:t>
                </a:r>
                <a:r>
                  <a:rPr lang="en-US" dirty="0" err="1"/>
                  <a:t>kita</a:t>
                </a:r>
                <a:r>
                  <a:rPr lang="en-US" dirty="0"/>
                  <a:t> </a:t>
                </a:r>
                <a:r>
                  <a:rPr lang="en-US" dirty="0" err="1"/>
                  <a:t>dapat</a:t>
                </a:r>
                <a:r>
                  <a:rPr lang="en-US" dirty="0"/>
                  <a:t> </a:t>
                </a:r>
                <a:r>
                  <a:rPr lang="en-US" dirty="0" err="1"/>
                  <a:t>substitusikan</a:t>
                </a:r>
                <a:r>
                  <a:rPr lang="en-US" dirty="0"/>
                  <a:t> </a:t>
                </a:r>
                <a:r>
                  <a:rPr lang="en-US" dirty="0" err="1"/>
                  <a:t>menjadi</a:t>
                </a:r>
                <a:r>
                  <a:rPr lang="en-US" dirty="0"/>
                  <a:t>:</a:t>
                </a:r>
                <a:endParaRPr lang="en-US" dirty="0"/>
              </a:p>
              <a:p>
                <a:endParaRPr lang="en-US" sz="800" dirty="0"/>
              </a:p>
              <a:p>
                <a:pPr marL="4572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  <a:p>
                <a:pPr marL="45720" indent="0">
                  <a:buNone/>
                </a:pPr>
                <a:endParaRPr lang="en-US" sz="800" dirty="0"/>
              </a:p>
              <a:p>
                <a:pPr marL="4572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45720" indent="0">
                  <a:buNone/>
                </a:pPr>
                <a:endParaRPr lang="en-US" sz="800" dirty="0"/>
              </a:p>
              <a:p>
                <a:pPr marL="4572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45720" indent="0">
                  <a:buNone/>
                </a:pPr>
                <a:endParaRPr lang="en-US" sz="800" dirty="0"/>
              </a:p>
              <a:p>
                <a:pPr marL="4572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b="0" dirty="0"/>
              </a:p>
              <a:p>
                <a:pPr marL="45720" indent="0">
                  <a:buNone/>
                </a:pPr>
                <a:endParaRPr lang="en-US" sz="800" b="0" dirty="0"/>
              </a:p>
              <a:p>
                <a:pPr marL="4572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ID" dirty="0"/>
              </a:p>
            </p:txBody>
          </p:sp>
        </mc:Choice>
        <mc:Fallback>
          <p:sp>
            <p:nvSpPr>
              <p:cNvPr id="4" name="Conten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267612" y="2057400"/>
                <a:ext cx="5325674" cy="4686300"/>
              </a:xfrm>
              <a:blipFill rotWithShape="1">
                <a:blip r:embed="rId2"/>
                <a:stretch>
                  <a:fillRect l="-3" r="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999" y="609600"/>
            <a:ext cx="10025743" cy="135636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1:</a:t>
            </a:r>
            <a:br>
              <a:rPr lang="en-US" dirty="0"/>
            </a:br>
            <a:r>
              <a:rPr lang="en-US" sz="2900" dirty="0"/>
              <a:t>Determine the equation of the line through point (-4, 5) with gradient 2!</a:t>
            </a: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5124450" cy="46046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b="1" dirty="0" err="1"/>
              <a:t>Answer</a:t>
            </a:r>
            <a:r>
              <a:rPr lang="es-ES" sz="2400" b="1" dirty="0"/>
              <a:t>:</a:t>
            </a:r>
            <a:endParaRPr lang="es-ES" sz="2400" b="1" dirty="0"/>
          </a:p>
          <a:p>
            <a:pPr marL="0" indent="0">
              <a:buNone/>
            </a:pPr>
            <a:r>
              <a:rPr lang="es-ES" sz="2400" dirty="0"/>
              <a:t>a = –4;</a:t>
            </a:r>
            <a:endParaRPr lang="es-ES" sz="2400" dirty="0"/>
          </a:p>
          <a:p>
            <a:pPr marL="0" indent="0">
              <a:buNone/>
            </a:pPr>
            <a:r>
              <a:rPr lang="es-ES" sz="2400" dirty="0"/>
              <a:t>b = 5;</a:t>
            </a:r>
            <a:endParaRPr lang="es-ES" sz="2400" dirty="0"/>
          </a:p>
          <a:p>
            <a:pPr marL="0" indent="0">
              <a:buNone/>
            </a:pPr>
            <a:r>
              <a:rPr lang="es-ES" sz="2400" dirty="0"/>
              <a:t>m = 2</a:t>
            </a:r>
            <a:endParaRPr lang="es-ES" sz="2400" dirty="0"/>
          </a:p>
          <a:p>
            <a:pPr marL="0" indent="0">
              <a:buNone/>
            </a:pPr>
            <a:r>
              <a:rPr lang="es-ES" sz="2400" dirty="0"/>
              <a:t>y - b = m (x - a)	⇔	y - 5 = 2 (x - (-4))</a:t>
            </a:r>
            <a:endParaRPr lang="es-ES" sz="2400" dirty="0"/>
          </a:p>
          <a:p>
            <a:pPr marL="0" indent="0">
              <a:buNone/>
            </a:pPr>
            <a:r>
              <a:rPr lang="es-ES" sz="2400" dirty="0"/>
              <a:t>			⇔ y - 5 = 2 (x + 4)</a:t>
            </a:r>
            <a:endParaRPr lang="es-ES" sz="2400" dirty="0"/>
          </a:p>
          <a:p>
            <a:pPr marL="0" indent="0">
              <a:buNone/>
            </a:pPr>
            <a:r>
              <a:rPr lang="es-ES" sz="2400" dirty="0"/>
              <a:t>			⇔ y - 5 = 2x + 8</a:t>
            </a:r>
            <a:endParaRPr lang="es-ES" sz="2400" dirty="0"/>
          </a:p>
          <a:p>
            <a:pPr marL="0" indent="0">
              <a:buNone/>
            </a:pPr>
            <a:r>
              <a:rPr lang="es-ES" sz="2400" dirty="0"/>
              <a:t>			⇔ y = 2x + 13</a:t>
            </a:r>
            <a:endParaRPr lang="en-US" sz="2400" dirty="0"/>
          </a:p>
          <a:p>
            <a:endParaRPr lang="en-ID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267450" y="2432957"/>
            <a:ext cx="5581382" cy="28494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Draw Lines</a:t>
            </a: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9469" y="2023291"/>
            <a:ext cx="5574938" cy="4023360"/>
          </a:xfrm>
        </p:spPr>
        <p:txBody>
          <a:bodyPr>
            <a:normAutofit/>
          </a:bodyPr>
          <a:lstStyle/>
          <a:p>
            <a:r>
              <a:rPr lang="en-US" sz="2800" dirty="0"/>
              <a:t>At the equation </a:t>
            </a:r>
            <a:endParaRPr lang="en-US" sz="2800" dirty="0"/>
          </a:p>
          <a:p>
            <a:pPr marL="45720" indent="0" algn="ctr">
              <a:buNone/>
            </a:pPr>
            <a:r>
              <a:rPr lang="es-ES" sz="3600" i="1" dirty="0"/>
              <a:t>y = 2x + 13</a:t>
            </a:r>
            <a:r>
              <a:rPr lang="es-ES" sz="3600" dirty="0"/>
              <a:t>, </a:t>
            </a:r>
            <a:endParaRPr lang="es-ES" sz="3600" dirty="0"/>
          </a:p>
          <a:p>
            <a:r>
              <a:rPr lang="en-US" sz="2800" dirty="0"/>
              <a:t>if we choose </a:t>
            </a:r>
            <a:r>
              <a:rPr lang="en-US" sz="2800" b="1" i="1" dirty="0"/>
              <a:t>x = 0</a:t>
            </a:r>
            <a:r>
              <a:rPr lang="en-US" sz="2800" dirty="0"/>
              <a:t>, we get </a:t>
            </a:r>
            <a:r>
              <a:rPr lang="en-US" sz="2800" b="1" i="1" dirty="0"/>
              <a:t>y = 13</a:t>
            </a:r>
            <a:r>
              <a:rPr lang="en-US" sz="2800" dirty="0"/>
              <a:t>. </a:t>
            </a:r>
            <a:endParaRPr lang="en-US" sz="2800" dirty="0"/>
          </a:p>
          <a:p>
            <a:r>
              <a:rPr lang="en-US" sz="2800" dirty="0"/>
              <a:t>if we choose </a:t>
            </a:r>
            <a:r>
              <a:rPr lang="en-US" sz="2800" b="1" i="1" dirty="0"/>
              <a:t>y = 0</a:t>
            </a:r>
            <a:r>
              <a:rPr lang="en-US" sz="2800" dirty="0"/>
              <a:t>, we get </a:t>
            </a:r>
            <a:r>
              <a:rPr lang="en-US" sz="2800" b="1" i="1" dirty="0"/>
              <a:t>x = –6.5</a:t>
            </a:r>
            <a:r>
              <a:rPr lang="en-US" sz="2800" dirty="0"/>
              <a:t>.</a:t>
            </a:r>
            <a:endParaRPr lang="en-US" sz="2800" dirty="0"/>
          </a:p>
          <a:p>
            <a:r>
              <a:rPr lang="en-US" sz="2800" dirty="0"/>
              <a:t>So the equation of the line goes through points </a:t>
            </a:r>
            <a:r>
              <a:rPr lang="en-US" sz="2800" b="1" dirty="0"/>
              <a:t>(0, 13)</a:t>
            </a:r>
            <a:r>
              <a:rPr lang="en-US" sz="2800" dirty="0"/>
              <a:t> and </a:t>
            </a:r>
            <a:r>
              <a:rPr lang="en-US" sz="2800" b="1" dirty="0"/>
              <a:t>(-6.5, 0)</a:t>
            </a:r>
            <a:r>
              <a:rPr lang="en-US" sz="2800" dirty="0"/>
              <a:t>.</a:t>
            </a:r>
            <a:endParaRPr lang="en-US" sz="2800" dirty="0"/>
          </a:p>
          <a:p>
            <a:endParaRPr lang="en-ID" sz="28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02134" y="970711"/>
          <a:ext cx="348705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529"/>
                <a:gridCol w="174352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414407" y="3753147"/>
            <a:ext cx="5462513" cy="278880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2:</a:t>
            </a:r>
            <a:br>
              <a:rPr lang="en-US" dirty="0"/>
            </a:br>
            <a:r>
              <a:rPr lang="en-US" sz="2700" dirty="0"/>
              <a:t>Determine the equation of the line through the center (0, 0) and point (3, 5)!</a:t>
            </a:r>
            <a:endParaRPr lang="en-ID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143000" y="2057398"/>
                <a:ext cx="4754880" cy="4620987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s-ES" sz="2400" b="1" dirty="0"/>
                  <a:t>Answer:</a:t>
                </a:r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dirty="0" err="1"/>
                  <a:t>Rumus</a:t>
                </a:r>
                <a:r>
                  <a:rPr lang="en-US" sz="2400" i="1" dirty="0"/>
                  <a:t>: y - b = m (x - a)</a:t>
                </a:r>
                <a:endParaRPr lang="en-US" sz="11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 err="1"/>
                  <a:t>Tentukan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nilai</a:t>
                </a:r>
                <a:r>
                  <a:rPr lang="en-US" sz="2400" dirty="0"/>
                  <a:t> m </a:t>
                </a:r>
                <a:r>
                  <a:rPr lang="en-US" sz="2400" dirty="0"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b="1" i="1" dirty="0"/>
                  <a:t>Point (0,0)		Point (3,5)</a:t>
                </a:r>
                <a:endParaRPr lang="en-US" sz="2400" b="1" i="1" dirty="0"/>
              </a:p>
              <a:p>
                <a:pPr marL="0" indent="0">
                  <a:buNone/>
                </a:pPr>
                <a:r>
                  <a:rPr lang="en-US" sz="2400" i="1" dirty="0"/>
                  <a:t>y - b = m (x - a)</a:t>
                </a:r>
                <a:r>
                  <a:rPr lang="en-US" sz="2400" b="1" i="1" dirty="0"/>
                  <a:t>		</a:t>
                </a:r>
                <a:r>
                  <a:rPr lang="en-US" sz="2400" i="1" dirty="0"/>
                  <a:t>y - b = m (x - a)</a:t>
                </a:r>
                <a:endParaRPr lang="en-US" sz="2400" i="1" dirty="0"/>
              </a:p>
              <a:p>
                <a:pPr marL="0" indent="0">
                  <a:buNone/>
                </a:pPr>
                <a:r>
                  <a:rPr lang="en-US" sz="2400" i="1" dirty="0"/>
                  <a:t>y – 0 = 5/3(x - 0)		y – 5 = 5/3(x - 3)</a:t>
                </a:r>
                <a:endParaRPr lang="en-US" sz="2400" i="1" dirty="0"/>
              </a:p>
              <a:p>
                <a:pPr marL="0" indent="0">
                  <a:buNone/>
                </a:pPr>
                <a:r>
                  <a:rPr lang="en-US" sz="2400" i="1" dirty="0"/>
                  <a:t>Y = 5/3x			y – 5 = 5/3x – 5</a:t>
                </a:r>
                <a:endParaRPr lang="en-US" sz="2400" i="1" dirty="0"/>
              </a:p>
              <a:p>
                <a:pPr marL="0" indent="0">
                  <a:buNone/>
                </a:pPr>
                <a:r>
                  <a:rPr lang="en-US" sz="2400" i="1" dirty="0"/>
                  <a:t>			y = 5/3x</a:t>
                </a:r>
                <a:endParaRPr lang="en-US" sz="2400" i="1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143000" y="2057398"/>
                <a:ext cx="4754880" cy="4620987"/>
              </a:xfrm>
              <a:blipFill rotWithShape="1">
                <a:blip r:embed="rId1"/>
                <a:stretch>
                  <a:fillRect t="-907" b="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96966" y="2416629"/>
            <a:ext cx="6025556" cy="30371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ID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/>
              <a:t>Determine the equation </a:t>
            </a:r>
            <a:r>
              <a:rPr lang="en-US" sz="2400" dirty="0"/>
              <a:t>of the line through points</a:t>
            </a:r>
            <a:endParaRPr lang="en-ID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600" b="1" dirty="0"/>
              <a:t>Determine the equation </a:t>
            </a:r>
            <a:r>
              <a:rPr lang="en-US" sz="3600" dirty="0"/>
              <a:t>of the line through points (3, 5) and (-2, 4)!</a:t>
            </a:r>
            <a:endParaRPr lang="en-US" sz="3600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600" b="1" dirty="0"/>
              <a:t>Determine the equation </a:t>
            </a:r>
            <a:r>
              <a:rPr lang="en-US" sz="3600" dirty="0"/>
              <a:t>of the line through points (-4, 2) and (5, 2)!</a:t>
            </a:r>
            <a:endParaRPr lang="en-US" sz="3600" dirty="0"/>
          </a:p>
          <a:p>
            <a:pPr marL="514350" indent="-514350">
              <a:buAutoNum type="arabicPeriod"/>
            </a:pPr>
            <a:endParaRPr lang="en-US" sz="3600" b="1" dirty="0"/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Answer no. 1</a:t>
            </a:r>
            <a:br>
              <a:rPr lang="en-US" dirty="0"/>
            </a:br>
            <a:r>
              <a:rPr lang="en-US" sz="2700" dirty="0"/>
              <a:t>Determine the equation of the line through points (3, 5) and (-2, 4)!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143000" y="2057399"/>
                <a:ext cx="5894614" cy="453934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Answer:	</a:t>
                </a:r>
                <a:r>
                  <a:rPr lang="en-US" sz="2000" dirty="0" err="1"/>
                  <a:t>Rumus</a:t>
                </a:r>
                <a:r>
                  <a:rPr lang="en-US" sz="2000" i="1" dirty="0"/>
                  <a:t>: 	y - b = m (x - a)</a:t>
                </a:r>
                <a:endParaRPr lang="en-US" sz="2000" i="1" dirty="0"/>
              </a:p>
              <a:p>
                <a:pPr marL="0" indent="0">
                  <a:buNone/>
                </a:pPr>
                <a:r>
                  <a:rPr lang="en-US" sz="2000" dirty="0"/>
                  <a:t>		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Hitung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m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i="1" dirty="0"/>
                  <a:t>Point (3,5)		Point (-2,4)</a:t>
                </a:r>
                <a:endParaRPr lang="en-US" b="1" i="1" dirty="0"/>
              </a:p>
              <a:p>
                <a:pPr marL="0" indent="0">
                  <a:buNone/>
                </a:pPr>
                <a:r>
                  <a:rPr lang="en-US" i="1" dirty="0"/>
                  <a:t>y - b = m (x - a)</a:t>
                </a:r>
                <a:r>
                  <a:rPr lang="en-US" b="1" i="1" dirty="0"/>
                  <a:t>		</a:t>
                </a:r>
                <a:r>
                  <a:rPr lang="en-US" i="1" dirty="0"/>
                  <a:t>y - b = m (x - a)</a:t>
                </a:r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y – 5 = 1/5(x - 3)		y – 4 = 1/5(x + 2)</a:t>
                </a:r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Y – 5 = 1/5x – 3/5 	y – 4 = 1/5x + 2/5 </a:t>
                </a:r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Y = 1/5x + 22/5 		y = 1/5x + 22/5</a:t>
                </a:r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143000" y="2057399"/>
                <a:ext cx="5894614" cy="4539344"/>
              </a:xfrm>
              <a:blipFill rotWithShape="1">
                <a:blip r:embed="rId1"/>
                <a:stretch>
                  <a:fillRect t="-294" r="9" b="-1336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17474" y="3400926"/>
            <a:ext cx="5868876" cy="29822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Answer no. 2</a:t>
            </a:r>
            <a:br>
              <a:rPr lang="en-US" dirty="0"/>
            </a:br>
            <a:r>
              <a:rPr lang="en-US" sz="2700" dirty="0"/>
              <a:t>Determine the equation of the line through points (-4, 2) and (5, 2)!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555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Answer: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Rumus</a:t>
            </a:r>
            <a:r>
              <a:rPr lang="en-US" dirty="0"/>
              <a:t>: </a:t>
            </a:r>
            <a:r>
              <a:rPr lang="es-ES" sz="2400" b="1" i="1" dirty="0"/>
              <a:t>y2 – </a:t>
            </a:r>
            <a:r>
              <a:rPr lang="es-ES" sz="2400" b="1" i="1" dirty="0">
                <a:solidFill>
                  <a:srgbClr val="00B050"/>
                </a:solidFill>
              </a:rPr>
              <a:t>y1</a:t>
            </a:r>
            <a:r>
              <a:rPr lang="es-ES" sz="2400" b="1" i="1" dirty="0"/>
              <a:t> = m(x2 – </a:t>
            </a:r>
            <a:r>
              <a:rPr lang="es-ES" sz="2400" b="1" i="1" dirty="0">
                <a:solidFill>
                  <a:srgbClr val="FF0000"/>
                </a:solidFill>
              </a:rPr>
              <a:t>x1)</a:t>
            </a:r>
            <a:endParaRPr lang="es-ES" sz="2400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	2 – 2 = m(5-(-4))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0 = m (5+4)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m = 0/9 = 0</a:t>
            </a:r>
            <a:endParaRPr lang="en-US" dirty="0"/>
          </a:p>
          <a:p>
            <a:pPr marL="0" indent="0">
              <a:buNone/>
            </a:pPr>
            <a:r>
              <a:rPr lang="en-US" b="1" i="1" dirty="0"/>
              <a:t>Point (-4,2)		Point (5,2)</a:t>
            </a:r>
            <a:endParaRPr lang="en-US" b="1" i="1" dirty="0"/>
          </a:p>
          <a:p>
            <a:pPr marL="0" indent="0">
              <a:buNone/>
            </a:pPr>
            <a:r>
              <a:rPr lang="en-US" i="1" dirty="0"/>
              <a:t>y - b = m (x - a)</a:t>
            </a:r>
            <a:r>
              <a:rPr lang="en-US" b="1" i="1" dirty="0"/>
              <a:t>		</a:t>
            </a:r>
            <a:r>
              <a:rPr lang="en-US" i="1" dirty="0"/>
              <a:t>y - b = m (x - a)</a:t>
            </a:r>
            <a:endParaRPr lang="en-US" i="1" dirty="0"/>
          </a:p>
          <a:p>
            <a:pPr marL="0" indent="0">
              <a:buNone/>
            </a:pPr>
            <a:r>
              <a:rPr lang="en-US" i="1" dirty="0"/>
              <a:t>y – 2 = 0(x + 4)		y – 2 = 0(x - 5)</a:t>
            </a:r>
            <a:endParaRPr lang="en-US" i="1" dirty="0"/>
          </a:p>
          <a:p>
            <a:pPr marL="0" indent="0">
              <a:buNone/>
            </a:pPr>
            <a:r>
              <a:rPr lang="en-US" i="1" dirty="0"/>
              <a:t>Y = 2			y = 2</a:t>
            </a:r>
            <a:endParaRPr lang="en-US" i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736273" y="2487839"/>
            <a:ext cx="6078176" cy="30638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Garis yang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Tegak</a:t>
            </a:r>
            <a:r>
              <a:rPr lang="en-US" dirty="0"/>
              <a:t> </a:t>
            </a:r>
            <a:r>
              <a:rPr lang="en-US" dirty="0" err="1"/>
              <a:t>Lurus</a:t>
            </a:r>
            <a:endParaRPr lang="en-ID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Perpendicular Line</a:t>
            </a:r>
            <a:endParaRPr lang="en-ID" sz="2400" dirty="0"/>
          </a:p>
          <a:p>
            <a:endParaRPr lang="en-ID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Garis yang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Tegak</a:t>
            </a:r>
            <a:r>
              <a:rPr lang="en-US" dirty="0"/>
              <a:t> </a:t>
            </a:r>
            <a:r>
              <a:rPr lang="en-US" dirty="0" err="1"/>
              <a:t>Lurus</a:t>
            </a:r>
            <a:endParaRPr lang="en-ID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Perpendicular Line</a:t>
            </a:r>
            <a:endParaRPr lang="en-ID" sz="32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9176658" cy="3383280"/>
          </a:xfrm>
        </p:spPr>
        <p:txBody>
          <a:bodyPr>
            <a:normAutofit/>
          </a:bodyPr>
          <a:lstStyle/>
          <a:p>
            <a:r>
              <a:rPr lang="en-US" sz="3200" dirty="0"/>
              <a:t>The gradient of two lines perpendicular to each other if multiplied by the result is equal to -1</a:t>
            </a:r>
            <a:endParaRPr lang="en-US" sz="3200" dirty="0"/>
          </a:p>
          <a:p>
            <a:r>
              <a:rPr lang="en-US" sz="3200" i="1" dirty="0" err="1"/>
              <a:t>Dikatakan</a:t>
            </a:r>
            <a:r>
              <a:rPr lang="en-US" sz="3200" i="1" dirty="0"/>
              <a:t> </a:t>
            </a:r>
            <a:r>
              <a:rPr lang="en-US" sz="3200" i="1" dirty="0" err="1"/>
              <a:t>tegak</a:t>
            </a:r>
            <a:r>
              <a:rPr lang="en-US" sz="3200" i="1" dirty="0"/>
              <a:t> </a:t>
            </a:r>
            <a:r>
              <a:rPr lang="en-US" sz="3200" i="1" dirty="0" err="1"/>
              <a:t>lurus</a:t>
            </a:r>
            <a:r>
              <a:rPr lang="en-US" sz="3200" i="1" dirty="0"/>
              <a:t> </a:t>
            </a:r>
            <a:r>
              <a:rPr lang="en-US" sz="3200" i="1" dirty="0" err="1"/>
              <a:t>jika</a:t>
            </a:r>
            <a:r>
              <a:rPr lang="en-US" sz="3200" i="1" dirty="0"/>
              <a:t> </a:t>
            </a:r>
            <a:r>
              <a:rPr lang="en-US" sz="3200" i="1" dirty="0" err="1">
                <a:solidFill>
                  <a:srgbClr val="FF0000"/>
                </a:solidFill>
              </a:rPr>
              <a:t>hasil</a:t>
            </a:r>
            <a:r>
              <a:rPr lang="en-US" sz="3200" i="1" dirty="0">
                <a:solidFill>
                  <a:srgbClr val="FF0000"/>
                </a:solidFill>
              </a:rPr>
              <a:t> kali </a:t>
            </a:r>
            <a:r>
              <a:rPr lang="en-US" sz="3200" i="1" dirty="0" err="1"/>
              <a:t>nilai</a:t>
            </a:r>
            <a:r>
              <a:rPr lang="en-US" sz="3200" i="1" dirty="0"/>
              <a:t> </a:t>
            </a:r>
            <a:r>
              <a:rPr lang="en-US" sz="3200" i="1" dirty="0" err="1">
                <a:solidFill>
                  <a:srgbClr val="FF0000"/>
                </a:solidFill>
              </a:rPr>
              <a:t>gradien</a:t>
            </a:r>
            <a:r>
              <a:rPr lang="en-US" sz="3200" i="1" dirty="0"/>
              <a:t> </a:t>
            </a:r>
            <a:r>
              <a:rPr lang="en-US" sz="3200" i="1" dirty="0" err="1"/>
              <a:t>nya</a:t>
            </a:r>
            <a:r>
              <a:rPr lang="en-US" sz="3200" i="1" dirty="0"/>
              <a:t> </a:t>
            </a:r>
            <a:r>
              <a:rPr lang="en-US" sz="3200" i="1" dirty="0" err="1"/>
              <a:t>sama</a:t>
            </a:r>
            <a:r>
              <a:rPr lang="en-US" sz="3200" i="1" dirty="0"/>
              <a:t> </a:t>
            </a:r>
            <a:r>
              <a:rPr lang="en-US" sz="3200" i="1" dirty="0" err="1"/>
              <a:t>dengan</a:t>
            </a:r>
            <a:r>
              <a:rPr lang="en-US" sz="3200" i="1" dirty="0"/>
              <a:t> </a:t>
            </a:r>
            <a:r>
              <a:rPr lang="en-US" sz="3200" i="1" dirty="0">
                <a:solidFill>
                  <a:srgbClr val="FF0000"/>
                </a:solidFill>
              </a:rPr>
              <a:t>-1</a:t>
            </a:r>
            <a:endParaRPr lang="en-US" sz="3200" i="1" dirty="0">
              <a:solidFill>
                <a:srgbClr val="FF0000"/>
              </a:solidFill>
            </a:endParaRPr>
          </a:p>
          <a:p>
            <a:r>
              <a:rPr lang="en-US" sz="3200" dirty="0"/>
              <a:t>So, if line “</a:t>
            </a:r>
            <a:r>
              <a:rPr lang="en-US" sz="3200" i="1" dirty="0"/>
              <a:t>a”</a:t>
            </a:r>
            <a:r>
              <a:rPr lang="en-US" sz="3200" dirty="0"/>
              <a:t> is perpendicular to line “</a:t>
            </a:r>
            <a:r>
              <a:rPr lang="en-US" sz="3200" i="1" dirty="0"/>
              <a:t>b”</a:t>
            </a:r>
            <a:r>
              <a:rPr lang="en-US" sz="3200" dirty="0"/>
              <a:t> then it applies </a:t>
            </a:r>
            <a:r>
              <a:rPr lang="en-US" sz="3200" b="1" i="1" dirty="0">
                <a:solidFill>
                  <a:srgbClr val="FF0000"/>
                </a:solidFill>
              </a:rPr>
              <a:t>m</a:t>
            </a:r>
            <a:r>
              <a:rPr lang="en-US" sz="3200" b="1" i="1" baseline="-25000" dirty="0">
                <a:solidFill>
                  <a:srgbClr val="FF0000"/>
                </a:solidFill>
              </a:rPr>
              <a:t>a</a:t>
            </a:r>
            <a:r>
              <a:rPr lang="en-US" sz="3200" b="1" i="1" dirty="0">
                <a:solidFill>
                  <a:srgbClr val="FF0000"/>
                </a:solidFill>
              </a:rPr>
              <a:t> × m</a:t>
            </a:r>
            <a:r>
              <a:rPr lang="en-US" sz="3200" b="1" i="1" baseline="-25000" dirty="0">
                <a:solidFill>
                  <a:srgbClr val="FF0000"/>
                </a:solidFill>
              </a:rPr>
              <a:t>b</a:t>
            </a:r>
            <a:r>
              <a:rPr lang="en-US" sz="3200" b="1" i="1" dirty="0">
                <a:solidFill>
                  <a:srgbClr val="FF0000"/>
                </a:solidFill>
              </a:rPr>
              <a:t> = –1</a:t>
            </a:r>
            <a:endParaRPr lang="en-US" sz="3200" dirty="0">
              <a:solidFill>
                <a:srgbClr val="FF0000"/>
              </a:solidFill>
            </a:endParaRPr>
          </a:p>
          <a:p>
            <a:endParaRPr lang="en-ID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dirty="0"/>
              <a:t>The line “</a:t>
            </a:r>
            <a:r>
              <a:rPr lang="en-US" sz="3200" i="1" dirty="0"/>
              <a:t>k</a:t>
            </a:r>
            <a:r>
              <a:rPr lang="en-US" sz="3200" dirty="0"/>
              <a:t>” has the equation </a:t>
            </a:r>
            <a:r>
              <a:rPr lang="en-US" sz="3200" i="1" dirty="0"/>
              <a:t>y = 2x + 5</a:t>
            </a:r>
            <a:r>
              <a:rPr lang="en-US" sz="3200" dirty="0"/>
              <a:t>. If line “</a:t>
            </a:r>
            <a:r>
              <a:rPr lang="en-US" sz="3200" i="1" dirty="0"/>
              <a:t>l</a:t>
            </a:r>
            <a:r>
              <a:rPr lang="en-US" sz="3200" dirty="0"/>
              <a:t>” is perpendicular to line “</a:t>
            </a:r>
            <a:r>
              <a:rPr lang="en-US" sz="3200" i="1" dirty="0"/>
              <a:t>k</a:t>
            </a:r>
            <a:r>
              <a:rPr lang="en-US" sz="3200" dirty="0"/>
              <a:t>”, </a:t>
            </a:r>
            <a:r>
              <a:rPr lang="en-US" sz="3200" b="1" dirty="0"/>
              <a:t>determine the gradient </a:t>
            </a:r>
            <a:r>
              <a:rPr lang="en-US" sz="3200" dirty="0"/>
              <a:t>of line “</a:t>
            </a:r>
            <a:r>
              <a:rPr lang="en-US" sz="3200" i="1" dirty="0"/>
              <a:t>l</a:t>
            </a:r>
            <a:r>
              <a:rPr lang="en-US" sz="3200" dirty="0"/>
              <a:t>” !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Answer:</a:t>
            </a:r>
            <a:endParaRPr lang="en-US" sz="3200" b="1" dirty="0"/>
          </a:p>
          <a:p>
            <a:pPr marL="0" indent="0">
              <a:buNone/>
            </a:pPr>
            <a:r>
              <a:rPr lang="en-US" sz="3200" i="1" dirty="0" err="1"/>
              <a:t>mk</a:t>
            </a:r>
            <a:r>
              <a:rPr lang="en-US" sz="3200" dirty="0"/>
              <a:t>		= 2</a:t>
            </a:r>
            <a:br>
              <a:rPr lang="en-US" sz="3200" dirty="0"/>
            </a:br>
            <a:r>
              <a:rPr lang="en-US" sz="3200" i="1" dirty="0" err="1"/>
              <a:t>mk</a:t>
            </a:r>
            <a:r>
              <a:rPr lang="en-US" sz="3200" i="1" dirty="0"/>
              <a:t> × ml</a:t>
            </a:r>
            <a:r>
              <a:rPr lang="en-US" sz="3200" dirty="0"/>
              <a:t> 	= - 1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2 x ml	= - 1</a:t>
            </a:r>
            <a:br>
              <a:rPr lang="en-US" sz="3200" dirty="0"/>
            </a:br>
            <a:r>
              <a:rPr lang="en-US" sz="3200" dirty="0"/>
              <a:t>	ml	= - 1/2</a:t>
            </a:r>
            <a:endParaRPr lang="en-US" sz="3200" dirty="0"/>
          </a:p>
          <a:p>
            <a:pPr marL="0" indent="0">
              <a:buNone/>
            </a:pPr>
            <a:br>
              <a:rPr lang="en-US" sz="3200" dirty="0"/>
            </a:br>
            <a:r>
              <a:rPr lang="en-US" sz="3200" dirty="0"/>
              <a:t>So, the line gradient of “</a:t>
            </a:r>
            <a:r>
              <a:rPr lang="en-US" sz="3200" i="1" dirty="0"/>
              <a:t>l”</a:t>
            </a:r>
            <a:r>
              <a:rPr lang="en-US" sz="3200" dirty="0"/>
              <a:t> is </a:t>
            </a:r>
            <a:r>
              <a:rPr lang="en-US" sz="3200" b="1" dirty="0"/>
              <a:t>– 1/2</a:t>
            </a:r>
            <a:endParaRPr lang="en-US" sz="32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1" y="2057399"/>
            <a:ext cx="6865373" cy="44900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Determine the equation </a:t>
            </a:r>
            <a:r>
              <a:rPr lang="en-US" sz="2800" dirty="0"/>
              <a:t>of the line through the point (-2, 4) and perpendicular to the line </a:t>
            </a:r>
            <a:r>
              <a:rPr lang="en-US" sz="2800" i="1" dirty="0"/>
              <a:t>y = 2x - 4</a:t>
            </a:r>
            <a:r>
              <a:rPr lang="en-US" sz="2800" dirty="0"/>
              <a:t>!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Answer:</a:t>
            </a:r>
            <a:endParaRPr lang="en-US" sz="2800" b="1" dirty="0"/>
          </a:p>
          <a:p>
            <a:pPr marL="0" indent="0">
              <a:buNone/>
            </a:pPr>
            <a:r>
              <a:rPr lang="en-US" sz="2800" dirty="0"/>
              <a:t>The gradient line </a:t>
            </a:r>
            <a:r>
              <a:rPr lang="en-US" sz="2800" i="1" dirty="0"/>
              <a:t>y = 2x - 4</a:t>
            </a:r>
            <a:r>
              <a:rPr lang="en-US" sz="2800" dirty="0"/>
              <a:t> is </a:t>
            </a:r>
            <a:r>
              <a:rPr lang="en-US" sz="2800" i="1" dirty="0"/>
              <a:t>m</a:t>
            </a:r>
            <a:r>
              <a:rPr lang="en-US" sz="2800" dirty="0"/>
              <a:t> = 2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s-ES" sz="2800" dirty="0"/>
              <a:t>y - b = -1/m (x - a)	⇔ y - 4 = -1/2 (x - (-2))</a:t>
            </a:r>
            <a:endParaRPr lang="es-ES" sz="2800" dirty="0"/>
          </a:p>
          <a:p>
            <a:pPr marL="0" indent="0">
              <a:buNone/>
            </a:pPr>
            <a:r>
              <a:rPr lang="es-ES" sz="2800" dirty="0"/>
              <a:t>			⇔ y - 4 = -1/2x -1</a:t>
            </a:r>
            <a:endParaRPr lang="es-ES" sz="2800" dirty="0"/>
          </a:p>
          <a:p>
            <a:pPr marL="0" indent="0">
              <a:buNone/>
            </a:pPr>
            <a:r>
              <a:rPr lang="es-ES" sz="2800" dirty="0"/>
              <a:t>			⇔ y = -1/2x + 3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374" y="1517182"/>
            <a:ext cx="3773204" cy="245672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375" y="4065350"/>
            <a:ext cx="3773204" cy="253678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D" dirty="0"/>
            </a:br>
            <a:br>
              <a:rPr lang="en-ID" dirty="0"/>
            </a:br>
            <a:r>
              <a:rPr lang="en-ID" dirty="0"/>
              <a:t>2. Digital Differential Analyzer (DDA)</a:t>
            </a: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An Algorithm to Draw Line in Digital Coordinates</a:t>
            </a:r>
            <a:endParaRPr lang="en-ID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Coordinate</a:t>
            </a: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dirty="0"/>
              <a:t>For using graphics functions, output screen system is treated as a coordinate system where the coordinate of the </a:t>
            </a:r>
            <a:r>
              <a:rPr lang="en-US" sz="3200" dirty="0">
                <a:solidFill>
                  <a:srgbClr val="FF0000"/>
                </a:solidFill>
              </a:rPr>
              <a:t>top-left corner is (0, 0)</a:t>
            </a:r>
            <a:r>
              <a:rPr lang="en-US" sz="3200" dirty="0"/>
              <a:t> and as we move down our x-ordinate increases and as we move right our y-ordinate increases for any point (x, y).</a:t>
            </a:r>
            <a:endParaRPr lang="en-US" sz="3200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192" y="2185241"/>
            <a:ext cx="5187080" cy="37670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 Line in Computer Graphics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99" y="1965960"/>
            <a:ext cx="10404987" cy="41300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50" dirty="0"/>
              <a:t>In any 2-Dimensional plane if we connect two points </a:t>
            </a:r>
            <a:r>
              <a:rPr lang="en-US" sz="2650" b="1" dirty="0">
                <a:solidFill>
                  <a:srgbClr val="0070C0"/>
                </a:solidFill>
              </a:rPr>
              <a:t>(x0, y0)</a:t>
            </a:r>
            <a:r>
              <a:rPr lang="en-US" sz="2650" dirty="0"/>
              <a:t> and </a:t>
            </a:r>
            <a:r>
              <a:rPr lang="en-US" sz="2650" b="1" dirty="0">
                <a:solidFill>
                  <a:srgbClr val="FF0000"/>
                </a:solidFill>
              </a:rPr>
              <a:t>(x1, y1)</a:t>
            </a:r>
            <a:r>
              <a:rPr lang="en-US" sz="2650" dirty="0"/>
              <a:t>, we get a line segment using cartesian coordinate. </a:t>
            </a:r>
            <a:endParaRPr lang="en-US" sz="2650" dirty="0"/>
          </a:p>
          <a:p>
            <a:pPr marL="0" indent="0">
              <a:buNone/>
            </a:pPr>
            <a:endParaRPr lang="en-US" sz="800" dirty="0"/>
          </a:p>
          <a:p>
            <a:pPr marL="457200" indent="-457200"/>
            <a:r>
              <a:rPr lang="en-US" sz="2650" dirty="0"/>
              <a:t>But in the case of computer graphics (raster) we can not directly join any two coordinate points, </a:t>
            </a:r>
            <a:endParaRPr lang="en-US" sz="2650" dirty="0"/>
          </a:p>
          <a:p>
            <a:pPr marL="457200" indent="-457200"/>
            <a:r>
              <a:rPr lang="en-US" sz="2650" dirty="0"/>
              <a:t>for that we should calculate </a:t>
            </a:r>
            <a:r>
              <a:rPr lang="en-US" sz="2650" b="1" dirty="0">
                <a:solidFill>
                  <a:srgbClr val="00B050"/>
                </a:solidFill>
              </a:rPr>
              <a:t>intermediate point’s </a:t>
            </a:r>
            <a:r>
              <a:rPr lang="en-US" sz="2650" dirty="0"/>
              <a:t>coordinate and put a pixel for each intermediate point, of the desired color with help of functions </a:t>
            </a:r>
            <a:endParaRPr lang="en-US" sz="2650" dirty="0"/>
          </a:p>
          <a:p>
            <a:pPr marL="457200" indent="-457200"/>
            <a:r>
              <a:rPr lang="en-US" sz="2650" dirty="0"/>
              <a:t>like put pixel </a:t>
            </a:r>
            <a:r>
              <a:rPr lang="en-US" sz="2650" b="1" dirty="0"/>
              <a:t>(x, y, K)</a:t>
            </a:r>
            <a:r>
              <a:rPr lang="en-US" sz="2650" dirty="0"/>
              <a:t> in </a:t>
            </a:r>
            <a:r>
              <a:rPr lang="en-US" sz="2650" b="1" dirty="0"/>
              <a:t>C</a:t>
            </a:r>
            <a:r>
              <a:rPr lang="en-US" sz="2650" dirty="0"/>
              <a:t>, where </a:t>
            </a:r>
            <a:r>
              <a:rPr lang="en-US" sz="2650" b="1" dirty="0"/>
              <a:t>(x, y)</a:t>
            </a:r>
            <a:r>
              <a:rPr lang="en-US" sz="2650" dirty="0"/>
              <a:t> is our co-ordinate and </a:t>
            </a:r>
            <a:r>
              <a:rPr lang="en-US" sz="2650" b="1" dirty="0"/>
              <a:t>K</a:t>
            </a:r>
            <a:r>
              <a:rPr lang="en-US" sz="2650" dirty="0"/>
              <a:t> denotes color and </a:t>
            </a:r>
            <a:r>
              <a:rPr lang="en-US" sz="2650" b="1" dirty="0"/>
              <a:t>C</a:t>
            </a:r>
            <a:r>
              <a:rPr lang="en-US" sz="2650" dirty="0"/>
              <a:t> is a canvas.</a:t>
            </a:r>
            <a:endParaRPr lang="en-US" sz="26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“Good” Discrete 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9816" y="1926139"/>
            <a:ext cx="4754880" cy="4531555"/>
          </a:xfrm>
        </p:spPr>
        <p:txBody>
          <a:bodyPr>
            <a:normAutofit/>
          </a:bodyPr>
          <a:lstStyle/>
          <a:p>
            <a:r>
              <a:rPr lang="en-US" sz="2800" b="1" dirty="0"/>
              <a:t>No gaps </a:t>
            </a:r>
            <a:r>
              <a:rPr lang="en-US" sz="2800" dirty="0"/>
              <a:t>in adjacent pixels</a:t>
            </a:r>
            <a:endParaRPr lang="en-US" sz="2800" dirty="0"/>
          </a:p>
          <a:p>
            <a:r>
              <a:rPr lang="en-US" sz="2800" dirty="0"/>
              <a:t>Pixels </a:t>
            </a:r>
            <a:r>
              <a:rPr lang="en-US" sz="2800" b="1" dirty="0"/>
              <a:t>close to ideal line</a:t>
            </a:r>
            <a:endParaRPr lang="en-US" sz="2800" b="1" dirty="0"/>
          </a:p>
          <a:p>
            <a:r>
              <a:rPr lang="en-US" sz="2800" b="1" dirty="0"/>
              <a:t>Consistent</a:t>
            </a:r>
            <a:r>
              <a:rPr lang="en-US" sz="2800" dirty="0"/>
              <a:t> choices; same pixels in same situations</a:t>
            </a:r>
            <a:endParaRPr lang="en-US" sz="2800" dirty="0"/>
          </a:p>
          <a:p>
            <a:r>
              <a:rPr lang="en-US" sz="2800" b="1" dirty="0"/>
              <a:t>Smooth</a:t>
            </a:r>
            <a:r>
              <a:rPr lang="en-US" sz="2800" dirty="0"/>
              <a:t> looking</a:t>
            </a:r>
            <a:endParaRPr lang="en-US" sz="2800" dirty="0"/>
          </a:p>
          <a:p>
            <a:r>
              <a:rPr lang="en-US" sz="2800" dirty="0"/>
              <a:t>Lines should have </a:t>
            </a:r>
            <a:r>
              <a:rPr lang="en-US" sz="2800" b="1" dirty="0"/>
              <a:t>constant density</a:t>
            </a:r>
            <a:endParaRPr lang="en-US" sz="2800" b="1" dirty="0"/>
          </a:p>
          <a:p>
            <a:r>
              <a:rPr lang="en-US" sz="2800" dirty="0"/>
              <a:t>Same line for P</a:t>
            </a:r>
            <a:r>
              <a:rPr lang="en-US" sz="2800" baseline="-25000" dirty="0"/>
              <a:t>0</a:t>
            </a:r>
            <a:r>
              <a:rPr lang="en-US" sz="2800" dirty="0"/>
              <a:t>P</a:t>
            </a:r>
            <a:r>
              <a:rPr lang="en-US" sz="2800" baseline="-25000" dirty="0"/>
              <a:t>1</a:t>
            </a:r>
            <a:r>
              <a:rPr lang="en-US" sz="2800" dirty="0"/>
              <a:t> as for P</a:t>
            </a:r>
            <a:r>
              <a:rPr lang="en-US" sz="2800" baseline="-25000" dirty="0"/>
              <a:t>1</a:t>
            </a:r>
            <a:r>
              <a:rPr lang="en-US" sz="2800" dirty="0"/>
              <a:t>P</a:t>
            </a:r>
            <a:r>
              <a:rPr lang="en-US" sz="2800" baseline="-25000" dirty="0"/>
              <a:t>0</a:t>
            </a:r>
            <a:endParaRPr lang="en-US" sz="2800" baseline="-25000" dirty="0"/>
          </a:p>
          <a:p>
            <a:pPr lvl="1"/>
            <a:r>
              <a:rPr lang="en-US" sz="2400" dirty="0"/>
              <a:t>P</a:t>
            </a:r>
            <a:r>
              <a:rPr lang="en-US" sz="2400" baseline="-25000" dirty="0"/>
              <a:t>0 </a:t>
            </a:r>
            <a:r>
              <a:rPr lang="en-US" sz="2400" dirty="0"/>
              <a:t>= start point, P</a:t>
            </a:r>
            <a:r>
              <a:rPr lang="en-US" sz="2400" baseline="-25000" dirty="0"/>
              <a:t>1</a:t>
            </a:r>
            <a:r>
              <a:rPr lang="en-US" sz="2800" dirty="0"/>
              <a:t> </a:t>
            </a:r>
            <a:r>
              <a:rPr lang="en-US" sz="2400" dirty="0"/>
              <a:t>= end point</a:t>
            </a:r>
            <a:endParaRPr lang="en-US" sz="2400" baseline="-25000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0629" y="2168013"/>
            <a:ext cx="5740365" cy="361008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point’s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438902" cy="402336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200" dirty="0"/>
              <a:t>Input: For line segment between </a:t>
            </a:r>
            <a:r>
              <a:rPr lang="en-US" sz="3200" b="1" dirty="0">
                <a:solidFill>
                  <a:srgbClr val="5B9BD5"/>
                </a:solidFill>
              </a:rPr>
              <a:t>(2, 2)</a:t>
            </a:r>
            <a:r>
              <a:rPr lang="en-US" sz="3200" dirty="0"/>
              <a:t> and </a:t>
            </a:r>
            <a:r>
              <a:rPr lang="en-US" sz="3200" b="1" dirty="0">
                <a:solidFill>
                  <a:srgbClr val="FF0000"/>
                </a:solidFill>
              </a:rPr>
              <a:t>(6, 6)</a:t>
            </a:r>
            <a:r>
              <a:rPr lang="en-US" sz="3200" dirty="0"/>
              <a:t> ;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we need (3, 3) (4, 4) and (5, 5) as our intermediate points.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Input: For line segment between </a:t>
            </a:r>
            <a:r>
              <a:rPr lang="en-US" sz="3200" b="1" dirty="0">
                <a:solidFill>
                  <a:srgbClr val="5B9BD5"/>
                </a:solidFill>
              </a:rPr>
              <a:t>(0, 2)</a:t>
            </a:r>
            <a:r>
              <a:rPr lang="en-US" sz="3200" dirty="0"/>
              <a:t> and </a:t>
            </a:r>
            <a:r>
              <a:rPr lang="en-US" sz="3200" b="1" dirty="0">
                <a:solidFill>
                  <a:srgbClr val="FF0000"/>
                </a:solidFill>
              </a:rPr>
              <a:t>(0, 6)</a:t>
            </a:r>
            <a:r>
              <a:rPr lang="en-US" sz="3200" dirty="0"/>
              <a:t> ;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we need (0, 3) (0, 4) and (0, 5) as our intermediate points.</a:t>
            </a:r>
            <a:endParaRPr lang="en-US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</p:nvPr>
        </p:nvGraphicFramePr>
        <p:xfrm>
          <a:off x="6253720" y="963337"/>
          <a:ext cx="4931330" cy="4931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471"/>
                <a:gridCol w="548299"/>
                <a:gridCol w="552080"/>
                <a:gridCol w="552080"/>
                <a:gridCol w="552080"/>
                <a:gridCol w="552080"/>
                <a:gridCol w="552080"/>
                <a:gridCol w="552080"/>
                <a:gridCol w="552080"/>
              </a:tblGrid>
              <a:tr h="493133">
                <a:tc>
                  <a:txBody>
                    <a:bodyPr/>
                    <a:lstStyle/>
                    <a:p>
                      <a:r>
                        <a:rPr lang="en-US" sz="1500" dirty="0"/>
                        <a:t>8</a:t>
                      </a:r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31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  <a:endParaRPr lang="en-US" sz="2000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31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  <a:endParaRPr lang="en-US" sz="2000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(0,6)</a:t>
                      </a:r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(6,6)</a:t>
                      </a:r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31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  <a:endParaRPr lang="en-US" sz="2000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31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  <a:endParaRPr lang="en-US" sz="2000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31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  <a:endParaRPr lang="en-US" sz="2000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31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  <a:endParaRPr lang="en-US" sz="2000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(0,2)</a:t>
                      </a:r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(2,2)</a:t>
                      </a:r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b="1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31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  <a:endParaRPr lang="en-US" sz="2000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31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  <a:endParaRPr lang="en-US" sz="2000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071" marR="78071" marT="39036" marB="390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3133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  <a:endParaRPr lang="en-US" sz="2000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  <a:endParaRPr lang="en-US" sz="2000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  <a:endParaRPr lang="en-US" sz="2000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  <a:endParaRPr lang="en-US" sz="2000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  <a:endParaRPr lang="en-US" sz="2000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  <a:endParaRPr lang="en-US" sz="2000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  <a:endParaRPr lang="en-US" sz="2000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  <a:endParaRPr lang="en-US" sz="2000" dirty="0"/>
                    </a:p>
                  </a:txBody>
                  <a:tcPr marL="78071" marR="78071" marT="39036" marB="390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6301151" y="6017567"/>
            <a:ext cx="4996771" cy="461665"/>
            <a:chOff x="4130898" y="5578269"/>
            <a:chExt cx="4996771" cy="461665"/>
          </a:xfrm>
        </p:grpSpPr>
        <p:sp>
          <p:nvSpPr>
            <p:cNvPr id="6" name="Rectangle 5"/>
            <p:cNvSpPr/>
            <p:nvPr/>
          </p:nvSpPr>
          <p:spPr>
            <a:xfrm>
              <a:off x="4130898" y="5585385"/>
              <a:ext cx="454549" cy="45454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04883" y="5578269"/>
              <a:ext cx="43227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Active Pixel (Intermediate Points)</a:t>
              </a:r>
              <a:endParaRPr lang="en-US" sz="2400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point’s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2999" y="2057399"/>
            <a:ext cx="4693249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How about this </a:t>
            </a:r>
            <a:r>
              <a:rPr lang="en-US" sz="3200" dirty="0">
                <a:sym typeface="Wingdings" panose="05000000000000000000" pitchFamily="2" charset="2"/>
              </a:rPr>
              <a:t>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For line segment between </a:t>
            </a:r>
            <a:r>
              <a:rPr lang="en-US" sz="3200" b="1" dirty="0">
                <a:solidFill>
                  <a:srgbClr val="5B9BD5"/>
                </a:solidFill>
              </a:rPr>
              <a:t>(1,1)</a:t>
            </a:r>
            <a:r>
              <a:rPr lang="en-US" sz="3200" dirty="0"/>
              <a:t> and </a:t>
            </a:r>
            <a:r>
              <a:rPr lang="en-US" sz="3200" b="1" dirty="0">
                <a:solidFill>
                  <a:srgbClr val="FF0000"/>
                </a:solidFill>
              </a:rPr>
              <a:t>(8,7)</a:t>
            </a:r>
            <a:r>
              <a:rPr lang="en-US" sz="3200" dirty="0"/>
              <a:t> 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Where are our intermediate points?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How do we determined it?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6301151" y="6017567"/>
            <a:ext cx="4996771" cy="461665"/>
            <a:chOff x="4130898" y="5578269"/>
            <a:chExt cx="4996771" cy="461665"/>
          </a:xfrm>
        </p:grpSpPr>
        <p:sp>
          <p:nvSpPr>
            <p:cNvPr id="6" name="Rectangle 5"/>
            <p:cNvSpPr/>
            <p:nvPr/>
          </p:nvSpPr>
          <p:spPr>
            <a:xfrm>
              <a:off x="4130898" y="5585385"/>
              <a:ext cx="454549" cy="45454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04883" y="5578269"/>
              <a:ext cx="43227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Active Pixel (Intermediate Points)</a:t>
              </a:r>
              <a:endParaRPr lang="en-US" sz="2400" dirty="0"/>
            </a:p>
          </p:txBody>
        </p:sp>
      </p:grpSp>
      <p:graphicFrame>
        <p:nvGraphicFramePr>
          <p:cNvPr id="14" name="Content Placeholder 13"/>
          <p:cNvGraphicFramePr>
            <a:graphicFrameLocks noGrp="1"/>
          </p:cNvGraphicFramePr>
          <p:nvPr>
            <p:ph sz="half" idx="2"/>
          </p:nvPr>
        </p:nvGraphicFramePr>
        <p:xfrm>
          <a:off x="6210656" y="1153402"/>
          <a:ext cx="5003800" cy="4551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380"/>
                <a:gridCol w="500380"/>
                <a:gridCol w="500380"/>
                <a:gridCol w="500380"/>
                <a:gridCol w="500380"/>
                <a:gridCol w="500380"/>
                <a:gridCol w="500380"/>
                <a:gridCol w="500380"/>
                <a:gridCol w="500380"/>
                <a:gridCol w="500380"/>
              </a:tblGrid>
              <a:tr h="413745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9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7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5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4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9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591056" y="4892041"/>
            <a:ext cx="768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(1,1)</a:t>
            </a:r>
            <a:endParaRPr lang="en-US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0071890" y="2365604"/>
            <a:ext cx="768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(8,7)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8459922" y="3145749"/>
            <a:ext cx="5052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>?</a:t>
            </a:r>
            <a:endParaRPr lang="en-US" sz="5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Differential Analyzer (DDA)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3600" dirty="0"/>
              <a:t>DDA is a </a:t>
            </a:r>
            <a:r>
              <a:rPr lang="en-US" sz="3600" b="1" dirty="0"/>
              <a:t>line formation algorithm </a:t>
            </a:r>
            <a:r>
              <a:rPr lang="en-US" sz="3600" dirty="0"/>
              <a:t>based on the calculation of </a:t>
            </a:r>
            <a:r>
              <a:rPr lang="en-US" sz="3600" i="1" dirty="0"/>
              <a:t>∆x</a:t>
            </a:r>
            <a:r>
              <a:rPr lang="en-US" sz="3600" dirty="0"/>
              <a:t> and </a:t>
            </a:r>
            <a:r>
              <a:rPr lang="en-US" sz="3600" i="1" dirty="0"/>
              <a:t>∆y</a:t>
            </a:r>
            <a:r>
              <a:rPr lang="en-US" sz="3600" dirty="0"/>
              <a:t>, using the formula 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i="1" dirty="0"/>
              <a:t>∆y = m ∆x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The line is created by specifying two endpoints, namely </a:t>
            </a:r>
            <a:r>
              <a:rPr lang="en-US" sz="3600" b="1" dirty="0"/>
              <a:t>starting point </a:t>
            </a:r>
            <a:r>
              <a:rPr lang="en-US" sz="3600" dirty="0"/>
              <a:t>and </a:t>
            </a:r>
            <a:r>
              <a:rPr lang="en-US" sz="3600" b="1" dirty="0"/>
              <a:t>end point</a:t>
            </a:r>
            <a:r>
              <a:rPr lang="en-US" sz="3600" dirty="0"/>
              <a:t>.</a:t>
            </a:r>
            <a:endParaRPr lang="en-US" sz="3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Steps for formation according to the DDA algorithm:</a:t>
            </a: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399"/>
            <a:ext cx="10110019" cy="4544737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Determine the </a:t>
            </a:r>
            <a:r>
              <a:rPr lang="en-US" sz="2400" b="1" dirty="0"/>
              <a:t>two points </a:t>
            </a:r>
            <a:r>
              <a:rPr lang="en-US" sz="2400" dirty="0"/>
              <a:t>that will be connected.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Determine one point as the </a:t>
            </a:r>
            <a:r>
              <a:rPr lang="en-US" sz="2400" b="1" dirty="0"/>
              <a:t>starting point </a:t>
            </a:r>
            <a:r>
              <a:rPr lang="en-US" sz="2400" dirty="0"/>
              <a:t>(x0, y0) and </a:t>
            </a:r>
            <a:r>
              <a:rPr lang="en-US" sz="2400" b="1" dirty="0"/>
              <a:t>end point </a:t>
            </a:r>
            <a:r>
              <a:rPr lang="en-US" sz="2400" dirty="0"/>
              <a:t>(x1, y1).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Calculate:</a:t>
            </a:r>
            <a:r>
              <a:rPr lang="en-US" sz="2400" dirty="0"/>
              <a:t> ∆x = x1 – x0, and ∆y = y1 – y0.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Determine the “</a:t>
            </a:r>
            <a:r>
              <a:rPr lang="en-US" sz="2400" b="1" dirty="0"/>
              <a:t>step</a:t>
            </a:r>
            <a:r>
              <a:rPr lang="en-US" sz="2400" dirty="0"/>
              <a:t>”, which is the </a:t>
            </a:r>
            <a:r>
              <a:rPr lang="en-US" sz="2400" b="1" dirty="0"/>
              <a:t>maximum of the |∆x| or |∆y|.</a:t>
            </a:r>
            <a:endParaRPr lang="en-US" sz="2400" b="1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If the value of |∆y| &gt; |∆x|, then “step” = |∆y|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If not then “step” = |∆x|</a:t>
            </a:r>
            <a:endParaRPr lang="en-US" dirty="0"/>
          </a:p>
          <a:p>
            <a:pPr marL="514350" indent="-514350">
              <a:buFont typeface="+mj-lt"/>
              <a:buAutoNum type="arabicPeriod" startAt="5"/>
            </a:pPr>
            <a:r>
              <a:rPr lang="en-US" sz="2400" dirty="0"/>
              <a:t>Calculate pixel coordinates, </a:t>
            </a:r>
            <a:r>
              <a:rPr lang="en-US" sz="2400" dirty="0" err="1"/>
              <a:t>x_increment</a:t>
            </a:r>
            <a:r>
              <a:rPr lang="en-US" sz="2400" dirty="0"/>
              <a:t> = ∆x / step and </a:t>
            </a:r>
            <a:r>
              <a:rPr lang="en-US" sz="2400" dirty="0" err="1"/>
              <a:t>y_increment</a:t>
            </a:r>
            <a:r>
              <a:rPr lang="en-US" sz="2400" dirty="0"/>
              <a:t> = ∆y / step.</a:t>
            </a:r>
            <a:endParaRPr lang="en-US" sz="2400" dirty="0"/>
          </a:p>
          <a:p>
            <a:pPr marL="514350" indent="-514350">
              <a:buFont typeface="+mj-lt"/>
              <a:buAutoNum type="arabicPeriod" startAt="5"/>
            </a:pPr>
            <a:r>
              <a:rPr lang="en-US" sz="2400" dirty="0"/>
              <a:t>The next coordinate is (x + </a:t>
            </a:r>
            <a:r>
              <a:rPr lang="en-US" sz="2400" dirty="0" err="1"/>
              <a:t>x_increment</a:t>
            </a:r>
            <a:r>
              <a:rPr lang="en-US" sz="2400" dirty="0"/>
              <a:t>, y + </a:t>
            </a:r>
            <a:r>
              <a:rPr lang="en-US" sz="2400" dirty="0" err="1"/>
              <a:t>y_increment</a:t>
            </a:r>
            <a:r>
              <a:rPr lang="en-US" sz="2400" dirty="0"/>
              <a:t>).</a:t>
            </a:r>
            <a:endParaRPr lang="en-US" sz="2400" dirty="0"/>
          </a:p>
          <a:p>
            <a:pPr marL="514350" indent="-514350">
              <a:buFont typeface="+mj-lt"/>
              <a:buAutoNum type="arabicPeriod" startAt="5"/>
            </a:pPr>
            <a:r>
              <a:rPr lang="en-US" sz="2400" dirty="0"/>
              <a:t>The </a:t>
            </a:r>
            <a:r>
              <a:rPr lang="en-US" sz="2400" b="1" dirty="0"/>
              <a:t>pixel position </a:t>
            </a:r>
            <a:r>
              <a:rPr lang="en-US" sz="2400" dirty="0"/>
              <a:t>at the layer is determined by </a:t>
            </a:r>
            <a:r>
              <a:rPr lang="en-US" sz="2400" b="1" dirty="0"/>
              <a:t>rounding</a:t>
            </a:r>
            <a:r>
              <a:rPr lang="en-US" sz="2400" dirty="0"/>
              <a:t> the coordination value.</a:t>
            </a:r>
            <a:endParaRPr lang="en-US" sz="2400" dirty="0"/>
          </a:p>
          <a:p>
            <a:pPr marL="514350" indent="-514350">
              <a:buFont typeface="+mj-lt"/>
              <a:buAutoNum type="arabicPeriod" startAt="5"/>
            </a:pPr>
            <a:r>
              <a:rPr lang="en-US" sz="2400" b="1" dirty="0"/>
              <a:t>Repeat</a:t>
            </a:r>
            <a:r>
              <a:rPr lang="en-US" sz="2400" dirty="0"/>
              <a:t> steps 6 and 7 to determine the next pixel position, until x = x1 and y = y1.</a:t>
            </a: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69507" y="2057398"/>
            <a:ext cx="5894969" cy="4564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Step 1-2</a:t>
            </a: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To describe the DDA algorithm in the formation of a line connect the dots </a:t>
            </a:r>
            <a:r>
              <a:rPr lang="en-US" sz="2400" b="1" dirty="0">
                <a:solidFill>
                  <a:srgbClr val="00B0F0"/>
                </a:solidFill>
              </a:rPr>
              <a:t>A(10, 10)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FF0000"/>
                </a:solidFill>
              </a:rPr>
              <a:t>B(17, 16)</a:t>
            </a:r>
            <a:r>
              <a:rPr lang="en-US" sz="2400" dirty="0"/>
              <a:t>.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Where A as </a:t>
            </a:r>
            <a:r>
              <a:rPr lang="en-US" sz="2400" dirty="0">
                <a:solidFill>
                  <a:srgbClr val="00B0F0"/>
                </a:solidFill>
              </a:rPr>
              <a:t>starting point </a:t>
            </a:r>
            <a:r>
              <a:rPr lang="en-US" sz="2400" dirty="0"/>
              <a:t>and B as </a:t>
            </a:r>
            <a:r>
              <a:rPr lang="en-US" sz="2400" dirty="0">
                <a:solidFill>
                  <a:srgbClr val="FF0000"/>
                </a:solidFill>
              </a:rPr>
              <a:t>end point</a:t>
            </a:r>
            <a:r>
              <a:rPr lang="en-US" sz="2400" dirty="0"/>
              <a:t>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Step 3 (</a:t>
            </a:r>
            <a:r>
              <a:rPr lang="en-US" sz="2400" dirty="0"/>
              <a:t>determine </a:t>
            </a:r>
            <a:r>
              <a:rPr lang="en-US" sz="2400" i="1" dirty="0"/>
              <a:t>dx</a:t>
            </a:r>
            <a:r>
              <a:rPr lang="en-US" sz="2400" dirty="0"/>
              <a:t> and </a:t>
            </a:r>
            <a:r>
              <a:rPr lang="en-US" sz="2400" i="1" dirty="0" err="1"/>
              <a:t>dy</a:t>
            </a:r>
            <a:r>
              <a:rPr lang="en-US" sz="2400" b="1" dirty="0"/>
              <a:t>)</a:t>
            </a:r>
            <a:endParaRPr lang="en-US" sz="2400" dirty="0"/>
          </a:p>
          <a:p>
            <a:pPr marL="342900" indent="-342900"/>
            <a:r>
              <a:rPr lang="en-US" sz="2400" dirty="0"/>
              <a:t>∆x = x1 – x0 = 17 – 10 =</a:t>
            </a:r>
            <a:r>
              <a:rPr lang="en-US" sz="2400" dirty="0">
                <a:solidFill>
                  <a:srgbClr val="92D050"/>
                </a:solidFill>
              </a:rPr>
              <a:t> </a:t>
            </a:r>
            <a:r>
              <a:rPr lang="en-US" sz="2400" dirty="0">
                <a:solidFill>
                  <a:srgbClr val="FFC000"/>
                </a:solidFill>
              </a:rPr>
              <a:t>7</a:t>
            </a:r>
            <a:r>
              <a:rPr lang="en-US" sz="2400" dirty="0"/>
              <a:t>	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>
                <a:solidFill>
                  <a:srgbClr val="00B050"/>
                </a:solidFill>
                <a:sym typeface="Wingdings" panose="05000000000000000000" pitchFamily="2" charset="2"/>
              </a:rPr>
              <a:t>|</a:t>
            </a:r>
            <a:r>
              <a:rPr lang="en-US" sz="2400" dirty="0">
                <a:solidFill>
                  <a:srgbClr val="00B050"/>
                </a:solidFill>
              </a:rPr>
              <a:t>∆x</a:t>
            </a:r>
            <a:r>
              <a:rPr lang="en-US" sz="2400" dirty="0">
                <a:solidFill>
                  <a:srgbClr val="00B050"/>
                </a:solidFill>
                <a:sym typeface="Wingdings" panose="05000000000000000000" pitchFamily="2" charset="2"/>
              </a:rPr>
              <a:t>| = 7</a:t>
            </a:r>
            <a:endParaRPr lang="en-US" sz="2400" dirty="0">
              <a:sym typeface="Wingdings" panose="05000000000000000000" pitchFamily="2" charset="2"/>
            </a:endParaRPr>
          </a:p>
          <a:p>
            <a:pPr marL="342900" indent="-342900"/>
            <a:r>
              <a:rPr lang="en-US" sz="2400" dirty="0"/>
              <a:t>∆y = y1 – y0 = 16 – 10 = </a:t>
            </a:r>
            <a:r>
              <a:rPr lang="en-US" sz="2400" dirty="0">
                <a:solidFill>
                  <a:srgbClr val="FFC000"/>
                </a:solidFill>
              </a:rPr>
              <a:t>6</a:t>
            </a:r>
            <a:r>
              <a:rPr lang="en-US" sz="2400" dirty="0"/>
              <a:t>	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>
                <a:solidFill>
                  <a:srgbClr val="00B050"/>
                </a:solidFill>
                <a:sym typeface="Wingdings" panose="05000000000000000000" pitchFamily="2" charset="2"/>
              </a:rPr>
              <a:t>|</a:t>
            </a:r>
            <a:r>
              <a:rPr lang="en-US" sz="2400" dirty="0">
                <a:solidFill>
                  <a:srgbClr val="00B050"/>
                </a:solidFill>
              </a:rPr>
              <a:t>∆y</a:t>
            </a:r>
            <a:r>
              <a:rPr lang="en-US" sz="2400" dirty="0">
                <a:solidFill>
                  <a:srgbClr val="00B050"/>
                </a:solidFill>
                <a:sym typeface="Wingdings" panose="05000000000000000000" pitchFamily="2" charset="2"/>
              </a:rPr>
              <a:t>| = 6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sym typeface="Wingdings" panose="05000000000000000000" pitchFamily="2" charset="2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7344410" y="2057400"/>
            <a:ext cx="4076065" cy="45643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ym typeface="Wingdings" panose="05000000000000000000" pitchFamily="2" charset="2"/>
              </a:rPr>
              <a:t>Step 4 (</a:t>
            </a:r>
            <a:r>
              <a:rPr lang="en-US" sz="2400" dirty="0"/>
              <a:t>look for steps </a:t>
            </a:r>
            <a:r>
              <a:rPr lang="en-US" sz="2400" b="1" dirty="0">
                <a:sym typeface="Wingdings" panose="05000000000000000000" pitchFamily="2" charset="2"/>
              </a:rPr>
              <a:t>)</a:t>
            </a:r>
            <a:endParaRPr lang="en-US" sz="2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Because</a:t>
            </a:r>
            <a:r>
              <a:rPr lang="en-US" sz="2400" dirty="0">
                <a:solidFill>
                  <a:srgbClr val="00B050"/>
                </a:solidFill>
                <a:sym typeface="Wingdings" panose="05000000000000000000" pitchFamily="2" charset="2"/>
              </a:rPr>
              <a:t> |</a:t>
            </a:r>
            <a:r>
              <a:rPr lang="en-US" sz="2400" dirty="0">
                <a:solidFill>
                  <a:srgbClr val="00B050"/>
                </a:solidFill>
              </a:rPr>
              <a:t>∆x| </a:t>
            </a:r>
            <a:r>
              <a:rPr lang="en-US" sz="2400" dirty="0"/>
              <a:t>&gt; </a:t>
            </a:r>
            <a:r>
              <a:rPr lang="en-US" sz="2400" dirty="0">
                <a:solidFill>
                  <a:srgbClr val="00B050"/>
                </a:solidFill>
              </a:rPr>
              <a:t>|∆y|</a:t>
            </a:r>
            <a:r>
              <a:rPr lang="en-US" sz="2400" dirty="0"/>
              <a:t> is fulfilled, then “step” is </a:t>
            </a:r>
            <a:r>
              <a:rPr lang="en-US" sz="2400" dirty="0">
                <a:solidFill>
                  <a:srgbClr val="00B050"/>
                </a:solidFill>
              </a:rPr>
              <a:t>|∆x| = 7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Step 5 (</a:t>
            </a:r>
            <a:r>
              <a:rPr lang="en-US" sz="2400" dirty="0"/>
              <a:t>get </a:t>
            </a:r>
            <a:r>
              <a:rPr lang="en-US" sz="2400" i="1" dirty="0" err="1"/>
              <a:t>x_increment</a:t>
            </a:r>
            <a:r>
              <a:rPr lang="en-US" sz="2400" dirty="0"/>
              <a:t> and </a:t>
            </a:r>
            <a:r>
              <a:rPr lang="en-US" sz="2400" i="1" dirty="0" err="1"/>
              <a:t>y_increment</a:t>
            </a:r>
            <a:r>
              <a:rPr lang="en-US" sz="2400" b="1" dirty="0"/>
              <a:t>)</a:t>
            </a:r>
            <a:endParaRPr lang="en-US" sz="2400" b="1" dirty="0"/>
          </a:p>
          <a:p>
            <a:pPr marL="342900" indent="-342900"/>
            <a:r>
              <a:rPr lang="en-US" sz="2400" dirty="0" err="1"/>
              <a:t>x_increment</a:t>
            </a:r>
            <a:r>
              <a:rPr lang="en-US" sz="2400" dirty="0"/>
              <a:t> = </a:t>
            </a:r>
            <a:r>
              <a:rPr lang="en-US" sz="2400" dirty="0">
                <a:sym typeface="+mn-ea"/>
              </a:rPr>
              <a:t>∆x / step 			  =</a:t>
            </a:r>
            <a:r>
              <a:rPr lang="en-US" sz="2400" dirty="0">
                <a:solidFill>
                  <a:srgbClr val="FFC000"/>
                </a:solidFill>
                <a:sym typeface="+mn-ea"/>
              </a:rPr>
              <a:t> </a:t>
            </a:r>
            <a:r>
              <a:rPr lang="en-US" sz="2400" dirty="0">
                <a:solidFill>
                  <a:srgbClr val="FFC000"/>
                </a:solidFill>
              </a:rPr>
              <a:t>7</a:t>
            </a:r>
            <a:r>
              <a:rPr lang="en-US" sz="2400" dirty="0"/>
              <a:t>/7 = 1</a:t>
            </a:r>
            <a:endParaRPr lang="en-US" sz="2400" dirty="0"/>
          </a:p>
          <a:p>
            <a:pPr marL="342900" indent="-342900"/>
            <a:r>
              <a:rPr lang="en-US" sz="2400" dirty="0" err="1"/>
              <a:t>y_increment</a:t>
            </a:r>
            <a:r>
              <a:rPr lang="en-US" sz="2400" dirty="0">
                <a:sym typeface="+mn-ea"/>
              </a:rPr>
              <a:t> = </a:t>
            </a:r>
            <a:r>
              <a:rPr lang="en-US" sz="2400" dirty="0">
                <a:sym typeface="+mn-ea"/>
              </a:rPr>
              <a:t>∆y / step 			  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FFC000"/>
                </a:solidFill>
              </a:rPr>
              <a:t>6</a:t>
            </a:r>
            <a:r>
              <a:rPr lang="en-US" sz="2400" dirty="0"/>
              <a:t>/7 = 0,86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implementation</a:t>
            </a:r>
            <a:r>
              <a:rPr lang="en-US" sz="3600" dirty="0"/>
              <a:t> [</a:t>
            </a:r>
            <a:r>
              <a:rPr lang="en-US" sz="3600" b="1" dirty="0">
                <a:solidFill>
                  <a:srgbClr val="00B0F0"/>
                </a:solidFill>
              </a:rPr>
              <a:t>A(10, 10)</a:t>
            </a:r>
            <a:r>
              <a:rPr lang="en-US" sz="3600" dirty="0"/>
              <a:t> and </a:t>
            </a:r>
            <a:r>
              <a:rPr lang="en-US" sz="3600" b="1" dirty="0">
                <a:solidFill>
                  <a:srgbClr val="FF0000"/>
                </a:solidFill>
              </a:rPr>
              <a:t>B(17, 16)</a:t>
            </a:r>
            <a:r>
              <a:rPr lang="en-US" sz="3600" dirty="0"/>
              <a:t>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Step 6-7</a:t>
            </a:r>
            <a:endParaRPr lang="en-US" sz="2000" b="1" dirty="0"/>
          </a:p>
          <a:p>
            <a:pPr marL="342900" indent="-342900"/>
            <a:r>
              <a:rPr lang="en-US" sz="2000" dirty="0"/>
              <a:t>x + </a:t>
            </a:r>
            <a:r>
              <a:rPr lang="en-US" sz="2000" dirty="0" err="1"/>
              <a:t>x_increment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10 + 1 = 11</a:t>
            </a:r>
            <a:endParaRPr lang="en-US" sz="2000" dirty="0"/>
          </a:p>
          <a:p>
            <a:pPr marL="342900" indent="-342900"/>
            <a:r>
              <a:rPr lang="en-US" sz="2000" dirty="0"/>
              <a:t>y + </a:t>
            </a:r>
            <a:r>
              <a:rPr lang="en-US" sz="2000" dirty="0" err="1"/>
              <a:t>y_increment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10 + 0,86 = 10,86 = 11</a:t>
            </a:r>
            <a:endParaRPr lang="en-US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0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b="1" dirty="0"/>
              <a:t>Step 8 </a:t>
            </a:r>
            <a:r>
              <a:rPr lang="en-US" sz="2000" i="1" dirty="0"/>
              <a:t>(repeat from step 6-7)</a:t>
            </a:r>
            <a:endParaRPr lang="en-US" sz="2000" i="1" dirty="0"/>
          </a:p>
          <a:p>
            <a:pPr marL="342900" indent="-342900"/>
            <a:r>
              <a:rPr lang="en-US" sz="2000" dirty="0"/>
              <a:t>x + </a:t>
            </a:r>
            <a:r>
              <a:rPr lang="en-US" sz="2000" dirty="0" err="1"/>
              <a:t>x_increment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11 + 1 = 12</a:t>
            </a:r>
            <a:endParaRPr lang="en-US" sz="2000" dirty="0"/>
          </a:p>
          <a:p>
            <a:pPr marL="342900" indent="-342900"/>
            <a:r>
              <a:rPr lang="en-US" sz="2000" dirty="0"/>
              <a:t>y + </a:t>
            </a:r>
            <a:r>
              <a:rPr lang="en-US" sz="2000" dirty="0" err="1"/>
              <a:t>y_increment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10,86 + 0,86 = 11,72 = 12</a:t>
            </a: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>until x = x1</a:t>
            </a:r>
            <a:r>
              <a:rPr lang="en-US" sz="2000" b="1" dirty="0">
                <a:solidFill>
                  <a:srgbClr val="00B0F0"/>
                </a:solidFill>
              </a:rPr>
              <a:t>(17)</a:t>
            </a:r>
            <a:r>
              <a:rPr lang="en-US" sz="2000" dirty="0"/>
              <a:t> and y = y1</a:t>
            </a:r>
            <a:r>
              <a:rPr lang="en-US" sz="2000" b="1" dirty="0">
                <a:solidFill>
                  <a:srgbClr val="FF0000"/>
                </a:solidFill>
              </a:rPr>
              <a:t>(16)</a:t>
            </a:r>
            <a:endParaRPr lang="en-US" sz="2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45720" indent="0" algn="ctr">
              <a:buNone/>
            </a:pPr>
            <a:r>
              <a:rPr lang="en-US" sz="3200" dirty="0"/>
              <a:t>As the result :</a:t>
            </a:r>
            <a:endParaRPr lang="en-ID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  <p:graphicFrame>
        <p:nvGraphicFramePr>
          <p:cNvPr id="9" name="Content Placeholder 5"/>
          <p:cNvGraphicFramePr/>
          <p:nvPr/>
        </p:nvGraphicFramePr>
        <p:xfrm>
          <a:off x="6001638" y="2691579"/>
          <a:ext cx="528682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744"/>
                <a:gridCol w="783771"/>
                <a:gridCol w="769257"/>
                <a:gridCol w="310605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Round(x), Round</a:t>
                      </a:r>
                      <a:r>
                        <a:rPr lang="en-US" baseline="0" dirty="0"/>
                        <a:t>(y)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(10,10)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10.86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(11,11)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11.72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(12,12)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12.58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(13,13)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13.44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(14,13)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(15,14)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15.16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(16,15)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16.02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(17,16)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Then draw it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33441" y="2111602"/>
          <a:ext cx="528682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744"/>
                <a:gridCol w="783771"/>
                <a:gridCol w="769257"/>
                <a:gridCol w="310605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Round(x), Round</a:t>
                      </a:r>
                      <a:r>
                        <a:rPr lang="en-US" baseline="0" dirty="0"/>
                        <a:t>(y)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(10,10)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10.86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(11,11)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11.72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(12,12)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12.58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(13,13)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13.44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(14,13)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(15,14)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15.16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(16,15)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16.02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(17,16)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54759" y="1287780"/>
          <a:ext cx="5003800" cy="4551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380"/>
                <a:gridCol w="500380"/>
                <a:gridCol w="500380"/>
                <a:gridCol w="500380"/>
                <a:gridCol w="500380"/>
                <a:gridCol w="500380"/>
                <a:gridCol w="500380"/>
                <a:gridCol w="500380"/>
                <a:gridCol w="500380"/>
                <a:gridCol w="500380"/>
              </a:tblGrid>
              <a:tr h="413745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18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17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16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15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14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13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12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11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10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11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12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13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14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15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17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18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DDA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It is a faster method than method of using direct use of line equation.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This method does not use multiplication theorem.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It allows us to detect the change in the value of x and y ,so plotting of same point twice is not possible.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This method gives overflow indication when a point is repositioned.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It is an easy method because each step involves just two additions.</a:t>
            </a: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DDA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Floating point arithmetic in DDA algorithm is still time consuming.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The algorithm is orientation dependent. Hence end point accuracy is poor.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Although DDA is fast, the accumulation of round-off error in successive additions of floating point increment, however can cause the calculation pixel position to drift away from the true line path for long line segment.</a:t>
            </a:r>
            <a:endParaRPr lang="en-US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b="1" dirty="0"/>
              <a:t>THANK</a:t>
            </a:r>
            <a:r>
              <a:rPr lang="en-US" sz="7200" dirty="0"/>
              <a:t>YOU</a:t>
            </a: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err="1"/>
              <a:t>Tugas</a:t>
            </a:r>
            <a:r>
              <a:rPr lang="en-US" sz="3200" dirty="0"/>
              <a:t> next to you</a:t>
            </a:r>
            <a:endParaRPr lang="en-US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TASK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45720" indent="0">
              <a:buNone/>
            </a:pPr>
            <a:r>
              <a:rPr lang="en-US" sz="2800"/>
              <a:t>Draw a straight line through the points specified in class:</a:t>
            </a:r>
            <a:endParaRPr lang="en-US" sz="2800"/>
          </a:p>
          <a:p>
            <a:pPr marL="788670" lvl="1" indent="-514350">
              <a:buAutoNum type="arabicPeriod"/>
            </a:pPr>
            <a:r>
              <a:rPr lang="en-US" sz="2800"/>
              <a:t>using the equation of a straight line</a:t>
            </a:r>
            <a:endParaRPr lang="en-US" sz="2800"/>
          </a:p>
          <a:p>
            <a:pPr marL="788670" lvl="1" indent="-514350">
              <a:buAutoNum type="arabicPeriod"/>
            </a:pPr>
            <a:r>
              <a:rPr lang="en-US" sz="2800"/>
              <a:t>using the Digital Differential Analyser (DDA) algorithm!</a:t>
            </a:r>
            <a:endParaRPr lang="en-US" sz="2800"/>
          </a:p>
          <a:p>
            <a:r>
              <a:rPr lang="en-US" sz="2800"/>
              <a:t>Complete the task following the steps shown on slides 26–29.</a:t>
            </a:r>
            <a:endParaRPr lang="en-US" sz="2800"/>
          </a:p>
          <a:p>
            <a:r>
              <a:rPr lang="en-US" sz="2800"/>
              <a:t>Handwritten in pencil on graph paper</a:t>
            </a:r>
            <a:endParaRPr lang="en-US" sz="2800"/>
          </a:p>
          <a:p>
            <a:r>
              <a:rPr lang="en-US" sz="2800" b="1"/>
              <a:t>To be handed in at the next class session</a:t>
            </a:r>
            <a:endParaRPr lang="en-US" sz="2800"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 </a:t>
            </a:r>
            <a:endParaRPr lang="en-ID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3000" y="2136140"/>
            <a:ext cx="9875520" cy="450532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ID" sz="3200" dirty="0"/>
              <a:t>Buat </a:t>
            </a:r>
            <a:r>
              <a:rPr lang="en-ID" sz="3200" dirty="0" err="1"/>
              <a:t>sebuah</a:t>
            </a:r>
            <a:r>
              <a:rPr lang="en-ID" sz="3200" dirty="0"/>
              <a:t> garis </a:t>
            </a:r>
            <a:r>
              <a:rPr lang="en-ID" sz="3200" dirty="0" err="1"/>
              <a:t>lurus</a:t>
            </a:r>
            <a:r>
              <a:rPr lang="en-ID" sz="3200" dirty="0"/>
              <a:t> </a:t>
            </a:r>
            <a:r>
              <a:rPr lang="en-ID" sz="3200" dirty="0" err="1"/>
              <a:t>dari</a:t>
            </a:r>
            <a:r>
              <a:rPr lang="en-ID" sz="3200" dirty="0"/>
              <a:t> </a:t>
            </a:r>
            <a:r>
              <a:rPr lang="en-ID" sz="3200" dirty="0" err="1"/>
              <a:t>tit</a:t>
            </a:r>
            <a:r>
              <a:rPr lang="en-US" altLang="en-ID" sz="3200" dirty="0" err="1"/>
              <a:t>i</a:t>
            </a:r>
            <a:r>
              <a:rPr lang="en-ID" sz="3200" dirty="0" err="1"/>
              <a:t>k</a:t>
            </a:r>
            <a:r>
              <a:rPr lang="en-US" altLang="en-ID" sz="3200" dirty="0" err="1"/>
              <a:t>-titik yang telah ditentukan di kelas:</a:t>
            </a:r>
            <a:endParaRPr lang="en-US" altLang="en-ID" sz="3200" dirty="0" err="1"/>
          </a:p>
          <a:p>
            <a:pPr marL="788670" lvl="1" indent="-514350">
              <a:buAutoNum type="arabicPeriod"/>
            </a:pPr>
            <a:r>
              <a:rPr lang="en-US" sz="2800" dirty="0"/>
              <a:t>menggunakan rumus persamaan garis</a:t>
            </a:r>
            <a:endParaRPr lang="en-US" sz="2800" dirty="0"/>
          </a:p>
          <a:p>
            <a:pPr marL="788670" lvl="1" indent="-514350">
              <a:buAutoNum type="arabicPeriod"/>
            </a:pPr>
            <a:r>
              <a:rPr lang="en-ID" sz="2800" dirty="0" err="1"/>
              <a:t>menggunakan</a:t>
            </a:r>
            <a:r>
              <a:rPr lang="en-ID" sz="2800" dirty="0"/>
              <a:t> </a:t>
            </a:r>
            <a:r>
              <a:rPr lang="en-ID" sz="2800" dirty="0" err="1"/>
              <a:t>algoritma</a:t>
            </a:r>
            <a:r>
              <a:rPr lang="en-ID" sz="2800" dirty="0"/>
              <a:t> Digital Differential Analyzer (DDA)!</a:t>
            </a:r>
            <a:endParaRPr lang="en-ID" sz="2800" dirty="0"/>
          </a:p>
          <a:p>
            <a:r>
              <a:rPr lang="en-ID" sz="3200" dirty="0" err="1"/>
              <a:t>Kerjakan</a:t>
            </a:r>
            <a:r>
              <a:rPr lang="en-ID" sz="3200" dirty="0"/>
              <a:t> </a:t>
            </a:r>
            <a:r>
              <a:rPr lang="en-ID" sz="3200" dirty="0" err="1"/>
              <a:t>sesuai</a:t>
            </a:r>
            <a:r>
              <a:rPr lang="en-ID" sz="3200" dirty="0"/>
              <a:t> </a:t>
            </a:r>
            <a:r>
              <a:rPr lang="en-ID" sz="3200" dirty="0" err="1"/>
              <a:t>urutan</a:t>
            </a:r>
            <a:r>
              <a:rPr lang="en-ID" sz="3200" dirty="0"/>
              <a:t> step </a:t>
            </a:r>
            <a:r>
              <a:rPr lang="en-ID" sz="3200" dirty="0" err="1"/>
              <a:t>seperti</a:t>
            </a:r>
            <a:r>
              <a:rPr lang="en-ID" sz="3200" dirty="0"/>
              <a:t> pada slide 2</a:t>
            </a:r>
            <a:r>
              <a:rPr lang="en-US" altLang="en-ID" sz="3200" dirty="0"/>
              <a:t>6</a:t>
            </a:r>
            <a:r>
              <a:rPr lang="en-ID" sz="3200" dirty="0"/>
              <a:t>-</a:t>
            </a:r>
            <a:r>
              <a:rPr lang="en-US" altLang="en-ID" sz="3200" dirty="0"/>
              <a:t>29</a:t>
            </a:r>
            <a:r>
              <a:rPr lang="en-ID" sz="3200" dirty="0"/>
              <a:t>.</a:t>
            </a:r>
            <a:endParaRPr lang="en-ID" sz="3200" dirty="0"/>
          </a:p>
          <a:p>
            <a:r>
              <a:rPr lang="en-ID" sz="3200" dirty="0" err="1"/>
              <a:t>Ditulis</a:t>
            </a:r>
            <a:r>
              <a:rPr lang="en-ID" sz="3200" dirty="0"/>
              <a:t> </a:t>
            </a:r>
            <a:r>
              <a:rPr lang="en-US" altLang="en-ID" sz="3200" dirty="0"/>
              <a:t>tangan pakai pensil di folio garis</a:t>
            </a:r>
            <a:endParaRPr lang="en-US" altLang="en-ID" sz="3200" dirty="0"/>
          </a:p>
          <a:p>
            <a:r>
              <a:rPr lang="en-US" altLang="en-ID" sz="3200" b="1" dirty="0"/>
              <a:t>Dikumpulkan pada pertemuan berikutnya di kelas</a:t>
            </a:r>
            <a:endParaRPr lang="en-US" altLang="en-ID" sz="32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8882</Words>
  <Application>WPS Presentation</Application>
  <PresentationFormat>Widescreen</PresentationFormat>
  <Paragraphs>603</Paragraphs>
  <Slides>34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Arial</vt:lpstr>
      <vt:lpstr>SimSun</vt:lpstr>
      <vt:lpstr>Wingdings</vt:lpstr>
      <vt:lpstr>Corbel</vt:lpstr>
      <vt:lpstr>Cambria Math</vt:lpstr>
      <vt:lpstr>Microsoft YaHei</vt:lpstr>
      <vt:lpstr>Arial Unicode MS</vt:lpstr>
      <vt:lpstr>Calibri</vt:lpstr>
      <vt:lpstr>Basis</vt:lpstr>
      <vt:lpstr>Digital Differential Analyzer</vt:lpstr>
      <vt:lpstr>Outline </vt:lpstr>
      <vt:lpstr>1. Line equation</vt:lpstr>
      <vt:lpstr>Persamaan Garis berdasarkan Koordinat Kartesian</vt:lpstr>
      <vt:lpstr>Math is all about Substitution</vt:lpstr>
      <vt:lpstr>Nilai Gradien m</vt:lpstr>
      <vt:lpstr>Persamaan Garis lain (implicit equation)</vt:lpstr>
      <vt:lpstr>Example 1: Determine the equation of the line through point (-4, 5) with gradient 2!</vt:lpstr>
      <vt:lpstr>How to Draw Lines</vt:lpstr>
      <vt:lpstr>Example 2: Determine the equation of the line through the center (0, 0) and point (3, 5)!</vt:lpstr>
      <vt:lpstr>exercise</vt:lpstr>
      <vt:lpstr>Exercise</vt:lpstr>
      <vt:lpstr>Answer no. 1 Determine the equation of the line through points (3, 5) and (-2, 4)!</vt:lpstr>
      <vt:lpstr>Answer no. 2 Determine the equation of the line through points (-4, 2) and (5, 2)!</vt:lpstr>
      <vt:lpstr>Garis yang Saling Tegak Lurus</vt:lpstr>
      <vt:lpstr>Garis yang Saling Tegak Lurus</vt:lpstr>
      <vt:lpstr>Example 1</vt:lpstr>
      <vt:lpstr>Example 2</vt:lpstr>
      <vt:lpstr>  2. Digital Differential Analyzer (DDA)</vt:lpstr>
      <vt:lpstr>Digital Coordinate</vt:lpstr>
      <vt:lpstr>Draw Line in Computer Graphics</vt:lpstr>
      <vt:lpstr>“Good” Discrete Line</vt:lpstr>
      <vt:lpstr>Intermediate point’s </vt:lpstr>
      <vt:lpstr>Intermediate point’s </vt:lpstr>
      <vt:lpstr>Digital Differential Analyzer (DDA)</vt:lpstr>
      <vt:lpstr>Steps for formation according to the DDA algorithm:</vt:lpstr>
      <vt:lpstr>Implementation  </vt:lpstr>
      <vt:lpstr>Next implementation [A(10, 10) and B(17, 16)]</vt:lpstr>
      <vt:lpstr>Then draw it </vt:lpstr>
      <vt:lpstr>Advantages of DDA algorithm</vt:lpstr>
      <vt:lpstr>Disadvantages of DDA algorithm</vt:lpstr>
      <vt:lpstr>THANKYOU</vt:lpstr>
      <vt:lpstr>PowerPoint 演示文稿</vt:lpstr>
      <vt:lpstr>Tugas 2 (wajib)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Differential Analyzer</dc:title>
  <dc:creator>Mee</dc:creator>
  <cp:lastModifiedBy>Fera Putri Ayu Lestari</cp:lastModifiedBy>
  <cp:revision>15</cp:revision>
  <dcterms:created xsi:type="dcterms:W3CDTF">2023-03-17T02:23:00Z</dcterms:created>
  <dcterms:modified xsi:type="dcterms:W3CDTF">2026-04-07T02:41:15Z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2FC485A3AD0242D0A73FE0A6FF8F9528</vt:lpwstr>
  </property>
  <property fmtid="{D5CDD505-2E9C-101B-9397-08002B2CF9AE}" pid="3" name="KSOProductBuildVer">
    <vt:lpwstr>1033-11.2.0.11537</vt:lpwstr>
  </property>
</Properties>
</file>